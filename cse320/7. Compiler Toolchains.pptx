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5143500" cx="9144000"/>
  <p:notesSz cx="6858000" cy="9144000"/>
  <p:embeddedFontLst>
    <p:embeddedFont>
      <p:font typeface="Proxima Nova"/>
      <p:regular r:id="rId58"/>
      <p:bold r:id="rId59"/>
      <p:italic r:id="rId60"/>
      <p:boldItalic r:id="rId61"/>
    </p:embeddedFont>
    <p:embeddedFont>
      <p:font typeface="Arial Narrow"/>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ArialNarrow-regular.fntdata"/><Relationship Id="rId61" Type="http://schemas.openxmlformats.org/officeDocument/2006/relationships/font" Target="fonts/ProximaNova-boldItalic.fntdata"/><Relationship Id="rId20" Type="http://schemas.openxmlformats.org/officeDocument/2006/relationships/slide" Target="slides/slide15.xml"/><Relationship Id="rId64" Type="http://schemas.openxmlformats.org/officeDocument/2006/relationships/font" Target="fonts/ArialNarrow-italic.fntdata"/><Relationship Id="rId63" Type="http://schemas.openxmlformats.org/officeDocument/2006/relationships/font" Target="fonts/ArialNarrow-bold.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ArialNarrow-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roximaNova-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ProximaNova-bold.fntdata"/><Relationship Id="rId14" Type="http://schemas.openxmlformats.org/officeDocument/2006/relationships/slide" Target="slides/slide9.xml"/><Relationship Id="rId58" Type="http://schemas.openxmlformats.org/officeDocument/2006/relationships/font" Target="fonts/ProximaNova-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411602e66_0_12:notes"/>
          <p:cNvSpPr txBox="1"/>
          <p:nvPr>
            <p:ph idx="1" type="body"/>
          </p:nvPr>
        </p:nvSpPr>
        <p:spPr>
          <a:xfrm>
            <a:off x="686268" y="4343400"/>
            <a:ext cx="54855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g3b411602e66_0_12:notes"/>
          <p:cNvSpPr/>
          <p:nvPr>
            <p:ph idx="2" type="sldImg"/>
          </p:nvPr>
        </p:nvSpPr>
        <p:spPr>
          <a:xfrm>
            <a:off x="397565" y="687049"/>
            <a:ext cx="6063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62ced49d70_0_2:notes"/>
          <p:cNvSpPr txBox="1"/>
          <p:nvPr>
            <p:ph idx="1" type="body"/>
          </p:nvPr>
        </p:nvSpPr>
        <p:spPr>
          <a:xfrm>
            <a:off x="686268" y="4343400"/>
            <a:ext cx="54855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g362ced49d70_0_2: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411602e66_0_181:notes"/>
          <p:cNvSpPr/>
          <p:nvPr>
            <p:ph idx="2" type="sldImg"/>
          </p:nvPr>
        </p:nvSpPr>
        <p:spPr>
          <a:xfrm>
            <a:off x="439325" y="691972"/>
            <a:ext cx="5979300" cy="3415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g3b411602e66_0_181: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411602e66_0_186:notes"/>
          <p:cNvSpPr/>
          <p:nvPr>
            <p:ph idx="2" type="sldImg"/>
          </p:nvPr>
        </p:nvSpPr>
        <p:spPr>
          <a:xfrm>
            <a:off x="439325" y="691972"/>
            <a:ext cx="5979300" cy="3415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g3b411602e66_0_186: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411602e66_0_18:notes"/>
          <p:cNvSpPr txBox="1"/>
          <p:nvPr>
            <p:ph idx="1" type="body"/>
          </p:nvPr>
        </p:nvSpPr>
        <p:spPr>
          <a:xfrm>
            <a:off x="686268" y="4343400"/>
            <a:ext cx="54855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b411602e66_0_18:notes"/>
          <p:cNvSpPr/>
          <p:nvPr>
            <p:ph idx="2" type="sldImg"/>
          </p:nvPr>
        </p:nvSpPr>
        <p:spPr>
          <a:xfrm>
            <a:off x="397565" y="687049"/>
            <a:ext cx="6063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411602e66_0_191:notes"/>
          <p:cNvSpPr/>
          <p:nvPr>
            <p:ph idx="2" type="sldImg"/>
          </p:nvPr>
        </p:nvSpPr>
        <p:spPr>
          <a:xfrm>
            <a:off x="439325" y="691972"/>
            <a:ext cx="5979300" cy="3415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g3b411602e66_0_191: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411602e66_0_196:notes"/>
          <p:cNvSpPr/>
          <p:nvPr>
            <p:ph idx="2" type="sldImg"/>
          </p:nvPr>
        </p:nvSpPr>
        <p:spPr>
          <a:xfrm>
            <a:off x="439325" y="691972"/>
            <a:ext cx="5979300" cy="3415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g3b411602e66_0_196: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411602e66_0_202:notes"/>
          <p:cNvSpPr/>
          <p:nvPr>
            <p:ph idx="2" type="sldImg"/>
          </p:nvPr>
        </p:nvSpPr>
        <p:spPr>
          <a:xfrm>
            <a:off x="439325" y="691972"/>
            <a:ext cx="5979300" cy="3415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g3b411602e66_0_202: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411602e66_0_207:notes"/>
          <p:cNvSpPr/>
          <p:nvPr>
            <p:ph idx="2" type="sldImg"/>
          </p:nvPr>
        </p:nvSpPr>
        <p:spPr>
          <a:xfrm>
            <a:off x="439325" y="691972"/>
            <a:ext cx="5979300" cy="3415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g3b411602e66_0_207:notes"/>
          <p:cNvSpPr txBox="1"/>
          <p:nvPr>
            <p:ph idx="1" type="body"/>
          </p:nvPr>
        </p:nvSpPr>
        <p:spPr>
          <a:xfrm>
            <a:off x="930303" y="4360781"/>
            <a:ext cx="5009400" cy="4070100"/>
          </a:xfrm>
          <a:prstGeom prst="rect">
            <a:avLst/>
          </a:prstGeom>
          <a:noFill/>
          <a:ln>
            <a:noFill/>
          </a:ln>
        </p:spPr>
        <p:txBody>
          <a:bodyPr anchorCtr="0" anchor="t" bIns="43150" lIns="86300" spcFirstLastPara="1" rIns="86300" wrap="square" tIns="4315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411602e66_0_212: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127" name="Google Shape;127;g3b411602e66_0_212: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128" name="Google Shape;128;g3b411602e66_0_21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b411602e66_0_230: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146" name="Google Shape;146;g3b411602e66_0_230: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147" name="Google Shape;147;g3b411602e66_0_230: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411602e66_0_248: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165" name="Google Shape;165;g3b411602e66_0_248: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166" name="Google Shape;166;g3b411602e66_0_248: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b411602e66_0_254: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172" name="Google Shape;172;g3b411602e66_0_254: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173" name="Google Shape;173;g3b411602e66_0_25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411602e66_0_284: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b411602e66_0_28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411602e66_0_291: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195" name="Google Shape;195;g3b411602e66_0_291: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196" name="Google Shape;196;g3b411602e66_0_291: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b411602e66_0_309: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212" name="Google Shape;212;g3b411602e66_0_309: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213" name="Google Shape;213;g3b411602e66_0_30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411602e66_0_315: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219" name="Google Shape;219;g3b411602e66_0_315: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220" name="Google Shape;220;g3b411602e66_0_315: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b411602e66_0_338: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b411602e66_0_338: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b411602e66_0_37:notes"/>
          <p:cNvSpPr txBox="1"/>
          <p:nvPr>
            <p:ph idx="1" type="body"/>
          </p:nvPr>
        </p:nvSpPr>
        <p:spPr>
          <a:xfrm>
            <a:off x="686268" y="4343400"/>
            <a:ext cx="54855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b411602e66_0_37:notes"/>
          <p:cNvSpPr/>
          <p:nvPr>
            <p:ph idx="2" type="sldImg"/>
          </p:nvPr>
        </p:nvSpPr>
        <p:spPr>
          <a:xfrm>
            <a:off x="397565" y="687049"/>
            <a:ext cx="6063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b411602e66_0_343: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255" name="Google Shape;255;g3b411602e66_0_343: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256" name="Google Shape;256;g3b411602e66_0_343: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b411602e66_0_379: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262" name="Google Shape;262;g3b411602e66_0_379: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263" name="Google Shape;263;g3b411602e66_0_37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411602e66_0_389: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271" name="Google Shape;271;g3b411602e66_0_389: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272" name="Google Shape;272;g3b411602e66_0_38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b411602e66_0_398: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280" name="Google Shape;280;g3b411602e66_0_398: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281" name="Google Shape;281;g3b411602e66_0_398: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b411602e66_0_42:notes"/>
          <p:cNvSpPr txBox="1"/>
          <p:nvPr>
            <p:ph idx="1" type="body"/>
          </p:nvPr>
        </p:nvSpPr>
        <p:spPr>
          <a:xfrm>
            <a:off x="686268" y="4343400"/>
            <a:ext cx="54855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b411602e66_0_42:notes"/>
          <p:cNvSpPr/>
          <p:nvPr>
            <p:ph idx="2" type="sldImg"/>
          </p:nvPr>
        </p:nvSpPr>
        <p:spPr>
          <a:xfrm>
            <a:off x="397565" y="687049"/>
            <a:ext cx="6063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b411602e66_0_438: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296" name="Google Shape;296;g3b411602e66_0_438: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297" name="Google Shape;297;g3b411602e66_0_438: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b411602e66_0_31:notes"/>
          <p:cNvSpPr txBox="1"/>
          <p:nvPr>
            <p:ph idx="1" type="body"/>
          </p:nvPr>
        </p:nvSpPr>
        <p:spPr>
          <a:xfrm>
            <a:off x="686268" y="4343400"/>
            <a:ext cx="54855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b411602e66_0_31:notes"/>
          <p:cNvSpPr/>
          <p:nvPr>
            <p:ph idx="2" type="sldImg"/>
          </p:nvPr>
        </p:nvSpPr>
        <p:spPr>
          <a:xfrm>
            <a:off x="397565" y="687049"/>
            <a:ext cx="6063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411602e66_0_444: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310" name="Google Shape;310;g3b411602e66_0_444: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311" name="Google Shape;311;g3b411602e66_0_44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b411602e66_0_450: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317" name="Google Shape;317;g3b411602e66_0_450: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318" name="Google Shape;318;g3b411602e66_0_450: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b411602e66_0_480: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348" name="Google Shape;348;g3b411602e66_0_480: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349" name="Google Shape;349;g3b411602e66_0_480: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b411602e66_0_488: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3b411602e66_0_488: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411602e66_0_500: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366" name="Google Shape;366;g3b411602e66_0_500: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367" name="Google Shape;367;g3b411602e66_0_500: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b411602e66_0_532: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399" name="Google Shape;399;g3b411602e66_0_532: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400" name="Google Shape;400;g3b411602e66_0_53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411602e66_0_50:notes"/>
          <p:cNvSpPr txBox="1"/>
          <p:nvPr>
            <p:ph idx="1" type="body"/>
          </p:nvPr>
        </p:nvSpPr>
        <p:spPr>
          <a:xfrm>
            <a:off x="686268" y="4343400"/>
            <a:ext cx="54855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b411602e66_0_50:notes"/>
          <p:cNvSpPr/>
          <p:nvPr>
            <p:ph idx="2" type="sldImg"/>
          </p:nvPr>
        </p:nvSpPr>
        <p:spPr>
          <a:xfrm>
            <a:off x="397565" y="687049"/>
            <a:ext cx="6063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b411602e66_0_539: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414" name="Google Shape;414;g3b411602e66_0_539: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415" name="Google Shape;415;g3b411602e66_0_53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b411602e66_0_545: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421" name="Google Shape;421;g3b411602e66_0_545: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422" name="Google Shape;422;g3b411602e66_0_545: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b411602e66_0_551: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428" name="Google Shape;428;g3b411602e66_0_551: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429" name="Google Shape;429;g3b411602e66_0_551: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b411602e66_0_582:notes"/>
          <p:cNvSpPr txBox="1"/>
          <p:nvPr/>
        </p:nvSpPr>
        <p:spPr>
          <a:xfrm>
            <a:off x="2127251" y="692550"/>
            <a:ext cx="2603700" cy="3415200"/>
          </a:xfrm>
          <a:prstGeom prst="rect">
            <a:avLst/>
          </a:prstGeom>
          <a:solidFill>
            <a:srgbClr val="FFFFFF"/>
          </a:solidFill>
          <a:ln cap="flat" cmpd="sng" w="9000">
            <a:solidFill>
              <a:srgbClr val="000000"/>
            </a:solidFill>
            <a:prstDash val="solid"/>
            <a:miter lim="800000"/>
            <a:headEnd len="sm" w="sm" type="none"/>
            <a:tailEnd len="sm" w="sm" type="none"/>
          </a:ln>
        </p:spPr>
        <p:txBody>
          <a:bodyPr anchorCtr="0" anchor="ctr" bIns="43150" lIns="86300" spcFirstLastPara="1" rIns="86300" wrap="square" tIns="43150">
            <a:noAutofit/>
          </a:bodyPr>
          <a:lstStyle/>
          <a:p>
            <a:pPr indent="0" lvl="0" marL="0" marR="0" rtl="0" algn="l">
              <a:spcBef>
                <a:spcPts val="0"/>
              </a:spcBef>
              <a:spcAft>
                <a:spcPts val="0"/>
              </a:spcAft>
              <a:buNone/>
            </a:pPr>
            <a:r>
              <a:t/>
            </a:r>
            <a:endParaRPr b="1" sz="2300">
              <a:solidFill>
                <a:schemeClr val="dk1"/>
              </a:solidFill>
              <a:latin typeface="Arial Narrow"/>
              <a:ea typeface="Arial Narrow"/>
              <a:cs typeface="Arial Narrow"/>
              <a:sym typeface="Arial Narrow"/>
            </a:endParaRPr>
          </a:p>
        </p:txBody>
      </p:sp>
      <p:sp>
        <p:nvSpPr>
          <p:cNvPr id="460" name="Google Shape;460;g3b411602e66_0_582:notes"/>
          <p:cNvSpPr txBox="1"/>
          <p:nvPr>
            <p:ph idx="1" type="body"/>
          </p:nvPr>
        </p:nvSpPr>
        <p:spPr>
          <a:xfrm>
            <a:off x="913947" y="4343804"/>
            <a:ext cx="5030100" cy="4115700"/>
          </a:xfrm>
          <a:prstGeom prst="rect">
            <a:avLst/>
          </a:prstGeom>
          <a:noFill/>
          <a:ln>
            <a:noFill/>
          </a:ln>
        </p:spPr>
        <p:txBody>
          <a:bodyPr anchorCtr="0" anchor="ctr" bIns="43150" lIns="86300" spcFirstLastPara="1" rIns="86300" wrap="square" tIns="43150">
            <a:noAutofit/>
          </a:bodyPr>
          <a:lstStyle/>
          <a:p>
            <a:pPr indent="0" lvl="0" marL="0" rtl="0" algn="l">
              <a:spcBef>
                <a:spcPts val="0"/>
              </a:spcBef>
              <a:spcAft>
                <a:spcPts val="0"/>
              </a:spcAft>
              <a:buNone/>
            </a:pPr>
            <a:r>
              <a:t/>
            </a:r>
            <a:endParaRPr/>
          </a:p>
        </p:txBody>
      </p:sp>
      <p:sp>
        <p:nvSpPr>
          <p:cNvPr id="461" name="Google Shape;461;g3b411602e66_0_58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b411602e66_0_596: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b411602e66_0_59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b411602e66_0_56:notes"/>
          <p:cNvSpPr txBox="1"/>
          <p:nvPr>
            <p:ph idx="1" type="body"/>
          </p:nvPr>
        </p:nvSpPr>
        <p:spPr>
          <a:xfrm>
            <a:off x="686268" y="4343400"/>
            <a:ext cx="54855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g3b411602e66_0_56:notes"/>
          <p:cNvSpPr/>
          <p:nvPr>
            <p:ph idx="2" type="sldImg"/>
          </p:nvPr>
        </p:nvSpPr>
        <p:spPr>
          <a:xfrm>
            <a:off x="397565" y="687049"/>
            <a:ext cx="6063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b411602e66_0_607: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g3b411602e66_0_607: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b411602e66_0_612: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g3b411602e66_0_61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b411602e66_0_617: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g3b411602e66_0_617: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b411602e66_0_622: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b411602e66_0_62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b411602e66_0_629: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3b411602e66_0_629: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b411602e66_0_635: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g3b411602e66_0_635: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b411602e66_0_642: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b411602e66_0_64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b411602e66_0_648: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g3b411602e66_0_648: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b411602e66_0_654: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g3b411602e66_0_654: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411602e66_0_660: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g3b411602e66_0_660: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b411602e66_0_666: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g3b411602e66_0_666: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b411602e66_0_672:notes"/>
          <p:cNvSpPr txBox="1"/>
          <p:nvPr>
            <p:ph idx="1" type="body"/>
          </p:nvPr>
        </p:nvSpPr>
        <p:spPr>
          <a:xfrm>
            <a:off x="930303" y="4360781"/>
            <a:ext cx="5009400" cy="407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g3b411602e66_0_672:notes"/>
          <p:cNvSpPr/>
          <p:nvPr>
            <p:ph idx="2" type="sldImg"/>
          </p:nvPr>
        </p:nvSpPr>
        <p:spPr>
          <a:xfrm>
            <a:off x="381663" y="654117"/>
            <a:ext cx="6106500" cy="3488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5" name="Shape 55"/>
        <p:cNvGrpSpPr/>
        <p:nvPr/>
      </p:nvGrpSpPr>
      <p:grpSpPr>
        <a:xfrm>
          <a:off x="0" y="0"/>
          <a:ext cx="0" cy="0"/>
          <a:chOff x="0" y="0"/>
          <a:chExt cx="0" cy="0"/>
        </a:xfrm>
      </p:grpSpPr>
      <p:sp>
        <p:nvSpPr>
          <p:cNvPr id="56" name="Google Shape;56;p13"/>
          <p:cNvSpPr txBox="1"/>
          <p:nvPr>
            <p:ph type="title"/>
          </p:nvPr>
        </p:nvSpPr>
        <p:spPr>
          <a:xfrm>
            <a:off x="457200" y="205978"/>
            <a:ext cx="8229600" cy="5370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Clr>
                <a:srgbClr val="000000"/>
              </a:buClr>
              <a:buSzPts val="3500"/>
              <a:buFont typeface="Cambria"/>
              <a:buNone/>
              <a:defRPr>
                <a:solidFill>
                  <a:srgbClr val="00000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 name="Google Shape;57;p13"/>
          <p:cNvSpPr txBox="1"/>
          <p:nvPr>
            <p:ph idx="1" type="body"/>
          </p:nvPr>
        </p:nvSpPr>
        <p:spPr>
          <a:xfrm>
            <a:off x="457200" y="857250"/>
            <a:ext cx="8229600" cy="39432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rgbClr val="000000"/>
              </a:buClr>
              <a:buSzPts val="1800"/>
              <a:buChar char="●"/>
              <a:defRPr>
                <a:solidFill>
                  <a:srgbClr val="000000"/>
                </a:solidFill>
              </a:defRPr>
            </a:lvl1pPr>
            <a:lvl2pPr indent="-342900" lvl="1" marL="914400" algn="l">
              <a:spcBef>
                <a:spcPts val="1200"/>
              </a:spcBef>
              <a:spcAft>
                <a:spcPts val="0"/>
              </a:spcAft>
              <a:buClr>
                <a:srgbClr val="000000"/>
              </a:buClr>
              <a:buSzPts val="1800"/>
              <a:buChar char="○"/>
              <a:defRPr sz="1800">
                <a:solidFill>
                  <a:srgbClr val="000000"/>
                </a:solidFill>
              </a:defRPr>
            </a:lvl2pPr>
            <a:lvl3pPr indent="-342900" lvl="2" marL="1371600" algn="l">
              <a:spcBef>
                <a:spcPts val="1200"/>
              </a:spcBef>
              <a:spcAft>
                <a:spcPts val="0"/>
              </a:spcAft>
              <a:buClr>
                <a:srgbClr val="000000"/>
              </a:buClr>
              <a:buSzPts val="1800"/>
              <a:buChar char="■"/>
              <a:defRPr sz="1800">
                <a:solidFill>
                  <a:srgbClr val="000000"/>
                </a:solidFill>
              </a:defRPr>
            </a:lvl3pPr>
            <a:lvl4pPr indent="-304800" lvl="3" marL="1828800" algn="l">
              <a:spcBef>
                <a:spcPts val="1200"/>
              </a:spcBef>
              <a:spcAft>
                <a:spcPts val="0"/>
              </a:spcAft>
              <a:buClr>
                <a:srgbClr val="000000"/>
              </a:buClr>
              <a:buSzPts val="1200"/>
              <a:buChar char="●"/>
              <a:defRPr>
                <a:solidFill>
                  <a:srgbClr val="000000"/>
                </a:solidFill>
              </a:defRPr>
            </a:lvl4pPr>
            <a:lvl5pPr indent="-298450" lvl="4" marL="2286000" algn="l">
              <a:spcBef>
                <a:spcPts val="1200"/>
              </a:spcBef>
              <a:spcAft>
                <a:spcPts val="0"/>
              </a:spcAft>
              <a:buClr>
                <a:srgbClr val="000000"/>
              </a:buClr>
              <a:buSzPts val="1100"/>
              <a:buChar char="○"/>
              <a:defRPr>
                <a:solidFill>
                  <a:srgbClr val="000000"/>
                </a:solidFill>
              </a:defRPr>
            </a:lvl5pPr>
            <a:lvl6pPr indent="-317500" lvl="5" marL="2743200" algn="l">
              <a:spcBef>
                <a:spcPts val="1200"/>
              </a:spcBef>
              <a:spcAft>
                <a:spcPts val="0"/>
              </a:spcAft>
              <a:buSzPts val="1400"/>
              <a:buChar char="■"/>
              <a:defRPr/>
            </a:lvl6pPr>
            <a:lvl7pPr indent="-317500" lvl="6" marL="3200400" algn="l">
              <a:spcBef>
                <a:spcPts val="1200"/>
              </a:spcBef>
              <a:spcAft>
                <a:spcPts val="0"/>
              </a:spcAft>
              <a:buSzPts val="1400"/>
              <a:buChar char="●"/>
              <a:defRPr/>
            </a:lvl7pPr>
            <a:lvl8pPr indent="-317500" lvl="7" marL="3657600" algn="l">
              <a:spcBef>
                <a:spcPts val="1200"/>
              </a:spcBef>
              <a:spcAft>
                <a:spcPts val="0"/>
              </a:spcAft>
              <a:buSzPts val="1400"/>
              <a:buChar char="○"/>
              <a:defRPr/>
            </a:lvl8pPr>
            <a:lvl9pPr indent="-317500" lvl="8" marL="4114800" algn="l">
              <a:spcBef>
                <a:spcPts val="1200"/>
              </a:spcBef>
              <a:spcAft>
                <a:spcPts val="1200"/>
              </a:spcAft>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8" name="Shape 58"/>
        <p:cNvGrpSpPr/>
        <p:nvPr/>
      </p:nvGrpSpPr>
      <p:grpSpPr>
        <a:xfrm>
          <a:off x="0" y="0"/>
          <a:ext cx="0" cy="0"/>
          <a:chOff x="0" y="0"/>
          <a:chExt cx="0" cy="0"/>
        </a:xfrm>
      </p:grpSpPr>
      <p:sp>
        <p:nvSpPr>
          <p:cNvPr id="59" name="Google Shape;59;p14"/>
          <p:cNvSpPr txBox="1"/>
          <p:nvPr>
            <p:ph type="ctrTitle"/>
          </p:nvPr>
        </p:nvSpPr>
        <p:spPr>
          <a:xfrm>
            <a:off x="685800" y="342900"/>
            <a:ext cx="7772400" cy="42864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Clr>
                <a:srgbClr val="000000"/>
              </a:buClr>
              <a:buSzPts val="3600"/>
              <a:buFont typeface="Cambria"/>
              <a:buNone/>
              <a:defRPr sz="3600">
                <a:solidFill>
                  <a:srgbClr val="00000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ocs.google.com/presentation/d/1uumZp5gK2hl29ehtmwwLV-MIMUKGMbSrniNCSAOCt7k/edit?usp=sharing" TargetMode="External"/><Relationship Id="rId4" Type="http://schemas.openxmlformats.org/officeDocument/2006/relationships/hyperlink" Target="https://docs.google.com/presentation/d/15SB0OvFkbH8YWw0iJZ8UeZvZ0Gd3sfOzyfMUNfrNngM/edit?usp=sharing" TargetMode="External"/><Relationship Id="rId5" Type="http://schemas.openxmlformats.org/officeDocument/2006/relationships/hyperlink" Target="https://docs.google.com/presentation/d/1vKu-Jy_NubxoUVqPVByEUfWJYGAmuhXkyFtz_3t6hzg/edit?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7.jpg"/><Relationship Id="rId5"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CSE 320: Linkers</a:t>
            </a:r>
            <a:endParaRPr/>
          </a:p>
        </p:txBody>
      </p:sp>
      <p:sp>
        <p:nvSpPr>
          <p:cNvPr id="65" name="Google Shape;65;p15"/>
          <p:cNvSpPr txBox="1"/>
          <p:nvPr>
            <p:ph idx="1" type="subTitle"/>
          </p:nvPr>
        </p:nvSpPr>
        <p:spPr>
          <a:xfrm>
            <a:off x="510450" y="3182331"/>
            <a:ext cx="8123100" cy="95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Chapter 7</a:t>
            </a:r>
            <a:endParaRPr/>
          </a:p>
          <a:p>
            <a:pPr indent="0" lvl="0" marL="0" rtl="0" algn="l">
              <a:spcBef>
                <a:spcPts val="0"/>
              </a:spcBef>
              <a:spcAft>
                <a:spcPts val="0"/>
              </a:spcAft>
              <a:buNone/>
            </a:pPr>
            <a:r>
              <a:rPr lang="en"/>
              <a:t>Professor Dan Benz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rgbClr val="000000"/>
              </a:buClr>
              <a:buSzPts val="3500"/>
              <a:buFont typeface="Cambria"/>
              <a:buNone/>
            </a:pPr>
            <a:r>
              <a:rPr lang="en"/>
              <a:t>Compiler systems:</a:t>
            </a:r>
            <a:endParaRPr/>
          </a:p>
        </p:txBody>
      </p:sp>
      <p:sp>
        <p:nvSpPr>
          <p:cNvPr id="71" name="Google Shape;71;p16"/>
          <p:cNvSpPr txBox="1"/>
          <p:nvPr>
            <p:ph idx="1" type="body"/>
          </p:nvPr>
        </p:nvSpPr>
        <p:spPr>
          <a:xfrm>
            <a:off x="311700" y="1152475"/>
            <a:ext cx="6396300" cy="3416400"/>
          </a:xfrm>
          <a:prstGeom prst="rect">
            <a:avLst/>
          </a:prstGeom>
          <a:noFill/>
          <a:ln>
            <a:noFill/>
          </a:ln>
        </p:spPr>
        <p:txBody>
          <a:bodyPr anchorCtr="0" anchor="t" bIns="34275" lIns="68575" spcFirstLastPara="1" rIns="68575" wrap="square" tIns="34275">
            <a:normAutofit fontScale="92500" lnSpcReduction="20000"/>
          </a:bodyPr>
          <a:lstStyle/>
          <a:p>
            <a:pPr indent="-156528" lvl="0" marL="254000" rtl="0" algn="l">
              <a:spcBef>
                <a:spcPts val="400"/>
              </a:spcBef>
              <a:spcAft>
                <a:spcPts val="0"/>
              </a:spcAft>
              <a:buClr>
                <a:srgbClr val="000000"/>
              </a:buClr>
              <a:buSzPct val="100000"/>
              <a:buChar char="●"/>
            </a:pPr>
            <a:r>
              <a:rPr lang="en"/>
              <a:t>The compiler system provides a “compiler driver” which includes a pre-processor (cpp), a compiler (cc), an assembler (as), and a linker (ld).</a:t>
            </a:r>
            <a:endParaRPr/>
          </a:p>
          <a:p>
            <a:pPr indent="-156528" lvl="0" marL="254000" rtl="0" algn="l">
              <a:spcBef>
                <a:spcPts val="1200"/>
              </a:spcBef>
              <a:spcAft>
                <a:spcPts val="0"/>
              </a:spcAft>
              <a:buSzPct val="100000"/>
              <a:buChar char="●"/>
            </a:pPr>
            <a:r>
              <a:rPr lang="en"/>
              <a:t>The preprocessor translates the source code into an ASCII intermediate form (*.i)</a:t>
            </a:r>
            <a:endParaRPr/>
          </a:p>
          <a:p>
            <a:pPr indent="-156528" lvl="0" marL="254000" rtl="0" algn="l">
              <a:spcBef>
                <a:spcPts val="1200"/>
              </a:spcBef>
              <a:spcAft>
                <a:spcPts val="0"/>
              </a:spcAft>
              <a:buSzPct val="100000"/>
              <a:buChar char="●"/>
            </a:pPr>
            <a:r>
              <a:rPr lang="en"/>
              <a:t>Then the compiler translates the ASCII intermediate form into an ASCII assembly-language file (*.s)</a:t>
            </a:r>
            <a:endParaRPr/>
          </a:p>
          <a:p>
            <a:pPr indent="-156528" lvl="0" marL="254000" rtl="0" algn="l">
              <a:spcBef>
                <a:spcPts val="1200"/>
              </a:spcBef>
              <a:spcAft>
                <a:spcPts val="0"/>
              </a:spcAft>
              <a:buSzPct val="100000"/>
              <a:buChar char="●"/>
            </a:pPr>
            <a:r>
              <a:rPr lang="en"/>
              <a:t>The assembler then translates the assembly file into a relocatable object file (*.o)</a:t>
            </a:r>
            <a:endParaRPr/>
          </a:p>
          <a:p>
            <a:pPr indent="-156528" lvl="0" marL="254000" rtl="0" algn="l">
              <a:spcBef>
                <a:spcPts val="1200"/>
              </a:spcBef>
              <a:spcAft>
                <a:spcPts val="1200"/>
              </a:spcAft>
              <a:buSzPct val="100000"/>
              <a:buChar char="●"/>
            </a:pPr>
            <a:r>
              <a:rPr lang="en"/>
              <a:t>Finally the linker combines all necessary object files into an executable</a:t>
            </a:r>
            <a:endParaRPr/>
          </a:p>
        </p:txBody>
      </p:sp>
      <p:pic>
        <p:nvPicPr>
          <p:cNvPr descr="how different c source files get compiled to objects and then merged to a executable object." id="72" name="Google Shape;72;p16"/>
          <p:cNvPicPr preferRelativeResize="0"/>
          <p:nvPr/>
        </p:nvPicPr>
        <p:blipFill>
          <a:blip r:embed="rId3">
            <a:alphaModFix/>
          </a:blip>
          <a:stretch>
            <a:fillRect/>
          </a:stretch>
        </p:blipFill>
        <p:spPr>
          <a:xfrm>
            <a:off x="6708000" y="1112856"/>
            <a:ext cx="2436019" cy="16716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rgbClr val="000000"/>
              </a:buClr>
              <a:buSzPts val="3500"/>
              <a:buFont typeface="Cambria"/>
              <a:buNone/>
            </a:pPr>
            <a:r>
              <a:rPr lang="en"/>
              <a:t>Pre-Processors, Compilers, Assemblers, and Linkers</a:t>
            </a:r>
            <a:endParaRPr/>
          </a:p>
        </p:txBody>
      </p:sp>
      <p:sp>
        <p:nvSpPr>
          <p:cNvPr id="78" name="Google Shape;78;p17"/>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a:bodyPr>
          <a:lstStyle/>
          <a:p>
            <a:pPr indent="-165100" lvl="0" marL="254000" rtl="0" algn="l">
              <a:spcBef>
                <a:spcPts val="400"/>
              </a:spcBef>
              <a:spcAft>
                <a:spcPts val="0"/>
              </a:spcAft>
              <a:buClr>
                <a:srgbClr val="000000"/>
              </a:buClr>
              <a:buSzPts val="1800"/>
              <a:buChar char="●"/>
            </a:pPr>
            <a:r>
              <a:rPr lang="en"/>
              <a:t>Pre-Processors: </a:t>
            </a:r>
            <a:r>
              <a:rPr lang="en" u="sng">
                <a:solidFill>
                  <a:schemeClr val="hlink"/>
                </a:solidFill>
                <a:hlinkClick r:id="rId3"/>
              </a:rPr>
              <a:t>CSE220 slides 20</a:t>
            </a:r>
            <a:r>
              <a:rPr lang="en"/>
              <a:t> </a:t>
            </a:r>
            <a:endParaRPr/>
          </a:p>
          <a:p>
            <a:pPr indent="-317500" lvl="1" marL="914400" rtl="0" algn="l">
              <a:spcBef>
                <a:spcPts val="1200"/>
              </a:spcBef>
              <a:spcAft>
                <a:spcPts val="0"/>
              </a:spcAft>
              <a:buSzPts val="1400"/>
              <a:buChar char="○"/>
            </a:pPr>
            <a:r>
              <a:rPr lang="en"/>
              <a:t>Makes code more easily modifiable/</a:t>
            </a:r>
            <a:r>
              <a:rPr lang="en"/>
              <a:t>packageable</a:t>
            </a:r>
            <a:r>
              <a:rPr lang="en"/>
              <a:t> for developers</a:t>
            </a:r>
            <a:endParaRPr/>
          </a:p>
          <a:p>
            <a:pPr indent="-165100" lvl="0" marL="254000" rtl="0" algn="l">
              <a:spcBef>
                <a:spcPts val="1200"/>
              </a:spcBef>
              <a:spcAft>
                <a:spcPts val="0"/>
              </a:spcAft>
              <a:buSzPts val="1800"/>
              <a:buChar char="●"/>
            </a:pPr>
            <a:r>
              <a:rPr lang="en"/>
              <a:t>Compilers: </a:t>
            </a:r>
            <a:r>
              <a:rPr lang="en" u="sng">
                <a:solidFill>
                  <a:schemeClr val="hlink"/>
                </a:solidFill>
                <a:hlinkClick r:id="rId4"/>
              </a:rPr>
              <a:t>CSE 320 Chapter 5 slides</a:t>
            </a:r>
            <a:endParaRPr/>
          </a:p>
          <a:p>
            <a:pPr indent="-317500" lvl="1" marL="914400" rtl="0" algn="l">
              <a:spcBef>
                <a:spcPts val="1200"/>
              </a:spcBef>
              <a:spcAft>
                <a:spcPts val="0"/>
              </a:spcAft>
              <a:buSzPts val="1400"/>
              <a:buChar char="○"/>
            </a:pPr>
            <a:r>
              <a:rPr lang="en"/>
              <a:t>Optimizes software and removes abstractions (memory, types, code structure)</a:t>
            </a:r>
            <a:endParaRPr/>
          </a:p>
          <a:p>
            <a:pPr indent="-165100" lvl="0" marL="254000" rtl="0" algn="l">
              <a:spcBef>
                <a:spcPts val="1200"/>
              </a:spcBef>
              <a:spcAft>
                <a:spcPts val="0"/>
              </a:spcAft>
              <a:buClr>
                <a:srgbClr val="000000"/>
              </a:buClr>
              <a:buSzPts val="1800"/>
              <a:buChar char="●"/>
            </a:pPr>
            <a:r>
              <a:rPr lang="en"/>
              <a:t>Assemblers: </a:t>
            </a:r>
            <a:r>
              <a:rPr lang="en" u="sng">
                <a:solidFill>
                  <a:schemeClr val="hlink"/>
                </a:solidFill>
                <a:hlinkClick r:id="rId5"/>
              </a:rPr>
              <a:t>CSE 220 slides ISAs</a:t>
            </a:r>
            <a:endParaRPr/>
          </a:p>
          <a:p>
            <a:pPr indent="-317500" lvl="1" marL="914400" rtl="0" algn="l">
              <a:spcBef>
                <a:spcPts val="1200"/>
              </a:spcBef>
              <a:spcAft>
                <a:spcPts val="0"/>
              </a:spcAft>
              <a:buSzPts val="1400"/>
              <a:buChar char="○"/>
            </a:pPr>
            <a:r>
              <a:rPr lang="en"/>
              <a:t>Converts assembly to machine code (removes labels)</a:t>
            </a:r>
            <a:endParaRPr/>
          </a:p>
          <a:p>
            <a:pPr indent="-165100" lvl="0" marL="254000" rtl="0" algn="l">
              <a:spcBef>
                <a:spcPts val="1200"/>
              </a:spcBef>
              <a:spcAft>
                <a:spcPts val="0"/>
              </a:spcAft>
              <a:buClr>
                <a:srgbClr val="000000"/>
              </a:buClr>
              <a:buSzPts val="1800"/>
              <a:buChar char="●"/>
            </a:pPr>
            <a:r>
              <a:rPr lang="en"/>
              <a:t>Linkers: Today</a:t>
            </a:r>
            <a:endParaRPr/>
          </a:p>
          <a:p>
            <a:pPr indent="-317500" lvl="1" marL="914400" rtl="0" algn="l">
              <a:spcBef>
                <a:spcPts val="1200"/>
              </a:spcBef>
              <a:spcAft>
                <a:spcPts val="1200"/>
              </a:spcAft>
              <a:buSzPts val="1400"/>
              <a:buChar char="○"/>
            </a:pPr>
            <a:r>
              <a:rPr lang="en"/>
              <a:t>Combines your code </a:t>
            </a:r>
            <a:r>
              <a:rPr lang="en"/>
              <a:t>with libraries and packages it for system execution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Why Linkers?</a:t>
            </a:r>
            <a:endParaRPr/>
          </a:p>
        </p:txBody>
      </p:sp>
      <p:sp>
        <p:nvSpPr>
          <p:cNvPr id="84" name="Google Shape;84;p18"/>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Reason 1: Modularity</a:t>
            </a:r>
            <a:endParaRPr/>
          </a:p>
          <a:p>
            <a:pPr indent="-285750" lvl="1" marL="742950" rtl="0" algn="l">
              <a:spcBef>
                <a:spcPts val="400"/>
              </a:spcBef>
              <a:spcAft>
                <a:spcPts val="0"/>
              </a:spcAft>
              <a:buSzPts val="2200"/>
              <a:buChar char="○"/>
            </a:pPr>
            <a:r>
              <a:rPr lang="en"/>
              <a:t>Program can be written as a collection of smaller source files, rather than one monolithic mass.</a:t>
            </a:r>
            <a:endParaRPr/>
          </a:p>
          <a:p>
            <a:pPr indent="-285750" lvl="1" marL="742950" rtl="0" algn="l">
              <a:spcBef>
                <a:spcPts val="400"/>
              </a:spcBef>
              <a:spcAft>
                <a:spcPts val="0"/>
              </a:spcAft>
              <a:buSzPts val="2200"/>
              <a:buChar char="○"/>
            </a:pPr>
            <a:r>
              <a:rPr lang="en"/>
              <a:t>Can build libraries of common functions (more on this later)</a:t>
            </a:r>
            <a:endParaRPr/>
          </a:p>
          <a:p>
            <a:pPr indent="-228600" lvl="2" marL="1143000" rtl="0" algn="l">
              <a:spcBef>
                <a:spcPts val="400"/>
              </a:spcBef>
              <a:spcAft>
                <a:spcPts val="0"/>
              </a:spcAft>
              <a:buClr>
                <a:schemeClr val="dk1"/>
              </a:buClr>
              <a:buSzPts val="1600"/>
              <a:buChar char="■"/>
            </a:pPr>
            <a:r>
              <a:rPr lang="en"/>
              <a:t>e.g., Math library, standard C library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Why Linkers? (cont)</a:t>
            </a:r>
            <a:endParaRPr/>
          </a:p>
        </p:txBody>
      </p:sp>
      <p:sp>
        <p:nvSpPr>
          <p:cNvPr id="90" name="Google Shape;90;p19"/>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Reason 2: Efficiency</a:t>
            </a:r>
            <a:endParaRPr/>
          </a:p>
          <a:p>
            <a:pPr indent="-285750" lvl="1" marL="742950" rtl="0" algn="l">
              <a:spcBef>
                <a:spcPts val="400"/>
              </a:spcBef>
              <a:spcAft>
                <a:spcPts val="0"/>
              </a:spcAft>
              <a:buSzPts val="2200"/>
              <a:buChar char="○"/>
            </a:pPr>
            <a:r>
              <a:rPr lang="en"/>
              <a:t>Time: Separate compilation</a:t>
            </a:r>
            <a:endParaRPr/>
          </a:p>
          <a:p>
            <a:pPr indent="-228600" lvl="2" marL="1143000" rtl="0" algn="l">
              <a:spcBef>
                <a:spcPts val="400"/>
              </a:spcBef>
              <a:spcAft>
                <a:spcPts val="0"/>
              </a:spcAft>
              <a:buClr>
                <a:schemeClr val="dk1"/>
              </a:buClr>
              <a:buSzPts val="1600"/>
              <a:buChar char="■"/>
            </a:pPr>
            <a:r>
              <a:rPr lang="en"/>
              <a:t>Change one source file, compile, and then relink.</a:t>
            </a:r>
            <a:endParaRPr/>
          </a:p>
          <a:p>
            <a:pPr indent="-228600" lvl="2" marL="1143000" rtl="0" algn="l">
              <a:spcBef>
                <a:spcPts val="400"/>
              </a:spcBef>
              <a:spcAft>
                <a:spcPts val="0"/>
              </a:spcAft>
              <a:buClr>
                <a:schemeClr val="dk1"/>
              </a:buClr>
              <a:buSzPts val="1600"/>
              <a:buChar char="■"/>
            </a:pPr>
            <a:r>
              <a:rPr lang="en"/>
              <a:t>No need to recompile other source files.</a:t>
            </a:r>
            <a:endParaRPr/>
          </a:p>
          <a:p>
            <a:pPr indent="-285750" lvl="1" marL="742950" rtl="0" algn="l">
              <a:spcBef>
                <a:spcPts val="400"/>
              </a:spcBef>
              <a:spcAft>
                <a:spcPts val="0"/>
              </a:spcAft>
              <a:buSzPts val="2200"/>
              <a:buChar char="○"/>
            </a:pPr>
            <a:r>
              <a:rPr lang="en"/>
              <a:t>Space: Libraries </a:t>
            </a:r>
            <a:endParaRPr/>
          </a:p>
          <a:p>
            <a:pPr indent="-228600" lvl="2" marL="1143000" rtl="0" algn="l">
              <a:spcBef>
                <a:spcPts val="400"/>
              </a:spcBef>
              <a:spcAft>
                <a:spcPts val="0"/>
              </a:spcAft>
              <a:buClr>
                <a:schemeClr val="dk1"/>
              </a:buClr>
              <a:buSzPts val="1600"/>
              <a:buChar char="■"/>
            </a:pPr>
            <a:r>
              <a:rPr lang="en"/>
              <a:t>Common functions can be aggregated into a single file...</a:t>
            </a:r>
            <a:endParaRPr/>
          </a:p>
          <a:p>
            <a:pPr indent="-228600" lvl="2" marL="1143000" rtl="0" algn="l">
              <a:spcBef>
                <a:spcPts val="400"/>
              </a:spcBef>
              <a:spcAft>
                <a:spcPts val="0"/>
              </a:spcAft>
              <a:buClr>
                <a:schemeClr val="dk1"/>
              </a:buClr>
              <a:buSzPts val="1600"/>
              <a:buChar char="■"/>
            </a:pPr>
            <a:r>
              <a:rPr lang="en"/>
              <a:t>Yet executable files and running memory images contain only code for the functions they actually use.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rgbClr val="000000"/>
              </a:buClr>
              <a:buSzPts val="3500"/>
              <a:buFont typeface="Cambria"/>
              <a:buNone/>
            </a:pPr>
            <a:r>
              <a:rPr lang="en"/>
              <a:t>Linker Main Tasks:</a:t>
            </a:r>
            <a:endParaRPr/>
          </a:p>
        </p:txBody>
      </p:sp>
      <p:sp>
        <p:nvSpPr>
          <p:cNvPr id="96" name="Google Shape;96;p20"/>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a:bodyPr>
          <a:lstStyle/>
          <a:p>
            <a:pPr indent="-342900" lvl="0" marL="457200" rtl="0" algn="l">
              <a:spcBef>
                <a:spcPts val="0"/>
              </a:spcBef>
              <a:spcAft>
                <a:spcPts val="0"/>
              </a:spcAft>
              <a:buSzPts val="1800"/>
              <a:buChar char="●"/>
            </a:pPr>
            <a:r>
              <a:rPr lang="en"/>
              <a:t>The Linker must perform two main tasks:</a:t>
            </a:r>
            <a:endParaRPr/>
          </a:p>
          <a:p>
            <a:pPr indent="-342900" lvl="0" marL="457200" rtl="0" algn="l">
              <a:spcBef>
                <a:spcPts val="0"/>
              </a:spcBef>
              <a:spcAft>
                <a:spcPts val="0"/>
              </a:spcAft>
              <a:buSzPts val="1800"/>
              <a:buChar char="●"/>
            </a:pPr>
            <a:r>
              <a:rPr lang="en"/>
              <a:t>Symbol resolution: This is where the symbol table from the object files are used to resolve references</a:t>
            </a:r>
            <a:endParaRPr/>
          </a:p>
          <a:p>
            <a:pPr indent="-342900" lvl="0" marL="457200" rtl="0" algn="l">
              <a:spcBef>
                <a:spcPts val="0"/>
              </a:spcBef>
              <a:spcAft>
                <a:spcPts val="0"/>
              </a:spcAft>
              <a:buSzPts val="1800"/>
              <a:buChar char="●"/>
            </a:pPr>
            <a:r>
              <a:rPr lang="en"/>
              <a:t>Relocation: By default the compiler and assembler will assume that memory starts at address 0. The linker relocates symbols to the actual location in memory that the instructions and data will be located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Symbol resolution</a:t>
            </a:r>
            <a:endParaRPr/>
          </a:p>
        </p:txBody>
      </p:sp>
      <p:sp>
        <p:nvSpPr>
          <p:cNvPr id="102" name="Google Shape;102;p21"/>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
              <a:t>Step 1: Symbol resolution</a:t>
            </a:r>
            <a:endParaRPr/>
          </a:p>
          <a:p>
            <a:pPr indent="-317500" lvl="1" marL="914400" rtl="0" algn="l">
              <a:spcBef>
                <a:spcPts val="0"/>
              </a:spcBef>
              <a:spcAft>
                <a:spcPts val="0"/>
              </a:spcAft>
              <a:buSzPts val="1400"/>
              <a:buChar char="○"/>
            </a:pPr>
            <a:r>
              <a:rPr lang="en"/>
              <a:t>Programs define and reference symbols (global variables and functions):</a:t>
            </a:r>
            <a:endParaRPr/>
          </a:p>
          <a:p>
            <a:pPr indent="-342900" lvl="2" marL="1371600" rtl="0" algn="l">
              <a:spcBef>
                <a:spcPts val="0"/>
              </a:spcBef>
              <a:spcAft>
                <a:spcPts val="0"/>
              </a:spcAft>
              <a:buSzPts val="1800"/>
              <a:buFont typeface="Courier New"/>
              <a:buChar char="■"/>
            </a:pPr>
            <a:r>
              <a:rPr lang="en" sz="1800">
                <a:latin typeface="Courier New"/>
                <a:ea typeface="Courier New"/>
                <a:cs typeface="Courier New"/>
                <a:sym typeface="Courier New"/>
              </a:rPr>
              <a:t>void swap() {…}   /* define symbol swap */</a:t>
            </a:r>
            <a:endParaRPr/>
          </a:p>
          <a:p>
            <a:pPr indent="-342900" lvl="2" marL="1371600" rtl="0" algn="l">
              <a:spcBef>
                <a:spcPts val="0"/>
              </a:spcBef>
              <a:spcAft>
                <a:spcPts val="0"/>
              </a:spcAft>
              <a:buSzPts val="1800"/>
              <a:buFont typeface="Courier New"/>
              <a:buChar char="■"/>
            </a:pPr>
            <a:r>
              <a:rPr lang="en" sz="1800">
                <a:latin typeface="Courier New"/>
                <a:ea typeface="Courier New"/>
                <a:cs typeface="Courier New"/>
                <a:sym typeface="Courier New"/>
              </a:rPr>
              <a:t>swap();           /* reference symbol swap */</a:t>
            </a:r>
            <a:endParaRPr/>
          </a:p>
          <a:p>
            <a:pPr indent="-342900" lvl="2" marL="1371600" rtl="0" algn="l">
              <a:spcBef>
                <a:spcPts val="0"/>
              </a:spcBef>
              <a:spcAft>
                <a:spcPts val="0"/>
              </a:spcAft>
              <a:buSzPts val="1800"/>
              <a:buFont typeface="Courier New"/>
              <a:buChar char="■"/>
            </a:pPr>
            <a:r>
              <a:rPr lang="en" sz="1800">
                <a:latin typeface="Courier New"/>
                <a:ea typeface="Courier New"/>
                <a:cs typeface="Courier New"/>
                <a:sym typeface="Courier New"/>
              </a:rPr>
              <a:t>int *xp = &amp;x;  /* define symbol xp, reference x */</a:t>
            </a:r>
            <a:endParaRPr/>
          </a:p>
          <a:p>
            <a:pPr indent="-317500" lvl="1" marL="914400" rtl="0" algn="l">
              <a:spcBef>
                <a:spcPts val="0"/>
              </a:spcBef>
              <a:spcAft>
                <a:spcPts val="0"/>
              </a:spcAft>
              <a:buSzPts val="1400"/>
              <a:buChar char="○"/>
            </a:pPr>
            <a:r>
              <a:rPr lang="en"/>
              <a:t>Symbol definitions are stored in object file (by assembler) in symbol table.</a:t>
            </a:r>
            <a:endParaRPr/>
          </a:p>
          <a:p>
            <a:pPr indent="-317500" lvl="2" marL="1371600" rtl="0" algn="l">
              <a:spcBef>
                <a:spcPts val="0"/>
              </a:spcBef>
              <a:spcAft>
                <a:spcPts val="0"/>
              </a:spcAft>
              <a:buSzPts val="1400"/>
              <a:buChar char="■"/>
            </a:pPr>
            <a:r>
              <a:rPr lang="en"/>
              <a:t>Symbol table is an array of </a:t>
            </a:r>
            <a:r>
              <a:rPr lang="en">
                <a:latin typeface="Courier New"/>
                <a:ea typeface="Courier New"/>
                <a:cs typeface="Courier New"/>
                <a:sym typeface="Courier New"/>
              </a:rPr>
              <a:t>structs</a:t>
            </a:r>
            <a:endParaRPr>
              <a:latin typeface="Courier New"/>
              <a:ea typeface="Courier New"/>
              <a:cs typeface="Courier New"/>
              <a:sym typeface="Courier New"/>
            </a:endParaRPr>
          </a:p>
          <a:p>
            <a:pPr indent="-317500" lvl="2" marL="1371600" rtl="0" algn="l">
              <a:spcBef>
                <a:spcPts val="0"/>
              </a:spcBef>
              <a:spcAft>
                <a:spcPts val="0"/>
              </a:spcAft>
              <a:buSzPts val="1400"/>
              <a:buChar char="■"/>
            </a:pPr>
            <a:r>
              <a:rPr lang="en"/>
              <a:t>Each entry includes name, size, and location of symbol.</a:t>
            </a:r>
            <a:endParaRPr/>
          </a:p>
          <a:p>
            <a:pPr indent="-317500" lvl="1" marL="914400" rtl="0" algn="l">
              <a:spcBef>
                <a:spcPts val="0"/>
              </a:spcBef>
              <a:spcAft>
                <a:spcPts val="0"/>
              </a:spcAft>
              <a:buClr>
                <a:srgbClr val="C00000"/>
              </a:buClr>
              <a:buSzPts val="1400"/>
              <a:buChar char="○"/>
            </a:pPr>
            <a:r>
              <a:rPr lang="en">
                <a:solidFill>
                  <a:srgbClr val="C00000"/>
                </a:solidFill>
              </a:rPr>
              <a:t>During symbol resolution step:</a:t>
            </a:r>
            <a:endParaRPr>
              <a:solidFill>
                <a:srgbClr val="C00000"/>
              </a:solidFill>
            </a:endParaRPr>
          </a:p>
          <a:p>
            <a:pPr indent="-317500" lvl="2" marL="1371600" rtl="0" algn="l">
              <a:spcBef>
                <a:spcPts val="0"/>
              </a:spcBef>
              <a:spcAft>
                <a:spcPts val="0"/>
              </a:spcAft>
              <a:buClr>
                <a:srgbClr val="C00000"/>
              </a:buClr>
              <a:buSzPts val="1400"/>
              <a:buChar char="■"/>
            </a:pPr>
            <a:r>
              <a:rPr lang="en">
                <a:solidFill>
                  <a:srgbClr val="C00000"/>
                </a:solidFill>
              </a:rPr>
              <a:t>the linker associates each symbol reference with exactly one symbol definition.</a:t>
            </a:r>
            <a:endParaRPr>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Relocation</a:t>
            </a:r>
            <a:endParaRPr/>
          </a:p>
        </p:txBody>
      </p:sp>
      <p:sp>
        <p:nvSpPr>
          <p:cNvPr id="108" name="Google Shape;108;p22"/>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Step 2: Relocation</a:t>
            </a:r>
            <a:endParaRPr/>
          </a:p>
          <a:p>
            <a:pPr indent="-285750" lvl="1" marL="742950" rtl="0" algn="l">
              <a:spcBef>
                <a:spcPts val="400"/>
              </a:spcBef>
              <a:spcAft>
                <a:spcPts val="0"/>
              </a:spcAft>
              <a:buSzPts val="2200"/>
              <a:buChar char="○"/>
            </a:pPr>
            <a:r>
              <a:rPr lang="en"/>
              <a:t>Merges separate code and data sections into single sections</a:t>
            </a:r>
            <a:endParaRPr/>
          </a:p>
          <a:p>
            <a:pPr indent="-285750" lvl="1" marL="742950" rtl="0" algn="l">
              <a:spcBef>
                <a:spcPts val="400"/>
              </a:spcBef>
              <a:spcAft>
                <a:spcPts val="0"/>
              </a:spcAft>
              <a:buSzPts val="2200"/>
              <a:buChar char="○"/>
            </a:pPr>
            <a:r>
              <a:rPr lang="en"/>
              <a:t>Reloc</a:t>
            </a:r>
            <a:r>
              <a:rPr lang="en"/>
              <a:t>a</a:t>
            </a:r>
            <a:r>
              <a:rPr lang="en"/>
              <a:t>tes symbols from their relative locations in the </a:t>
            </a:r>
            <a:r>
              <a:rPr lang="en">
                <a:latin typeface="Courier New"/>
                <a:ea typeface="Courier New"/>
                <a:cs typeface="Courier New"/>
                <a:sym typeface="Courier New"/>
              </a:rPr>
              <a:t>.o</a:t>
            </a:r>
            <a:r>
              <a:rPr lang="en"/>
              <a:t> files to their final absolute memory locations in the executable.</a:t>
            </a:r>
            <a:endParaRPr/>
          </a:p>
          <a:p>
            <a:pPr indent="-285750" lvl="1" marL="742950" rtl="0" algn="l">
              <a:spcBef>
                <a:spcPts val="400"/>
              </a:spcBef>
              <a:spcAft>
                <a:spcPts val="0"/>
              </a:spcAft>
              <a:buSzPts val="2200"/>
              <a:buChar char="○"/>
            </a:pPr>
            <a:r>
              <a:rPr lang="en"/>
              <a:t>Updates all references to these symbols to reflect their new positions.</a:t>
            </a:r>
            <a:endParaRPr/>
          </a:p>
        </p:txBody>
      </p:sp>
      <p:sp>
        <p:nvSpPr>
          <p:cNvPr id="109" name="Google Shape;109;p22"/>
          <p:cNvSpPr txBox="1"/>
          <p:nvPr/>
        </p:nvSpPr>
        <p:spPr>
          <a:xfrm>
            <a:off x="396875" y="3998825"/>
            <a:ext cx="5978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400">
                <a:solidFill>
                  <a:schemeClr val="dk1"/>
                </a:solidFill>
                <a:latin typeface="Calibri"/>
                <a:ea typeface="Calibri"/>
                <a:cs typeface="Calibri"/>
                <a:sym typeface="Calibri"/>
              </a:rPr>
              <a:t>Let’s look at these two steps in more detail….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Three Kinds of Object Files (Modules)</a:t>
            </a:r>
            <a:endParaRPr/>
          </a:p>
        </p:txBody>
      </p:sp>
      <p:sp>
        <p:nvSpPr>
          <p:cNvPr id="115" name="Google Shape;115;p23"/>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SzPts val="1440"/>
              <a:buChar char="●"/>
            </a:pPr>
            <a:r>
              <a:rPr lang="en"/>
              <a:t>Relocatable object file (</a:t>
            </a:r>
            <a:r>
              <a:rPr lang="en">
                <a:latin typeface="Courier New"/>
                <a:ea typeface="Courier New"/>
                <a:cs typeface="Courier New"/>
                <a:sym typeface="Courier New"/>
              </a:rPr>
              <a:t>.o</a:t>
            </a:r>
            <a:r>
              <a:rPr lang="en"/>
              <a:t> file)</a:t>
            </a:r>
            <a:endParaRPr/>
          </a:p>
          <a:p>
            <a:pPr indent="-285750" lvl="1" marL="742950" rtl="0" algn="l">
              <a:spcBef>
                <a:spcPts val="400"/>
              </a:spcBef>
              <a:spcAft>
                <a:spcPts val="0"/>
              </a:spcAft>
              <a:buSzPts val="2200"/>
              <a:buChar char="○"/>
            </a:pPr>
            <a:r>
              <a:rPr lang="en"/>
              <a:t>Contains code and data in a form that can be combined with other relocatable object files to form executable object file.</a:t>
            </a:r>
            <a:endParaRPr/>
          </a:p>
          <a:p>
            <a:pPr indent="-228600" lvl="2" marL="1143000" rtl="0" algn="l">
              <a:spcBef>
                <a:spcPts val="400"/>
              </a:spcBef>
              <a:spcAft>
                <a:spcPts val="0"/>
              </a:spcAft>
              <a:buClr>
                <a:schemeClr val="dk1"/>
              </a:buClr>
              <a:buSzPts val="1600"/>
              <a:buChar char="■"/>
            </a:pPr>
            <a:r>
              <a:rPr lang="en"/>
              <a:t>Each </a:t>
            </a:r>
            <a:r>
              <a:rPr lang="en">
                <a:latin typeface="Courier New"/>
                <a:ea typeface="Courier New"/>
                <a:cs typeface="Courier New"/>
                <a:sym typeface="Courier New"/>
              </a:rPr>
              <a:t>.o</a:t>
            </a:r>
            <a:r>
              <a:rPr lang="en"/>
              <a:t> file is produced from exactly one source (</a:t>
            </a:r>
            <a:r>
              <a:rPr lang="en">
                <a:latin typeface="Courier New"/>
                <a:ea typeface="Courier New"/>
                <a:cs typeface="Courier New"/>
                <a:sym typeface="Courier New"/>
              </a:rPr>
              <a:t>.c</a:t>
            </a:r>
            <a:r>
              <a:rPr lang="en"/>
              <a:t>) file</a:t>
            </a:r>
            <a:endParaRPr/>
          </a:p>
          <a:p>
            <a:pPr indent="-342900" lvl="0" marL="342900" rtl="0" algn="l">
              <a:spcBef>
                <a:spcPts val="480"/>
              </a:spcBef>
              <a:spcAft>
                <a:spcPts val="0"/>
              </a:spcAft>
              <a:buSzPts val="1440"/>
              <a:buChar char="●"/>
            </a:pPr>
            <a:r>
              <a:rPr lang="en"/>
              <a:t>Executable object file (</a:t>
            </a:r>
            <a:r>
              <a:rPr lang="en">
                <a:latin typeface="Courier New"/>
                <a:ea typeface="Courier New"/>
                <a:cs typeface="Courier New"/>
                <a:sym typeface="Courier New"/>
              </a:rPr>
              <a:t>a.out</a:t>
            </a:r>
            <a:r>
              <a:rPr lang="en"/>
              <a:t> file)</a:t>
            </a:r>
            <a:endParaRPr/>
          </a:p>
          <a:p>
            <a:pPr indent="-285750" lvl="1" marL="742950" rtl="0" algn="l">
              <a:spcBef>
                <a:spcPts val="400"/>
              </a:spcBef>
              <a:spcAft>
                <a:spcPts val="0"/>
              </a:spcAft>
              <a:buSzPts val="2200"/>
              <a:buChar char="○"/>
            </a:pPr>
            <a:r>
              <a:rPr lang="en"/>
              <a:t>Contains code and data in a form that can be copied directly into memory and then executed.</a:t>
            </a:r>
            <a:endParaRPr/>
          </a:p>
          <a:p>
            <a:pPr indent="-342900" lvl="0" marL="342900" rtl="0" algn="l">
              <a:spcBef>
                <a:spcPts val="480"/>
              </a:spcBef>
              <a:spcAft>
                <a:spcPts val="0"/>
              </a:spcAft>
              <a:buSzPts val="1440"/>
              <a:buChar char="●"/>
            </a:pPr>
            <a:r>
              <a:rPr lang="en"/>
              <a:t>Shared object file (</a:t>
            </a:r>
            <a:r>
              <a:rPr lang="en">
                <a:latin typeface="Courier New"/>
                <a:ea typeface="Courier New"/>
                <a:cs typeface="Courier New"/>
                <a:sym typeface="Courier New"/>
              </a:rPr>
              <a:t>.so </a:t>
            </a:r>
            <a:r>
              <a:rPr lang="en"/>
              <a:t>file)</a:t>
            </a:r>
            <a:endParaRPr/>
          </a:p>
          <a:p>
            <a:pPr indent="-285750" lvl="1" marL="742950" rtl="0" algn="l">
              <a:spcBef>
                <a:spcPts val="400"/>
              </a:spcBef>
              <a:spcAft>
                <a:spcPts val="0"/>
              </a:spcAft>
              <a:buSzPts val="2200"/>
              <a:buChar char="○"/>
            </a:pPr>
            <a:r>
              <a:rPr lang="en"/>
              <a:t>Special type of relocatable object file that can be loaded into memory and linked dynamically, at either load time or run-time.</a:t>
            </a:r>
            <a:endParaRPr/>
          </a:p>
          <a:p>
            <a:pPr indent="-285750" lvl="1" marL="742950" rtl="0" algn="l">
              <a:spcBef>
                <a:spcPts val="400"/>
              </a:spcBef>
              <a:spcAft>
                <a:spcPts val="0"/>
              </a:spcAft>
              <a:buSzPts val="2200"/>
              <a:buChar char="○"/>
            </a:pPr>
            <a:r>
              <a:rPr lang="en"/>
              <a:t>Called Dynamic Link Libraries (DLLs) by Windows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Executable and Linkable Format (ELF)</a:t>
            </a:r>
            <a:endParaRPr/>
          </a:p>
        </p:txBody>
      </p:sp>
      <p:sp>
        <p:nvSpPr>
          <p:cNvPr id="121" name="Google Shape;121;p24"/>
          <p:cNvSpPr txBox="1"/>
          <p:nvPr>
            <p:ph idx="1" type="body"/>
          </p:nvPr>
        </p:nvSpPr>
        <p:spPr>
          <a:xfrm>
            <a:off x="311700" y="1152475"/>
            <a:ext cx="48528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Standard binary format for object files</a:t>
            </a:r>
            <a:endParaRPr/>
          </a:p>
          <a:p>
            <a:pPr indent="-342900" lvl="0" marL="342900" rtl="0" algn="l">
              <a:spcBef>
                <a:spcPts val="480"/>
              </a:spcBef>
              <a:spcAft>
                <a:spcPts val="0"/>
              </a:spcAft>
              <a:buSzPts val="1440"/>
              <a:buChar char="●"/>
            </a:pPr>
            <a:r>
              <a:rPr lang="en"/>
              <a:t>One unified format for </a:t>
            </a:r>
            <a:endParaRPr/>
          </a:p>
          <a:p>
            <a:pPr indent="-285750" lvl="1" marL="742950" rtl="0" algn="l">
              <a:spcBef>
                <a:spcPts val="400"/>
              </a:spcBef>
              <a:spcAft>
                <a:spcPts val="0"/>
              </a:spcAft>
              <a:buSzPts val="2200"/>
              <a:buChar char="○"/>
            </a:pPr>
            <a:r>
              <a:rPr lang="en"/>
              <a:t>Relocatable object files (</a:t>
            </a:r>
            <a:r>
              <a:rPr lang="en">
                <a:latin typeface="Courier New"/>
                <a:ea typeface="Courier New"/>
                <a:cs typeface="Courier New"/>
                <a:sym typeface="Courier New"/>
              </a:rPr>
              <a:t>.o</a:t>
            </a:r>
            <a:r>
              <a:rPr lang="en"/>
              <a:t>), </a:t>
            </a:r>
            <a:endParaRPr/>
          </a:p>
          <a:p>
            <a:pPr indent="-285750" lvl="1" marL="742950" rtl="0" algn="l">
              <a:spcBef>
                <a:spcPts val="400"/>
              </a:spcBef>
              <a:spcAft>
                <a:spcPts val="0"/>
              </a:spcAft>
              <a:buSzPts val="2200"/>
              <a:buChar char="○"/>
            </a:pPr>
            <a:r>
              <a:rPr lang="en"/>
              <a:t>Executable object files </a:t>
            </a:r>
            <a:r>
              <a:rPr lang="en">
                <a:latin typeface="Courier New"/>
                <a:ea typeface="Courier New"/>
                <a:cs typeface="Courier New"/>
                <a:sym typeface="Courier New"/>
              </a:rPr>
              <a:t>(a.out</a:t>
            </a:r>
            <a:r>
              <a:rPr lang="en"/>
              <a:t>)</a:t>
            </a:r>
            <a:endParaRPr/>
          </a:p>
          <a:p>
            <a:pPr indent="-285750" lvl="1" marL="742950" rtl="0" algn="l">
              <a:spcBef>
                <a:spcPts val="400"/>
              </a:spcBef>
              <a:spcAft>
                <a:spcPts val="0"/>
              </a:spcAft>
              <a:buSzPts val="2200"/>
              <a:buChar char="○"/>
            </a:pPr>
            <a:r>
              <a:rPr lang="en"/>
              <a:t>Shared object files (</a:t>
            </a:r>
            <a:r>
              <a:rPr lang="en">
                <a:latin typeface="Courier New"/>
                <a:ea typeface="Courier New"/>
                <a:cs typeface="Courier New"/>
                <a:sym typeface="Courier New"/>
              </a:rPr>
              <a:t>.so</a:t>
            </a:r>
            <a:r>
              <a:rPr lang="en"/>
              <a:t>)</a:t>
            </a:r>
            <a:endParaRPr/>
          </a:p>
          <a:p>
            <a:pPr indent="-342900" lvl="0" marL="342900" rtl="0" algn="l">
              <a:spcBef>
                <a:spcPts val="480"/>
              </a:spcBef>
              <a:spcAft>
                <a:spcPts val="0"/>
              </a:spcAft>
              <a:buSzPts val="1440"/>
              <a:buChar char="●"/>
            </a:pPr>
            <a:r>
              <a:rPr lang="en"/>
              <a:t>Generic name: ELF binaries</a:t>
            </a:r>
            <a:endParaRPr/>
          </a:p>
        </p:txBody>
      </p:sp>
      <p:pic>
        <p:nvPicPr>
          <p:cNvPr descr="image of the elf file format" id="122" name="Google Shape;122;p24"/>
          <p:cNvPicPr preferRelativeResize="0"/>
          <p:nvPr/>
        </p:nvPicPr>
        <p:blipFill>
          <a:blip r:embed="rId3">
            <a:alphaModFix/>
          </a:blip>
          <a:stretch>
            <a:fillRect/>
          </a:stretch>
        </p:blipFill>
        <p:spPr>
          <a:xfrm>
            <a:off x="5164600" y="2519713"/>
            <a:ext cx="2921794" cy="2207419"/>
          </a:xfrm>
          <a:prstGeom prst="rect">
            <a:avLst/>
          </a:prstGeom>
          <a:noFill/>
          <a:ln>
            <a:noFill/>
          </a:ln>
        </p:spPr>
      </p:pic>
      <p:pic>
        <p:nvPicPr>
          <p:cNvPr descr="Decorative image of a christmas elf" id="123" name="Google Shape;123;p24"/>
          <p:cNvPicPr preferRelativeResize="0"/>
          <p:nvPr/>
        </p:nvPicPr>
        <p:blipFill>
          <a:blip r:embed="rId4">
            <a:alphaModFix/>
          </a:blip>
          <a:stretch>
            <a:fillRect/>
          </a:stretch>
        </p:blipFill>
        <p:spPr>
          <a:xfrm>
            <a:off x="6691825" y="2394631"/>
            <a:ext cx="2551388" cy="2551388"/>
          </a:xfrm>
          <a:prstGeom prst="rect">
            <a:avLst/>
          </a:prstGeom>
          <a:noFill/>
          <a:ln>
            <a:noFill/>
          </a:ln>
        </p:spPr>
      </p:pic>
      <p:pic>
        <p:nvPicPr>
          <p:cNvPr descr="Decorative image of a fantasy elf" id="124" name="Google Shape;124;p24"/>
          <p:cNvPicPr preferRelativeResize="0"/>
          <p:nvPr/>
        </p:nvPicPr>
        <p:blipFill>
          <a:blip r:embed="rId5">
            <a:alphaModFix/>
          </a:blip>
          <a:stretch>
            <a:fillRect/>
          </a:stretch>
        </p:blipFill>
        <p:spPr>
          <a:xfrm>
            <a:off x="5915400" y="1017725"/>
            <a:ext cx="3106450" cy="1553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idx="4294967295" type="title"/>
          </p:nvPr>
        </p:nvSpPr>
        <p:spPr>
          <a:xfrm>
            <a:off x="372533" y="28932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ELF Object File Format</a:t>
            </a:r>
            <a:endParaRPr/>
          </a:p>
        </p:txBody>
      </p:sp>
      <p:sp>
        <p:nvSpPr>
          <p:cNvPr id="131" name="Google Shape;131;p25"/>
          <p:cNvSpPr txBox="1"/>
          <p:nvPr>
            <p:ph idx="1" type="body"/>
          </p:nvPr>
        </p:nvSpPr>
        <p:spPr>
          <a:xfrm>
            <a:off x="311700" y="1152475"/>
            <a:ext cx="5555700" cy="3533700"/>
          </a:xfrm>
          <a:prstGeom prst="rect">
            <a:avLst/>
          </a:prstGeom>
          <a:noFill/>
          <a:ln>
            <a:noFill/>
          </a:ln>
        </p:spPr>
        <p:txBody>
          <a:bodyPr anchorCtr="0" anchor="t" bIns="45700" lIns="91425" spcFirstLastPara="1" rIns="91425" wrap="square" tIns="45700">
            <a:normAutofit fontScale="62500" lnSpcReduction="20000"/>
          </a:bodyPr>
          <a:lstStyle/>
          <a:p>
            <a:pPr indent="-314325" lvl="0" marL="342900" rtl="0" algn="l">
              <a:lnSpc>
                <a:spcPct val="83000"/>
              </a:lnSpc>
              <a:spcBef>
                <a:spcPts val="0"/>
              </a:spcBef>
              <a:spcAft>
                <a:spcPts val="0"/>
              </a:spcAft>
              <a:buSzPct val="60000"/>
              <a:buChar char="●"/>
            </a:pPr>
            <a:r>
              <a:rPr lang="en" sz="2000"/>
              <a:t>Elf header</a:t>
            </a:r>
            <a:endParaRPr/>
          </a:p>
          <a:p>
            <a:pPr indent="-238601" lvl="1" marL="742950" rtl="0" algn="l">
              <a:lnSpc>
                <a:spcPct val="88000"/>
              </a:lnSpc>
              <a:spcBef>
                <a:spcPts val="563"/>
              </a:spcBef>
              <a:spcAft>
                <a:spcPts val="0"/>
              </a:spcAft>
              <a:buSzPct val="110000"/>
              <a:buChar char="○"/>
            </a:pPr>
            <a:r>
              <a:rPr lang="en" sz="1800"/>
              <a:t>Word size, byte ordering, file type (.o, exec, .so), machine type, etc.</a:t>
            </a:r>
            <a:endParaRPr/>
          </a:p>
          <a:p>
            <a:pPr indent="-314325" lvl="0" marL="342900" rtl="0" algn="l">
              <a:lnSpc>
                <a:spcPct val="83000"/>
              </a:lnSpc>
              <a:spcBef>
                <a:spcPts val="1250"/>
              </a:spcBef>
              <a:spcAft>
                <a:spcPts val="0"/>
              </a:spcAft>
              <a:buSzPct val="60000"/>
              <a:buChar char="●"/>
            </a:pPr>
            <a:r>
              <a:rPr lang="en" sz="2000"/>
              <a:t>Segment header table</a:t>
            </a:r>
            <a:endParaRPr/>
          </a:p>
          <a:p>
            <a:pPr indent="-238601" lvl="1" marL="742950" rtl="0" algn="l">
              <a:lnSpc>
                <a:spcPct val="88000"/>
              </a:lnSpc>
              <a:spcBef>
                <a:spcPts val="563"/>
              </a:spcBef>
              <a:spcAft>
                <a:spcPts val="0"/>
              </a:spcAft>
              <a:buSzPct val="110000"/>
              <a:buChar char="○"/>
            </a:pPr>
            <a:r>
              <a:rPr lang="en" sz="1800"/>
              <a:t>Page size, virtual addresses memory segments (sections), segment sizes.</a:t>
            </a:r>
            <a:endParaRPr/>
          </a:p>
          <a:p>
            <a:pPr indent="-314325" lvl="0" marL="342900" rtl="0" algn="l">
              <a:lnSpc>
                <a:spcPct val="80000"/>
              </a:lnSpc>
              <a:spcBef>
                <a:spcPts val="1250"/>
              </a:spcBef>
              <a:spcAft>
                <a:spcPts val="0"/>
              </a:spcAft>
              <a:buSzPct val="60000"/>
              <a:buChar char="●"/>
            </a:pPr>
            <a:r>
              <a:rPr lang="en" sz="2000">
                <a:latin typeface="Courier New"/>
                <a:ea typeface="Courier New"/>
                <a:cs typeface="Courier New"/>
                <a:sym typeface="Courier New"/>
              </a:rPr>
              <a:t>.text</a:t>
            </a:r>
            <a:r>
              <a:rPr lang="en" sz="2000"/>
              <a:t> section</a:t>
            </a:r>
            <a:endParaRPr/>
          </a:p>
          <a:p>
            <a:pPr indent="-238601" lvl="1" marL="742950" rtl="0" algn="l">
              <a:lnSpc>
                <a:spcPct val="88000"/>
              </a:lnSpc>
              <a:spcBef>
                <a:spcPts val="563"/>
              </a:spcBef>
              <a:spcAft>
                <a:spcPts val="0"/>
              </a:spcAft>
              <a:buSzPct val="110000"/>
              <a:buChar char="○"/>
            </a:pPr>
            <a:r>
              <a:rPr lang="en" sz="1800"/>
              <a:t>Code</a:t>
            </a:r>
            <a:endParaRPr/>
          </a:p>
          <a:p>
            <a:pPr indent="-314325" lvl="0" marL="342900" rtl="0" algn="l">
              <a:lnSpc>
                <a:spcPct val="80000"/>
              </a:lnSpc>
              <a:spcBef>
                <a:spcPts val="1250"/>
              </a:spcBef>
              <a:spcAft>
                <a:spcPts val="0"/>
              </a:spcAft>
              <a:buSzPct val="60000"/>
              <a:buChar char="●"/>
            </a:pPr>
            <a:r>
              <a:rPr lang="en" sz="2000">
                <a:latin typeface="Courier New"/>
                <a:ea typeface="Courier New"/>
                <a:cs typeface="Courier New"/>
                <a:sym typeface="Courier New"/>
              </a:rPr>
              <a:t>.rodata </a:t>
            </a:r>
            <a:r>
              <a:rPr lang="en" sz="2000"/>
              <a:t>section</a:t>
            </a:r>
            <a:endParaRPr/>
          </a:p>
          <a:p>
            <a:pPr indent="-238601" lvl="1" marL="742950" rtl="0" algn="l">
              <a:lnSpc>
                <a:spcPct val="80000"/>
              </a:lnSpc>
              <a:spcBef>
                <a:spcPts val="1250"/>
              </a:spcBef>
              <a:spcAft>
                <a:spcPts val="0"/>
              </a:spcAft>
              <a:buSzPct val="110000"/>
              <a:buChar char="○"/>
            </a:pPr>
            <a:r>
              <a:rPr lang="en" sz="1800"/>
              <a:t>Read only data: jump tables, ...</a:t>
            </a:r>
            <a:endParaRPr/>
          </a:p>
          <a:p>
            <a:pPr indent="-314325" lvl="0" marL="342900" rtl="0" algn="l">
              <a:lnSpc>
                <a:spcPct val="80000"/>
              </a:lnSpc>
              <a:spcBef>
                <a:spcPts val="1250"/>
              </a:spcBef>
              <a:spcAft>
                <a:spcPts val="0"/>
              </a:spcAft>
              <a:buSzPct val="60000"/>
              <a:buChar char="●"/>
            </a:pPr>
            <a:r>
              <a:rPr lang="en" sz="2000">
                <a:latin typeface="Courier New"/>
                <a:ea typeface="Courier New"/>
                <a:cs typeface="Courier New"/>
                <a:sym typeface="Courier New"/>
              </a:rPr>
              <a:t>.data</a:t>
            </a:r>
            <a:r>
              <a:rPr lang="en" sz="2000"/>
              <a:t> section</a:t>
            </a:r>
            <a:endParaRPr/>
          </a:p>
          <a:p>
            <a:pPr indent="-238601" lvl="1" marL="742950" rtl="0" algn="l">
              <a:lnSpc>
                <a:spcPct val="88000"/>
              </a:lnSpc>
              <a:spcBef>
                <a:spcPts val="563"/>
              </a:spcBef>
              <a:spcAft>
                <a:spcPts val="0"/>
              </a:spcAft>
              <a:buSzPct val="110000"/>
              <a:buChar char="○"/>
            </a:pPr>
            <a:r>
              <a:rPr lang="en" sz="1800"/>
              <a:t>Initialized global variables</a:t>
            </a:r>
            <a:endParaRPr/>
          </a:p>
          <a:p>
            <a:pPr indent="-314325" lvl="0" marL="342900" rtl="0" algn="l">
              <a:lnSpc>
                <a:spcPct val="80000"/>
              </a:lnSpc>
              <a:spcBef>
                <a:spcPts val="1250"/>
              </a:spcBef>
              <a:spcAft>
                <a:spcPts val="0"/>
              </a:spcAft>
              <a:buSzPct val="60000"/>
              <a:buChar char="●"/>
            </a:pPr>
            <a:r>
              <a:rPr lang="en" sz="2000">
                <a:latin typeface="Courier New"/>
                <a:ea typeface="Courier New"/>
                <a:cs typeface="Courier New"/>
                <a:sym typeface="Courier New"/>
              </a:rPr>
              <a:t>.bss</a:t>
            </a:r>
            <a:r>
              <a:rPr lang="en" sz="2000"/>
              <a:t> section</a:t>
            </a:r>
            <a:endParaRPr/>
          </a:p>
          <a:p>
            <a:pPr indent="-238601" lvl="1" marL="742950" rtl="0" algn="l">
              <a:lnSpc>
                <a:spcPct val="88000"/>
              </a:lnSpc>
              <a:spcBef>
                <a:spcPts val="563"/>
              </a:spcBef>
              <a:spcAft>
                <a:spcPts val="0"/>
              </a:spcAft>
              <a:buSzPct val="110000"/>
              <a:buChar char="○"/>
            </a:pPr>
            <a:r>
              <a:rPr lang="en" sz="1800"/>
              <a:t>Uninitialized global variables</a:t>
            </a:r>
            <a:endParaRPr/>
          </a:p>
          <a:p>
            <a:pPr indent="-238601" lvl="1" marL="742950" rtl="0" algn="l">
              <a:lnSpc>
                <a:spcPct val="88000"/>
              </a:lnSpc>
              <a:spcBef>
                <a:spcPts val="563"/>
              </a:spcBef>
              <a:spcAft>
                <a:spcPts val="0"/>
              </a:spcAft>
              <a:buSzPct val="110000"/>
              <a:buChar char="○"/>
            </a:pPr>
            <a:r>
              <a:rPr lang="en" sz="1800"/>
              <a:t>“Block Started by Symbol”</a:t>
            </a:r>
            <a:endParaRPr/>
          </a:p>
          <a:p>
            <a:pPr indent="-238601" lvl="1" marL="742950" rtl="0" algn="l">
              <a:lnSpc>
                <a:spcPct val="88000"/>
              </a:lnSpc>
              <a:spcBef>
                <a:spcPts val="563"/>
              </a:spcBef>
              <a:spcAft>
                <a:spcPts val="0"/>
              </a:spcAft>
              <a:buSzPct val="110000"/>
              <a:buChar char="○"/>
            </a:pPr>
            <a:r>
              <a:rPr lang="en" sz="1800">
                <a:solidFill>
                  <a:srgbClr val="C00000"/>
                </a:solidFill>
              </a:rPr>
              <a:t>“Better Save Space”</a:t>
            </a:r>
            <a:endParaRPr/>
          </a:p>
          <a:p>
            <a:pPr indent="-238601" lvl="1" marL="742950" rtl="0" algn="l">
              <a:lnSpc>
                <a:spcPct val="88000"/>
              </a:lnSpc>
              <a:spcBef>
                <a:spcPts val="563"/>
              </a:spcBef>
              <a:spcAft>
                <a:spcPts val="0"/>
              </a:spcAft>
              <a:buSzPct val="110000"/>
              <a:buChar char="○"/>
            </a:pPr>
            <a:r>
              <a:rPr lang="en" sz="1800"/>
              <a:t>Has section header but occupies no space</a:t>
            </a:r>
            <a:endParaRPr sz="1800"/>
          </a:p>
        </p:txBody>
      </p:sp>
      <p:sp>
        <p:nvSpPr>
          <p:cNvPr id="132" name="Google Shape;132;p25"/>
          <p:cNvSpPr/>
          <p:nvPr/>
        </p:nvSpPr>
        <p:spPr>
          <a:xfrm>
            <a:off x="5867400" y="1200150"/>
            <a:ext cx="2971800" cy="2859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ELF header</a:t>
            </a:r>
            <a:endParaRPr/>
          </a:p>
        </p:txBody>
      </p:sp>
      <p:sp>
        <p:nvSpPr>
          <p:cNvPr id="133" name="Google Shape;133;p25"/>
          <p:cNvSpPr/>
          <p:nvPr/>
        </p:nvSpPr>
        <p:spPr>
          <a:xfrm>
            <a:off x="5867400" y="1485900"/>
            <a:ext cx="2971800" cy="4572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Segment header table</a:t>
            </a:r>
            <a:endParaRPr/>
          </a:p>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(required for executables)</a:t>
            </a:r>
            <a:endParaRPr/>
          </a:p>
        </p:txBody>
      </p:sp>
      <p:sp>
        <p:nvSpPr>
          <p:cNvPr id="134" name="Google Shape;134;p25"/>
          <p:cNvSpPr/>
          <p:nvPr/>
        </p:nvSpPr>
        <p:spPr>
          <a:xfrm>
            <a:off x="5867400" y="1943100"/>
            <a:ext cx="2971800" cy="2859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.text</a:t>
            </a:r>
            <a:r>
              <a:rPr b="1" lang="en" sz="1600">
                <a:solidFill>
                  <a:schemeClr val="dk1"/>
                </a:solidFill>
                <a:latin typeface="Calibri"/>
                <a:ea typeface="Calibri"/>
                <a:cs typeface="Calibri"/>
                <a:sym typeface="Calibri"/>
              </a:rPr>
              <a:t> section</a:t>
            </a:r>
            <a:endParaRPr/>
          </a:p>
        </p:txBody>
      </p:sp>
      <p:sp>
        <p:nvSpPr>
          <p:cNvPr id="135" name="Google Shape;135;p25"/>
          <p:cNvSpPr/>
          <p:nvPr/>
        </p:nvSpPr>
        <p:spPr>
          <a:xfrm>
            <a:off x="5867400" y="2228850"/>
            <a:ext cx="2971800" cy="2859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.rodata</a:t>
            </a:r>
            <a:r>
              <a:rPr b="1" lang="en" sz="1600">
                <a:solidFill>
                  <a:schemeClr val="dk1"/>
                </a:solidFill>
                <a:latin typeface="Calibri"/>
                <a:ea typeface="Calibri"/>
                <a:cs typeface="Calibri"/>
                <a:sym typeface="Calibri"/>
              </a:rPr>
              <a:t> section</a:t>
            </a:r>
            <a:endParaRPr/>
          </a:p>
        </p:txBody>
      </p:sp>
      <p:sp>
        <p:nvSpPr>
          <p:cNvPr id="136" name="Google Shape;136;p25"/>
          <p:cNvSpPr/>
          <p:nvPr/>
        </p:nvSpPr>
        <p:spPr>
          <a:xfrm>
            <a:off x="5867400" y="2800350"/>
            <a:ext cx="2971800" cy="2859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.bss</a:t>
            </a:r>
            <a:r>
              <a:rPr b="1" lang="en" sz="1600">
                <a:solidFill>
                  <a:schemeClr val="dk1"/>
                </a:solidFill>
                <a:latin typeface="Calibri"/>
                <a:ea typeface="Calibri"/>
                <a:cs typeface="Calibri"/>
                <a:sym typeface="Calibri"/>
              </a:rPr>
              <a:t> section</a:t>
            </a:r>
            <a:endParaRPr/>
          </a:p>
        </p:txBody>
      </p:sp>
      <p:sp>
        <p:nvSpPr>
          <p:cNvPr id="137" name="Google Shape;137;p25"/>
          <p:cNvSpPr/>
          <p:nvPr/>
        </p:nvSpPr>
        <p:spPr>
          <a:xfrm>
            <a:off x="5867400" y="3086100"/>
            <a:ext cx="2971800" cy="2859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.symtab </a:t>
            </a:r>
            <a:r>
              <a:rPr b="1" lang="en" sz="1600">
                <a:solidFill>
                  <a:schemeClr val="dk1"/>
                </a:solidFill>
                <a:latin typeface="Calibri"/>
                <a:ea typeface="Calibri"/>
                <a:cs typeface="Calibri"/>
                <a:sym typeface="Calibri"/>
              </a:rPr>
              <a:t>section</a:t>
            </a:r>
            <a:endParaRPr/>
          </a:p>
        </p:txBody>
      </p:sp>
      <p:sp>
        <p:nvSpPr>
          <p:cNvPr id="138" name="Google Shape;138;p25"/>
          <p:cNvSpPr/>
          <p:nvPr/>
        </p:nvSpPr>
        <p:spPr>
          <a:xfrm>
            <a:off x="5867400" y="3371850"/>
            <a:ext cx="2971800" cy="2859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.rel.txt </a:t>
            </a:r>
            <a:r>
              <a:rPr b="1" lang="en" sz="1600">
                <a:solidFill>
                  <a:schemeClr val="dk1"/>
                </a:solidFill>
                <a:latin typeface="Calibri"/>
                <a:ea typeface="Calibri"/>
                <a:cs typeface="Calibri"/>
                <a:sym typeface="Calibri"/>
              </a:rPr>
              <a:t>section</a:t>
            </a:r>
            <a:endParaRPr/>
          </a:p>
        </p:txBody>
      </p:sp>
      <p:sp>
        <p:nvSpPr>
          <p:cNvPr id="139" name="Google Shape;139;p25"/>
          <p:cNvSpPr/>
          <p:nvPr/>
        </p:nvSpPr>
        <p:spPr>
          <a:xfrm>
            <a:off x="5867400" y="3657600"/>
            <a:ext cx="2971800" cy="2859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.rel.data </a:t>
            </a:r>
            <a:r>
              <a:rPr b="1" lang="en" sz="1600">
                <a:solidFill>
                  <a:schemeClr val="dk1"/>
                </a:solidFill>
                <a:latin typeface="Calibri"/>
                <a:ea typeface="Calibri"/>
                <a:cs typeface="Calibri"/>
                <a:sym typeface="Calibri"/>
              </a:rPr>
              <a:t>section</a:t>
            </a:r>
            <a:endParaRPr/>
          </a:p>
        </p:txBody>
      </p:sp>
      <p:sp>
        <p:nvSpPr>
          <p:cNvPr id="140" name="Google Shape;140;p25"/>
          <p:cNvSpPr/>
          <p:nvPr/>
        </p:nvSpPr>
        <p:spPr>
          <a:xfrm>
            <a:off x="5867400" y="3943350"/>
            <a:ext cx="2971800" cy="2859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.debug </a:t>
            </a:r>
            <a:r>
              <a:rPr b="1" lang="en" sz="1600">
                <a:solidFill>
                  <a:schemeClr val="dk1"/>
                </a:solidFill>
                <a:latin typeface="Calibri"/>
                <a:ea typeface="Calibri"/>
                <a:cs typeface="Calibri"/>
                <a:sym typeface="Calibri"/>
              </a:rPr>
              <a:t>section</a:t>
            </a:r>
            <a:endParaRPr/>
          </a:p>
        </p:txBody>
      </p:sp>
      <p:sp>
        <p:nvSpPr>
          <p:cNvPr id="141" name="Google Shape;141;p25"/>
          <p:cNvSpPr/>
          <p:nvPr/>
        </p:nvSpPr>
        <p:spPr>
          <a:xfrm>
            <a:off x="5867400" y="4229100"/>
            <a:ext cx="2971800" cy="4572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Section header table</a:t>
            </a:r>
            <a:endParaRPr/>
          </a:p>
        </p:txBody>
      </p:sp>
      <p:sp>
        <p:nvSpPr>
          <p:cNvPr id="142" name="Google Shape;142;p25"/>
          <p:cNvSpPr txBox="1"/>
          <p:nvPr/>
        </p:nvSpPr>
        <p:spPr>
          <a:xfrm>
            <a:off x="8839200" y="1085850"/>
            <a:ext cx="285900" cy="3360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0</a:t>
            </a:r>
            <a:endParaRPr/>
          </a:p>
        </p:txBody>
      </p:sp>
      <p:sp>
        <p:nvSpPr>
          <p:cNvPr id="143" name="Google Shape;143;p25"/>
          <p:cNvSpPr/>
          <p:nvPr/>
        </p:nvSpPr>
        <p:spPr>
          <a:xfrm>
            <a:off x="5867400" y="2514600"/>
            <a:ext cx="2971800" cy="2859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.data</a:t>
            </a:r>
            <a:r>
              <a:rPr b="1" lang="en" sz="1600">
                <a:solidFill>
                  <a:schemeClr val="dk1"/>
                </a:solidFill>
                <a:latin typeface="Calibri"/>
                <a:ea typeface="Calibri"/>
                <a:cs typeface="Calibri"/>
                <a:sym typeface="Calibri"/>
              </a:rPr>
              <a:t> section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idx="4294967295" type="title"/>
          </p:nvPr>
        </p:nvSpPr>
        <p:spPr>
          <a:xfrm>
            <a:off x="381000" y="28932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ELF Object File Format (cont.)</a:t>
            </a:r>
            <a:endParaRPr/>
          </a:p>
        </p:txBody>
      </p:sp>
      <p:sp>
        <p:nvSpPr>
          <p:cNvPr id="150" name="Google Shape;150;p26"/>
          <p:cNvSpPr txBox="1"/>
          <p:nvPr>
            <p:ph idx="1" type="body"/>
          </p:nvPr>
        </p:nvSpPr>
        <p:spPr>
          <a:xfrm>
            <a:off x="311700" y="1152475"/>
            <a:ext cx="5555700" cy="3533700"/>
          </a:xfrm>
          <a:prstGeom prst="rect">
            <a:avLst/>
          </a:prstGeom>
          <a:noFill/>
          <a:ln>
            <a:noFill/>
          </a:ln>
        </p:spPr>
        <p:txBody>
          <a:bodyPr anchorCtr="0" anchor="t" bIns="45700" lIns="91425" spcFirstLastPara="1" rIns="91425" wrap="square" tIns="45700">
            <a:normAutofit fontScale="70000" lnSpcReduction="20000"/>
          </a:bodyPr>
          <a:lstStyle/>
          <a:p>
            <a:pPr indent="-317500" lvl="0" marL="457200" rtl="0" algn="l">
              <a:lnSpc>
                <a:spcPct val="115000"/>
              </a:lnSpc>
              <a:spcBef>
                <a:spcPts val="0"/>
              </a:spcBef>
              <a:spcAft>
                <a:spcPts val="0"/>
              </a:spcAft>
              <a:buSzPct val="100000"/>
              <a:buChar char="●"/>
            </a:pPr>
            <a:r>
              <a:rPr lang="en" sz="2000">
                <a:latin typeface="Courier New"/>
                <a:ea typeface="Courier New"/>
                <a:cs typeface="Courier New"/>
                <a:sym typeface="Courier New"/>
              </a:rPr>
              <a:t>.symtab</a:t>
            </a:r>
            <a:r>
              <a:rPr lang="en" sz="2000"/>
              <a:t> section</a:t>
            </a:r>
            <a:endParaRPr/>
          </a:p>
          <a:p>
            <a:pPr indent="-308610" lvl="1" marL="914400" rtl="0" algn="l">
              <a:lnSpc>
                <a:spcPct val="115000"/>
              </a:lnSpc>
              <a:spcBef>
                <a:spcPts val="0"/>
              </a:spcBef>
              <a:spcAft>
                <a:spcPts val="0"/>
              </a:spcAft>
              <a:buSzPct val="100000"/>
              <a:buChar char="○"/>
            </a:pPr>
            <a:r>
              <a:rPr lang="en" sz="1800"/>
              <a:t>Symbol table</a:t>
            </a:r>
            <a:endParaRPr/>
          </a:p>
          <a:p>
            <a:pPr indent="-308610" lvl="1" marL="914400" rtl="0" algn="l">
              <a:lnSpc>
                <a:spcPct val="115000"/>
              </a:lnSpc>
              <a:spcBef>
                <a:spcPts val="0"/>
              </a:spcBef>
              <a:spcAft>
                <a:spcPts val="0"/>
              </a:spcAft>
              <a:buSzPct val="100000"/>
              <a:buChar char="○"/>
            </a:pPr>
            <a:r>
              <a:rPr lang="en" sz="1800"/>
              <a:t>Procedure and static variable names</a:t>
            </a:r>
            <a:endParaRPr/>
          </a:p>
          <a:p>
            <a:pPr indent="-308610" lvl="1" marL="914400" rtl="0" algn="l">
              <a:lnSpc>
                <a:spcPct val="115000"/>
              </a:lnSpc>
              <a:spcBef>
                <a:spcPts val="0"/>
              </a:spcBef>
              <a:spcAft>
                <a:spcPts val="0"/>
              </a:spcAft>
              <a:buSzPct val="100000"/>
              <a:buChar char="○"/>
            </a:pPr>
            <a:r>
              <a:rPr lang="en" sz="1800"/>
              <a:t>Section names and locations</a:t>
            </a:r>
            <a:endParaRPr/>
          </a:p>
          <a:p>
            <a:pPr indent="-317500" lvl="0" marL="457200" rtl="0" algn="l">
              <a:lnSpc>
                <a:spcPct val="115000"/>
              </a:lnSpc>
              <a:spcBef>
                <a:spcPts val="0"/>
              </a:spcBef>
              <a:spcAft>
                <a:spcPts val="0"/>
              </a:spcAft>
              <a:buSzPct val="100000"/>
              <a:buChar char="●"/>
            </a:pPr>
            <a:r>
              <a:rPr lang="en" sz="2000">
                <a:latin typeface="Courier New"/>
                <a:ea typeface="Courier New"/>
                <a:cs typeface="Courier New"/>
                <a:sym typeface="Courier New"/>
              </a:rPr>
              <a:t>.rel.text</a:t>
            </a:r>
            <a:r>
              <a:rPr lang="en" sz="2000"/>
              <a:t> section</a:t>
            </a:r>
            <a:endParaRPr/>
          </a:p>
          <a:p>
            <a:pPr indent="-308610" lvl="1" marL="914400" rtl="0" algn="l">
              <a:lnSpc>
                <a:spcPct val="115000"/>
              </a:lnSpc>
              <a:spcBef>
                <a:spcPts val="0"/>
              </a:spcBef>
              <a:spcAft>
                <a:spcPts val="0"/>
              </a:spcAft>
              <a:buSzPct val="100000"/>
              <a:buChar char="○"/>
            </a:pPr>
            <a:r>
              <a:rPr lang="en" sz="1800"/>
              <a:t>Relocation info for </a:t>
            </a:r>
            <a:r>
              <a:rPr lang="en" sz="1800">
                <a:latin typeface="Courier New"/>
                <a:ea typeface="Courier New"/>
                <a:cs typeface="Courier New"/>
                <a:sym typeface="Courier New"/>
              </a:rPr>
              <a:t>.text</a:t>
            </a:r>
            <a:r>
              <a:rPr lang="en" sz="1800"/>
              <a:t> section</a:t>
            </a:r>
            <a:endParaRPr/>
          </a:p>
          <a:p>
            <a:pPr indent="-308610" lvl="1" marL="914400" rtl="0" algn="l">
              <a:lnSpc>
                <a:spcPct val="115000"/>
              </a:lnSpc>
              <a:spcBef>
                <a:spcPts val="0"/>
              </a:spcBef>
              <a:spcAft>
                <a:spcPts val="0"/>
              </a:spcAft>
              <a:buSzPct val="100000"/>
              <a:buChar char="○"/>
            </a:pPr>
            <a:r>
              <a:rPr lang="en" sz="1800"/>
              <a:t>Addresses of instructions that will need to be modified in the executable</a:t>
            </a:r>
            <a:endParaRPr/>
          </a:p>
          <a:p>
            <a:pPr indent="-308610" lvl="1" marL="914400" rtl="0" algn="l">
              <a:lnSpc>
                <a:spcPct val="115000"/>
              </a:lnSpc>
              <a:spcBef>
                <a:spcPts val="0"/>
              </a:spcBef>
              <a:spcAft>
                <a:spcPts val="0"/>
              </a:spcAft>
              <a:buSzPct val="100000"/>
              <a:buChar char="○"/>
            </a:pPr>
            <a:r>
              <a:rPr lang="en" sz="1800"/>
              <a:t>Instructions for modifying.</a:t>
            </a:r>
            <a:endParaRPr/>
          </a:p>
          <a:p>
            <a:pPr indent="-317500" lvl="0" marL="457200" rtl="0" algn="l">
              <a:lnSpc>
                <a:spcPct val="115000"/>
              </a:lnSpc>
              <a:spcBef>
                <a:spcPts val="0"/>
              </a:spcBef>
              <a:spcAft>
                <a:spcPts val="0"/>
              </a:spcAft>
              <a:buSzPct val="100000"/>
              <a:buChar char="●"/>
            </a:pPr>
            <a:r>
              <a:rPr lang="en" sz="2000">
                <a:latin typeface="Courier New"/>
                <a:ea typeface="Courier New"/>
                <a:cs typeface="Courier New"/>
                <a:sym typeface="Courier New"/>
              </a:rPr>
              <a:t>.rel.data</a:t>
            </a:r>
            <a:r>
              <a:rPr lang="en" sz="2000"/>
              <a:t> section</a:t>
            </a:r>
            <a:endParaRPr/>
          </a:p>
          <a:p>
            <a:pPr indent="-308610" lvl="1" marL="914400" rtl="0" algn="l">
              <a:lnSpc>
                <a:spcPct val="115000"/>
              </a:lnSpc>
              <a:spcBef>
                <a:spcPts val="0"/>
              </a:spcBef>
              <a:spcAft>
                <a:spcPts val="0"/>
              </a:spcAft>
              <a:buSzPct val="100000"/>
              <a:buChar char="○"/>
            </a:pPr>
            <a:r>
              <a:rPr lang="en" sz="1800"/>
              <a:t>Relocation info for </a:t>
            </a:r>
            <a:r>
              <a:rPr lang="en" sz="1800">
                <a:latin typeface="Courier New"/>
                <a:ea typeface="Courier New"/>
                <a:cs typeface="Courier New"/>
                <a:sym typeface="Courier New"/>
              </a:rPr>
              <a:t>.data</a:t>
            </a:r>
            <a:r>
              <a:rPr lang="en" sz="1800"/>
              <a:t> section</a:t>
            </a:r>
            <a:endParaRPr/>
          </a:p>
          <a:p>
            <a:pPr indent="-308610" lvl="1" marL="914400" rtl="0" algn="l">
              <a:lnSpc>
                <a:spcPct val="115000"/>
              </a:lnSpc>
              <a:spcBef>
                <a:spcPts val="0"/>
              </a:spcBef>
              <a:spcAft>
                <a:spcPts val="0"/>
              </a:spcAft>
              <a:buSzPct val="100000"/>
              <a:buChar char="○"/>
            </a:pPr>
            <a:r>
              <a:rPr lang="en" sz="1800"/>
              <a:t>Addresses of pointer data that will need to be modified in the merged executable</a:t>
            </a:r>
            <a:endParaRPr/>
          </a:p>
          <a:p>
            <a:pPr indent="-317500" lvl="0" marL="457200" rtl="0" algn="l">
              <a:lnSpc>
                <a:spcPct val="115000"/>
              </a:lnSpc>
              <a:spcBef>
                <a:spcPts val="0"/>
              </a:spcBef>
              <a:spcAft>
                <a:spcPts val="0"/>
              </a:spcAft>
              <a:buSzPct val="100000"/>
              <a:buChar char="●"/>
            </a:pPr>
            <a:r>
              <a:rPr lang="en" sz="2000">
                <a:latin typeface="Courier New"/>
                <a:ea typeface="Courier New"/>
                <a:cs typeface="Courier New"/>
                <a:sym typeface="Courier New"/>
              </a:rPr>
              <a:t>.debug</a:t>
            </a:r>
            <a:r>
              <a:rPr lang="en" sz="2000"/>
              <a:t> section</a:t>
            </a:r>
            <a:endParaRPr/>
          </a:p>
          <a:p>
            <a:pPr indent="-308610" lvl="1" marL="914400" rtl="0" algn="l">
              <a:lnSpc>
                <a:spcPct val="115000"/>
              </a:lnSpc>
              <a:spcBef>
                <a:spcPts val="0"/>
              </a:spcBef>
              <a:spcAft>
                <a:spcPts val="0"/>
              </a:spcAft>
              <a:buSzPct val="100000"/>
              <a:buChar char="○"/>
            </a:pPr>
            <a:r>
              <a:rPr lang="en" sz="1800"/>
              <a:t>Info for symbolic debugging (</a:t>
            </a:r>
            <a:r>
              <a:rPr lang="en" sz="1800">
                <a:latin typeface="Courier New"/>
                <a:ea typeface="Courier New"/>
                <a:cs typeface="Courier New"/>
                <a:sym typeface="Courier New"/>
              </a:rPr>
              <a:t>gcc -g</a:t>
            </a:r>
            <a:r>
              <a:rPr lang="en" sz="1800"/>
              <a:t>)</a:t>
            </a:r>
            <a:endParaRPr/>
          </a:p>
          <a:p>
            <a:pPr indent="-317500" lvl="0" marL="457200" rtl="0" algn="l">
              <a:lnSpc>
                <a:spcPct val="115000"/>
              </a:lnSpc>
              <a:spcBef>
                <a:spcPts val="0"/>
              </a:spcBef>
              <a:spcAft>
                <a:spcPts val="0"/>
              </a:spcAft>
              <a:buSzPct val="100000"/>
              <a:buChar char="●"/>
            </a:pPr>
            <a:r>
              <a:rPr lang="en" sz="2000"/>
              <a:t>Section header table</a:t>
            </a:r>
            <a:endParaRPr/>
          </a:p>
          <a:p>
            <a:pPr indent="-308610" lvl="1" marL="914400" rtl="0" algn="l">
              <a:lnSpc>
                <a:spcPct val="115000"/>
              </a:lnSpc>
              <a:spcBef>
                <a:spcPts val="0"/>
              </a:spcBef>
              <a:spcAft>
                <a:spcPts val="0"/>
              </a:spcAft>
              <a:buSzPct val="100000"/>
              <a:buChar char="○"/>
            </a:pPr>
            <a:r>
              <a:rPr lang="en" sz="1800"/>
              <a:t>Offsets and sizes of each section</a:t>
            </a:r>
            <a:endParaRPr/>
          </a:p>
        </p:txBody>
      </p:sp>
      <p:sp>
        <p:nvSpPr>
          <p:cNvPr id="151" name="Google Shape;151;p26"/>
          <p:cNvSpPr/>
          <p:nvPr/>
        </p:nvSpPr>
        <p:spPr>
          <a:xfrm>
            <a:off x="5867400" y="1200150"/>
            <a:ext cx="2971800" cy="2859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ELF header</a:t>
            </a:r>
            <a:endParaRPr/>
          </a:p>
        </p:txBody>
      </p:sp>
      <p:sp>
        <p:nvSpPr>
          <p:cNvPr id="152" name="Google Shape;152;p26"/>
          <p:cNvSpPr/>
          <p:nvPr/>
        </p:nvSpPr>
        <p:spPr>
          <a:xfrm>
            <a:off x="5867400" y="1485900"/>
            <a:ext cx="2971800" cy="4572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Segment header table</a:t>
            </a:r>
            <a:endParaRPr/>
          </a:p>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(required for executables)</a:t>
            </a:r>
            <a:endParaRPr/>
          </a:p>
        </p:txBody>
      </p:sp>
      <p:sp>
        <p:nvSpPr>
          <p:cNvPr id="153" name="Google Shape;153;p26"/>
          <p:cNvSpPr/>
          <p:nvPr/>
        </p:nvSpPr>
        <p:spPr>
          <a:xfrm>
            <a:off x="5867400" y="1943100"/>
            <a:ext cx="2971800" cy="2859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.text</a:t>
            </a:r>
            <a:r>
              <a:rPr b="1" lang="en" sz="1600">
                <a:solidFill>
                  <a:schemeClr val="dk1"/>
                </a:solidFill>
                <a:latin typeface="Calibri"/>
                <a:ea typeface="Calibri"/>
                <a:cs typeface="Calibri"/>
                <a:sym typeface="Calibri"/>
              </a:rPr>
              <a:t> section</a:t>
            </a:r>
            <a:endParaRPr/>
          </a:p>
        </p:txBody>
      </p:sp>
      <p:sp>
        <p:nvSpPr>
          <p:cNvPr id="154" name="Google Shape;154;p26"/>
          <p:cNvSpPr/>
          <p:nvPr/>
        </p:nvSpPr>
        <p:spPr>
          <a:xfrm>
            <a:off x="5867400" y="2228850"/>
            <a:ext cx="2971800" cy="2859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.rodata</a:t>
            </a:r>
            <a:r>
              <a:rPr b="1" lang="en" sz="1600">
                <a:solidFill>
                  <a:schemeClr val="dk1"/>
                </a:solidFill>
                <a:latin typeface="Calibri"/>
                <a:ea typeface="Calibri"/>
                <a:cs typeface="Calibri"/>
                <a:sym typeface="Calibri"/>
              </a:rPr>
              <a:t> section</a:t>
            </a:r>
            <a:endParaRPr/>
          </a:p>
        </p:txBody>
      </p:sp>
      <p:sp>
        <p:nvSpPr>
          <p:cNvPr id="155" name="Google Shape;155;p26"/>
          <p:cNvSpPr/>
          <p:nvPr/>
        </p:nvSpPr>
        <p:spPr>
          <a:xfrm>
            <a:off x="5867400" y="2800350"/>
            <a:ext cx="2971800" cy="2859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.bss</a:t>
            </a:r>
            <a:r>
              <a:rPr b="1" lang="en" sz="1600">
                <a:solidFill>
                  <a:schemeClr val="dk1"/>
                </a:solidFill>
                <a:latin typeface="Calibri"/>
                <a:ea typeface="Calibri"/>
                <a:cs typeface="Calibri"/>
                <a:sym typeface="Calibri"/>
              </a:rPr>
              <a:t> section</a:t>
            </a:r>
            <a:endParaRPr/>
          </a:p>
        </p:txBody>
      </p:sp>
      <p:sp>
        <p:nvSpPr>
          <p:cNvPr id="156" name="Google Shape;156;p26"/>
          <p:cNvSpPr/>
          <p:nvPr/>
        </p:nvSpPr>
        <p:spPr>
          <a:xfrm>
            <a:off x="5867400" y="3086100"/>
            <a:ext cx="2971800" cy="2859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.symtab </a:t>
            </a:r>
            <a:r>
              <a:rPr b="1" lang="en" sz="1600">
                <a:solidFill>
                  <a:schemeClr val="dk1"/>
                </a:solidFill>
                <a:latin typeface="Calibri"/>
                <a:ea typeface="Calibri"/>
                <a:cs typeface="Calibri"/>
                <a:sym typeface="Calibri"/>
              </a:rPr>
              <a:t>section</a:t>
            </a:r>
            <a:endParaRPr/>
          </a:p>
        </p:txBody>
      </p:sp>
      <p:sp>
        <p:nvSpPr>
          <p:cNvPr id="157" name="Google Shape;157;p26"/>
          <p:cNvSpPr/>
          <p:nvPr/>
        </p:nvSpPr>
        <p:spPr>
          <a:xfrm>
            <a:off x="5867400" y="3371850"/>
            <a:ext cx="2971800" cy="2859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.rel.txt </a:t>
            </a:r>
            <a:r>
              <a:rPr b="1" lang="en" sz="1600">
                <a:solidFill>
                  <a:schemeClr val="dk1"/>
                </a:solidFill>
                <a:latin typeface="Calibri"/>
                <a:ea typeface="Calibri"/>
                <a:cs typeface="Calibri"/>
                <a:sym typeface="Calibri"/>
              </a:rPr>
              <a:t>section</a:t>
            </a:r>
            <a:endParaRPr/>
          </a:p>
        </p:txBody>
      </p:sp>
      <p:sp>
        <p:nvSpPr>
          <p:cNvPr id="158" name="Google Shape;158;p26"/>
          <p:cNvSpPr/>
          <p:nvPr/>
        </p:nvSpPr>
        <p:spPr>
          <a:xfrm>
            <a:off x="5867400" y="3657600"/>
            <a:ext cx="2971800" cy="2859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.rel.data </a:t>
            </a:r>
            <a:r>
              <a:rPr b="1" lang="en" sz="1600">
                <a:solidFill>
                  <a:schemeClr val="dk1"/>
                </a:solidFill>
                <a:latin typeface="Calibri"/>
                <a:ea typeface="Calibri"/>
                <a:cs typeface="Calibri"/>
                <a:sym typeface="Calibri"/>
              </a:rPr>
              <a:t>section</a:t>
            </a:r>
            <a:endParaRPr/>
          </a:p>
        </p:txBody>
      </p:sp>
      <p:sp>
        <p:nvSpPr>
          <p:cNvPr id="159" name="Google Shape;159;p26"/>
          <p:cNvSpPr/>
          <p:nvPr/>
        </p:nvSpPr>
        <p:spPr>
          <a:xfrm>
            <a:off x="5867400" y="3943350"/>
            <a:ext cx="2971800" cy="2859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.debug </a:t>
            </a:r>
            <a:r>
              <a:rPr b="1" lang="en" sz="1600">
                <a:solidFill>
                  <a:schemeClr val="dk1"/>
                </a:solidFill>
                <a:latin typeface="Calibri"/>
                <a:ea typeface="Calibri"/>
                <a:cs typeface="Calibri"/>
                <a:sym typeface="Calibri"/>
              </a:rPr>
              <a:t>section</a:t>
            </a:r>
            <a:endParaRPr/>
          </a:p>
        </p:txBody>
      </p:sp>
      <p:sp>
        <p:nvSpPr>
          <p:cNvPr id="160" name="Google Shape;160;p26"/>
          <p:cNvSpPr/>
          <p:nvPr/>
        </p:nvSpPr>
        <p:spPr>
          <a:xfrm>
            <a:off x="5867400" y="4229100"/>
            <a:ext cx="2971800" cy="457200"/>
          </a:xfrm>
          <a:prstGeom prst="rect">
            <a:avLst/>
          </a:prstGeom>
          <a:solidFill>
            <a:srgbClr val="D5D5F4"/>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Section header table</a:t>
            </a:r>
            <a:endParaRPr/>
          </a:p>
        </p:txBody>
      </p:sp>
      <p:sp>
        <p:nvSpPr>
          <p:cNvPr id="161" name="Google Shape;161;p26"/>
          <p:cNvSpPr txBox="1"/>
          <p:nvPr/>
        </p:nvSpPr>
        <p:spPr>
          <a:xfrm>
            <a:off x="8839200" y="1085850"/>
            <a:ext cx="285900" cy="3360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lang="en" sz="1600">
                <a:solidFill>
                  <a:srgbClr val="000066"/>
                </a:solidFill>
                <a:latin typeface="Calibri"/>
                <a:ea typeface="Calibri"/>
                <a:cs typeface="Calibri"/>
                <a:sym typeface="Calibri"/>
              </a:rPr>
              <a:t>0</a:t>
            </a:r>
            <a:endParaRPr/>
          </a:p>
        </p:txBody>
      </p:sp>
      <p:sp>
        <p:nvSpPr>
          <p:cNvPr id="162" name="Google Shape;162;p26"/>
          <p:cNvSpPr/>
          <p:nvPr/>
        </p:nvSpPr>
        <p:spPr>
          <a:xfrm>
            <a:off x="5867400" y="2514600"/>
            <a:ext cx="2971800" cy="285900"/>
          </a:xfrm>
          <a:prstGeom prst="rect">
            <a:avLst/>
          </a:prstGeom>
          <a:solidFill>
            <a:srgbClr val="F2F2F2"/>
          </a:solidFill>
          <a:ln cap="flat" cmpd="sng" w="25550">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.data</a:t>
            </a:r>
            <a:r>
              <a:rPr b="1" lang="en" sz="1600">
                <a:solidFill>
                  <a:schemeClr val="dk1"/>
                </a:solidFill>
                <a:latin typeface="Calibri"/>
                <a:ea typeface="Calibri"/>
                <a:cs typeface="Calibri"/>
                <a:sym typeface="Calibri"/>
              </a:rPr>
              <a:t> section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idx="4294967295" type="title"/>
          </p:nvPr>
        </p:nvSpPr>
        <p:spPr>
          <a:xfrm>
            <a:off x="421747" y="32742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Linker Symbols	</a:t>
            </a:r>
            <a:endParaRPr/>
          </a:p>
        </p:txBody>
      </p:sp>
      <p:sp>
        <p:nvSpPr>
          <p:cNvPr id="169" name="Google Shape;169;p27"/>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9250" lvl="0" marL="457200" rtl="0" algn="l">
              <a:lnSpc>
                <a:spcPct val="83000"/>
              </a:lnSpc>
              <a:spcBef>
                <a:spcPts val="0"/>
              </a:spcBef>
              <a:spcAft>
                <a:spcPts val="0"/>
              </a:spcAft>
              <a:buSzPts val="1900"/>
              <a:buChar char="●"/>
            </a:pPr>
            <a:r>
              <a:rPr lang="en" sz="1900"/>
              <a:t>Global symbols</a:t>
            </a:r>
            <a:endParaRPr sz="1900"/>
          </a:p>
          <a:p>
            <a:pPr indent="-323850" lvl="1" marL="914400" rtl="0" algn="l">
              <a:lnSpc>
                <a:spcPct val="88000"/>
              </a:lnSpc>
              <a:spcBef>
                <a:spcPts val="0"/>
              </a:spcBef>
              <a:spcAft>
                <a:spcPts val="0"/>
              </a:spcAft>
              <a:buSzPts val="1500"/>
              <a:buChar char="○"/>
            </a:pPr>
            <a:r>
              <a:rPr lang="en" sz="1500"/>
              <a:t>Symbols defined by module m that can be referenced by other modules.</a:t>
            </a:r>
            <a:endParaRPr sz="1500"/>
          </a:p>
          <a:p>
            <a:pPr indent="-323850" lvl="1" marL="914400" rtl="0" algn="l">
              <a:lnSpc>
                <a:spcPct val="88000"/>
              </a:lnSpc>
              <a:spcBef>
                <a:spcPts val="0"/>
              </a:spcBef>
              <a:spcAft>
                <a:spcPts val="0"/>
              </a:spcAft>
              <a:buSzPts val="1500"/>
              <a:buChar char="○"/>
            </a:pPr>
            <a:r>
              <a:rPr lang="en" sz="1500"/>
              <a:t>E.g.: non-</a:t>
            </a:r>
            <a:r>
              <a:rPr lang="en" sz="1500">
                <a:latin typeface="Courier New"/>
                <a:ea typeface="Courier New"/>
                <a:cs typeface="Courier New"/>
                <a:sym typeface="Courier New"/>
              </a:rPr>
              <a:t>static</a:t>
            </a:r>
            <a:r>
              <a:rPr lang="en" sz="1500"/>
              <a:t> C functions and non-</a:t>
            </a:r>
            <a:r>
              <a:rPr lang="en" sz="1500">
                <a:latin typeface="Courier New"/>
                <a:ea typeface="Courier New"/>
                <a:cs typeface="Courier New"/>
                <a:sym typeface="Courier New"/>
              </a:rPr>
              <a:t>static</a:t>
            </a:r>
            <a:r>
              <a:rPr lang="en" sz="1500"/>
              <a:t> global variables.</a:t>
            </a:r>
            <a:endParaRPr sz="1500"/>
          </a:p>
          <a:p>
            <a:pPr indent="-349250" lvl="0" marL="457200" rtl="0" algn="l">
              <a:lnSpc>
                <a:spcPct val="83000"/>
              </a:lnSpc>
              <a:spcBef>
                <a:spcPts val="0"/>
              </a:spcBef>
              <a:spcAft>
                <a:spcPts val="0"/>
              </a:spcAft>
              <a:buSzPts val="1900"/>
              <a:buChar char="●"/>
            </a:pPr>
            <a:r>
              <a:rPr lang="en" sz="1900"/>
              <a:t>External symbols</a:t>
            </a:r>
            <a:endParaRPr sz="1900"/>
          </a:p>
          <a:p>
            <a:pPr indent="-323850" lvl="1" marL="914400" rtl="0" algn="l">
              <a:lnSpc>
                <a:spcPct val="88000"/>
              </a:lnSpc>
              <a:spcBef>
                <a:spcPts val="0"/>
              </a:spcBef>
              <a:spcAft>
                <a:spcPts val="0"/>
              </a:spcAft>
              <a:buSzPts val="1500"/>
              <a:buChar char="○"/>
            </a:pPr>
            <a:r>
              <a:rPr lang="en" sz="1500"/>
              <a:t>Global symbols that are referenced by module m but defined by some other module.</a:t>
            </a:r>
            <a:endParaRPr sz="1500"/>
          </a:p>
          <a:p>
            <a:pPr indent="-349250" lvl="0" marL="457200" rtl="0" algn="l">
              <a:lnSpc>
                <a:spcPct val="83000"/>
              </a:lnSpc>
              <a:spcBef>
                <a:spcPts val="0"/>
              </a:spcBef>
              <a:spcAft>
                <a:spcPts val="0"/>
              </a:spcAft>
              <a:buSzPts val="1900"/>
              <a:buChar char="●"/>
            </a:pPr>
            <a:r>
              <a:rPr lang="en" sz="1900"/>
              <a:t>Local symbols</a:t>
            </a:r>
            <a:endParaRPr sz="1900"/>
          </a:p>
          <a:p>
            <a:pPr indent="-323850" lvl="1" marL="914400" rtl="0" algn="l">
              <a:lnSpc>
                <a:spcPct val="88000"/>
              </a:lnSpc>
              <a:spcBef>
                <a:spcPts val="0"/>
              </a:spcBef>
              <a:spcAft>
                <a:spcPts val="0"/>
              </a:spcAft>
              <a:buSzPts val="1500"/>
              <a:buChar char="○"/>
            </a:pPr>
            <a:r>
              <a:rPr lang="en" sz="1500"/>
              <a:t>Symbols that are defined and referenced exclusively by module m.</a:t>
            </a:r>
            <a:endParaRPr sz="1500"/>
          </a:p>
          <a:p>
            <a:pPr indent="-323850" lvl="1" marL="914400" rtl="0" algn="l">
              <a:lnSpc>
                <a:spcPct val="88000"/>
              </a:lnSpc>
              <a:spcBef>
                <a:spcPts val="0"/>
              </a:spcBef>
              <a:spcAft>
                <a:spcPts val="0"/>
              </a:spcAft>
              <a:buSzPts val="1500"/>
              <a:buChar char="○"/>
            </a:pPr>
            <a:r>
              <a:rPr lang="en" sz="1500"/>
              <a:t>E.g.: C functions and global variables defined with the </a:t>
            </a:r>
            <a:r>
              <a:rPr lang="en" sz="1500">
                <a:latin typeface="Courier New"/>
                <a:ea typeface="Courier New"/>
                <a:cs typeface="Courier New"/>
                <a:sym typeface="Courier New"/>
              </a:rPr>
              <a:t>static </a:t>
            </a:r>
            <a:r>
              <a:rPr lang="en" sz="1500"/>
              <a:t>attribute.</a:t>
            </a:r>
            <a:endParaRPr sz="1500"/>
          </a:p>
          <a:p>
            <a:pPr indent="-323850" lvl="1" marL="914400" rtl="0" algn="l">
              <a:lnSpc>
                <a:spcPct val="88000"/>
              </a:lnSpc>
              <a:spcBef>
                <a:spcPts val="0"/>
              </a:spcBef>
              <a:spcAft>
                <a:spcPts val="0"/>
              </a:spcAft>
              <a:buClr>
                <a:srgbClr val="C00000"/>
              </a:buClr>
              <a:buSzPts val="1500"/>
              <a:buChar char="○"/>
            </a:pPr>
            <a:r>
              <a:rPr lang="en" sz="1500">
                <a:solidFill>
                  <a:srgbClr val="C00000"/>
                </a:solidFill>
              </a:rPr>
              <a:t>Local linker symbols are not local program variables</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idx="4294967295" type="title"/>
          </p:nvPr>
        </p:nvSpPr>
        <p:spPr>
          <a:xfrm>
            <a:off x="404813" y="27027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Step 1: Symbol Resolution</a:t>
            </a:r>
            <a:endParaRPr/>
          </a:p>
        </p:txBody>
      </p:sp>
      <p:sp>
        <p:nvSpPr>
          <p:cNvPr id="176" name="Google Shape;176;p28"/>
          <p:cNvSpPr/>
          <p:nvPr/>
        </p:nvSpPr>
        <p:spPr>
          <a:xfrm>
            <a:off x="118000" y="1409525"/>
            <a:ext cx="2976300" cy="2574600"/>
          </a:xfrm>
          <a:prstGeom prst="rect">
            <a:avLst/>
          </a:prstGeom>
          <a:solidFill>
            <a:srgbClr val="F7F5CD"/>
          </a:solid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spcBef>
                <a:spcPts val="0"/>
              </a:spcBef>
              <a:spcAft>
                <a:spcPts val="0"/>
              </a:spcAft>
              <a:buNone/>
            </a:pP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sum</a:t>
            </a:r>
            <a:r>
              <a:rPr b="1" lang="en" sz="1800">
                <a:solidFill>
                  <a:srgbClr val="000000"/>
                </a:solidFill>
                <a:latin typeface="Arial"/>
                <a:ea typeface="Arial"/>
                <a:cs typeface="Arial"/>
                <a:sym typeface="Arial"/>
              </a:rPr>
              <a:t>(</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a</a:t>
            </a: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n</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array</a:t>
            </a:r>
            <a:r>
              <a:rPr b="1" lang="en" sz="1800">
                <a:solidFill>
                  <a:srgbClr val="000000"/>
                </a:solidFill>
                <a:latin typeface="Arial"/>
                <a:ea typeface="Arial"/>
                <a:cs typeface="Arial"/>
                <a:sym typeface="Arial"/>
              </a:rPr>
              <a:t>[2] = {1, 2};</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main</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val</a:t>
            </a:r>
            <a:r>
              <a:rPr b="1" lang="en" sz="1800">
                <a:solidFill>
                  <a:srgbClr val="000000"/>
                </a:solidFill>
                <a:latin typeface="Arial"/>
                <a:ea typeface="Arial"/>
                <a:cs typeface="Arial"/>
                <a:sym typeface="Arial"/>
              </a:rPr>
              <a:t> = sum(array, 2);</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C200FF"/>
                </a:solidFill>
                <a:latin typeface="Arial"/>
                <a:ea typeface="Arial"/>
                <a:cs typeface="Arial"/>
                <a:sym typeface="Arial"/>
              </a:rPr>
              <a:t>return</a:t>
            </a:r>
            <a:r>
              <a:rPr b="1" lang="en" sz="1800">
                <a:solidFill>
                  <a:srgbClr val="000000"/>
                </a:solidFill>
                <a:latin typeface="Arial"/>
                <a:ea typeface="Arial"/>
                <a:cs typeface="Arial"/>
                <a:sym typeface="Arial"/>
              </a:rPr>
              <a:t> val;</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b="1" sz="1800">
              <a:solidFill>
                <a:schemeClr val="dk1"/>
              </a:solidFill>
              <a:latin typeface="Courier New"/>
              <a:ea typeface="Courier New"/>
              <a:cs typeface="Courier New"/>
              <a:sym typeface="Courier New"/>
            </a:endParaRPr>
          </a:p>
        </p:txBody>
      </p:sp>
      <p:sp>
        <p:nvSpPr>
          <p:cNvPr id="177" name="Google Shape;177;p28"/>
          <p:cNvSpPr/>
          <p:nvPr/>
        </p:nvSpPr>
        <p:spPr>
          <a:xfrm>
            <a:off x="3137525" y="1409525"/>
            <a:ext cx="2707200" cy="2574600"/>
          </a:xfrm>
          <a:prstGeom prst="rect">
            <a:avLst/>
          </a:prstGeom>
          <a:solidFill>
            <a:srgbClr val="D5F1CF"/>
          </a:solid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spcBef>
                <a:spcPts val="0"/>
              </a:spcBef>
              <a:spcAft>
                <a:spcPts val="0"/>
              </a:spcAft>
              <a:buNone/>
            </a:pP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sum</a:t>
            </a:r>
            <a:r>
              <a:rPr b="1" lang="en" sz="1800">
                <a:solidFill>
                  <a:srgbClr val="000000"/>
                </a:solidFill>
                <a:latin typeface="Arial"/>
                <a:ea typeface="Arial"/>
                <a:cs typeface="Arial"/>
                <a:sym typeface="Arial"/>
              </a:rPr>
              <a:t>(</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a</a:t>
            </a: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n</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i</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s</a:t>
            </a:r>
            <a:r>
              <a:rPr b="1" lang="en" sz="1800">
                <a:solidFill>
                  <a:srgbClr val="000000"/>
                </a:solidFill>
                <a:latin typeface="Arial"/>
                <a:ea typeface="Arial"/>
                <a:cs typeface="Arial"/>
                <a:sym typeface="Arial"/>
              </a:rPr>
              <a:t> = 0;</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C200FF"/>
                </a:solidFill>
                <a:latin typeface="Arial"/>
                <a:ea typeface="Arial"/>
                <a:cs typeface="Arial"/>
                <a:sym typeface="Arial"/>
              </a:rPr>
              <a:t>for</a:t>
            </a:r>
            <a:r>
              <a:rPr b="1" lang="en" sz="1800">
                <a:solidFill>
                  <a:srgbClr val="000000"/>
                </a:solidFill>
                <a:latin typeface="Arial"/>
                <a:ea typeface="Arial"/>
                <a:cs typeface="Arial"/>
                <a:sym typeface="Arial"/>
              </a:rPr>
              <a:t> (i = 0; i &lt; n; i++) {</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s += a[i];</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C200FF"/>
                </a:solidFill>
                <a:latin typeface="Arial"/>
                <a:ea typeface="Arial"/>
                <a:cs typeface="Arial"/>
                <a:sym typeface="Arial"/>
              </a:rPr>
              <a:t>return</a:t>
            </a:r>
            <a:r>
              <a:rPr b="1" lang="en" sz="1800">
                <a:solidFill>
                  <a:srgbClr val="000000"/>
                </a:solidFill>
                <a:latin typeface="Arial"/>
                <a:ea typeface="Arial"/>
                <a:cs typeface="Arial"/>
                <a:sym typeface="Arial"/>
              </a:rPr>
              <a:t> s;</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a:p>
        </p:txBody>
      </p:sp>
      <p:sp>
        <p:nvSpPr>
          <p:cNvPr id="178" name="Google Shape;178;p28"/>
          <p:cNvSpPr/>
          <p:nvPr/>
        </p:nvSpPr>
        <p:spPr>
          <a:xfrm>
            <a:off x="440017" y="1664175"/>
            <a:ext cx="872300" cy="458700"/>
          </a:xfrm>
          <a:custGeom>
            <a:rect b="b" l="l" r="r" t="t"/>
            <a:pathLst>
              <a:path extrusionOk="0" h="18348" w="34892">
                <a:moveTo>
                  <a:pt x="22825" y="0"/>
                </a:moveTo>
                <a:cubicBezTo>
                  <a:pt x="14449" y="0"/>
                  <a:pt x="-2355" y="3184"/>
                  <a:pt x="296" y="11129"/>
                </a:cubicBezTo>
                <a:cubicBezTo>
                  <a:pt x="1475" y="14664"/>
                  <a:pt x="6556" y="15311"/>
                  <a:pt x="10068" y="16557"/>
                </a:cubicBezTo>
                <a:cubicBezTo>
                  <a:pt x="16754" y="18929"/>
                  <a:pt x="26223" y="19402"/>
                  <a:pt x="31239" y="14386"/>
                </a:cubicBezTo>
                <a:cubicBezTo>
                  <a:pt x="33214" y="12411"/>
                  <a:pt x="35267" y="9534"/>
                  <a:pt x="34767" y="6786"/>
                </a:cubicBezTo>
                <a:cubicBezTo>
                  <a:pt x="33847" y="1730"/>
                  <a:pt x="25847" y="1477"/>
                  <a:pt x="20925" y="0"/>
                </a:cubicBezTo>
              </a:path>
            </a:pathLst>
          </a:custGeom>
          <a:noFill/>
          <a:ln cap="flat" cmpd="sng" w="9525">
            <a:solidFill>
              <a:schemeClr val="dk2"/>
            </a:solidFill>
            <a:prstDash val="solid"/>
            <a:round/>
            <a:headEnd len="med" w="med" type="none"/>
            <a:tailEnd len="med" w="med" type="none"/>
          </a:ln>
        </p:spPr>
      </p:sp>
      <p:sp>
        <p:nvSpPr>
          <p:cNvPr id="179" name="Google Shape;179;p28"/>
          <p:cNvSpPr/>
          <p:nvPr/>
        </p:nvSpPr>
        <p:spPr>
          <a:xfrm>
            <a:off x="1756114" y="2520247"/>
            <a:ext cx="769525" cy="449675"/>
          </a:xfrm>
          <a:custGeom>
            <a:rect b="b" l="l" r="r" t="t"/>
            <a:pathLst>
              <a:path extrusionOk="0" h="17987" w="30781">
                <a:moveTo>
                  <a:pt x="23347" y="682"/>
                </a:moveTo>
                <a:cubicBezTo>
                  <a:pt x="15487" y="-891"/>
                  <a:pt x="-2372" y="-99"/>
                  <a:pt x="276" y="7467"/>
                </a:cubicBezTo>
                <a:cubicBezTo>
                  <a:pt x="3208" y="15843"/>
                  <a:pt x="17155" y="20337"/>
                  <a:pt x="25247" y="16696"/>
                </a:cubicBezTo>
                <a:cubicBezTo>
                  <a:pt x="28360" y="15295"/>
                  <a:pt x="31099" y="11398"/>
                  <a:pt x="30675" y="8010"/>
                </a:cubicBezTo>
                <a:cubicBezTo>
                  <a:pt x="30246" y="4580"/>
                  <a:pt x="26285" y="2237"/>
                  <a:pt x="23075" y="953"/>
                </a:cubicBezTo>
              </a:path>
            </a:pathLst>
          </a:custGeom>
          <a:noFill/>
          <a:ln cap="flat" cmpd="sng" w="9525">
            <a:solidFill>
              <a:schemeClr val="dk2"/>
            </a:solidFill>
            <a:prstDash val="solid"/>
            <a:round/>
            <a:headEnd len="med" w="med" type="none"/>
            <a:tailEnd len="med" w="med" type="none"/>
          </a:ln>
        </p:spPr>
      </p:sp>
      <p:sp>
        <p:nvSpPr>
          <p:cNvPr id="180" name="Google Shape;180;p28"/>
          <p:cNvSpPr/>
          <p:nvPr/>
        </p:nvSpPr>
        <p:spPr>
          <a:xfrm>
            <a:off x="1312325" y="1864800"/>
            <a:ext cx="769524" cy="655424"/>
          </a:xfrm>
          <a:custGeom>
            <a:rect b="b" l="l" r="r" t="t"/>
            <a:pathLst>
              <a:path extrusionOk="0" h="30400" w="35086">
                <a:moveTo>
                  <a:pt x="35086" y="30400"/>
                </a:moveTo>
                <a:cubicBezTo>
                  <a:pt x="35086" y="15873"/>
                  <a:pt x="15031" y="7818"/>
                  <a:pt x="1430" y="2715"/>
                </a:cubicBezTo>
                <a:cubicBezTo>
                  <a:pt x="400" y="2328"/>
                  <a:pt x="109" y="6750"/>
                  <a:pt x="887" y="5972"/>
                </a:cubicBezTo>
                <a:cubicBezTo>
                  <a:pt x="1929" y="4930"/>
                  <a:pt x="-217" y="3073"/>
                  <a:pt x="72" y="1629"/>
                </a:cubicBezTo>
                <a:cubicBezTo>
                  <a:pt x="512" y="-566"/>
                  <a:pt x="4464" y="709"/>
                  <a:pt x="6587" y="0"/>
                </a:cubicBezTo>
              </a:path>
            </a:pathLst>
          </a:custGeom>
          <a:noFill/>
          <a:ln cap="flat" cmpd="sng" w="9525">
            <a:solidFill>
              <a:schemeClr val="dk2"/>
            </a:solidFill>
            <a:prstDash val="solid"/>
            <a:round/>
            <a:headEnd len="med" w="med" type="none"/>
            <a:tailEnd len="med" w="med" type="none"/>
          </a:ln>
        </p:spPr>
      </p:sp>
      <p:sp>
        <p:nvSpPr>
          <p:cNvPr id="181" name="Google Shape;181;p28"/>
          <p:cNvSpPr/>
          <p:nvPr/>
        </p:nvSpPr>
        <p:spPr>
          <a:xfrm>
            <a:off x="3511758" y="1409525"/>
            <a:ext cx="702575" cy="388050"/>
          </a:xfrm>
          <a:custGeom>
            <a:rect b="b" l="l" r="r" t="t"/>
            <a:pathLst>
              <a:path extrusionOk="0" h="15522" w="28103">
                <a:moveTo>
                  <a:pt x="22928" y="1629"/>
                </a:moveTo>
                <a:cubicBezTo>
                  <a:pt x="14929" y="738"/>
                  <a:pt x="-2769" y="2917"/>
                  <a:pt x="400" y="10315"/>
                </a:cubicBezTo>
                <a:cubicBezTo>
                  <a:pt x="4013" y="18748"/>
                  <a:pt x="23711" y="16078"/>
                  <a:pt x="27814" y="7872"/>
                </a:cubicBezTo>
                <a:cubicBezTo>
                  <a:pt x="29417" y="4665"/>
                  <a:pt x="23886" y="1135"/>
                  <a:pt x="20485" y="0"/>
                </a:cubicBezTo>
              </a:path>
            </a:pathLst>
          </a:custGeom>
          <a:noFill/>
          <a:ln cap="flat" cmpd="sng" w="9525">
            <a:solidFill>
              <a:schemeClr val="dk2"/>
            </a:solidFill>
            <a:prstDash val="solid"/>
            <a:round/>
            <a:headEnd len="med" w="med" type="none"/>
            <a:tailEnd len="med" w="med" type="none"/>
          </a:ln>
        </p:spPr>
      </p:sp>
      <p:sp>
        <p:nvSpPr>
          <p:cNvPr id="182" name="Google Shape;182;p28"/>
          <p:cNvSpPr/>
          <p:nvPr/>
        </p:nvSpPr>
        <p:spPr>
          <a:xfrm>
            <a:off x="1267089" y="2507134"/>
            <a:ext cx="564600" cy="475900"/>
          </a:xfrm>
          <a:custGeom>
            <a:rect b="b" l="l" r="r" t="t"/>
            <a:pathLst>
              <a:path extrusionOk="0" h="19036" w="22584">
                <a:moveTo>
                  <a:pt x="14630" y="1328"/>
                </a:moveTo>
                <a:cubicBezTo>
                  <a:pt x="10744" y="1328"/>
                  <a:pt x="5978" y="1023"/>
                  <a:pt x="3230" y="3771"/>
                </a:cubicBezTo>
                <a:cubicBezTo>
                  <a:pt x="732" y="6269"/>
                  <a:pt x="-1030" y="11055"/>
                  <a:pt x="787" y="14085"/>
                </a:cubicBezTo>
                <a:cubicBezTo>
                  <a:pt x="4071" y="19561"/>
                  <a:pt x="14882" y="20616"/>
                  <a:pt x="19787" y="16528"/>
                </a:cubicBezTo>
                <a:cubicBezTo>
                  <a:pt x="23332" y="13573"/>
                  <a:pt x="23532" y="5724"/>
                  <a:pt x="20058" y="2685"/>
                </a:cubicBezTo>
                <a:cubicBezTo>
                  <a:pt x="16975" y="-12"/>
                  <a:pt x="11253" y="-943"/>
                  <a:pt x="7844" y="1328"/>
                </a:cubicBezTo>
              </a:path>
            </a:pathLst>
          </a:custGeom>
          <a:noFill/>
          <a:ln cap="flat" cmpd="sng" w="9525">
            <a:solidFill>
              <a:schemeClr val="dk2"/>
            </a:solidFill>
            <a:prstDash val="solid"/>
            <a:round/>
            <a:headEnd len="med" w="med" type="none"/>
            <a:tailEnd len="med" w="med" type="none"/>
          </a:ln>
        </p:spPr>
      </p:sp>
      <p:pic>
        <p:nvPicPr>
          <p:cNvPr descr="Meme about linker not caring about local variables" id="183" name="Google Shape;183;p28"/>
          <p:cNvPicPr preferRelativeResize="0"/>
          <p:nvPr/>
        </p:nvPicPr>
        <p:blipFill>
          <a:blip r:embed="rId3">
            <a:alphaModFix/>
          </a:blip>
          <a:stretch>
            <a:fillRect/>
          </a:stretch>
        </p:blipFill>
        <p:spPr>
          <a:xfrm>
            <a:off x="6124525" y="431363"/>
            <a:ext cx="2707275" cy="4060926"/>
          </a:xfrm>
          <a:prstGeom prst="rect">
            <a:avLst/>
          </a:prstGeom>
          <a:noFill/>
          <a:ln>
            <a:noFill/>
          </a:ln>
        </p:spPr>
      </p:pic>
      <p:sp>
        <p:nvSpPr>
          <p:cNvPr id="184" name="Google Shape;184;p28"/>
          <p:cNvSpPr/>
          <p:nvPr/>
        </p:nvSpPr>
        <p:spPr>
          <a:xfrm>
            <a:off x="1612800" y="1799801"/>
            <a:ext cx="2110463" cy="707367"/>
          </a:xfrm>
          <a:custGeom>
            <a:rect b="b" l="l" r="r" t="t"/>
            <a:pathLst>
              <a:path extrusionOk="0" h="49605" w="80261">
                <a:moveTo>
                  <a:pt x="0" y="49606"/>
                </a:moveTo>
                <a:cubicBezTo>
                  <a:pt x="7981" y="28345"/>
                  <a:pt x="38722" y="25282"/>
                  <a:pt x="59985" y="17307"/>
                </a:cubicBezTo>
                <a:cubicBezTo>
                  <a:pt x="65662" y="15178"/>
                  <a:pt x="69585" y="9900"/>
                  <a:pt x="74371" y="6178"/>
                </a:cubicBezTo>
                <a:cubicBezTo>
                  <a:pt x="76391" y="4607"/>
                  <a:pt x="81797" y="2348"/>
                  <a:pt x="79799" y="750"/>
                </a:cubicBezTo>
                <a:cubicBezTo>
                  <a:pt x="78136" y="-580"/>
                  <a:pt x="73557" y="-22"/>
                  <a:pt x="73557" y="2107"/>
                </a:cubicBezTo>
                <a:cubicBezTo>
                  <a:pt x="73557" y="3910"/>
                  <a:pt x="77040" y="-192"/>
                  <a:pt x="78714" y="478"/>
                </a:cubicBezTo>
                <a:cubicBezTo>
                  <a:pt x="80396" y="1151"/>
                  <a:pt x="78985" y="4095"/>
                  <a:pt x="78985" y="5907"/>
                </a:cubicBezTo>
              </a:path>
            </a:pathLst>
          </a:custGeom>
          <a:noFill/>
          <a:ln cap="flat" cmpd="sng" w="9525">
            <a:solidFill>
              <a:schemeClr val="dk2"/>
            </a:solidFill>
            <a:prstDash val="solid"/>
            <a:round/>
            <a:headEnd len="med" w="med" type="none"/>
            <a:tailEnd len="med" w="med" type="none"/>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Local Symbols</a:t>
            </a:r>
            <a:endParaRPr/>
          </a:p>
        </p:txBody>
      </p:sp>
      <p:sp>
        <p:nvSpPr>
          <p:cNvPr id="190" name="Google Shape;190;p29"/>
          <p:cNvSpPr txBox="1"/>
          <p:nvPr>
            <p:ph idx="1" type="body"/>
          </p:nvPr>
        </p:nvSpPr>
        <p:spPr>
          <a:xfrm>
            <a:off x="311700" y="1152475"/>
            <a:ext cx="8520600" cy="1317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Local non-static C variables vs. local static C variables</a:t>
            </a:r>
            <a:endParaRPr/>
          </a:p>
          <a:p>
            <a:pPr indent="-285750" lvl="1" marL="742950" rtl="0" algn="l">
              <a:spcBef>
                <a:spcPts val="400"/>
              </a:spcBef>
              <a:spcAft>
                <a:spcPts val="0"/>
              </a:spcAft>
              <a:buSzPts val="2200"/>
              <a:buChar char="○"/>
            </a:pPr>
            <a:r>
              <a:rPr lang="en"/>
              <a:t>local non-static C variables: stored on the stack </a:t>
            </a:r>
            <a:endParaRPr/>
          </a:p>
          <a:p>
            <a:pPr indent="-285750" lvl="1" marL="742950" rtl="0" algn="l">
              <a:spcBef>
                <a:spcPts val="400"/>
              </a:spcBef>
              <a:spcAft>
                <a:spcPts val="0"/>
              </a:spcAft>
              <a:buSzPts val="2200"/>
              <a:buChar char="○"/>
            </a:pPr>
            <a:r>
              <a:rPr lang="en"/>
              <a:t>local static C variables: stored in either </a:t>
            </a:r>
            <a:r>
              <a:rPr lang="en">
                <a:latin typeface="Courier New"/>
                <a:ea typeface="Courier New"/>
                <a:cs typeface="Courier New"/>
                <a:sym typeface="Courier New"/>
              </a:rPr>
              <a:t>.bss, </a:t>
            </a:r>
            <a:r>
              <a:rPr lang="en"/>
              <a:t>or </a:t>
            </a:r>
            <a:r>
              <a:rPr lang="en">
                <a:latin typeface="Courier New"/>
                <a:ea typeface="Courier New"/>
                <a:cs typeface="Courier New"/>
                <a:sym typeface="Courier New"/>
              </a:rPr>
              <a:t>.data</a:t>
            </a:r>
            <a:endParaRPr>
              <a:latin typeface="Courier New"/>
              <a:ea typeface="Courier New"/>
              <a:cs typeface="Courier New"/>
              <a:sym typeface="Courier New"/>
            </a:endParaRPr>
          </a:p>
        </p:txBody>
      </p:sp>
      <p:sp>
        <p:nvSpPr>
          <p:cNvPr id="191" name="Google Shape;191;p29"/>
          <p:cNvSpPr/>
          <p:nvPr/>
        </p:nvSpPr>
        <p:spPr>
          <a:xfrm>
            <a:off x="311700" y="2469975"/>
            <a:ext cx="4260300" cy="2571900"/>
          </a:xfrm>
          <a:prstGeom prst="rect">
            <a:avLst/>
          </a:prstGeom>
          <a:solidFill>
            <a:srgbClr val="F7F5CD"/>
          </a:solid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spcBef>
                <a:spcPts val="0"/>
              </a:spcBef>
              <a:spcAft>
                <a:spcPts val="0"/>
              </a:spcAft>
              <a:buNone/>
            </a:pP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f</a:t>
            </a:r>
            <a:r>
              <a:rPr b="1" lang="en" sz="1800">
                <a:solidFill>
                  <a:srgbClr val="000000"/>
                </a:solidFill>
                <a:latin typeface="Arial"/>
                <a:ea typeface="Arial"/>
                <a:cs typeface="Arial"/>
                <a:sym typeface="Arial"/>
              </a:rPr>
              <a:t>()</a:t>
            </a:r>
            <a:r>
              <a:rPr lang="en"/>
              <a:t> </a:t>
            </a:r>
            <a:r>
              <a:rPr b="1" lang="en" sz="1800">
                <a:solidFill>
                  <a:srgbClr val="000000"/>
                </a:solidFill>
                <a:latin typeface="Arial"/>
                <a:ea typeface="Arial"/>
                <a:cs typeface="Arial"/>
                <a:sym typeface="Arial"/>
              </a:rPr>
              <a:t>{ </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C200FF"/>
                </a:solidFill>
              </a:rPr>
              <a:t>    </a:t>
            </a:r>
            <a:r>
              <a:rPr b="1" lang="en" sz="1800">
                <a:solidFill>
                  <a:srgbClr val="C200FF"/>
                </a:solidFill>
                <a:latin typeface="Arial"/>
                <a:ea typeface="Arial"/>
                <a:cs typeface="Arial"/>
                <a:sym typeface="Arial"/>
              </a:rPr>
              <a:t>static</a:t>
            </a: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x</a:t>
            </a:r>
            <a:r>
              <a:rPr b="1" lang="en" sz="1800"/>
              <a:t> = 0</a:t>
            </a:r>
            <a:r>
              <a:rPr b="1" lang="en" sz="1800">
                <a:solidFill>
                  <a:srgbClr val="000000"/>
                </a:solidFill>
                <a:latin typeface="Arial"/>
                <a:ea typeface="Arial"/>
                <a:cs typeface="Arial"/>
                <a:sym typeface="Arial"/>
              </a:rPr>
              <a:t>; </a:t>
            </a:r>
            <a:r>
              <a:rPr b="1" lang="en" sz="1800">
                <a:solidFill>
                  <a:srgbClr val="C200FF"/>
                </a:solidFill>
                <a:latin typeface="Arial"/>
                <a:ea typeface="Arial"/>
                <a:cs typeface="Arial"/>
                <a:sym typeface="Arial"/>
              </a:rPr>
              <a:t>return</a:t>
            </a:r>
            <a:r>
              <a:rPr b="1" lang="en" sz="1800">
                <a:solidFill>
                  <a:srgbClr val="000000"/>
                </a:solidFill>
                <a:latin typeface="Arial"/>
                <a:ea typeface="Arial"/>
                <a:cs typeface="Arial"/>
                <a:sym typeface="Arial"/>
              </a:rPr>
              <a:t> x;</a:t>
            </a:r>
            <a:r>
              <a:rPr lang="en"/>
              <a:t> </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g</a:t>
            </a:r>
            <a:r>
              <a:rPr b="1" lang="en" sz="1800">
                <a:solidFill>
                  <a:srgbClr val="000000"/>
                </a:solidFill>
                <a:latin typeface="Arial"/>
                <a:ea typeface="Arial"/>
                <a:cs typeface="Arial"/>
                <a:sym typeface="Arial"/>
              </a:rPr>
              <a:t>()</a:t>
            </a:r>
            <a:r>
              <a:rPr lang="en"/>
              <a:t> </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C200FF"/>
                </a:solidFill>
                <a:latin typeface="Arial"/>
                <a:ea typeface="Arial"/>
                <a:cs typeface="Arial"/>
                <a:sym typeface="Arial"/>
              </a:rPr>
              <a:t>static</a:t>
            </a: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x</a:t>
            </a:r>
            <a:r>
              <a:rPr b="1" lang="en" sz="1800">
                <a:solidFill>
                  <a:srgbClr val="000000"/>
                </a:solidFill>
                <a:latin typeface="Arial"/>
                <a:ea typeface="Arial"/>
                <a:cs typeface="Arial"/>
                <a:sym typeface="Arial"/>
              </a:rPr>
              <a:t> = 1;</a:t>
            </a:r>
            <a:r>
              <a:rPr b="1" lang="en" sz="1800"/>
              <a:t> x++;</a:t>
            </a:r>
            <a:r>
              <a:rPr b="1" lang="en" sz="1800"/>
              <a:t> </a:t>
            </a:r>
            <a:endParaRPr b="1" sz="1800"/>
          </a:p>
          <a:p>
            <a:pPr indent="0" lvl="0" marL="0" marR="0" rtl="0" algn="l">
              <a:spcBef>
                <a:spcPts val="0"/>
              </a:spcBef>
              <a:spcAft>
                <a:spcPts val="0"/>
              </a:spcAft>
              <a:buNone/>
            </a:pPr>
            <a:r>
              <a:rPr b="1" lang="en" sz="1800">
                <a:solidFill>
                  <a:srgbClr val="C200FF"/>
                </a:solidFill>
              </a:rPr>
              <a:t>    return</a:t>
            </a:r>
            <a:r>
              <a:rPr b="1" lang="en" sz="1800"/>
              <a:t> x;</a:t>
            </a:r>
            <a:endParaRPr b="1" sz="1800"/>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b="1" sz="1800">
              <a:solidFill>
                <a:schemeClr val="dk1"/>
              </a:solidFill>
              <a:latin typeface="Courier New"/>
              <a:ea typeface="Courier New"/>
              <a:cs typeface="Courier New"/>
              <a:sym typeface="Courier New"/>
            </a:endParaRPr>
          </a:p>
        </p:txBody>
      </p:sp>
      <p:sp>
        <p:nvSpPr>
          <p:cNvPr id="192" name="Google Shape;192;p29"/>
          <p:cNvSpPr txBox="1"/>
          <p:nvPr/>
        </p:nvSpPr>
        <p:spPr>
          <a:xfrm>
            <a:off x="4694700" y="2571750"/>
            <a:ext cx="4343400" cy="16317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0"/>
              </a:spcBef>
              <a:spcAft>
                <a:spcPts val="0"/>
              </a:spcAft>
              <a:buClr>
                <a:schemeClr val="dk1"/>
              </a:buClr>
              <a:buSzPts val="2000"/>
              <a:buChar char="●"/>
            </a:pPr>
            <a:r>
              <a:rPr b="1" lang="en" sz="2000">
                <a:solidFill>
                  <a:schemeClr val="dk1"/>
                </a:solidFill>
                <a:latin typeface="Calibri"/>
                <a:ea typeface="Calibri"/>
                <a:cs typeface="Calibri"/>
                <a:sym typeface="Calibri"/>
              </a:rPr>
              <a:t>Compiler allocates space in </a:t>
            </a:r>
            <a:r>
              <a:rPr b="1" lang="en" sz="2000">
                <a:solidFill>
                  <a:schemeClr val="dk1"/>
                </a:solidFill>
                <a:latin typeface="Courier New"/>
                <a:ea typeface="Courier New"/>
                <a:cs typeface="Courier New"/>
                <a:sym typeface="Courier New"/>
              </a:rPr>
              <a:t>.data </a:t>
            </a:r>
            <a:r>
              <a:rPr b="1" lang="en" sz="2000">
                <a:solidFill>
                  <a:schemeClr val="dk1"/>
                </a:solidFill>
                <a:latin typeface="Calibri"/>
                <a:ea typeface="Calibri"/>
                <a:cs typeface="Calibri"/>
                <a:sym typeface="Calibri"/>
              </a:rPr>
              <a:t>for each definition of </a:t>
            </a:r>
            <a:r>
              <a:rPr b="1" lang="en" sz="2000">
                <a:solidFill>
                  <a:schemeClr val="dk1"/>
                </a:solidFill>
                <a:latin typeface="Courier New"/>
                <a:ea typeface="Courier New"/>
                <a:cs typeface="Courier New"/>
                <a:sym typeface="Courier New"/>
              </a:rPr>
              <a:t>x</a:t>
            </a:r>
            <a:endParaRPr b="1" sz="2000">
              <a:solidFill>
                <a:schemeClr val="dk1"/>
              </a:solidFill>
              <a:latin typeface="Calibri"/>
              <a:ea typeface="Calibri"/>
              <a:cs typeface="Calibri"/>
              <a:sym typeface="Calibri"/>
            </a:endParaRPr>
          </a:p>
          <a:p>
            <a:pPr indent="-355600" lvl="0" marL="457200" marR="0" rtl="0" algn="l">
              <a:spcBef>
                <a:spcPts val="0"/>
              </a:spcBef>
              <a:spcAft>
                <a:spcPts val="0"/>
              </a:spcAft>
              <a:buClr>
                <a:schemeClr val="dk1"/>
              </a:buClr>
              <a:buSzPts val="2000"/>
              <a:buChar char="●"/>
            </a:pPr>
            <a:r>
              <a:rPr b="1" lang="en" sz="2000">
                <a:solidFill>
                  <a:schemeClr val="dk1"/>
                </a:solidFill>
                <a:latin typeface="Calibri"/>
                <a:ea typeface="Calibri"/>
                <a:cs typeface="Calibri"/>
                <a:sym typeface="Calibri"/>
              </a:rPr>
              <a:t>Creates local symbols in the symbol table with unique names, e.g., </a:t>
            </a:r>
            <a:r>
              <a:rPr b="1" lang="en" sz="2000">
                <a:solidFill>
                  <a:schemeClr val="dk1"/>
                </a:solidFill>
                <a:latin typeface="Courier New"/>
                <a:ea typeface="Courier New"/>
                <a:cs typeface="Courier New"/>
                <a:sym typeface="Courier New"/>
              </a:rPr>
              <a:t>x.1</a:t>
            </a:r>
            <a:r>
              <a:rPr b="1" lang="en" sz="2000">
                <a:solidFill>
                  <a:schemeClr val="dk1"/>
                </a:solidFill>
                <a:latin typeface="Calibri"/>
                <a:ea typeface="Calibri"/>
                <a:cs typeface="Calibri"/>
                <a:sym typeface="Calibri"/>
              </a:rPr>
              <a:t> and </a:t>
            </a:r>
            <a:r>
              <a:rPr b="1" lang="en" sz="2000">
                <a:solidFill>
                  <a:schemeClr val="dk1"/>
                </a:solidFill>
                <a:latin typeface="Courier New"/>
                <a:ea typeface="Courier New"/>
                <a:cs typeface="Courier New"/>
                <a:sym typeface="Courier New"/>
              </a:rPr>
              <a:t>x.2</a:t>
            </a:r>
            <a:r>
              <a:rPr b="1" lang="en" sz="2000">
                <a:solidFill>
                  <a:schemeClr val="dk1"/>
                </a:solidFill>
                <a:latin typeface="Calibri"/>
                <a:ea typeface="Calibri"/>
                <a:cs typeface="Calibri"/>
                <a:sym typeface="Calibri"/>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idx="4294967295" type="title"/>
          </p:nvPr>
        </p:nvSpPr>
        <p:spPr>
          <a:xfrm>
            <a:off x="440266" y="32742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How Linker Resolves Duplicate Symbol Definitions</a:t>
            </a:r>
            <a:endParaRPr/>
          </a:p>
        </p:txBody>
      </p:sp>
      <p:sp>
        <p:nvSpPr>
          <p:cNvPr id="199" name="Google Shape;199;p30"/>
          <p:cNvSpPr txBox="1"/>
          <p:nvPr>
            <p:ph idx="1" type="body"/>
          </p:nvPr>
        </p:nvSpPr>
        <p:spPr>
          <a:xfrm>
            <a:off x="311700" y="1152475"/>
            <a:ext cx="8520600" cy="1760100"/>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
              <a:t>Program symbols are either strong or weak</a:t>
            </a:r>
            <a:endParaRPr/>
          </a:p>
          <a:p>
            <a:pPr indent="-317500" lvl="1" marL="914400" rtl="0" algn="l">
              <a:spcBef>
                <a:spcPts val="0"/>
              </a:spcBef>
              <a:spcAft>
                <a:spcPts val="0"/>
              </a:spcAft>
              <a:buSzPts val="1400"/>
              <a:buChar char="○"/>
            </a:pPr>
            <a:r>
              <a:rPr lang="en">
                <a:solidFill>
                  <a:srgbClr val="C00000"/>
                </a:solidFill>
              </a:rPr>
              <a:t>Strong</a:t>
            </a:r>
            <a:r>
              <a:rPr lang="en"/>
              <a:t>: procedures and initialized globals</a:t>
            </a:r>
            <a:endParaRPr/>
          </a:p>
          <a:p>
            <a:pPr indent="-317500" lvl="1" marL="914400" rtl="0" algn="l">
              <a:spcBef>
                <a:spcPts val="0"/>
              </a:spcBef>
              <a:spcAft>
                <a:spcPts val="0"/>
              </a:spcAft>
              <a:buSzPts val="1400"/>
              <a:buChar char="○"/>
            </a:pPr>
            <a:r>
              <a:rPr lang="en">
                <a:solidFill>
                  <a:srgbClr val="C00000"/>
                </a:solidFill>
              </a:rPr>
              <a:t>Weak</a:t>
            </a:r>
            <a:r>
              <a:rPr lang="en"/>
              <a:t>: uninitialized globals</a:t>
            </a:r>
            <a:endParaRPr/>
          </a:p>
        </p:txBody>
      </p:sp>
      <p:sp>
        <p:nvSpPr>
          <p:cNvPr id="200" name="Google Shape;200;p30"/>
          <p:cNvSpPr/>
          <p:nvPr/>
        </p:nvSpPr>
        <p:spPr>
          <a:xfrm>
            <a:off x="2470150" y="2919854"/>
            <a:ext cx="1560300" cy="1151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int foo=5;</a:t>
            </a:r>
            <a:r>
              <a:rPr lang="en"/>
              <a:t>	</a:t>
            </a:r>
            <a:endParaRPr/>
          </a:p>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p1() {}</a:t>
            </a:r>
            <a:endParaRPr/>
          </a:p>
        </p:txBody>
      </p:sp>
      <p:sp>
        <p:nvSpPr>
          <p:cNvPr id="201" name="Google Shape;201;p30"/>
          <p:cNvSpPr/>
          <p:nvPr/>
        </p:nvSpPr>
        <p:spPr>
          <a:xfrm>
            <a:off x="4705875" y="2919850"/>
            <a:ext cx="1560300" cy="1151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short </a:t>
            </a:r>
            <a:r>
              <a:rPr b="1" lang="en" sz="1800">
                <a:solidFill>
                  <a:schemeClr val="dk1"/>
                </a:solidFill>
                <a:latin typeface="Courier New"/>
                <a:ea typeface="Courier New"/>
                <a:cs typeface="Courier New"/>
                <a:sym typeface="Courier New"/>
              </a:rPr>
              <a:t>foo;</a:t>
            </a:r>
            <a:r>
              <a:rPr lang="en"/>
              <a:t>	</a:t>
            </a:r>
            <a:endParaRPr b="1" sz="1800">
              <a:solidFill>
                <a:schemeClr val="dk1"/>
              </a:solidFill>
              <a:latin typeface="Courier New"/>
              <a:ea typeface="Courier New"/>
              <a:cs typeface="Courier New"/>
              <a:sym typeface="Courier New"/>
            </a:endParaRPr>
          </a:p>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p2() {}</a:t>
            </a:r>
            <a:endParaRPr/>
          </a:p>
        </p:txBody>
      </p:sp>
      <p:sp>
        <p:nvSpPr>
          <p:cNvPr id="202" name="Google Shape;202;p30"/>
          <p:cNvSpPr txBox="1"/>
          <p:nvPr/>
        </p:nvSpPr>
        <p:spPr>
          <a:xfrm>
            <a:off x="7276100" y="3423020"/>
            <a:ext cx="785400" cy="3660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lang="en" sz="1800">
                <a:solidFill>
                  <a:srgbClr val="990000"/>
                </a:solidFill>
                <a:latin typeface="Calibri"/>
                <a:ea typeface="Calibri"/>
                <a:cs typeface="Calibri"/>
                <a:sym typeface="Calibri"/>
              </a:rPr>
              <a:t>strong</a:t>
            </a:r>
            <a:endParaRPr/>
          </a:p>
        </p:txBody>
      </p:sp>
      <p:cxnSp>
        <p:nvCxnSpPr>
          <p:cNvPr id="203" name="Google Shape;203;p30"/>
          <p:cNvCxnSpPr/>
          <p:nvPr/>
        </p:nvCxnSpPr>
        <p:spPr>
          <a:xfrm flipH="1">
            <a:off x="6327650" y="3605426"/>
            <a:ext cx="917700" cy="1200"/>
          </a:xfrm>
          <a:prstGeom prst="straightConnector1">
            <a:avLst/>
          </a:prstGeom>
          <a:noFill/>
          <a:ln cap="flat" cmpd="sng" w="25550">
            <a:solidFill>
              <a:srgbClr val="990000"/>
            </a:solidFill>
            <a:prstDash val="solid"/>
            <a:miter lim="800000"/>
            <a:headEnd len="med" w="med" type="none"/>
            <a:tailEnd len="med" w="med" type="triangle"/>
          </a:ln>
        </p:spPr>
      </p:cxnSp>
      <p:sp>
        <p:nvSpPr>
          <p:cNvPr id="204" name="Google Shape;204;p30"/>
          <p:cNvSpPr txBox="1"/>
          <p:nvPr/>
        </p:nvSpPr>
        <p:spPr>
          <a:xfrm>
            <a:off x="7242175" y="2912696"/>
            <a:ext cx="691200" cy="3660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lang="en" sz="1800">
                <a:solidFill>
                  <a:srgbClr val="990000"/>
                </a:solidFill>
                <a:latin typeface="Calibri"/>
                <a:ea typeface="Calibri"/>
                <a:cs typeface="Calibri"/>
                <a:sym typeface="Calibri"/>
              </a:rPr>
              <a:t>weak</a:t>
            </a:r>
            <a:endParaRPr/>
          </a:p>
        </p:txBody>
      </p:sp>
      <p:cxnSp>
        <p:nvCxnSpPr>
          <p:cNvPr id="205" name="Google Shape;205;p30"/>
          <p:cNvCxnSpPr/>
          <p:nvPr/>
        </p:nvCxnSpPr>
        <p:spPr>
          <a:xfrm flipH="1">
            <a:off x="6324475" y="3053158"/>
            <a:ext cx="917700" cy="1200"/>
          </a:xfrm>
          <a:prstGeom prst="straightConnector1">
            <a:avLst/>
          </a:prstGeom>
          <a:noFill/>
          <a:ln cap="flat" cmpd="sng" w="25550">
            <a:solidFill>
              <a:srgbClr val="990000"/>
            </a:solidFill>
            <a:prstDash val="solid"/>
            <a:miter lim="800000"/>
            <a:headEnd len="med" w="med" type="none"/>
            <a:tailEnd len="med" w="med" type="triangle"/>
          </a:ln>
        </p:spPr>
      </p:cxnSp>
      <p:sp>
        <p:nvSpPr>
          <p:cNvPr id="206" name="Google Shape;206;p30"/>
          <p:cNvSpPr txBox="1"/>
          <p:nvPr/>
        </p:nvSpPr>
        <p:spPr>
          <a:xfrm>
            <a:off x="704850" y="3418460"/>
            <a:ext cx="785400" cy="3660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lang="en" sz="1800">
                <a:solidFill>
                  <a:srgbClr val="990000"/>
                </a:solidFill>
                <a:latin typeface="Calibri"/>
                <a:ea typeface="Calibri"/>
                <a:cs typeface="Calibri"/>
                <a:sym typeface="Calibri"/>
              </a:rPr>
              <a:t>strong</a:t>
            </a:r>
            <a:endParaRPr/>
          </a:p>
        </p:txBody>
      </p:sp>
      <p:cxnSp>
        <p:nvCxnSpPr>
          <p:cNvPr id="207" name="Google Shape;207;p30"/>
          <p:cNvCxnSpPr/>
          <p:nvPr/>
        </p:nvCxnSpPr>
        <p:spPr>
          <a:xfrm flipH="1">
            <a:off x="1520700" y="3626694"/>
            <a:ext cx="917700" cy="1200"/>
          </a:xfrm>
          <a:prstGeom prst="straightConnector1">
            <a:avLst/>
          </a:prstGeom>
          <a:noFill/>
          <a:ln cap="flat" cmpd="sng" w="25550">
            <a:solidFill>
              <a:srgbClr val="990000"/>
            </a:solidFill>
            <a:prstDash val="solid"/>
            <a:miter lim="800000"/>
            <a:headEnd len="med" w="med" type="triangle"/>
            <a:tailEnd len="med" w="med" type="none"/>
          </a:ln>
        </p:spPr>
      </p:cxnSp>
      <p:sp>
        <p:nvSpPr>
          <p:cNvPr id="208" name="Google Shape;208;p30"/>
          <p:cNvSpPr txBox="1"/>
          <p:nvPr/>
        </p:nvSpPr>
        <p:spPr>
          <a:xfrm>
            <a:off x="704850" y="2917061"/>
            <a:ext cx="785400" cy="3660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lang="en" sz="1800">
                <a:solidFill>
                  <a:srgbClr val="990000"/>
                </a:solidFill>
                <a:latin typeface="Calibri"/>
                <a:ea typeface="Calibri"/>
                <a:cs typeface="Calibri"/>
                <a:sym typeface="Calibri"/>
              </a:rPr>
              <a:t>strong</a:t>
            </a:r>
            <a:endParaRPr/>
          </a:p>
        </p:txBody>
      </p:sp>
      <p:cxnSp>
        <p:nvCxnSpPr>
          <p:cNvPr id="209" name="Google Shape;209;p30"/>
          <p:cNvCxnSpPr/>
          <p:nvPr/>
        </p:nvCxnSpPr>
        <p:spPr>
          <a:xfrm flipH="1">
            <a:off x="1520700" y="3054351"/>
            <a:ext cx="917700" cy="1200"/>
          </a:xfrm>
          <a:prstGeom prst="straightConnector1">
            <a:avLst/>
          </a:prstGeom>
          <a:noFill/>
          <a:ln cap="flat" cmpd="sng" w="25550">
            <a:solidFill>
              <a:srgbClr val="990000"/>
            </a:solidFill>
            <a:prstDash val="solid"/>
            <a:miter lim="800000"/>
            <a:headEnd len="med" w="med" type="triangl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idx="4294967295" type="title"/>
          </p:nvPr>
        </p:nvSpPr>
        <p:spPr>
          <a:xfrm>
            <a:off x="379412" y="32742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Linker’s Symbol Rules</a:t>
            </a:r>
            <a:endParaRPr/>
          </a:p>
        </p:txBody>
      </p:sp>
      <p:sp>
        <p:nvSpPr>
          <p:cNvPr id="216" name="Google Shape;216;p31"/>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
              <a:t>Rule 1: Multiple strong symbols are not allowed</a:t>
            </a:r>
            <a:endParaRPr/>
          </a:p>
          <a:p>
            <a:pPr indent="-317500" lvl="1" marL="914400" rtl="0" algn="l">
              <a:spcBef>
                <a:spcPts val="0"/>
              </a:spcBef>
              <a:spcAft>
                <a:spcPts val="0"/>
              </a:spcAft>
              <a:buSzPts val="1400"/>
              <a:buChar char="○"/>
            </a:pPr>
            <a:r>
              <a:rPr lang="en"/>
              <a:t>Each item can be defined only once</a:t>
            </a:r>
            <a:endParaRPr/>
          </a:p>
          <a:p>
            <a:pPr indent="-317500" lvl="1" marL="914400" rtl="0" algn="l">
              <a:spcBef>
                <a:spcPts val="0"/>
              </a:spcBef>
              <a:spcAft>
                <a:spcPts val="0"/>
              </a:spcAft>
              <a:buSzPts val="1400"/>
              <a:buChar char="○"/>
            </a:pPr>
            <a:r>
              <a:rPr lang="en"/>
              <a:t>Otherwise: Linker error</a:t>
            </a:r>
            <a:endParaRPr/>
          </a:p>
          <a:p>
            <a:pPr indent="-342900" lvl="0" marL="457200" rtl="0" algn="l">
              <a:spcBef>
                <a:spcPts val="0"/>
              </a:spcBef>
              <a:spcAft>
                <a:spcPts val="0"/>
              </a:spcAft>
              <a:buSzPts val="1800"/>
              <a:buChar char="●"/>
            </a:pPr>
            <a:r>
              <a:rPr lang="en"/>
              <a:t>Rule 2: Whenever possible: choose the strong symbol</a:t>
            </a:r>
            <a:endParaRPr/>
          </a:p>
          <a:p>
            <a:pPr indent="-317500" lvl="1" marL="914400" rtl="0" algn="l">
              <a:spcBef>
                <a:spcPts val="0"/>
              </a:spcBef>
              <a:spcAft>
                <a:spcPts val="0"/>
              </a:spcAft>
              <a:buSzPts val="1400"/>
              <a:buChar char="○"/>
            </a:pPr>
            <a:r>
              <a:rPr lang="en"/>
              <a:t>References to the weak symbol resolve to the strong symbol</a:t>
            </a:r>
            <a:endParaRPr/>
          </a:p>
          <a:p>
            <a:pPr indent="-342900" lvl="0" marL="457200" rtl="0" algn="l">
              <a:spcBef>
                <a:spcPts val="0"/>
              </a:spcBef>
              <a:spcAft>
                <a:spcPts val="0"/>
              </a:spcAft>
              <a:buSzPts val="1800"/>
              <a:buChar char="●"/>
            </a:pPr>
            <a:r>
              <a:rPr lang="en"/>
              <a:t>Rule 3: If there are multiple weak symbols, pick an arbitrary one</a:t>
            </a:r>
            <a:endParaRPr/>
          </a:p>
          <a:p>
            <a:pPr indent="-317500" lvl="1" marL="914400" rtl="0" algn="l">
              <a:spcBef>
                <a:spcPts val="0"/>
              </a:spcBef>
              <a:spcAft>
                <a:spcPts val="0"/>
              </a:spcAft>
              <a:buSzPts val="1400"/>
              <a:buChar char="○"/>
            </a:pPr>
            <a:r>
              <a:rPr lang="en"/>
              <a:t>Can override this with </a:t>
            </a:r>
            <a:r>
              <a:rPr lang="en">
                <a:latin typeface="Courier New"/>
                <a:ea typeface="Courier New"/>
                <a:cs typeface="Courier New"/>
                <a:sym typeface="Courier New"/>
              </a:rPr>
              <a:t>gcc –fno-common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descr="grey bar to separate linker puzzle examples" id="222" name="Google Shape;222;p32"/>
          <p:cNvSpPr/>
          <p:nvPr/>
        </p:nvSpPr>
        <p:spPr>
          <a:xfrm>
            <a:off x="0" y="2971800"/>
            <a:ext cx="9144000" cy="827700"/>
          </a:xfrm>
          <a:prstGeom prst="rect">
            <a:avLst/>
          </a:prstGeom>
          <a:solidFill>
            <a:srgbClr val="E5E5E5"/>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t/>
            </a:r>
            <a:endParaRPr sz="2400">
              <a:solidFill>
                <a:schemeClr val="dk1"/>
              </a:solidFill>
              <a:latin typeface="Calibri"/>
              <a:ea typeface="Calibri"/>
              <a:cs typeface="Calibri"/>
              <a:sym typeface="Calibri"/>
            </a:endParaRPr>
          </a:p>
        </p:txBody>
      </p:sp>
      <p:sp>
        <p:nvSpPr>
          <p:cNvPr descr="grey bar to separate linker puzzle examples" id="223" name="Google Shape;223;p32"/>
          <p:cNvSpPr/>
          <p:nvPr/>
        </p:nvSpPr>
        <p:spPr>
          <a:xfrm>
            <a:off x="0" y="1409699"/>
            <a:ext cx="9144000" cy="824100"/>
          </a:xfrm>
          <a:prstGeom prst="rect">
            <a:avLst/>
          </a:prstGeom>
          <a:solidFill>
            <a:srgbClr val="E5E5E5"/>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t/>
            </a:r>
            <a:endParaRPr sz="2400">
              <a:solidFill>
                <a:schemeClr val="dk1"/>
              </a:solidFill>
              <a:latin typeface="Calibri"/>
              <a:ea typeface="Calibri"/>
              <a:cs typeface="Calibri"/>
              <a:sym typeface="Calibri"/>
            </a:endParaRPr>
          </a:p>
        </p:txBody>
      </p:sp>
      <p:sp>
        <p:nvSpPr>
          <p:cNvPr id="224" name="Google Shape;224;p32"/>
          <p:cNvSpPr txBox="1"/>
          <p:nvPr>
            <p:ph idx="4294967295" type="title"/>
          </p:nvPr>
        </p:nvSpPr>
        <p:spPr>
          <a:xfrm>
            <a:off x="427038" y="21312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Linker Puzzles</a:t>
            </a:r>
            <a:endParaRPr/>
          </a:p>
        </p:txBody>
      </p:sp>
      <p:sp>
        <p:nvSpPr>
          <p:cNvPr id="225" name="Google Shape;225;p32"/>
          <p:cNvSpPr txBox="1"/>
          <p:nvPr/>
        </p:nvSpPr>
        <p:spPr>
          <a:xfrm>
            <a:off x="533400" y="1547938"/>
            <a:ext cx="1045800" cy="557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int x;</a:t>
            </a:r>
            <a:endParaRPr/>
          </a:p>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p1() {}</a:t>
            </a:r>
            <a:endParaRPr/>
          </a:p>
        </p:txBody>
      </p:sp>
      <p:sp>
        <p:nvSpPr>
          <p:cNvPr id="226" name="Google Shape;226;p32"/>
          <p:cNvSpPr txBox="1"/>
          <p:nvPr/>
        </p:nvSpPr>
        <p:spPr>
          <a:xfrm>
            <a:off x="1983961" y="1543038"/>
            <a:ext cx="1045800" cy="557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int x;</a:t>
            </a:r>
            <a:endParaRPr/>
          </a:p>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p2() {}</a:t>
            </a:r>
            <a:endParaRPr/>
          </a:p>
        </p:txBody>
      </p:sp>
      <p:sp>
        <p:nvSpPr>
          <p:cNvPr id="227" name="Google Shape;227;p32"/>
          <p:cNvSpPr txBox="1"/>
          <p:nvPr/>
        </p:nvSpPr>
        <p:spPr>
          <a:xfrm>
            <a:off x="286500" y="2309825"/>
            <a:ext cx="1292700" cy="557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int x, y;</a:t>
            </a:r>
            <a:endParaRPr/>
          </a:p>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p1() {}</a:t>
            </a:r>
            <a:endParaRPr/>
          </a:p>
        </p:txBody>
      </p:sp>
      <p:sp>
        <p:nvSpPr>
          <p:cNvPr id="228" name="Google Shape;228;p32"/>
          <p:cNvSpPr txBox="1"/>
          <p:nvPr/>
        </p:nvSpPr>
        <p:spPr>
          <a:xfrm>
            <a:off x="1983961" y="2309813"/>
            <a:ext cx="1292700" cy="557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double x;</a:t>
            </a:r>
            <a:endParaRPr/>
          </a:p>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p2() {}</a:t>
            </a:r>
            <a:endParaRPr/>
          </a:p>
        </p:txBody>
      </p:sp>
      <p:sp>
        <p:nvSpPr>
          <p:cNvPr id="229" name="Google Shape;229;p32"/>
          <p:cNvSpPr txBox="1"/>
          <p:nvPr/>
        </p:nvSpPr>
        <p:spPr>
          <a:xfrm>
            <a:off x="128925" y="3096825"/>
            <a:ext cx="1730400" cy="557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int x=7,y=5;</a:t>
            </a:r>
            <a:endParaRPr/>
          </a:p>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p1() {}</a:t>
            </a:r>
            <a:endParaRPr/>
          </a:p>
        </p:txBody>
      </p:sp>
      <p:sp>
        <p:nvSpPr>
          <p:cNvPr id="230" name="Google Shape;230;p32"/>
          <p:cNvSpPr txBox="1"/>
          <p:nvPr/>
        </p:nvSpPr>
        <p:spPr>
          <a:xfrm>
            <a:off x="1983961" y="3096816"/>
            <a:ext cx="1292700" cy="557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double x;</a:t>
            </a:r>
            <a:endParaRPr/>
          </a:p>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p2() {}</a:t>
            </a:r>
            <a:endParaRPr/>
          </a:p>
        </p:txBody>
      </p:sp>
      <p:sp>
        <p:nvSpPr>
          <p:cNvPr id="231" name="Google Shape;231;p32"/>
          <p:cNvSpPr txBox="1"/>
          <p:nvPr/>
        </p:nvSpPr>
        <p:spPr>
          <a:xfrm>
            <a:off x="533400" y="3896916"/>
            <a:ext cx="1169100" cy="557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int x=7;</a:t>
            </a:r>
            <a:endParaRPr/>
          </a:p>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p1() {}</a:t>
            </a:r>
            <a:endParaRPr/>
          </a:p>
        </p:txBody>
      </p:sp>
      <p:sp>
        <p:nvSpPr>
          <p:cNvPr id="232" name="Google Shape;232;p32"/>
          <p:cNvSpPr txBox="1"/>
          <p:nvPr/>
        </p:nvSpPr>
        <p:spPr>
          <a:xfrm>
            <a:off x="1983961" y="3896916"/>
            <a:ext cx="1045800" cy="557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int x;</a:t>
            </a:r>
            <a:endParaRPr/>
          </a:p>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p2() {}</a:t>
            </a:r>
            <a:endParaRPr/>
          </a:p>
        </p:txBody>
      </p:sp>
      <p:sp>
        <p:nvSpPr>
          <p:cNvPr id="233" name="Google Shape;233;p32"/>
          <p:cNvSpPr txBox="1"/>
          <p:nvPr/>
        </p:nvSpPr>
        <p:spPr>
          <a:xfrm>
            <a:off x="533400" y="786064"/>
            <a:ext cx="1045800" cy="5574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int x;</a:t>
            </a:r>
            <a:endParaRPr/>
          </a:p>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p1() {}</a:t>
            </a:r>
            <a:endParaRPr/>
          </a:p>
        </p:txBody>
      </p:sp>
      <p:sp>
        <p:nvSpPr>
          <p:cNvPr id="234" name="Google Shape;234;p32"/>
          <p:cNvSpPr txBox="1"/>
          <p:nvPr/>
        </p:nvSpPr>
        <p:spPr>
          <a:xfrm>
            <a:off x="1983961" y="776263"/>
            <a:ext cx="1045800" cy="326100"/>
          </a:xfrm>
          <a:prstGeom prst="rect">
            <a:avLst/>
          </a:prstGeom>
          <a:solidFill>
            <a:srgbClr val="F6F5BD"/>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lang="en" sz="1600">
                <a:solidFill>
                  <a:schemeClr val="dk1"/>
                </a:solidFill>
                <a:latin typeface="Courier New"/>
                <a:ea typeface="Courier New"/>
                <a:cs typeface="Courier New"/>
                <a:sym typeface="Courier New"/>
              </a:rPr>
              <a:t>p1() {}</a:t>
            </a:r>
            <a:endParaRPr/>
          </a:p>
        </p:txBody>
      </p:sp>
      <p:sp>
        <p:nvSpPr>
          <p:cNvPr id="235" name="Google Shape;235;p32"/>
          <p:cNvSpPr txBox="1"/>
          <p:nvPr/>
        </p:nvSpPr>
        <p:spPr>
          <a:xfrm>
            <a:off x="3819525" y="978694"/>
            <a:ext cx="4047300" cy="3660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Link time error: two strong symbols (</a:t>
            </a:r>
            <a:r>
              <a:rPr lang="en" sz="1800">
                <a:solidFill>
                  <a:schemeClr val="dk1"/>
                </a:solidFill>
                <a:latin typeface="Courier New"/>
                <a:ea typeface="Courier New"/>
                <a:cs typeface="Courier New"/>
                <a:sym typeface="Courier New"/>
              </a:rPr>
              <a:t>p1</a:t>
            </a:r>
            <a:r>
              <a:rPr lang="en" sz="1800">
                <a:solidFill>
                  <a:schemeClr val="dk1"/>
                </a:solidFill>
                <a:latin typeface="Calibri"/>
                <a:ea typeface="Calibri"/>
                <a:cs typeface="Calibri"/>
                <a:sym typeface="Calibri"/>
              </a:rPr>
              <a:t>)</a:t>
            </a:r>
            <a:endParaRPr/>
          </a:p>
        </p:txBody>
      </p:sp>
      <p:sp>
        <p:nvSpPr>
          <p:cNvPr id="236" name="Google Shape;236;p32"/>
          <p:cNvSpPr txBox="1"/>
          <p:nvPr/>
        </p:nvSpPr>
        <p:spPr>
          <a:xfrm>
            <a:off x="3819525" y="1551375"/>
            <a:ext cx="4397100" cy="6375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References to  </a:t>
            </a:r>
            <a:r>
              <a:rPr lang="en" sz="1800">
                <a:solidFill>
                  <a:schemeClr val="dk1"/>
                </a:solidFill>
                <a:latin typeface="Courier New"/>
                <a:ea typeface="Courier New"/>
                <a:cs typeface="Courier New"/>
                <a:sym typeface="Courier New"/>
              </a:rPr>
              <a:t>x</a:t>
            </a:r>
            <a:r>
              <a:rPr lang="en" sz="1800">
                <a:solidFill>
                  <a:schemeClr val="dk1"/>
                </a:solidFill>
                <a:latin typeface="Calibri"/>
                <a:ea typeface="Calibri"/>
                <a:cs typeface="Calibri"/>
                <a:sym typeface="Calibri"/>
              </a:rPr>
              <a:t> will refer to the same </a:t>
            </a:r>
            <a:endParaRPr/>
          </a:p>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uninitialized int. Is this what you really want?</a:t>
            </a:r>
            <a:endParaRPr/>
          </a:p>
        </p:txBody>
      </p:sp>
      <p:sp>
        <p:nvSpPr>
          <p:cNvPr id="237" name="Google Shape;237;p32"/>
          <p:cNvSpPr txBox="1"/>
          <p:nvPr/>
        </p:nvSpPr>
        <p:spPr>
          <a:xfrm>
            <a:off x="3878587" y="2328250"/>
            <a:ext cx="3611700" cy="6375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Writes to </a:t>
            </a:r>
            <a:r>
              <a:rPr lang="en" sz="1800">
                <a:solidFill>
                  <a:schemeClr val="dk1"/>
                </a:solidFill>
                <a:latin typeface="Courier New"/>
                <a:ea typeface="Courier New"/>
                <a:cs typeface="Courier New"/>
                <a:sym typeface="Courier New"/>
              </a:rPr>
              <a:t>x</a:t>
            </a:r>
            <a:r>
              <a:rPr lang="en" sz="1800">
                <a:solidFill>
                  <a:schemeClr val="dk1"/>
                </a:solidFill>
                <a:latin typeface="Calibri"/>
                <a:ea typeface="Calibri"/>
                <a:cs typeface="Calibri"/>
                <a:sym typeface="Calibri"/>
              </a:rPr>
              <a:t> in </a:t>
            </a:r>
            <a:r>
              <a:rPr lang="en" sz="1800">
                <a:solidFill>
                  <a:schemeClr val="dk1"/>
                </a:solidFill>
                <a:latin typeface="Courier New"/>
                <a:ea typeface="Courier New"/>
                <a:cs typeface="Courier New"/>
                <a:sym typeface="Courier New"/>
              </a:rPr>
              <a:t>p2</a:t>
            </a:r>
            <a:r>
              <a:rPr lang="en" sz="1800">
                <a:solidFill>
                  <a:schemeClr val="dk1"/>
                </a:solidFill>
                <a:latin typeface="Calibri"/>
                <a:ea typeface="Calibri"/>
                <a:cs typeface="Calibri"/>
                <a:sym typeface="Calibri"/>
              </a:rPr>
              <a:t> might overwrite </a:t>
            </a:r>
            <a:r>
              <a:rPr lang="en" sz="1800">
                <a:solidFill>
                  <a:schemeClr val="dk1"/>
                </a:solidFill>
                <a:latin typeface="Courier New"/>
                <a:ea typeface="Courier New"/>
                <a:cs typeface="Courier New"/>
                <a:sym typeface="Courier New"/>
              </a:rPr>
              <a:t>y</a:t>
            </a:r>
            <a:r>
              <a:rPr lang="en" sz="1800">
                <a:solidFill>
                  <a:schemeClr val="dk1"/>
                </a:solidFill>
                <a:latin typeface="Calibri"/>
                <a:ea typeface="Calibri"/>
                <a:cs typeface="Calibri"/>
                <a:sym typeface="Calibri"/>
              </a:rPr>
              <a:t>!</a:t>
            </a:r>
            <a:endParaRPr/>
          </a:p>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Evil!</a:t>
            </a:r>
            <a:endParaRPr/>
          </a:p>
        </p:txBody>
      </p:sp>
      <p:sp>
        <p:nvSpPr>
          <p:cNvPr id="238" name="Google Shape;238;p32"/>
          <p:cNvSpPr txBox="1"/>
          <p:nvPr/>
        </p:nvSpPr>
        <p:spPr>
          <a:xfrm>
            <a:off x="3829050" y="3105150"/>
            <a:ext cx="3477600" cy="6375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Writes to </a:t>
            </a:r>
            <a:r>
              <a:rPr lang="en" sz="1800">
                <a:solidFill>
                  <a:schemeClr val="dk1"/>
                </a:solidFill>
                <a:latin typeface="Courier New"/>
                <a:ea typeface="Courier New"/>
                <a:cs typeface="Courier New"/>
                <a:sym typeface="Courier New"/>
              </a:rPr>
              <a:t>x</a:t>
            </a:r>
            <a:r>
              <a:rPr lang="en" sz="1800">
                <a:solidFill>
                  <a:schemeClr val="dk1"/>
                </a:solidFill>
                <a:latin typeface="Calibri"/>
                <a:ea typeface="Calibri"/>
                <a:cs typeface="Calibri"/>
                <a:sym typeface="Calibri"/>
              </a:rPr>
              <a:t> in </a:t>
            </a:r>
            <a:r>
              <a:rPr lang="en" sz="1800">
                <a:solidFill>
                  <a:schemeClr val="dk1"/>
                </a:solidFill>
                <a:latin typeface="Courier New"/>
                <a:ea typeface="Courier New"/>
                <a:cs typeface="Courier New"/>
                <a:sym typeface="Courier New"/>
              </a:rPr>
              <a:t>p2 </a:t>
            </a:r>
            <a:r>
              <a:rPr lang="en" sz="1800">
                <a:solidFill>
                  <a:schemeClr val="dk1"/>
                </a:solidFill>
                <a:latin typeface="Calibri"/>
                <a:ea typeface="Calibri"/>
                <a:cs typeface="Calibri"/>
                <a:sym typeface="Calibri"/>
              </a:rPr>
              <a:t>will overwrite </a:t>
            </a:r>
            <a:r>
              <a:rPr lang="en" sz="1800">
                <a:solidFill>
                  <a:schemeClr val="dk1"/>
                </a:solidFill>
                <a:latin typeface="Courier New"/>
                <a:ea typeface="Courier New"/>
                <a:cs typeface="Courier New"/>
                <a:sym typeface="Courier New"/>
              </a:rPr>
              <a:t>y</a:t>
            </a:r>
            <a:r>
              <a:rPr lang="en" sz="1800">
                <a:solidFill>
                  <a:schemeClr val="dk1"/>
                </a:solidFill>
                <a:latin typeface="Calibri"/>
                <a:ea typeface="Calibri"/>
                <a:cs typeface="Calibri"/>
                <a:sym typeface="Calibri"/>
              </a:rPr>
              <a:t>!</a:t>
            </a:r>
            <a:endParaRPr/>
          </a:p>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Nasty! </a:t>
            </a:r>
            <a:endParaRPr/>
          </a:p>
        </p:txBody>
      </p:sp>
      <p:sp>
        <p:nvSpPr>
          <p:cNvPr id="239" name="Google Shape;239;p32"/>
          <p:cNvSpPr txBox="1"/>
          <p:nvPr/>
        </p:nvSpPr>
        <p:spPr>
          <a:xfrm>
            <a:off x="128925" y="4454325"/>
            <a:ext cx="8717100" cy="6375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Nightmare scenario: two identical weak structs, compiled by different compilers</a:t>
            </a:r>
            <a:endParaRPr/>
          </a:p>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with different alignment rules. </a:t>
            </a:r>
            <a:endParaRPr/>
          </a:p>
        </p:txBody>
      </p:sp>
      <p:sp>
        <p:nvSpPr>
          <p:cNvPr id="240" name="Google Shape;240;p32"/>
          <p:cNvSpPr txBox="1"/>
          <p:nvPr/>
        </p:nvSpPr>
        <p:spPr>
          <a:xfrm>
            <a:off x="3824287" y="3869531"/>
            <a:ext cx="4653900" cy="6375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References to </a:t>
            </a:r>
            <a:r>
              <a:rPr lang="en" sz="1800">
                <a:solidFill>
                  <a:schemeClr val="dk1"/>
                </a:solidFill>
                <a:latin typeface="Courier New"/>
                <a:ea typeface="Courier New"/>
                <a:cs typeface="Courier New"/>
                <a:sym typeface="Courier New"/>
              </a:rPr>
              <a:t>x</a:t>
            </a:r>
            <a:r>
              <a:rPr lang="en" sz="1800">
                <a:solidFill>
                  <a:schemeClr val="dk1"/>
                </a:solidFill>
                <a:latin typeface="Calibri"/>
                <a:ea typeface="Calibri"/>
                <a:cs typeface="Calibri"/>
                <a:sym typeface="Calibri"/>
              </a:rPr>
              <a:t> will refer to the same initialized</a:t>
            </a:r>
            <a:endParaRPr/>
          </a:p>
          <a:p>
            <a:pPr indent="0" lvl="0" marL="0" marR="0" rtl="0" algn="l">
              <a:lnSpc>
                <a:spcPct val="98000"/>
              </a:lnSpc>
              <a:spcBef>
                <a:spcPts val="0"/>
              </a:spcBef>
              <a:spcAft>
                <a:spcPts val="0"/>
              </a:spcAft>
              <a:buNone/>
            </a:pPr>
            <a:r>
              <a:rPr lang="en" sz="1800">
                <a:solidFill>
                  <a:schemeClr val="dk1"/>
                </a:solidFill>
                <a:latin typeface="Calibri"/>
                <a:ea typeface="Calibri"/>
                <a:cs typeface="Calibri"/>
                <a:sym typeface="Calibri"/>
              </a:rPr>
              <a:t>variable.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Global Variables</a:t>
            </a:r>
            <a:endParaRPr/>
          </a:p>
        </p:txBody>
      </p:sp>
      <p:sp>
        <p:nvSpPr>
          <p:cNvPr id="246" name="Google Shape;246;p33"/>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Avoid if you can</a:t>
            </a:r>
            <a:endParaRPr/>
          </a:p>
          <a:p>
            <a:pPr indent="-342900" lvl="0" marL="342900" rtl="0" algn="l">
              <a:spcBef>
                <a:spcPts val="480"/>
              </a:spcBef>
              <a:spcAft>
                <a:spcPts val="0"/>
              </a:spcAft>
              <a:buSzPts val="1440"/>
              <a:buChar char="●"/>
            </a:pPr>
            <a:r>
              <a:rPr lang="en"/>
              <a:t>Otherwise</a:t>
            </a:r>
            <a:endParaRPr/>
          </a:p>
          <a:p>
            <a:pPr indent="-285750" lvl="1" marL="742950" rtl="0" algn="l">
              <a:spcBef>
                <a:spcPts val="400"/>
              </a:spcBef>
              <a:spcAft>
                <a:spcPts val="0"/>
              </a:spcAft>
              <a:buSzPts val="2200"/>
              <a:buChar char="○"/>
            </a:pPr>
            <a:r>
              <a:rPr lang="en"/>
              <a:t>Use </a:t>
            </a:r>
            <a:r>
              <a:rPr lang="en">
                <a:latin typeface="Courier New"/>
                <a:ea typeface="Courier New"/>
                <a:cs typeface="Courier New"/>
                <a:sym typeface="Courier New"/>
              </a:rPr>
              <a:t>static </a:t>
            </a:r>
            <a:r>
              <a:rPr lang="en"/>
              <a:t>if you can</a:t>
            </a:r>
            <a:endParaRPr/>
          </a:p>
          <a:p>
            <a:pPr indent="-285750" lvl="1" marL="742950" rtl="0" algn="l">
              <a:spcBef>
                <a:spcPts val="400"/>
              </a:spcBef>
              <a:spcAft>
                <a:spcPts val="0"/>
              </a:spcAft>
              <a:buSzPts val="2200"/>
              <a:buChar char="○"/>
            </a:pPr>
            <a:r>
              <a:rPr lang="en"/>
              <a:t>Initialize if you define a global variable</a:t>
            </a:r>
            <a:endParaRPr/>
          </a:p>
          <a:p>
            <a:pPr indent="-285750" lvl="1" marL="742950" rtl="0" algn="l">
              <a:spcBef>
                <a:spcPts val="400"/>
              </a:spcBef>
              <a:spcAft>
                <a:spcPts val="0"/>
              </a:spcAft>
              <a:buSzPts val="2200"/>
              <a:buChar char="○"/>
            </a:pPr>
            <a:r>
              <a:rPr lang="en"/>
              <a:t>Use </a:t>
            </a:r>
            <a:r>
              <a:rPr lang="en">
                <a:latin typeface="Courier New"/>
                <a:ea typeface="Courier New"/>
                <a:cs typeface="Courier New"/>
                <a:sym typeface="Courier New"/>
              </a:rPr>
              <a:t>extern</a:t>
            </a:r>
            <a:r>
              <a:rPr lang="en"/>
              <a:t> if you reference an external global variable</a:t>
            </a:r>
            <a:endParaRPr/>
          </a:p>
          <a:p>
            <a:pPr indent="-317500" lvl="2" marL="1371600" rtl="0" algn="l">
              <a:spcBef>
                <a:spcPts val="400"/>
              </a:spcBef>
              <a:spcAft>
                <a:spcPts val="0"/>
              </a:spcAft>
              <a:buSzPts val="1400"/>
              <a:buChar char="■"/>
            </a:pPr>
            <a:r>
              <a:rPr lang="en"/>
              <a:t>Use a header file to handle global declarations to avoid type mismatches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rgbClr val="000000"/>
              </a:buClr>
              <a:buSzPts val="3500"/>
              <a:buFont typeface="Cambria"/>
              <a:buNone/>
            </a:pPr>
            <a:r>
              <a:rPr lang="en"/>
              <a:t>Linker Relocation:</a:t>
            </a:r>
            <a:endParaRPr/>
          </a:p>
        </p:txBody>
      </p:sp>
      <p:sp>
        <p:nvSpPr>
          <p:cNvPr id="252" name="Google Shape;252;p34"/>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a:bodyPr>
          <a:lstStyle/>
          <a:p>
            <a:pPr indent="-279400" lvl="0" marL="342900" rtl="0" algn="l">
              <a:spcBef>
                <a:spcPts val="400"/>
              </a:spcBef>
              <a:spcAft>
                <a:spcPts val="0"/>
              </a:spcAft>
              <a:buSzPts val="1800"/>
              <a:buChar char="●"/>
            </a:pPr>
            <a:r>
              <a:rPr lang="en"/>
              <a:t>Once the linker has resolved all the symbols it must relocate the object files into one ELF file. This is done in two steps:</a:t>
            </a:r>
            <a:endParaRPr/>
          </a:p>
          <a:p>
            <a:pPr indent="-254000" lvl="1" marL="685800" rtl="0" algn="l">
              <a:spcBef>
                <a:spcPts val="0"/>
              </a:spcBef>
              <a:spcAft>
                <a:spcPts val="0"/>
              </a:spcAft>
              <a:buSzPts val="1400"/>
              <a:buChar char="○"/>
            </a:pPr>
            <a:r>
              <a:rPr lang="en"/>
              <a:t>1) Relocating Sections: All .data, .txt, .bss, etc. sections need to be aggregated and references to the sections need to be updated</a:t>
            </a:r>
            <a:endParaRPr/>
          </a:p>
          <a:p>
            <a:pPr indent="-254000" lvl="1" marL="685800" rtl="0" algn="l">
              <a:spcBef>
                <a:spcPts val="0"/>
              </a:spcBef>
              <a:spcAft>
                <a:spcPts val="0"/>
              </a:spcAft>
              <a:buSzPts val="1400"/>
              <a:buChar char="○"/>
            </a:pPr>
            <a:r>
              <a:rPr lang="en"/>
              <a:t>2) Relocating symbol references within sections: The references to specific symbols within the sections need to be updated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4294967295" type="title"/>
          </p:nvPr>
        </p:nvSpPr>
        <p:spPr>
          <a:xfrm>
            <a:off x="372533" y="349250"/>
            <a:ext cx="7594500" cy="429600"/>
          </a:xfrm>
          <a:prstGeom prst="rect">
            <a:avLst/>
          </a:prstGeom>
          <a:noFill/>
          <a:ln>
            <a:noFill/>
          </a:ln>
        </p:spPr>
        <p:txBody>
          <a:bodyPr anchorCtr="0" anchor="ctr" bIns="45700" lIns="91425" spcFirstLastPara="1" rIns="91425" wrap="square" tIns="45700">
            <a:normAutofit fontScale="90000"/>
          </a:bodyPr>
          <a:lstStyle/>
          <a:p>
            <a:pPr indent="-119063" lvl="0" marL="119063" rtl="0" algn="l">
              <a:spcBef>
                <a:spcPts val="0"/>
              </a:spcBef>
              <a:spcAft>
                <a:spcPts val="0"/>
              </a:spcAft>
              <a:buNone/>
            </a:pPr>
            <a:r>
              <a:rPr lang="en"/>
              <a:t>Step 2: Relocation</a:t>
            </a:r>
            <a:endParaRPr/>
          </a:p>
        </p:txBody>
      </p:sp>
      <p:pic>
        <p:nvPicPr>
          <p:cNvPr descr="objects being merged into a single Executable Object File" id="259" name="Google Shape;259;p35"/>
          <p:cNvPicPr preferRelativeResize="0"/>
          <p:nvPr/>
        </p:nvPicPr>
        <p:blipFill>
          <a:blip r:embed="rId3">
            <a:alphaModFix/>
          </a:blip>
          <a:stretch>
            <a:fillRect/>
          </a:stretch>
        </p:blipFill>
        <p:spPr>
          <a:xfrm>
            <a:off x="152400" y="931250"/>
            <a:ext cx="8839201" cy="357659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4" name="Shape 264"/>
        <p:cNvGrpSpPr/>
        <p:nvPr/>
      </p:nvGrpSpPr>
      <p:grpSpPr>
        <a:xfrm>
          <a:off x="0" y="0"/>
          <a:ext cx="0" cy="0"/>
          <a:chOff x="0" y="0"/>
          <a:chExt cx="0" cy="0"/>
        </a:xfrm>
      </p:grpSpPr>
      <p:sp>
        <p:nvSpPr>
          <p:cNvPr id="265" name="Google Shape;265;p36"/>
          <p:cNvSpPr txBox="1"/>
          <p:nvPr>
            <p:ph idx="4294967295" type="title"/>
          </p:nvPr>
        </p:nvSpPr>
        <p:spPr>
          <a:xfrm>
            <a:off x="333904" y="33377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lnSpc>
                <a:spcPct val="82000"/>
              </a:lnSpc>
              <a:spcBef>
                <a:spcPts val="0"/>
              </a:spcBef>
              <a:spcAft>
                <a:spcPts val="0"/>
              </a:spcAft>
              <a:buNone/>
            </a:pPr>
            <a:r>
              <a:rPr lang="en"/>
              <a:t>Relocation Entries</a:t>
            </a:r>
            <a:endParaRPr/>
          </a:p>
        </p:txBody>
      </p:sp>
      <p:sp>
        <p:nvSpPr>
          <p:cNvPr id="266" name="Google Shape;266;p36"/>
          <p:cNvSpPr txBox="1"/>
          <p:nvPr/>
        </p:nvSpPr>
        <p:spPr>
          <a:xfrm>
            <a:off x="1860750" y="1595550"/>
            <a:ext cx="2933700" cy="3057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lang="en" sz="1400">
                <a:solidFill>
                  <a:schemeClr val="dk1"/>
                </a:solidFill>
                <a:latin typeface="Calibri"/>
                <a:ea typeface="Calibri"/>
                <a:cs typeface="Calibri"/>
                <a:sym typeface="Calibri"/>
              </a:rPr>
              <a:t>Source: </a:t>
            </a:r>
            <a:r>
              <a:rPr b="1" lang="en" sz="1400">
                <a:solidFill>
                  <a:schemeClr val="dk1"/>
                </a:solidFill>
                <a:latin typeface="Courier New"/>
                <a:ea typeface="Courier New"/>
                <a:cs typeface="Courier New"/>
                <a:sym typeface="Courier New"/>
              </a:rPr>
              <a:t>objdump –r –d main.o</a:t>
            </a:r>
            <a:endParaRPr b="1" sz="1400">
              <a:solidFill>
                <a:schemeClr val="dk1"/>
              </a:solidFill>
              <a:latin typeface="Courier New"/>
              <a:ea typeface="Courier New"/>
              <a:cs typeface="Courier New"/>
              <a:sym typeface="Courier New"/>
            </a:endParaRPr>
          </a:p>
        </p:txBody>
      </p:sp>
      <p:sp>
        <p:nvSpPr>
          <p:cNvPr id="267" name="Google Shape;267;p36"/>
          <p:cNvSpPr txBox="1"/>
          <p:nvPr/>
        </p:nvSpPr>
        <p:spPr>
          <a:xfrm>
            <a:off x="34050" y="2076850"/>
            <a:ext cx="9075900" cy="2310900"/>
          </a:xfrm>
          <a:prstGeom prst="rect">
            <a:avLst/>
          </a:prstGeom>
          <a:solidFill>
            <a:srgbClr val="F2F2F2"/>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spcBef>
                <a:spcPts val="0"/>
              </a:spcBef>
              <a:spcAft>
                <a:spcPts val="0"/>
              </a:spcAft>
              <a:buNone/>
            </a:pPr>
            <a:r>
              <a:rPr b="1" lang="en" sz="1600">
                <a:solidFill>
                  <a:srgbClr val="000000"/>
                </a:solidFill>
                <a:latin typeface="Arial"/>
                <a:ea typeface="Arial"/>
                <a:cs typeface="Arial"/>
                <a:sym typeface="Arial"/>
              </a:rPr>
              <a:t>0000000000000000 &lt;main&gt;: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0:   48 83 ec 08             sub    $0x8,%rsp</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4:   be 02 00 00 00          mov    $0x2,%esi</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9:   bf 00 00 00 00          mov    $0x0,%edi      </a:t>
            </a:r>
            <a:r>
              <a:rPr b="1" lang="en" sz="1600">
                <a:solidFill>
                  <a:srgbClr val="3366FF"/>
                </a:solidFill>
                <a:latin typeface="Arial"/>
                <a:ea typeface="Arial"/>
                <a:cs typeface="Arial"/>
                <a:sym typeface="Arial"/>
              </a:rPr>
              <a:t># %edi = &amp;array</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FF0000"/>
                </a:solidFill>
                <a:latin typeface="Arial"/>
                <a:ea typeface="Arial"/>
                <a:cs typeface="Arial"/>
                <a:sym typeface="Arial"/>
              </a:rPr>
              <a:t>a: R_X86_64_32 array          </a:t>
            </a:r>
            <a:r>
              <a:rPr b="1" lang="en" sz="1600">
                <a:solidFill>
                  <a:srgbClr val="3366FF"/>
                </a:solidFill>
                <a:latin typeface="Arial"/>
                <a:ea typeface="Arial"/>
                <a:cs typeface="Arial"/>
                <a:sym typeface="Arial"/>
              </a:rPr>
              <a:t># Relocation entry</a:t>
            </a:r>
            <a:endParaRPr b="1" sz="1600">
              <a:solidFill>
                <a:srgbClr val="3366FF"/>
              </a:solidFill>
              <a:latin typeface="Arial"/>
              <a:ea typeface="Arial"/>
              <a:cs typeface="Arial"/>
              <a:sym typeface="Arial"/>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e:   e8 00 00 00 00          callq  13 &lt;main+0x13&gt; </a:t>
            </a:r>
            <a:r>
              <a:rPr b="1" lang="en" sz="1600">
                <a:solidFill>
                  <a:srgbClr val="3366FF"/>
                </a:solidFill>
                <a:latin typeface="Arial"/>
                <a:ea typeface="Arial"/>
                <a:cs typeface="Arial"/>
                <a:sym typeface="Arial"/>
              </a:rPr>
              <a:t># sum()</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FF0000"/>
                </a:solidFill>
                <a:latin typeface="Arial"/>
                <a:ea typeface="Arial"/>
                <a:cs typeface="Arial"/>
                <a:sym typeface="Arial"/>
              </a:rPr>
              <a:t>f: R_X86_64_PC32 sum-0x4      </a:t>
            </a:r>
            <a:r>
              <a:rPr b="1" lang="en" sz="1600">
                <a:solidFill>
                  <a:srgbClr val="3366FF"/>
                </a:solidFill>
                <a:latin typeface="Arial"/>
                <a:ea typeface="Arial"/>
                <a:cs typeface="Arial"/>
                <a:sym typeface="Arial"/>
              </a:rPr>
              <a:t># Relocation entry</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13:   48 83 c4 08             add    $0x8,%rsp</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17:   c3                      retq</a:t>
            </a:r>
            <a:endParaRPr b="1" sz="1600">
              <a:solidFill>
                <a:schemeClr val="dk1"/>
              </a:solidFill>
              <a:latin typeface="Courier New"/>
              <a:ea typeface="Courier New"/>
              <a:cs typeface="Courier New"/>
              <a:sym typeface="Courier New"/>
            </a:endParaRPr>
          </a:p>
        </p:txBody>
      </p:sp>
      <p:sp>
        <p:nvSpPr>
          <p:cNvPr id="268" name="Google Shape;268;p36"/>
          <p:cNvSpPr/>
          <p:nvPr/>
        </p:nvSpPr>
        <p:spPr>
          <a:xfrm>
            <a:off x="4977900" y="32275"/>
            <a:ext cx="4073100" cy="1996500"/>
          </a:xfrm>
          <a:prstGeom prst="rect">
            <a:avLst/>
          </a:prstGeom>
          <a:solidFill>
            <a:srgbClr val="F7F5CD"/>
          </a:solid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spcBef>
                <a:spcPts val="0"/>
              </a:spcBef>
              <a:spcAft>
                <a:spcPts val="0"/>
              </a:spcAft>
              <a:buNone/>
            </a:pP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array</a:t>
            </a:r>
            <a:r>
              <a:rPr b="1" lang="en" sz="1800">
                <a:solidFill>
                  <a:srgbClr val="000000"/>
                </a:solidFill>
                <a:latin typeface="Arial"/>
                <a:ea typeface="Arial"/>
                <a:cs typeface="Arial"/>
                <a:sym typeface="Arial"/>
              </a:rPr>
              <a:t>[2] = {1, 2};</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main</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val</a:t>
            </a:r>
            <a:r>
              <a:rPr b="1" lang="en" sz="1800">
                <a:solidFill>
                  <a:srgbClr val="000000"/>
                </a:solidFill>
                <a:latin typeface="Arial"/>
                <a:ea typeface="Arial"/>
                <a:cs typeface="Arial"/>
                <a:sym typeface="Arial"/>
              </a:rPr>
              <a:t> = sum(array, 2);</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C200FF"/>
                </a:solidFill>
                <a:latin typeface="Arial"/>
                <a:ea typeface="Arial"/>
                <a:cs typeface="Arial"/>
                <a:sym typeface="Arial"/>
              </a:rPr>
              <a:t>return</a:t>
            </a:r>
            <a:r>
              <a:rPr b="1" lang="en" sz="1800">
                <a:solidFill>
                  <a:srgbClr val="000000"/>
                </a:solidFill>
                <a:latin typeface="Arial"/>
                <a:ea typeface="Arial"/>
                <a:cs typeface="Arial"/>
                <a:sym typeface="Arial"/>
              </a:rPr>
              <a:t> val;</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b="1" sz="1800">
              <a:solidFill>
                <a:schemeClr val="dk1"/>
              </a:solidFill>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3" name="Shape 273"/>
        <p:cNvGrpSpPr/>
        <p:nvPr/>
      </p:nvGrpSpPr>
      <p:grpSpPr>
        <a:xfrm>
          <a:off x="0" y="0"/>
          <a:ext cx="0" cy="0"/>
          <a:chOff x="0" y="0"/>
          <a:chExt cx="0" cy="0"/>
        </a:xfrm>
      </p:grpSpPr>
      <p:sp>
        <p:nvSpPr>
          <p:cNvPr id="274" name="Google Shape;274;p37"/>
          <p:cNvSpPr txBox="1"/>
          <p:nvPr>
            <p:ph idx="4294967295" type="title"/>
          </p:nvPr>
        </p:nvSpPr>
        <p:spPr>
          <a:xfrm>
            <a:off x="250826" y="114300"/>
            <a:ext cx="8918700" cy="8514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Relocated .text section</a:t>
            </a:r>
            <a:endParaRPr/>
          </a:p>
        </p:txBody>
      </p:sp>
      <p:sp>
        <p:nvSpPr>
          <p:cNvPr id="275" name="Google Shape;275;p37"/>
          <p:cNvSpPr txBox="1"/>
          <p:nvPr/>
        </p:nvSpPr>
        <p:spPr>
          <a:xfrm>
            <a:off x="1189025" y="814950"/>
            <a:ext cx="6492300" cy="34962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spcBef>
                <a:spcPts val="0"/>
              </a:spcBef>
              <a:spcAft>
                <a:spcPts val="0"/>
              </a:spcAft>
              <a:buNone/>
            </a:pPr>
            <a:r>
              <a:rPr b="1" lang="en" sz="1300">
                <a:solidFill>
                  <a:srgbClr val="000000"/>
                </a:solidFill>
                <a:latin typeface="Arial"/>
                <a:ea typeface="Arial"/>
                <a:cs typeface="Arial"/>
                <a:sym typeface="Arial"/>
              </a:rPr>
              <a:t>00000000004004d0 &lt;main&gt;:</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4004d0:       48 83 ec 08       sub    $0x8,%rsp</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4004d4:       be 02 00 00 00    mov    $0x2,%esi</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4004d9:       bf 18 10 60 00    mov    </a:t>
            </a:r>
            <a:r>
              <a:rPr b="1" lang="en" sz="1300">
                <a:solidFill>
                  <a:schemeClr val="dk1"/>
                </a:solidFill>
                <a:latin typeface="Arial"/>
                <a:ea typeface="Arial"/>
                <a:cs typeface="Arial"/>
                <a:sym typeface="Arial"/>
              </a:rPr>
              <a:t>$0x601018</a:t>
            </a:r>
            <a:r>
              <a:rPr b="1" lang="en" sz="1300">
                <a:solidFill>
                  <a:srgbClr val="000000"/>
                </a:solidFill>
                <a:latin typeface="Arial"/>
                <a:ea typeface="Arial"/>
                <a:cs typeface="Arial"/>
                <a:sym typeface="Arial"/>
              </a:rPr>
              <a:t>,%edi  </a:t>
            </a:r>
            <a:r>
              <a:rPr b="1" lang="en" sz="1300">
                <a:solidFill>
                  <a:schemeClr val="dk1"/>
                </a:solidFill>
                <a:latin typeface="Arial"/>
                <a:ea typeface="Arial"/>
                <a:cs typeface="Arial"/>
                <a:sym typeface="Arial"/>
              </a:rPr>
              <a:t># %edi = &amp;array</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4004de:       e8 </a:t>
            </a:r>
            <a:r>
              <a:rPr b="1" lang="en" sz="1300">
                <a:solidFill>
                  <a:schemeClr val="accent1"/>
                </a:solidFill>
                <a:latin typeface="Arial"/>
                <a:ea typeface="Arial"/>
                <a:cs typeface="Arial"/>
                <a:sym typeface="Arial"/>
              </a:rPr>
              <a:t>05 00 00 00    </a:t>
            </a:r>
            <a:r>
              <a:rPr b="1" lang="en" sz="1300">
                <a:solidFill>
                  <a:srgbClr val="000000"/>
                </a:solidFill>
                <a:latin typeface="Arial"/>
                <a:ea typeface="Arial"/>
                <a:cs typeface="Arial"/>
                <a:sym typeface="Arial"/>
              </a:rPr>
              <a:t>callq  </a:t>
            </a:r>
            <a:r>
              <a:rPr b="1" lang="en" sz="1300">
                <a:solidFill>
                  <a:srgbClr val="C00000"/>
                </a:solidFill>
                <a:latin typeface="Arial"/>
                <a:ea typeface="Arial"/>
                <a:cs typeface="Arial"/>
                <a:sym typeface="Arial"/>
              </a:rPr>
              <a:t>4004e8 </a:t>
            </a:r>
            <a:r>
              <a:rPr b="1" lang="en" sz="1300">
                <a:solidFill>
                  <a:srgbClr val="000000"/>
                </a:solidFill>
                <a:latin typeface="Arial"/>
                <a:ea typeface="Arial"/>
                <a:cs typeface="Arial"/>
                <a:sym typeface="Arial"/>
              </a:rPr>
              <a:t>&lt;sum&gt;    # sum()</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a:t>
            </a:r>
            <a:r>
              <a:rPr b="1" lang="en" sz="1300">
                <a:solidFill>
                  <a:srgbClr val="3366FF"/>
                </a:solidFill>
                <a:latin typeface="Arial"/>
                <a:ea typeface="Arial"/>
                <a:cs typeface="Arial"/>
                <a:sym typeface="Arial"/>
              </a:rPr>
              <a:t>4004e3</a:t>
            </a:r>
            <a:r>
              <a:rPr b="1" lang="en" sz="1300">
                <a:solidFill>
                  <a:srgbClr val="000000"/>
                </a:solidFill>
                <a:latin typeface="Arial"/>
                <a:ea typeface="Arial"/>
                <a:cs typeface="Arial"/>
                <a:sym typeface="Arial"/>
              </a:rPr>
              <a:t>:       48 83 c4 08       add    $0x8,%rsp</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4004e7:       c3                retq</a:t>
            </a:r>
            <a:endParaRPr b="1" sz="1300">
              <a:solidFill>
                <a:srgbClr val="000000"/>
              </a:solidFill>
              <a:latin typeface="Arial"/>
              <a:ea typeface="Arial"/>
              <a:cs typeface="Arial"/>
              <a:sym typeface="Arial"/>
            </a:endParaRPr>
          </a:p>
          <a:p>
            <a:pPr indent="0" lvl="0" marL="0" marR="0" rtl="0" algn="l">
              <a:spcBef>
                <a:spcPts val="0"/>
              </a:spcBef>
              <a:spcAft>
                <a:spcPts val="0"/>
              </a:spcAft>
              <a:buNone/>
            </a:pPr>
            <a:r>
              <a:rPr b="1" lang="en" sz="1300">
                <a:solidFill>
                  <a:srgbClr val="000000"/>
                </a:solidFill>
                <a:latin typeface="Arial"/>
                <a:ea typeface="Arial"/>
                <a:cs typeface="Arial"/>
                <a:sym typeface="Arial"/>
              </a:rPr>
              <a:t>00000000004004e8 &lt;sum&gt;:</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a:t>
            </a:r>
            <a:r>
              <a:rPr b="1" lang="en" sz="1300">
                <a:solidFill>
                  <a:srgbClr val="C00000"/>
                </a:solidFill>
                <a:latin typeface="Arial"/>
                <a:ea typeface="Arial"/>
                <a:cs typeface="Arial"/>
                <a:sym typeface="Arial"/>
              </a:rPr>
              <a:t>4004e8</a:t>
            </a:r>
            <a:r>
              <a:rPr b="1" lang="en" sz="1300">
                <a:solidFill>
                  <a:srgbClr val="000000"/>
                </a:solidFill>
                <a:latin typeface="Arial"/>
                <a:ea typeface="Arial"/>
                <a:cs typeface="Arial"/>
                <a:sym typeface="Arial"/>
              </a:rPr>
              <a:t>:       b8 00 00 00 00          mov    $0x0,%eax</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4004ed:       ba 00 00 00 00          mov    $0x0,%edx</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4004f2:       eb 09                   jmp    4004fd &lt;sum+0x15&gt;</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4004f4:       48 63 ca                movslq %edx,%rcx</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4004f7:       03 04 8f                add    (%rdi,%rcx,4),%eax</a:t>
            </a:r>
            <a:endParaRPr b="1" sz="1300">
              <a:solidFill>
                <a:srgbClr val="000000"/>
              </a:solidFill>
              <a:latin typeface="Arial"/>
              <a:ea typeface="Arial"/>
              <a:cs typeface="Arial"/>
              <a:sym typeface="Arial"/>
            </a:endParaRPr>
          </a:p>
          <a:p>
            <a:pPr indent="0" lvl="0" marL="0" marR="0" rtl="0" algn="l">
              <a:spcBef>
                <a:spcPts val="0"/>
              </a:spcBef>
              <a:spcAft>
                <a:spcPts val="0"/>
              </a:spcAft>
              <a:buNone/>
            </a:pPr>
            <a:r>
              <a:rPr b="1" lang="en" sz="1300">
                <a:solidFill>
                  <a:srgbClr val="000000"/>
                </a:solidFill>
                <a:latin typeface="Arial"/>
                <a:ea typeface="Arial"/>
                <a:cs typeface="Arial"/>
                <a:sym typeface="Arial"/>
              </a:rPr>
              <a:t>  4004fa:       83 c2 01                add    $0x1,%edx</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4004fd:       39 f2                   cmp    %esi,%edx</a:t>
            </a:r>
            <a:endParaRPr b="1" sz="1300">
              <a:solidFill>
                <a:srgbClr val="000000"/>
              </a:solidFill>
              <a:latin typeface="Arial"/>
              <a:ea typeface="Arial"/>
              <a:cs typeface="Arial"/>
              <a:sym typeface="Arial"/>
            </a:endParaRPr>
          </a:p>
          <a:p>
            <a:pPr indent="0" lvl="0" marL="0" marR="0" rtl="0" algn="l">
              <a:spcBef>
                <a:spcPts val="0"/>
              </a:spcBef>
              <a:spcAft>
                <a:spcPts val="0"/>
              </a:spcAft>
              <a:buNone/>
            </a:pPr>
            <a:r>
              <a:rPr b="1" lang="en" sz="1300">
                <a:solidFill>
                  <a:srgbClr val="000000"/>
                </a:solidFill>
                <a:latin typeface="Arial"/>
                <a:ea typeface="Arial"/>
                <a:cs typeface="Arial"/>
                <a:sym typeface="Arial"/>
              </a:rPr>
              <a:t>  4004ff:       7c f3                   jl     4004f4 &lt;sum+0xc&gt;</a:t>
            </a:r>
            <a:endParaRPr sz="1100"/>
          </a:p>
          <a:p>
            <a:pPr indent="0" lvl="0" marL="0" marR="0" rtl="0" algn="l">
              <a:spcBef>
                <a:spcPts val="0"/>
              </a:spcBef>
              <a:spcAft>
                <a:spcPts val="0"/>
              </a:spcAft>
              <a:buNone/>
            </a:pPr>
            <a:r>
              <a:rPr b="1" lang="en" sz="1300">
                <a:solidFill>
                  <a:srgbClr val="000000"/>
                </a:solidFill>
                <a:latin typeface="Arial"/>
                <a:ea typeface="Arial"/>
                <a:cs typeface="Arial"/>
                <a:sym typeface="Arial"/>
              </a:rPr>
              <a:t>  400501:       f3 c3                   repz retq</a:t>
            </a:r>
            <a:endParaRPr b="1" sz="1300">
              <a:solidFill>
                <a:schemeClr val="dk1"/>
              </a:solidFill>
              <a:latin typeface="Courier New"/>
              <a:ea typeface="Courier New"/>
              <a:cs typeface="Courier New"/>
              <a:sym typeface="Courier New"/>
            </a:endParaRPr>
          </a:p>
        </p:txBody>
      </p:sp>
      <p:sp>
        <p:nvSpPr>
          <p:cNvPr id="276" name="Google Shape;276;p37"/>
          <p:cNvSpPr txBox="1"/>
          <p:nvPr/>
        </p:nvSpPr>
        <p:spPr>
          <a:xfrm>
            <a:off x="851775" y="4444125"/>
            <a:ext cx="73434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2000">
                <a:solidFill>
                  <a:schemeClr val="dk1"/>
                </a:solidFill>
                <a:latin typeface="Calibri"/>
                <a:ea typeface="Calibri"/>
                <a:cs typeface="Calibri"/>
                <a:sym typeface="Calibri"/>
              </a:rPr>
              <a:t>Using PC-relative addressing for sum():  </a:t>
            </a:r>
            <a:r>
              <a:rPr b="1" lang="en" sz="2000">
                <a:solidFill>
                  <a:srgbClr val="C00000"/>
                </a:solidFill>
                <a:latin typeface="Calibri"/>
                <a:ea typeface="Calibri"/>
                <a:cs typeface="Calibri"/>
                <a:sym typeface="Calibri"/>
              </a:rPr>
              <a:t>0x4004e8 </a:t>
            </a:r>
            <a:r>
              <a:rPr b="1" lang="en" sz="2000">
                <a:solidFill>
                  <a:schemeClr val="dk1"/>
                </a:solidFill>
                <a:latin typeface="Calibri"/>
                <a:ea typeface="Calibri"/>
                <a:cs typeface="Calibri"/>
                <a:sym typeface="Calibri"/>
              </a:rPr>
              <a:t>= </a:t>
            </a:r>
            <a:r>
              <a:rPr b="1" lang="en" sz="2000">
                <a:solidFill>
                  <a:srgbClr val="3366FF"/>
                </a:solidFill>
                <a:latin typeface="Calibri"/>
                <a:ea typeface="Calibri"/>
                <a:cs typeface="Calibri"/>
                <a:sym typeface="Calibri"/>
              </a:rPr>
              <a:t>0x4004e3</a:t>
            </a:r>
            <a:r>
              <a:rPr b="1" lang="en" sz="2000">
                <a:solidFill>
                  <a:schemeClr val="dk1"/>
                </a:solidFill>
                <a:latin typeface="Calibri"/>
                <a:ea typeface="Calibri"/>
                <a:cs typeface="Calibri"/>
                <a:sym typeface="Calibri"/>
              </a:rPr>
              <a:t> + </a:t>
            </a:r>
            <a:r>
              <a:rPr b="1" lang="en" sz="2000">
                <a:solidFill>
                  <a:srgbClr val="9D206F"/>
                </a:solidFill>
                <a:latin typeface="Calibri"/>
                <a:ea typeface="Calibri"/>
                <a:cs typeface="Calibri"/>
                <a:sym typeface="Calibri"/>
              </a:rPr>
              <a:t>0x5</a:t>
            </a:r>
            <a:endParaRPr>
              <a:solidFill>
                <a:srgbClr val="9D206F"/>
              </a:solidFill>
            </a:endParaRPr>
          </a:p>
        </p:txBody>
      </p:sp>
      <p:sp>
        <p:nvSpPr>
          <p:cNvPr id="277" name="Google Shape;277;p37"/>
          <p:cNvSpPr/>
          <p:nvPr/>
        </p:nvSpPr>
        <p:spPr>
          <a:xfrm>
            <a:off x="5862798" y="451785"/>
            <a:ext cx="3139800" cy="254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600">
                <a:solidFill>
                  <a:schemeClr val="dk1"/>
                </a:solidFill>
                <a:latin typeface="Courier New"/>
                <a:ea typeface="Courier New"/>
                <a:cs typeface="Courier New"/>
                <a:sym typeface="Courier New"/>
              </a:rPr>
              <a:t>Source: objdump -dx prog</a:t>
            </a:r>
            <a:endParaRPr b="1" sz="1600">
              <a:solidFill>
                <a:schemeClr val="dk1"/>
              </a:solidFill>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idx="4294967295" type="title"/>
          </p:nvPr>
        </p:nvSpPr>
        <p:spPr>
          <a:xfrm>
            <a:off x="274650" y="0"/>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Loading Executable Object Files</a:t>
            </a:r>
            <a:endParaRPr/>
          </a:p>
        </p:txBody>
      </p:sp>
      <p:pic>
        <p:nvPicPr>
          <p:cNvPr descr="How the Executable Object File get loaded into Memory" id="284" name="Google Shape;284;p38"/>
          <p:cNvPicPr preferRelativeResize="0"/>
          <p:nvPr/>
        </p:nvPicPr>
        <p:blipFill>
          <a:blip r:embed="rId3">
            <a:alphaModFix/>
          </a:blip>
          <a:stretch>
            <a:fillRect/>
          </a:stretch>
        </p:blipFill>
        <p:spPr>
          <a:xfrm>
            <a:off x="314338" y="679550"/>
            <a:ext cx="8637728" cy="43403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8" name="Shape 288"/>
        <p:cNvGrpSpPr/>
        <p:nvPr/>
      </p:nvGrpSpPr>
      <p:grpSpPr>
        <a:xfrm>
          <a:off x="0" y="0"/>
          <a:ext cx="0" cy="0"/>
          <a:chOff x="0" y="0"/>
          <a:chExt cx="0" cy="0"/>
        </a:xfrm>
      </p:grpSpPr>
      <p:sp>
        <p:nvSpPr>
          <p:cNvPr id="289" name="Google Shape;289;p39"/>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rgbClr val="000000"/>
              </a:buClr>
              <a:buSzPts val="3500"/>
              <a:buFont typeface="Cambria"/>
              <a:buNone/>
            </a:pPr>
            <a:r>
              <a:rPr lang="en"/>
              <a:t>How to run an ELF?</a:t>
            </a:r>
            <a:endParaRPr/>
          </a:p>
        </p:txBody>
      </p:sp>
      <p:sp>
        <p:nvSpPr>
          <p:cNvPr id="290" name="Google Shape;290;p39"/>
          <p:cNvSpPr txBox="1"/>
          <p:nvPr>
            <p:ph idx="1" type="body"/>
          </p:nvPr>
        </p:nvSpPr>
        <p:spPr>
          <a:xfrm>
            <a:off x="311700" y="1152475"/>
            <a:ext cx="4612200" cy="3416400"/>
          </a:xfrm>
          <a:prstGeom prst="rect">
            <a:avLst/>
          </a:prstGeom>
          <a:noFill/>
          <a:ln>
            <a:noFill/>
          </a:ln>
        </p:spPr>
        <p:txBody>
          <a:bodyPr anchorCtr="0" anchor="t" bIns="34275" lIns="68575" spcFirstLastPara="1" rIns="68575" wrap="square" tIns="34275">
            <a:normAutofit/>
          </a:bodyPr>
          <a:lstStyle/>
          <a:p>
            <a:pPr indent="-279400" lvl="0" marL="342900" rtl="0" algn="l">
              <a:spcBef>
                <a:spcPts val="400"/>
              </a:spcBef>
              <a:spcAft>
                <a:spcPts val="0"/>
              </a:spcAft>
              <a:buSzPts val="1800"/>
              <a:buChar char="●"/>
            </a:pPr>
            <a:r>
              <a:rPr lang="en"/>
              <a:t>Executable Object Files also contain an .init segment that tells you where (and how) to begin execution of the .text segment.</a:t>
            </a:r>
            <a:endParaRPr/>
          </a:p>
          <a:p>
            <a:pPr indent="-279400" lvl="0" marL="342900" rtl="0" algn="l">
              <a:spcBef>
                <a:spcPts val="0"/>
              </a:spcBef>
              <a:spcAft>
                <a:spcPts val="0"/>
              </a:spcAft>
              <a:buSzPts val="1800"/>
              <a:buChar char="●"/>
            </a:pPr>
            <a:r>
              <a:rPr lang="en"/>
              <a:t>Notice that not all of the ELF is writable and not all of the ELF is loaded into memory to begin execution.</a:t>
            </a:r>
            <a:endParaRPr/>
          </a:p>
        </p:txBody>
      </p:sp>
      <p:pic>
        <p:nvPicPr>
          <p:cNvPr descr="elf file layout" id="291" name="Google Shape;291;p39"/>
          <p:cNvPicPr preferRelativeResize="0"/>
          <p:nvPr/>
        </p:nvPicPr>
        <p:blipFill>
          <a:blip r:embed="rId3">
            <a:alphaModFix/>
          </a:blip>
          <a:stretch>
            <a:fillRect/>
          </a:stretch>
        </p:blipFill>
        <p:spPr>
          <a:xfrm>
            <a:off x="4923806" y="205988"/>
            <a:ext cx="3979069" cy="2243138"/>
          </a:xfrm>
          <a:prstGeom prst="rect">
            <a:avLst/>
          </a:prstGeom>
          <a:noFill/>
          <a:ln>
            <a:noFill/>
          </a:ln>
        </p:spPr>
      </p:pic>
      <p:pic>
        <p:nvPicPr>
          <p:cNvPr descr="decorative image of a christmas elf" id="292" name="Google Shape;292;p39"/>
          <p:cNvPicPr preferRelativeResize="0"/>
          <p:nvPr/>
        </p:nvPicPr>
        <p:blipFill>
          <a:blip r:embed="rId4">
            <a:alphaModFix/>
          </a:blip>
          <a:stretch>
            <a:fillRect/>
          </a:stretch>
        </p:blipFill>
        <p:spPr>
          <a:xfrm>
            <a:off x="3691375" y="3083700"/>
            <a:ext cx="2381975" cy="1866175"/>
          </a:xfrm>
          <a:prstGeom prst="rect">
            <a:avLst/>
          </a:prstGeom>
          <a:noFill/>
          <a:ln>
            <a:noFill/>
          </a:ln>
        </p:spPr>
      </p:pic>
      <p:pic>
        <p:nvPicPr>
          <p:cNvPr descr="reminder of system memory layout at program runtime" id="293" name="Google Shape;293;p39"/>
          <p:cNvPicPr preferRelativeResize="0"/>
          <p:nvPr/>
        </p:nvPicPr>
        <p:blipFill>
          <a:blip r:embed="rId5">
            <a:alphaModFix/>
          </a:blip>
          <a:stretch>
            <a:fillRect/>
          </a:stretch>
        </p:blipFill>
        <p:spPr>
          <a:xfrm>
            <a:off x="6248712" y="2449125"/>
            <a:ext cx="2596206" cy="24657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idx="4294967295" type="title"/>
          </p:nvPr>
        </p:nvSpPr>
        <p:spPr>
          <a:xfrm>
            <a:off x="355070" y="228600"/>
            <a:ext cx="8831400" cy="7908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Packaging Commonly Used Functions</a:t>
            </a:r>
            <a:endParaRPr/>
          </a:p>
        </p:txBody>
      </p:sp>
      <p:sp>
        <p:nvSpPr>
          <p:cNvPr id="300" name="Google Shape;300;p40"/>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How to package functions commonly used by programmers?</a:t>
            </a:r>
            <a:endParaRPr/>
          </a:p>
          <a:p>
            <a:pPr indent="-285750" lvl="1" marL="742950" rtl="0" algn="l">
              <a:spcBef>
                <a:spcPts val="400"/>
              </a:spcBef>
              <a:spcAft>
                <a:spcPts val="0"/>
              </a:spcAft>
              <a:buSzPts val="2200"/>
              <a:buChar char="○"/>
            </a:pPr>
            <a:r>
              <a:rPr lang="en"/>
              <a:t>Math, I/O, memory management, string manipulation, etc.</a:t>
            </a:r>
            <a:endParaRPr/>
          </a:p>
          <a:p>
            <a:pPr indent="-342900" lvl="0" marL="342900" rtl="0" algn="l">
              <a:spcBef>
                <a:spcPts val="480"/>
              </a:spcBef>
              <a:spcAft>
                <a:spcPts val="0"/>
              </a:spcAft>
              <a:buSzPts val="1440"/>
              <a:buChar char="●"/>
            </a:pPr>
            <a:r>
              <a:rPr lang="en"/>
              <a:t>Awkward, given the linker framework so far:</a:t>
            </a:r>
            <a:endParaRPr/>
          </a:p>
          <a:p>
            <a:pPr indent="-285750" lvl="1" marL="742950" rtl="0" algn="l">
              <a:spcBef>
                <a:spcPts val="400"/>
              </a:spcBef>
              <a:spcAft>
                <a:spcPts val="0"/>
              </a:spcAft>
              <a:buSzPts val="2200"/>
              <a:buChar char="○"/>
            </a:pPr>
            <a:r>
              <a:rPr lang="en">
                <a:solidFill>
                  <a:srgbClr val="990000"/>
                </a:solidFill>
              </a:rPr>
              <a:t>Option 1:</a:t>
            </a:r>
            <a:r>
              <a:rPr lang="en"/>
              <a:t> Put all functions into a single source file</a:t>
            </a:r>
            <a:endParaRPr/>
          </a:p>
          <a:p>
            <a:pPr indent="-228600" lvl="2" marL="1143000" rtl="0" algn="l">
              <a:spcBef>
                <a:spcPts val="400"/>
              </a:spcBef>
              <a:spcAft>
                <a:spcPts val="0"/>
              </a:spcAft>
              <a:buClr>
                <a:schemeClr val="dk1"/>
              </a:buClr>
              <a:buSzPts val="1600"/>
              <a:buChar char="■"/>
            </a:pPr>
            <a:r>
              <a:rPr lang="en"/>
              <a:t>Programmers link big object file into their programs</a:t>
            </a:r>
            <a:endParaRPr/>
          </a:p>
          <a:p>
            <a:pPr indent="-228600" lvl="2" marL="1143000" rtl="0" algn="l">
              <a:spcBef>
                <a:spcPts val="400"/>
              </a:spcBef>
              <a:spcAft>
                <a:spcPts val="0"/>
              </a:spcAft>
              <a:buClr>
                <a:schemeClr val="dk1"/>
              </a:buClr>
              <a:buSzPts val="1600"/>
              <a:buChar char="■"/>
            </a:pPr>
            <a:r>
              <a:rPr lang="en"/>
              <a:t>Space and time inefficient</a:t>
            </a:r>
            <a:endParaRPr/>
          </a:p>
          <a:p>
            <a:pPr indent="-285750" lvl="1" marL="742950" rtl="0" algn="l">
              <a:spcBef>
                <a:spcPts val="400"/>
              </a:spcBef>
              <a:spcAft>
                <a:spcPts val="0"/>
              </a:spcAft>
              <a:buSzPts val="2200"/>
              <a:buChar char="○"/>
            </a:pPr>
            <a:r>
              <a:rPr lang="en">
                <a:solidFill>
                  <a:srgbClr val="990000"/>
                </a:solidFill>
              </a:rPr>
              <a:t>Option 2:</a:t>
            </a:r>
            <a:r>
              <a:rPr lang="en"/>
              <a:t> Put each function in a separate source file</a:t>
            </a:r>
            <a:endParaRPr/>
          </a:p>
          <a:p>
            <a:pPr indent="-228600" lvl="2" marL="1143000" rtl="0" algn="l">
              <a:spcBef>
                <a:spcPts val="400"/>
              </a:spcBef>
              <a:spcAft>
                <a:spcPts val="0"/>
              </a:spcAft>
              <a:buClr>
                <a:schemeClr val="dk1"/>
              </a:buClr>
              <a:buSzPts val="1600"/>
              <a:buChar char="■"/>
            </a:pPr>
            <a:r>
              <a:rPr lang="en"/>
              <a:t>Programmers explicitly link appropriate binaries into their programs</a:t>
            </a:r>
            <a:endParaRPr/>
          </a:p>
          <a:p>
            <a:pPr indent="-228600" lvl="2" marL="1143000" rtl="0" algn="l">
              <a:spcBef>
                <a:spcPts val="400"/>
              </a:spcBef>
              <a:spcAft>
                <a:spcPts val="0"/>
              </a:spcAft>
              <a:buClr>
                <a:schemeClr val="dk1"/>
              </a:buClr>
              <a:buSzPts val="1600"/>
              <a:buChar char="■"/>
            </a:pPr>
            <a:r>
              <a:rPr lang="en"/>
              <a:t>More efficient, but burdensome on the programmer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1"/>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rgbClr val="000000"/>
              </a:buClr>
              <a:buSzPts val="3500"/>
              <a:buFont typeface="Cambria"/>
              <a:buNone/>
            </a:pPr>
            <a:r>
              <a:rPr lang="en"/>
              <a:t>Linking C lib:</a:t>
            </a:r>
            <a:endParaRPr/>
          </a:p>
        </p:txBody>
      </p:sp>
      <p:sp>
        <p:nvSpPr>
          <p:cNvPr id="306" name="Google Shape;306;p41"/>
          <p:cNvSpPr txBox="1"/>
          <p:nvPr>
            <p:ph idx="1" type="body"/>
          </p:nvPr>
        </p:nvSpPr>
        <p:spPr>
          <a:xfrm>
            <a:off x="311700" y="1798350"/>
            <a:ext cx="8520600" cy="2770500"/>
          </a:xfrm>
          <a:prstGeom prst="rect">
            <a:avLst/>
          </a:prstGeom>
          <a:noFill/>
          <a:ln>
            <a:noFill/>
          </a:ln>
        </p:spPr>
        <p:txBody>
          <a:bodyPr anchorCtr="0" anchor="t" bIns="34275" lIns="68575" spcFirstLastPara="1" rIns="68575" wrap="square" tIns="34275">
            <a:normAutofit/>
          </a:bodyPr>
          <a:lstStyle/>
          <a:p>
            <a:pPr indent="-279400" lvl="0" marL="342900" rtl="0" algn="l">
              <a:spcBef>
                <a:spcPts val="400"/>
              </a:spcBef>
              <a:spcAft>
                <a:spcPts val="0"/>
              </a:spcAft>
              <a:buSzPts val="1800"/>
              <a:buChar char="●"/>
            </a:pPr>
            <a:r>
              <a:rPr lang="en"/>
              <a:t>How can the linker add calls to system library functions without including the whole library in every elf?</a:t>
            </a:r>
            <a:endParaRPr/>
          </a:p>
          <a:p>
            <a:pPr indent="-279400" lvl="0" marL="342900" rtl="0" algn="l">
              <a:spcBef>
                <a:spcPts val="0"/>
              </a:spcBef>
              <a:spcAft>
                <a:spcPts val="0"/>
              </a:spcAft>
              <a:buSzPts val="1800"/>
              <a:buChar char="●"/>
            </a:pPr>
            <a:r>
              <a:rPr lang="en"/>
              <a:t>C libraries are often stored in the archive (*.a) format.</a:t>
            </a:r>
            <a:endParaRPr/>
          </a:p>
          <a:p>
            <a:pPr indent="-279400" lvl="0" marL="342900" rtl="0" algn="l">
              <a:spcBef>
                <a:spcPts val="0"/>
              </a:spcBef>
              <a:spcAft>
                <a:spcPts val="0"/>
              </a:spcAft>
              <a:buSzPts val="1800"/>
              <a:buChar char="●"/>
            </a:pPr>
            <a:r>
              <a:rPr lang="en"/>
              <a:t>When the linker encounters a reference to a symbol that it doesn’t have, it checks the static libraries installed in the system and copies over only the object files from the needed symbols.</a:t>
            </a:r>
            <a:endParaRPr/>
          </a:p>
        </p:txBody>
      </p:sp>
      <p:pic>
        <p:nvPicPr>
          <p:cNvPr descr="combining static libraries to create a executable linked object" id="307" name="Google Shape;307;p41"/>
          <p:cNvPicPr preferRelativeResize="0"/>
          <p:nvPr/>
        </p:nvPicPr>
        <p:blipFill>
          <a:blip r:embed="rId3">
            <a:alphaModFix/>
          </a:blip>
          <a:stretch>
            <a:fillRect/>
          </a:stretch>
        </p:blipFill>
        <p:spPr>
          <a:xfrm>
            <a:off x="5005238" y="83850"/>
            <a:ext cx="4086225" cy="1714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2" name="Shape 312"/>
        <p:cNvGrpSpPr/>
        <p:nvPr/>
      </p:nvGrpSpPr>
      <p:grpSpPr>
        <a:xfrm>
          <a:off x="0" y="0"/>
          <a:ext cx="0" cy="0"/>
          <a:chOff x="0" y="0"/>
          <a:chExt cx="0" cy="0"/>
        </a:xfrm>
      </p:grpSpPr>
      <p:sp>
        <p:nvSpPr>
          <p:cNvPr id="313" name="Google Shape;313;p42"/>
          <p:cNvSpPr txBox="1"/>
          <p:nvPr>
            <p:ph idx="4294967295" type="title"/>
          </p:nvPr>
        </p:nvSpPr>
        <p:spPr>
          <a:xfrm>
            <a:off x="379412" y="32742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Old-fashioned Solution: Static Libraries</a:t>
            </a:r>
            <a:endParaRPr/>
          </a:p>
        </p:txBody>
      </p:sp>
      <p:sp>
        <p:nvSpPr>
          <p:cNvPr id="314" name="Google Shape;314;p42"/>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
                <a:solidFill>
                  <a:srgbClr val="990000"/>
                </a:solidFill>
              </a:rPr>
              <a:t>Static libraries </a:t>
            </a:r>
            <a:r>
              <a:rPr lang="en"/>
              <a:t>(.</a:t>
            </a:r>
            <a:r>
              <a:rPr lang="en">
                <a:latin typeface="Courier New"/>
                <a:ea typeface="Courier New"/>
                <a:cs typeface="Courier New"/>
                <a:sym typeface="Courier New"/>
              </a:rPr>
              <a:t>a</a:t>
            </a:r>
            <a:r>
              <a:rPr lang="en"/>
              <a:t> </a:t>
            </a:r>
            <a:r>
              <a:rPr lang="en">
                <a:solidFill>
                  <a:srgbClr val="000004"/>
                </a:solidFill>
              </a:rPr>
              <a:t>archive files</a:t>
            </a:r>
            <a:r>
              <a:rPr lang="en"/>
              <a:t>)</a:t>
            </a:r>
            <a:endParaRPr/>
          </a:p>
          <a:p>
            <a:pPr indent="-317500" lvl="1" marL="914400" rtl="0" algn="l">
              <a:spcBef>
                <a:spcPts val="0"/>
              </a:spcBef>
              <a:spcAft>
                <a:spcPts val="0"/>
              </a:spcAft>
              <a:buSzPts val="1400"/>
              <a:buChar char="○"/>
            </a:pPr>
            <a:r>
              <a:rPr lang="en"/>
              <a:t>Concatenate related relocatable object files into a single file with an index (called an archive).</a:t>
            </a:r>
            <a:endParaRPr/>
          </a:p>
          <a:p>
            <a:pPr indent="-317500" lvl="1" marL="914400" rtl="0" algn="l">
              <a:spcBef>
                <a:spcPts val="0"/>
              </a:spcBef>
              <a:spcAft>
                <a:spcPts val="0"/>
              </a:spcAft>
              <a:buSzPts val="1400"/>
              <a:buChar char="○"/>
            </a:pPr>
            <a:r>
              <a:rPr lang="en"/>
              <a:t>Enhance linker so that it tries to resolve unresolved external references by looking for the symbols in one or more archives.</a:t>
            </a:r>
            <a:endParaRPr/>
          </a:p>
          <a:p>
            <a:pPr indent="-317500" lvl="1" marL="914400" rtl="0" algn="l">
              <a:spcBef>
                <a:spcPts val="0"/>
              </a:spcBef>
              <a:spcAft>
                <a:spcPts val="0"/>
              </a:spcAft>
              <a:buSzPts val="1400"/>
              <a:buChar char="○"/>
            </a:pPr>
            <a:r>
              <a:rPr lang="en"/>
              <a:t>If an archive member file resolves reference, link it  into the executable.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3"/>
          <p:cNvSpPr txBox="1"/>
          <p:nvPr>
            <p:ph idx="4294967295" type="title"/>
          </p:nvPr>
        </p:nvSpPr>
        <p:spPr>
          <a:xfrm>
            <a:off x="503238" y="32742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Creating Static Libraries</a:t>
            </a:r>
            <a:endParaRPr/>
          </a:p>
        </p:txBody>
      </p:sp>
      <p:cxnSp>
        <p:nvCxnSpPr>
          <p:cNvPr id="321" name="Google Shape;321;p43"/>
          <p:cNvCxnSpPr/>
          <p:nvPr/>
        </p:nvCxnSpPr>
        <p:spPr>
          <a:xfrm>
            <a:off x="1295400" y="1439986"/>
            <a:ext cx="1500" cy="285900"/>
          </a:xfrm>
          <a:prstGeom prst="straightConnector1">
            <a:avLst/>
          </a:prstGeom>
          <a:noFill/>
          <a:ln cap="flat" cmpd="sng" w="28425">
            <a:solidFill>
              <a:srgbClr val="000066"/>
            </a:solidFill>
            <a:prstDash val="solid"/>
            <a:miter lim="800000"/>
            <a:headEnd len="med" w="med" type="none"/>
            <a:tailEnd len="med" w="med" type="triangle"/>
          </a:ln>
        </p:spPr>
      </p:cxnSp>
      <p:sp>
        <p:nvSpPr>
          <p:cNvPr id="322" name="Google Shape;322;p43"/>
          <p:cNvSpPr/>
          <p:nvPr/>
        </p:nvSpPr>
        <p:spPr>
          <a:xfrm>
            <a:off x="609600" y="1645100"/>
            <a:ext cx="1371600" cy="342900"/>
          </a:xfrm>
          <a:prstGeom prst="rect">
            <a:avLst/>
          </a:prstGeom>
          <a:solidFill>
            <a:srgbClr val="DEDFF5"/>
          </a:solidFill>
          <a:ln cap="flat" cmpd="sng" w="284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800">
                <a:solidFill>
                  <a:schemeClr val="dk1"/>
                </a:solidFill>
                <a:latin typeface="Calibri"/>
                <a:ea typeface="Calibri"/>
                <a:cs typeface="Calibri"/>
                <a:sym typeface="Calibri"/>
              </a:rPr>
              <a:t>Translator</a:t>
            </a:r>
            <a:endParaRPr/>
          </a:p>
        </p:txBody>
      </p:sp>
      <p:sp>
        <p:nvSpPr>
          <p:cNvPr id="323" name="Google Shape;323;p43"/>
          <p:cNvSpPr txBox="1"/>
          <p:nvPr/>
        </p:nvSpPr>
        <p:spPr>
          <a:xfrm>
            <a:off x="790950" y="1138523"/>
            <a:ext cx="1008900" cy="354900"/>
          </a:xfrm>
          <a:prstGeom prst="rect">
            <a:avLst/>
          </a:prstGeom>
          <a:noFill/>
          <a:ln>
            <a:noFill/>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atoi.c</a:t>
            </a:r>
            <a:endParaRPr b="1" sz="1800">
              <a:solidFill>
                <a:schemeClr val="dk1"/>
              </a:solidFill>
              <a:latin typeface="Courier New"/>
              <a:ea typeface="Courier New"/>
              <a:cs typeface="Courier New"/>
              <a:sym typeface="Courier New"/>
            </a:endParaRPr>
          </a:p>
        </p:txBody>
      </p:sp>
      <p:sp>
        <p:nvSpPr>
          <p:cNvPr id="324" name="Google Shape;324;p43"/>
          <p:cNvSpPr txBox="1"/>
          <p:nvPr/>
        </p:nvSpPr>
        <p:spPr>
          <a:xfrm>
            <a:off x="955675" y="2240086"/>
            <a:ext cx="1008900" cy="354900"/>
          </a:xfrm>
          <a:prstGeom prst="rect">
            <a:avLst/>
          </a:prstGeom>
          <a:noFill/>
          <a:ln>
            <a:noFill/>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atoi.o</a:t>
            </a:r>
            <a:endParaRPr/>
          </a:p>
        </p:txBody>
      </p:sp>
      <p:sp>
        <p:nvSpPr>
          <p:cNvPr id="325" name="Google Shape;325;p43"/>
          <p:cNvSpPr/>
          <p:nvPr/>
        </p:nvSpPr>
        <p:spPr>
          <a:xfrm>
            <a:off x="2286000" y="1645100"/>
            <a:ext cx="1371600" cy="342900"/>
          </a:xfrm>
          <a:prstGeom prst="rect">
            <a:avLst/>
          </a:prstGeom>
          <a:solidFill>
            <a:srgbClr val="D5D5F4"/>
          </a:solidFill>
          <a:ln cap="flat" cmpd="sng" w="284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800">
                <a:solidFill>
                  <a:schemeClr val="dk1"/>
                </a:solidFill>
                <a:latin typeface="Calibri"/>
                <a:ea typeface="Calibri"/>
                <a:cs typeface="Calibri"/>
                <a:sym typeface="Calibri"/>
              </a:rPr>
              <a:t>Translator</a:t>
            </a:r>
            <a:endParaRPr/>
          </a:p>
        </p:txBody>
      </p:sp>
      <p:sp>
        <p:nvSpPr>
          <p:cNvPr id="326" name="Google Shape;326;p43"/>
          <p:cNvSpPr txBox="1"/>
          <p:nvPr/>
        </p:nvSpPr>
        <p:spPr>
          <a:xfrm>
            <a:off x="2297700" y="1138523"/>
            <a:ext cx="1284600" cy="354900"/>
          </a:xfrm>
          <a:prstGeom prst="rect">
            <a:avLst/>
          </a:prstGeom>
          <a:noFill/>
          <a:ln>
            <a:noFill/>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printf.c</a:t>
            </a:r>
            <a:endParaRPr/>
          </a:p>
        </p:txBody>
      </p:sp>
      <p:sp>
        <p:nvSpPr>
          <p:cNvPr id="327" name="Google Shape;327;p43"/>
          <p:cNvSpPr txBox="1"/>
          <p:nvPr/>
        </p:nvSpPr>
        <p:spPr>
          <a:xfrm>
            <a:off x="2316163" y="2240086"/>
            <a:ext cx="1284600" cy="354900"/>
          </a:xfrm>
          <a:prstGeom prst="rect">
            <a:avLst/>
          </a:prstGeom>
          <a:noFill/>
          <a:ln>
            <a:noFill/>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printf.o</a:t>
            </a:r>
            <a:endParaRPr/>
          </a:p>
        </p:txBody>
      </p:sp>
      <p:cxnSp>
        <p:nvCxnSpPr>
          <p:cNvPr id="328" name="Google Shape;328;p43"/>
          <p:cNvCxnSpPr/>
          <p:nvPr/>
        </p:nvCxnSpPr>
        <p:spPr>
          <a:xfrm>
            <a:off x="2971800" y="1439986"/>
            <a:ext cx="1500" cy="285900"/>
          </a:xfrm>
          <a:prstGeom prst="straightConnector1">
            <a:avLst/>
          </a:prstGeom>
          <a:noFill/>
          <a:ln cap="flat" cmpd="sng" w="28425">
            <a:solidFill>
              <a:srgbClr val="000066"/>
            </a:solidFill>
            <a:prstDash val="solid"/>
            <a:miter lim="800000"/>
            <a:headEnd len="med" w="med" type="none"/>
            <a:tailEnd len="med" w="med" type="triangle"/>
          </a:ln>
        </p:spPr>
      </p:cxnSp>
      <p:cxnSp>
        <p:nvCxnSpPr>
          <p:cNvPr id="329" name="Google Shape;329;p43"/>
          <p:cNvCxnSpPr/>
          <p:nvPr/>
        </p:nvCxnSpPr>
        <p:spPr>
          <a:xfrm>
            <a:off x="1295400" y="2011486"/>
            <a:ext cx="1500" cy="285900"/>
          </a:xfrm>
          <a:prstGeom prst="straightConnector1">
            <a:avLst/>
          </a:prstGeom>
          <a:noFill/>
          <a:ln cap="flat" cmpd="sng" w="28425">
            <a:solidFill>
              <a:srgbClr val="000066"/>
            </a:solidFill>
            <a:prstDash val="solid"/>
            <a:miter lim="800000"/>
            <a:headEnd len="med" w="med" type="none"/>
            <a:tailEnd len="med" w="med" type="triangle"/>
          </a:ln>
        </p:spPr>
      </p:cxnSp>
      <p:cxnSp>
        <p:nvCxnSpPr>
          <p:cNvPr id="330" name="Google Shape;330;p43"/>
          <p:cNvCxnSpPr/>
          <p:nvPr/>
        </p:nvCxnSpPr>
        <p:spPr>
          <a:xfrm>
            <a:off x="2971800" y="2011486"/>
            <a:ext cx="1500" cy="285900"/>
          </a:xfrm>
          <a:prstGeom prst="straightConnector1">
            <a:avLst/>
          </a:prstGeom>
          <a:noFill/>
          <a:ln cap="flat" cmpd="sng" w="28425">
            <a:solidFill>
              <a:srgbClr val="000066"/>
            </a:solidFill>
            <a:prstDash val="solid"/>
            <a:miter lim="800000"/>
            <a:headEnd len="med" w="med" type="none"/>
            <a:tailEnd len="med" w="med" type="triangle"/>
          </a:ln>
        </p:spPr>
      </p:cxnSp>
      <p:cxnSp>
        <p:nvCxnSpPr>
          <p:cNvPr id="331" name="Google Shape;331;p43"/>
          <p:cNvCxnSpPr/>
          <p:nvPr/>
        </p:nvCxnSpPr>
        <p:spPr>
          <a:xfrm>
            <a:off x="2971800" y="2523455"/>
            <a:ext cx="1500" cy="353700"/>
          </a:xfrm>
          <a:prstGeom prst="straightConnector1">
            <a:avLst/>
          </a:prstGeom>
          <a:noFill/>
          <a:ln cap="flat" cmpd="sng" w="28425">
            <a:solidFill>
              <a:srgbClr val="000066"/>
            </a:solidFill>
            <a:prstDash val="solid"/>
            <a:miter lim="800000"/>
            <a:headEnd len="med" w="med" type="none"/>
            <a:tailEnd len="med" w="med" type="triangle"/>
          </a:ln>
        </p:spPr>
      </p:cxnSp>
      <p:sp>
        <p:nvSpPr>
          <p:cNvPr id="332" name="Google Shape;332;p43"/>
          <p:cNvSpPr txBox="1"/>
          <p:nvPr/>
        </p:nvSpPr>
        <p:spPr>
          <a:xfrm>
            <a:off x="2511425" y="3505721"/>
            <a:ext cx="1008900" cy="354900"/>
          </a:xfrm>
          <a:prstGeom prst="rect">
            <a:avLst/>
          </a:prstGeom>
          <a:noFill/>
          <a:ln>
            <a:noFill/>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libc.a</a:t>
            </a:r>
            <a:endParaRPr/>
          </a:p>
        </p:txBody>
      </p:sp>
      <p:cxnSp>
        <p:nvCxnSpPr>
          <p:cNvPr id="333" name="Google Shape;333;p43"/>
          <p:cNvCxnSpPr/>
          <p:nvPr/>
        </p:nvCxnSpPr>
        <p:spPr>
          <a:xfrm flipH="1">
            <a:off x="3884488" y="2477021"/>
            <a:ext cx="1298700" cy="342900"/>
          </a:xfrm>
          <a:prstGeom prst="straightConnector1">
            <a:avLst/>
          </a:prstGeom>
          <a:noFill/>
          <a:ln cap="flat" cmpd="sng" w="28425">
            <a:solidFill>
              <a:srgbClr val="000066"/>
            </a:solidFill>
            <a:prstDash val="solid"/>
            <a:miter lim="800000"/>
            <a:headEnd len="med" w="med" type="none"/>
            <a:tailEnd len="med" w="med" type="triangle"/>
          </a:ln>
        </p:spPr>
      </p:cxnSp>
      <p:sp>
        <p:nvSpPr>
          <p:cNvPr id="334" name="Google Shape;334;p43"/>
          <p:cNvSpPr/>
          <p:nvPr/>
        </p:nvSpPr>
        <p:spPr>
          <a:xfrm>
            <a:off x="1828800" y="2877076"/>
            <a:ext cx="2971800" cy="342900"/>
          </a:xfrm>
          <a:prstGeom prst="rect">
            <a:avLst/>
          </a:prstGeom>
          <a:solidFill>
            <a:srgbClr val="D5D5F4"/>
          </a:solidFill>
          <a:ln cap="flat" cmpd="sng" w="284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800">
                <a:solidFill>
                  <a:schemeClr val="dk1"/>
                </a:solidFill>
                <a:latin typeface="Calibri"/>
                <a:ea typeface="Calibri"/>
                <a:cs typeface="Calibri"/>
                <a:sym typeface="Calibri"/>
              </a:rPr>
              <a:t>Archiver (ar)</a:t>
            </a:r>
            <a:endParaRPr/>
          </a:p>
        </p:txBody>
      </p:sp>
      <p:sp>
        <p:nvSpPr>
          <p:cNvPr id="335" name="Google Shape;335;p43"/>
          <p:cNvSpPr txBox="1"/>
          <p:nvPr/>
        </p:nvSpPr>
        <p:spPr>
          <a:xfrm>
            <a:off x="3886200" y="1619771"/>
            <a:ext cx="436500" cy="4566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lang="en" sz="2400">
                <a:solidFill>
                  <a:schemeClr val="dk1"/>
                </a:solidFill>
                <a:latin typeface="Calibri"/>
                <a:ea typeface="Calibri"/>
                <a:cs typeface="Calibri"/>
                <a:sym typeface="Calibri"/>
              </a:rPr>
              <a:t>...</a:t>
            </a:r>
            <a:endParaRPr/>
          </a:p>
        </p:txBody>
      </p:sp>
      <p:sp>
        <p:nvSpPr>
          <p:cNvPr id="336" name="Google Shape;336;p43"/>
          <p:cNvSpPr/>
          <p:nvPr/>
        </p:nvSpPr>
        <p:spPr>
          <a:xfrm>
            <a:off x="4572000" y="1653422"/>
            <a:ext cx="1371600" cy="342900"/>
          </a:xfrm>
          <a:prstGeom prst="rect">
            <a:avLst/>
          </a:prstGeom>
          <a:solidFill>
            <a:srgbClr val="D5D5F4"/>
          </a:solidFill>
          <a:ln cap="flat" cmpd="sng" w="284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800">
                <a:solidFill>
                  <a:schemeClr val="dk1"/>
                </a:solidFill>
                <a:latin typeface="Calibri"/>
                <a:ea typeface="Calibri"/>
                <a:cs typeface="Calibri"/>
                <a:sym typeface="Calibri"/>
              </a:rPr>
              <a:t>Translator</a:t>
            </a:r>
            <a:endParaRPr/>
          </a:p>
        </p:txBody>
      </p:sp>
      <p:sp>
        <p:nvSpPr>
          <p:cNvPr id="337" name="Google Shape;337;p43"/>
          <p:cNvSpPr txBox="1"/>
          <p:nvPr/>
        </p:nvSpPr>
        <p:spPr>
          <a:xfrm>
            <a:off x="4583088" y="1142671"/>
            <a:ext cx="1284600" cy="354900"/>
          </a:xfrm>
          <a:prstGeom prst="rect">
            <a:avLst/>
          </a:prstGeom>
          <a:noFill/>
          <a:ln>
            <a:noFill/>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random.c</a:t>
            </a:r>
            <a:endParaRPr/>
          </a:p>
        </p:txBody>
      </p:sp>
      <p:sp>
        <p:nvSpPr>
          <p:cNvPr id="338" name="Google Shape;338;p43"/>
          <p:cNvSpPr txBox="1"/>
          <p:nvPr/>
        </p:nvSpPr>
        <p:spPr>
          <a:xfrm>
            <a:off x="4602163" y="2248421"/>
            <a:ext cx="1284600" cy="354900"/>
          </a:xfrm>
          <a:prstGeom prst="rect">
            <a:avLst/>
          </a:prstGeom>
          <a:noFill/>
          <a:ln>
            <a:noFill/>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800">
                <a:solidFill>
                  <a:schemeClr val="dk1"/>
                </a:solidFill>
                <a:latin typeface="Courier New"/>
                <a:ea typeface="Courier New"/>
                <a:cs typeface="Courier New"/>
                <a:sym typeface="Courier New"/>
              </a:rPr>
              <a:t>random.o</a:t>
            </a:r>
            <a:endParaRPr/>
          </a:p>
        </p:txBody>
      </p:sp>
      <p:cxnSp>
        <p:nvCxnSpPr>
          <p:cNvPr id="339" name="Google Shape;339;p43"/>
          <p:cNvCxnSpPr/>
          <p:nvPr/>
        </p:nvCxnSpPr>
        <p:spPr>
          <a:xfrm>
            <a:off x="5257800" y="1448320"/>
            <a:ext cx="1500" cy="285900"/>
          </a:xfrm>
          <a:prstGeom prst="straightConnector1">
            <a:avLst/>
          </a:prstGeom>
          <a:noFill/>
          <a:ln cap="flat" cmpd="sng" w="28425">
            <a:solidFill>
              <a:srgbClr val="000066"/>
            </a:solidFill>
            <a:prstDash val="solid"/>
            <a:miter lim="800000"/>
            <a:headEnd len="med" w="med" type="none"/>
            <a:tailEnd len="med" w="med" type="triangle"/>
          </a:ln>
        </p:spPr>
      </p:cxnSp>
      <p:cxnSp>
        <p:nvCxnSpPr>
          <p:cNvPr id="340" name="Google Shape;340;p43"/>
          <p:cNvCxnSpPr/>
          <p:nvPr/>
        </p:nvCxnSpPr>
        <p:spPr>
          <a:xfrm>
            <a:off x="5257800" y="2019821"/>
            <a:ext cx="1500" cy="285900"/>
          </a:xfrm>
          <a:prstGeom prst="straightConnector1">
            <a:avLst/>
          </a:prstGeom>
          <a:noFill/>
          <a:ln cap="flat" cmpd="sng" w="28425">
            <a:solidFill>
              <a:srgbClr val="000066"/>
            </a:solidFill>
            <a:prstDash val="solid"/>
            <a:miter lim="800000"/>
            <a:headEnd len="med" w="med" type="none"/>
            <a:tailEnd len="med" w="med" type="triangle"/>
          </a:ln>
        </p:spPr>
      </p:cxnSp>
      <p:cxnSp>
        <p:nvCxnSpPr>
          <p:cNvPr id="341" name="Google Shape;341;p43"/>
          <p:cNvCxnSpPr/>
          <p:nvPr/>
        </p:nvCxnSpPr>
        <p:spPr>
          <a:xfrm>
            <a:off x="1295400" y="2477021"/>
            <a:ext cx="1219200" cy="342900"/>
          </a:xfrm>
          <a:prstGeom prst="straightConnector1">
            <a:avLst/>
          </a:prstGeom>
          <a:noFill/>
          <a:ln cap="flat" cmpd="sng" w="28425">
            <a:solidFill>
              <a:srgbClr val="000066"/>
            </a:solidFill>
            <a:prstDash val="solid"/>
            <a:miter lim="800000"/>
            <a:headEnd len="med" w="med" type="none"/>
            <a:tailEnd len="med" w="med" type="triangle"/>
          </a:ln>
        </p:spPr>
      </p:cxnSp>
      <p:sp>
        <p:nvSpPr>
          <p:cNvPr id="342" name="Google Shape;342;p43"/>
          <p:cNvSpPr txBox="1"/>
          <p:nvPr/>
        </p:nvSpPr>
        <p:spPr>
          <a:xfrm>
            <a:off x="5095875" y="2819921"/>
            <a:ext cx="3637800" cy="557400"/>
          </a:xfrm>
          <a:prstGeom prst="rect">
            <a:avLst/>
          </a:prstGeom>
          <a:noFill/>
          <a:ln>
            <a:noFill/>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600">
                <a:solidFill>
                  <a:srgbClr val="C00000"/>
                </a:solidFill>
                <a:latin typeface="Courier New"/>
                <a:ea typeface="Courier New"/>
                <a:cs typeface="Courier New"/>
                <a:sym typeface="Courier New"/>
              </a:rPr>
              <a:t>unix&gt; ar rs libc.a \</a:t>
            </a:r>
            <a:endParaRPr/>
          </a:p>
          <a:p>
            <a:pPr indent="0" lvl="0" marL="0" marR="0" rtl="0" algn="l">
              <a:lnSpc>
                <a:spcPct val="94000"/>
              </a:lnSpc>
              <a:spcBef>
                <a:spcPts val="0"/>
              </a:spcBef>
              <a:spcAft>
                <a:spcPts val="0"/>
              </a:spcAft>
              <a:buNone/>
            </a:pPr>
            <a:r>
              <a:rPr b="1" lang="en" sz="1600">
                <a:solidFill>
                  <a:srgbClr val="C00000"/>
                </a:solidFill>
                <a:latin typeface="Courier New"/>
                <a:ea typeface="Courier New"/>
                <a:cs typeface="Courier New"/>
                <a:sym typeface="Courier New"/>
              </a:rPr>
              <a:t>  atoi.o printf.o … random.o</a:t>
            </a:r>
            <a:endParaRPr b="1" sz="1600">
              <a:solidFill>
                <a:srgbClr val="C00000"/>
              </a:solidFill>
              <a:latin typeface="Courier New"/>
              <a:ea typeface="Courier New"/>
              <a:cs typeface="Courier New"/>
              <a:sym typeface="Courier New"/>
            </a:endParaRPr>
          </a:p>
        </p:txBody>
      </p:sp>
      <p:cxnSp>
        <p:nvCxnSpPr>
          <p:cNvPr id="343" name="Google Shape;343;p43"/>
          <p:cNvCxnSpPr/>
          <p:nvPr/>
        </p:nvCxnSpPr>
        <p:spPr>
          <a:xfrm>
            <a:off x="2971800" y="3209255"/>
            <a:ext cx="1500" cy="342900"/>
          </a:xfrm>
          <a:prstGeom prst="straightConnector1">
            <a:avLst/>
          </a:prstGeom>
          <a:noFill/>
          <a:ln cap="flat" cmpd="sng" w="28425">
            <a:solidFill>
              <a:srgbClr val="000066"/>
            </a:solidFill>
            <a:prstDash val="solid"/>
            <a:miter lim="800000"/>
            <a:headEnd len="med" w="med" type="none"/>
            <a:tailEnd len="med" w="med" type="triangle"/>
          </a:ln>
        </p:spPr>
      </p:cxnSp>
      <p:sp>
        <p:nvSpPr>
          <p:cNvPr id="344" name="Google Shape;344;p43"/>
          <p:cNvSpPr txBox="1"/>
          <p:nvPr/>
        </p:nvSpPr>
        <p:spPr>
          <a:xfrm>
            <a:off x="3886200" y="3491036"/>
            <a:ext cx="2971800" cy="3660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i="1" lang="en" sz="1800">
                <a:solidFill>
                  <a:srgbClr val="C00000"/>
                </a:solidFill>
                <a:latin typeface="Calibri"/>
                <a:ea typeface="Calibri"/>
                <a:cs typeface="Calibri"/>
                <a:sym typeface="Calibri"/>
              </a:rPr>
              <a:t>C standard library</a:t>
            </a:r>
            <a:endParaRPr/>
          </a:p>
        </p:txBody>
      </p:sp>
      <p:sp>
        <p:nvSpPr>
          <p:cNvPr id="345" name="Google Shape;345;p43"/>
          <p:cNvSpPr txBox="1"/>
          <p:nvPr/>
        </p:nvSpPr>
        <p:spPr>
          <a:xfrm>
            <a:off x="457200" y="4171950"/>
            <a:ext cx="8307300" cy="8001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990000"/>
              </a:buClr>
              <a:buSzPts val="1200"/>
              <a:buFont typeface="Noto Sans Symbols"/>
              <a:buChar char="⬛"/>
            </a:pPr>
            <a:r>
              <a:rPr b="1" lang="en" sz="2000">
                <a:solidFill>
                  <a:schemeClr val="dk1"/>
                </a:solidFill>
                <a:latin typeface="Calibri"/>
                <a:ea typeface="Calibri"/>
                <a:cs typeface="Calibri"/>
                <a:sym typeface="Calibri"/>
              </a:rPr>
              <a:t>Archiver allows incremental updates</a:t>
            </a:r>
            <a:endParaRPr/>
          </a:p>
          <a:p>
            <a:pPr indent="-342900" lvl="0" marL="342900" marR="0" rtl="0" algn="l">
              <a:spcBef>
                <a:spcPts val="400"/>
              </a:spcBef>
              <a:spcAft>
                <a:spcPts val="0"/>
              </a:spcAft>
              <a:buClr>
                <a:srgbClr val="990000"/>
              </a:buClr>
              <a:buSzPts val="1200"/>
              <a:buFont typeface="Noto Sans Symbols"/>
              <a:buChar char="⬛"/>
            </a:pPr>
            <a:r>
              <a:rPr b="1" lang="en" sz="2000">
                <a:solidFill>
                  <a:schemeClr val="dk1"/>
                </a:solidFill>
                <a:latin typeface="Calibri"/>
                <a:ea typeface="Calibri"/>
                <a:cs typeface="Calibri"/>
                <a:sym typeface="Calibri"/>
              </a:rPr>
              <a:t>Recompile function that changes and replace .o file in archive.</a:t>
            </a:r>
            <a:endParaRPr b="1" sz="20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4"/>
          <p:cNvSpPr txBox="1"/>
          <p:nvPr>
            <p:ph idx="4294967295" type="title"/>
          </p:nvPr>
        </p:nvSpPr>
        <p:spPr>
          <a:xfrm>
            <a:off x="350844" y="228600"/>
            <a:ext cx="42213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Commonly Used Libraries</a:t>
            </a:r>
            <a:endParaRPr/>
          </a:p>
        </p:txBody>
      </p:sp>
      <p:sp>
        <p:nvSpPr>
          <p:cNvPr id="352" name="Google Shape;352;p44"/>
          <p:cNvSpPr txBox="1"/>
          <p:nvPr>
            <p:ph idx="1" type="body"/>
          </p:nvPr>
        </p:nvSpPr>
        <p:spPr>
          <a:xfrm>
            <a:off x="262950" y="1058550"/>
            <a:ext cx="4309200" cy="3508200"/>
          </a:xfrm>
          <a:prstGeom prst="rect">
            <a:avLst/>
          </a:prstGeom>
          <a:noFill/>
          <a:ln>
            <a:noFill/>
          </a:ln>
        </p:spPr>
        <p:txBody>
          <a:bodyPr anchorCtr="0" anchor="t" bIns="45700" lIns="91425" spcFirstLastPara="1" rIns="91425" wrap="square" tIns="45700">
            <a:normAutofit/>
          </a:bodyPr>
          <a:lstStyle/>
          <a:p>
            <a:pPr indent="-342900" lvl="0" marL="457200" rtl="0" algn="l">
              <a:lnSpc>
                <a:spcPct val="80000"/>
              </a:lnSpc>
              <a:spcBef>
                <a:spcPts val="0"/>
              </a:spcBef>
              <a:spcAft>
                <a:spcPts val="0"/>
              </a:spcAft>
              <a:buSzPts val="1800"/>
              <a:buChar char="●"/>
            </a:pPr>
            <a:r>
              <a:rPr lang="en">
                <a:latin typeface="Courier New"/>
                <a:ea typeface="Courier New"/>
                <a:cs typeface="Courier New"/>
                <a:sym typeface="Courier New"/>
              </a:rPr>
              <a:t>libc.a</a:t>
            </a:r>
            <a:r>
              <a:rPr lang="en"/>
              <a:t> (the C standard library)</a:t>
            </a:r>
            <a:endParaRPr sz="1600"/>
          </a:p>
          <a:p>
            <a:pPr indent="-330200" lvl="1" marL="914400" rtl="0" algn="l">
              <a:lnSpc>
                <a:spcPct val="88000"/>
              </a:lnSpc>
              <a:spcBef>
                <a:spcPts val="0"/>
              </a:spcBef>
              <a:spcAft>
                <a:spcPts val="0"/>
              </a:spcAft>
              <a:buSzPts val="1600"/>
              <a:buChar char="○"/>
            </a:pPr>
            <a:r>
              <a:rPr lang="en" sz="1600"/>
              <a:t>4.6 MB archive of 1496 object files.</a:t>
            </a:r>
            <a:endParaRPr sz="1200"/>
          </a:p>
          <a:p>
            <a:pPr indent="-330200" lvl="1" marL="914400" rtl="0" algn="l">
              <a:lnSpc>
                <a:spcPct val="88000"/>
              </a:lnSpc>
              <a:spcBef>
                <a:spcPts val="0"/>
              </a:spcBef>
              <a:spcAft>
                <a:spcPts val="0"/>
              </a:spcAft>
              <a:buSzPts val="1600"/>
              <a:buChar char="○"/>
            </a:pPr>
            <a:r>
              <a:rPr lang="en" sz="1600"/>
              <a:t>I/O, memory allocation, signal handling, string handling, data and time, random numbers, integer math</a:t>
            </a:r>
            <a:endParaRPr sz="1200"/>
          </a:p>
          <a:p>
            <a:pPr indent="-342900" lvl="0" marL="457200" rtl="0" algn="l">
              <a:lnSpc>
                <a:spcPct val="80000"/>
              </a:lnSpc>
              <a:spcBef>
                <a:spcPts val="0"/>
              </a:spcBef>
              <a:spcAft>
                <a:spcPts val="0"/>
              </a:spcAft>
              <a:buSzPts val="1800"/>
              <a:buChar char="●"/>
            </a:pPr>
            <a:r>
              <a:rPr lang="en">
                <a:latin typeface="Courier New"/>
                <a:ea typeface="Courier New"/>
                <a:cs typeface="Courier New"/>
                <a:sym typeface="Courier New"/>
              </a:rPr>
              <a:t>libm.a</a:t>
            </a:r>
            <a:r>
              <a:rPr lang="en"/>
              <a:t> (the C math library)</a:t>
            </a:r>
            <a:endParaRPr sz="1600"/>
          </a:p>
          <a:p>
            <a:pPr indent="-330200" lvl="1" marL="914400" rtl="0" algn="l">
              <a:lnSpc>
                <a:spcPct val="88000"/>
              </a:lnSpc>
              <a:spcBef>
                <a:spcPts val="0"/>
              </a:spcBef>
              <a:spcAft>
                <a:spcPts val="0"/>
              </a:spcAft>
              <a:buSzPts val="1600"/>
              <a:buChar char="○"/>
            </a:pPr>
            <a:r>
              <a:rPr lang="en" sz="1600"/>
              <a:t>2 MB archive of 444 object files. </a:t>
            </a:r>
            <a:endParaRPr sz="1200"/>
          </a:p>
          <a:p>
            <a:pPr indent="-330200" lvl="1" marL="914400" rtl="0" algn="l">
              <a:lnSpc>
                <a:spcPct val="88000"/>
              </a:lnSpc>
              <a:spcBef>
                <a:spcPts val="0"/>
              </a:spcBef>
              <a:spcAft>
                <a:spcPts val="0"/>
              </a:spcAft>
              <a:buSzPts val="1600"/>
              <a:buChar char="○"/>
            </a:pPr>
            <a:r>
              <a:rPr lang="en" sz="1600"/>
              <a:t>floating point math (sin, cos, tan, log, exp, sqrt, …) 	</a:t>
            </a:r>
            <a:endParaRPr/>
          </a:p>
        </p:txBody>
      </p:sp>
      <p:sp>
        <p:nvSpPr>
          <p:cNvPr id="353" name="Google Shape;353;p44"/>
          <p:cNvSpPr txBox="1"/>
          <p:nvPr/>
        </p:nvSpPr>
        <p:spPr>
          <a:xfrm>
            <a:off x="4809500" y="228610"/>
            <a:ext cx="2767500" cy="2872500"/>
          </a:xfrm>
          <a:prstGeom prst="rect">
            <a:avLst/>
          </a:prstGeom>
          <a:solidFill>
            <a:srgbClr val="E6E6E6"/>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 ar –t libc.a | sort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fork.o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fprintf.o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fpu_control.o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fputc.o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freopen.o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fscanf.o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fseek.o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fstab.o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a:t>
            </a:r>
            <a:endParaRPr/>
          </a:p>
        </p:txBody>
      </p:sp>
      <p:sp>
        <p:nvSpPr>
          <p:cNvPr id="354" name="Google Shape;354;p44"/>
          <p:cNvSpPr txBox="1"/>
          <p:nvPr/>
        </p:nvSpPr>
        <p:spPr>
          <a:xfrm>
            <a:off x="6247725" y="1893275"/>
            <a:ext cx="2767500" cy="2872500"/>
          </a:xfrm>
          <a:prstGeom prst="rect">
            <a:avLst/>
          </a:prstGeom>
          <a:solidFill>
            <a:srgbClr val="E6E6E6"/>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 ar –t libm.a | sort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e_acos.o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e_acosf.o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e_acosh.o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e_acoshf.o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e_acoshl.o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e_acosl.o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e_asin.o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e_asinf.o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e_asinl.o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 name="Shape 358"/>
        <p:cNvGrpSpPr/>
        <p:nvPr/>
      </p:nvGrpSpPr>
      <p:grpSpPr>
        <a:xfrm>
          <a:off x="0" y="0"/>
          <a:ext cx="0" cy="0"/>
          <a:chOff x="0" y="0"/>
          <a:chExt cx="0" cy="0"/>
        </a:xfrm>
      </p:grpSpPr>
      <p:sp>
        <p:nvSpPr>
          <p:cNvPr id="359" name="Google Shape;359;p45"/>
          <p:cNvSpPr txBox="1"/>
          <p:nvPr>
            <p:ph type="title"/>
          </p:nvPr>
        </p:nvSpPr>
        <p:spPr>
          <a:xfrm>
            <a:off x="311700" y="445025"/>
            <a:ext cx="44415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Linking with Static Libraries</a:t>
            </a:r>
            <a:endParaRPr/>
          </a:p>
        </p:txBody>
      </p:sp>
      <p:sp>
        <p:nvSpPr>
          <p:cNvPr id="360" name="Google Shape;360;p45"/>
          <p:cNvSpPr/>
          <p:nvPr/>
        </p:nvSpPr>
        <p:spPr>
          <a:xfrm>
            <a:off x="311700" y="1055103"/>
            <a:ext cx="3517200" cy="3505500"/>
          </a:xfrm>
          <a:prstGeom prst="rect">
            <a:avLst/>
          </a:prstGeom>
          <a:solidFill>
            <a:srgbClr val="F7F5CD"/>
          </a:solid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spcBef>
                <a:spcPts val="0"/>
              </a:spcBef>
              <a:spcAft>
                <a:spcPts val="0"/>
              </a:spcAft>
              <a:buNone/>
            </a:pPr>
            <a:r>
              <a:rPr b="1" lang="en" sz="1600">
                <a:solidFill>
                  <a:srgbClr val="926492"/>
                </a:solidFill>
                <a:latin typeface="Arial"/>
                <a:ea typeface="Arial"/>
                <a:cs typeface="Arial"/>
                <a:sym typeface="Arial"/>
              </a:rPr>
              <a:t>#include</a:t>
            </a:r>
            <a:r>
              <a:rPr b="1" lang="en" sz="1600">
                <a:solidFill>
                  <a:srgbClr val="000000"/>
                </a:solidFill>
                <a:latin typeface="Arial"/>
                <a:ea typeface="Arial"/>
                <a:cs typeface="Arial"/>
                <a:sym typeface="Arial"/>
              </a:rPr>
              <a:t> </a:t>
            </a:r>
            <a:r>
              <a:rPr b="1" lang="en" sz="1600">
                <a:solidFill>
                  <a:srgbClr val="9D206F"/>
                </a:solidFill>
                <a:latin typeface="Arial"/>
                <a:ea typeface="Arial"/>
                <a:cs typeface="Arial"/>
                <a:sym typeface="Arial"/>
              </a:rPr>
              <a:t>&lt;stdio.h&gt;</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926492"/>
                </a:solidFill>
                <a:latin typeface="Arial"/>
                <a:ea typeface="Arial"/>
                <a:cs typeface="Arial"/>
                <a:sym typeface="Arial"/>
              </a:rPr>
              <a:t>#include</a:t>
            </a:r>
            <a:r>
              <a:rPr b="1" lang="en" sz="1600">
                <a:solidFill>
                  <a:srgbClr val="000000"/>
                </a:solidFill>
                <a:latin typeface="Arial"/>
                <a:ea typeface="Arial"/>
                <a:cs typeface="Arial"/>
                <a:sym typeface="Arial"/>
              </a:rPr>
              <a:t> </a:t>
            </a:r>
            <a:r>
              <a:rPr b="1" lang="en" sz="1600">
                <a:solidFill>
                  <a:srgbClr val="9D206F"/>
                </a:solidFill>
                <a:latin typeface="Arial"/>
                <a:ea typeface="Arial"/>
                <a:cs typeface="Arial"/>
                <a:sym typeface="Arial"/>
              </a:rPr>
              <a:t>"vector.h"</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x</a:t>
            </a:r>
            <a:r>
              <a:rPr b="1" lang="en" sz="1600">
                <a:solidFill>
                  <a:srgbClr val="000000"/>
                </a:solidFill>
                <a:latin typeface="Arial"/>
                <a:ea typeface="Arial"/>
                <a:cs typeface="Arial"/>
                <a:sym typeface="Arial"/>
              </a:rPr>
              <a:t>[2] = {1, 2};</a:t>
            </a:r>
            <a:endParaRPr/>
          </a:p>
          <a:p>
            <a:pPr indent="0" lvl="0" marL="0" marR="0" rtl="0" algn="l">
              <a:spcBef>
                <a:spcPts val="0"/>
              </a:spcBef>
              <a:spcAft>
                <a:spcPts val="0"/>
              </a:spcAft>
              <a:buNone/>
            </a:pP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y</a:t>
            </a:r>
            <a:r>
              <a:rPr b="1" lang="en" sz="1600">
                <a:solidFill>
                  <a:srgbClr val="000000"/>
                </a:solidFill>
                <a:latin typeface="Arial"/>
                <a:ea typeface="Arial"/>
                <a:cs typeface="Arial"/>
                <a:sym typeface="Arial"/>
              </a:rPr>
              <a:t>[2] = {3, 4};</a:t>
            </a:r>
            <a:endParaRPr/>
          </a:p>
          <a:p>
            <a:pPr indent="0" lvl="0" marL="0" marR="0" rtl="0" algn="l">
              <a:spcBef>
                <a:spcPts val="0"/>
              </a:spcBef>
              <a:spcAft>
                <a:spcPts val="0"/>
              </a:spcAft>
              <a:buNone/>
            </a:pP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z</a:t>
            </a:r>
            <a:r>
              <a:rPr b="1" lang="en" sz="1600">
                <a:solidFill>
                  <a:srgbClr val="000000"/>
                </a:solidFill>
                <a:latin typeface="Arial"/>
                <a:ea typeface="Arial"/>
                <a:cs typeface="Arial"/>
                <a:sym typeface="Arial"/>
              </a:rPr>
              <a:t>[2];</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4A00FF"/>
                </a:solidFill>
                <a:latin typeface="Arial"/>
                <a:ea typeface="Arial"/>
                <a:cs typeface="Arial"/>
                <a:sym typeface="Arial"/>
              </a:rPr>
              <a:t>main</a:t>
            </a: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addvec(x, y, z, 2);</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printf(</a:t>
            </a:r>
            <a:r>
              <a:rPr b="1" lang="en" sz="1600">
                <a:solidFill>
                  <a:srgbClr val="9D206F"/>
                </a:solidFill>
                <a:latin typeface="Arial"/>
                <a:ea typeface="Arial"/>
                <a:cs typeface="Arial"/>
                <a:sym typeface="Arial"/>
              </a:rPr>
              <a:t>"z = [%d %d]\n”</a:t>
            </a: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z[0], z[1]);</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C200FF"/>
                </a:solidFill>
                <a:latin typeface="Arial"/>
                <a:ea typeface="Arial"/>
                <a:cs typeface="Arial"/>
                <a:sym typeface="Arial"/>
              </a:rPr>
              <a:t>return</a:t>
            </a:r>
            <a:r>
              <a:rPr b="1" lang="en" sz="1600">
                <a:solidFill>
                  <a:srgbClr val="000000"/>
                </a:solidFill>
                <a:latin typeface="Arial"/>
                <a:ea typeface="Arial"/>
                <a:cs typeface="Arial"/>
                <a:sym typeface="Arial"/>
              </a:rPr>
              <a:t> 0;</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a:t>
            </a:r>
            <a:endParaRPr/>
          </a:p>
        </p:txBody>
      </p:sp>
      <p:sp>
        <p:nvSpPr>
          <p:cNvPr id="361" name="Google Shape;361;p45"/>
          <p:cNvSpPr/>
          <p:nvPr/>
        </p:nvSpPr>
        <p:spPr>
          <a:xfrm>
            <a:off x="4345575" y="1159274"/>
            <a:ext cx="4441500" cy="1671900"/>
          </a:xfrm>
          <a:prstGeom prst="rect">
            <a:avLst/>
          </a:prstGeom>
          <a:solidFill>
            <a:srgbClr val="F7F5CD"/>
          </a:solid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spcBef>
                <a:spcPts val="0"/>
              </a:spcBef>
              <a:spcAft>
                <a:spcPts val="0"/>
              </a:spcAft>
              <a:buNone/>
            </a:pPr>
            <a:r>
              <a:rPr b="1" lang="en" sz="1600">
                <a:solidFill>
                  <a:srgbClr val="2D961E"/>
                </a:solidFill>
                <a:latin typeface="Arial"/>
                <a:ea typeface="Arial"/>
                <a:cs typeface="Arial"/>
                <a:sym typeface="Arial"/>
              </a:rPr>
              <a:t>void</a:t>
            </a:r>
            <a:r>
              <a:rPr b="1" lang="en" sz="1600">
                <a:solidFill>
                  <a:srgbClr val="000000"/>
                </a:solidFill>
                <a:latin typeface="Arial"/>
                <a:ea typeface="Arial"/>
                <a:cs typeface="Arial"/>
                <a:sym typeface="Arial"/>
              </a:rPr>
              <a:t> </a:t>
            </a:r>
            <a:r>
              <a:rPr b="1" lang="en" sz="1600">
                <a:solidFill>
                  <a:srgbClr val="4A00FF"/>
                </a:solidFill>
                <a:latin typeface="Arial"/>
                <a:ea typeface="Arial"/>
                <a:cs typeface="Arial"/>
                <a:sym typeface="Arial"/>
              </a:rPr>
              <a:t>addvec</a:t>
            </a:r>
            <a:r>
              <a:rPr b="1" lang="en" sz="1600">
                <a:solidFill>
                  <a:srgbClr val="000000"/>
                </a:solidFill>
                <a:latin typeface="Arial"/>
                <a:ea typeface="Arial"/>
                <a:cs typeface="Arial"/>
                <a:sym typeface="Arial"/>
              </a:rPr>
              <a:t>(</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x</a:t>
            </a: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y</a:t>
            </a: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z</a:t>
            </a: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n</a:t>
            </a:r>
            <a:r>
              <a:rPr b="1" lang="en" sz="1600">
                <a:solidFill>
                  <a:srgbClr val="000000"/>
                </a:solidFill>
                <a:latin typeface="Arial"/>
                <a:ea typeface="Arial"/>
                <a:cs typeface="Arial"/>
                <a:sym typeface="Arial"/>
              </a:rPr>
              <a:t>) {</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i</a:t>
            </a:r>
            <a:r>
              <a:rPr b="1" lang="en" sz="1600">
                <a:solidFill>
                  <a:srgbClr val="000000"/>
                </a:solidFill>
                <a:latin typeface="Arial"/>
                <a:ea typeface="Arial"/>
                <a:cs typeface="Arial"/>
                <a:sym typeface="Arial"/>
              </a:rPr>
              <a:t>;</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C200FF"/>
                </a:solidFill>
                <a:latin typeface="Arial"/>
                <a:ea typeface="Arial"/>
                <a:cs typeface="Arial"/>
                <a:sym typeface="Arial"/>
              </a:rPr>
              <a:t>for</a:t>
            </a:r>
            <a:r>
              <a:rPr b="1" lang="en" sz="1600">
                <a:solidFill>
                  <a:srgbClr val="000000"/>
                </a:solidFill>
                <a:latin typeface="Arial"/>
                <a:ea typeface="Arial"/>
                <a:cs typeface="Arial"/>
                <a:sym typeface="Arial"/>
              </a:rPr>
              <a:t> (i = 0; i &lt; n; i++)</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z[i] = x[i] + y[i];</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a:t>
            </a:r>
            <a:endParaRPr b="1" sz="1600">
              <a:solidFill>
                <a:srgbClr val="000000"/>
              </a:solidFill>
              <a:latin typeface="Arial"/>
              <a:ea typeface="Arial"/>
              <a:cs typeface="Arial"/>
              <a:sym typeface="Arial"/>
            </a:endParaRPr>
          </a:p>
        </p:txBody>
      </p:sp>
      <p:sp>
        <p:nvSpPr>
          <p:cNvPr id="362" name="Google Shape;362;p45"/>
          <p:cNvSpPr/>
          <p:nvPr/>
        </p:nvSpPr>
        <p:spPr>
          <a:xfrm>
            <a:off x="4359125" y="2905900"/>
            <a:ext cx="4441500" cy="1606500"/>
          </a:xfrm>
          <a:prstGeom prst="rect">
            <a:avLst/>
          </a:prstGeom>
          <a:solidFill>
            <a:srgbClr val="F7F5CD"/>
          </a:solidFill>
          <a:ln cap="flat" cmpd="sng" w="9525">
            <a:solidFill>
              <a:srgbClr val="000066"/>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spcBef>
                <a:spcPts val="0"/>
              </a:spcBef>
              <a:spcAft>
                <a:spcPts val="0"/>
              </a:spcAft>
              <a:buNone/>
            </a:pPr>
            <a:r>
              <a:rPr b="1" lang="en" sz="1600">
                <a:solidFill>
                  <a:srgbClr val="2D961E"/>
                </a:solidFill>
                <a:latin typeface="Arial"/>
                <a:ea typeface="Arial"/>
                <a:cs typeface="Arial"/>
                <a:sym typeface="Arial"/>
              </a:rPr>
              <a:t>void</a:t>
            </a:r>
            <a:r>
              <a:rPr b="1" lang="en" sz="1600">
                <a:solidFill>
                  <a:srgbClr val="000000"/>
                </a:solidFill>
                <a:latin typeface="Arial"/>
                <a:ea typeface="Arial"/>
                <a:cs typeface="Arial"/>
                <a:sym typeface="Arial"/>
              </a:rPr>
              <a:t> </a:t>
            </a:r>
            <a:r>
              <a:rPr b="1" lang="en" sz="1600">
                <a:solidFill>
                  <a:srgbClr val="4A00FF"/>
                </a:solidFill>
                <a:latin typeface="Arial"/>
                <a:ea typeface="Arial"/>
                <a:cs typeface="Arial"/>
                <a:sym typeface="Arial"/>
              </a:rPr>
              <a:t>multvec</a:t>
            </a:r>
            <a:r>
              <a:rPr b="1" lang="en" sz="1600">
                <a:solidFill>
                  <a:srgbClr val="000000"/>
                </a:solidFill>
                <a:latin typeface="Arial"/>
                <a:ea typeface="Arial"/>
                <a:cs typeface="Arial"/>
                <a:sym typeface="Arial"/>
              </a:rPr>
              <a:t>(</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x</a:t>
            </a: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y</a:t>
            </a:r>
            <a:r>
              <a:rPr b="1" lang="en" sz="1600">
                <a:solidFill>
                  <a:srgbClr val="000000"/>
                </a:solidFill>
                <a:latin typeface="Arial"/>
                <a:ea typeface="Arial"/>
                <a:cs typeface="Arial"/>
                <a:sym typeface="Arial"/>
              </a:rPr>
              <a:t>,</a:t>
            </a:r>
            <a:r>
              <a:rPr b="1" lang="en" sz="1600"/>
              <a:t> </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z</a:t>
            </a: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n</a:t>
            </a: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i</a:t>
            </a: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C200FF"/>
                </a:solidFill>
                <a:latin typeface="Arial"/>
                <a:ea typeface="Arial"/>
                <a:cs typeface="Arial"/>
                <a:sym typeface="Arial"/>
              </a:rPr>
              <a:t>    for</a:t>
            </a:r>
            <a:r>
              <a:rPr b="1" lang="en" sz="1600">
                <a:solidFill>
                  <a:srgbClr val="000000"/>
                </a:solidFill>
                <a:latin typeface="Arial"/>
                <a:ea typeface="Arial"/>
                <a:cs typeface="Arial"/>
                <a:sym typeface="Arial"/>
              </a:rPr>
              <a:t> (i = 0; i &lt; n; i++)</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z[i] = x[i] * y[i];</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a:t>
            </a:r>
            <a:endParaRPr b="1" sz="1600">
              <a:solidFill>
                <a:srgbClr val="000000"/>
              </a:solidFill>
              <a:latin typeface="Arial"/>
              <a:ea typeface="Arial"/>
              <a:cs typeface="Arial"/>
              <a:sym typeface="Arial"/>
            </a:endParaRPr>
          </a:p>
        </p:txBody>
      </p:sp>
      <p:sp>
        <p:nvSpPr>
          <p:cNvPr id="363" name="Google Shape;363;p45"/>
          <p:cNvSpPr txBox="1"/>
          <p:nvPr/>
        </p:nvSpPr>
        <p:spPr>
          <a:xfrm>
            <a:off x="5967626" y="719831"/>
            <a:ext cx="1205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Calibri"/>
                <a:ea typeface="Calibri"/>
                <a:cs typeface="Calibri"/>
                <a:sym typeface="Calibri"/>
              </a:rPr>
              <a:t>libvector.a</a:t>
            </a:r>
            <a:endParaRPr b="1"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8" name="Shape 368"/>
        <p:cNvGrpSpPr/>
        <p:nvPr/>
      </p:nvGrpSpPr>
      <p:grpSpPr>
        <a:xfrm>
          <a:off x="0" y="0"/>
          <a:ext cx="0" cy="0"/>
          <a:chOff x="0" y="0"/>
          <a:chExt cx="0" cy="0"/>
        </a:xfrm>
      </p:grpSpPr>
      <p:sp>
        <p:nvSpPr>
          <p:cNvPr id="369" name="Google Shape;369;p46"/>
          <p:cNvSpPr txBox="1"/>
          <p:nvPr>
            <p:ph idx="4294967295" type="title"/>
          </p:nvPr>
        </p:nvSpPr>
        <p:spPr>
          <a:xfrm>
            <a:off x="404813" y="213122"/>
            <a:ext cx="5615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Linking with Static Libraries (visual)</a:t>
            </a:r>
            <a:endParaRPr/>
          </a:p>
        </p:txBody>
      </p:sp>
      <p:cxnSp>
        <p:nvCxnSpPr>
          <p:cNvPr id="370" name="Google Shape;370;p46"/>
          <p:cNvCxnSpPr/>
          <p:nvPr/>
        </p:nvCxnSpPr>
        <p:spPr>
          <a:xfrm>
            <a:off x="698500" y="1821791"/>
            <a:ext cx="1500" cy="285900"/>
          </a:xfrm>
          <a:prstGeom prst="straightConnector1">
            <a:avLst/>
          </a:prstGeom>
          <a:noFill/>
          <a:ln cap="flat" cmpd="sng" w="28425">
            <a:solidFill>
              <a:srgbClr val="000066"/>
            </a:solidFill>
            <a:prstDash val="solid"/>
            <a:miter lim="800000"/>
            <a:headEnd len="med" w="med" type="none"/>
            <a:tailEnd len="med" w="med" type="triangle"/>
          </a:ln>
        </p:spPr>
      </p:cxnSp>
      <p:sp>
        <p:nvSpPr>
          <p:cNvPr id="371" name="Google Shape;371;p46"/>
          <p:cNvSpPr/>
          <p:nvPr/>
        </p:nvSpPr>
        <p:spPr>
          <a:xfrm>
            <a:off x="174625" y="2140524"/>
            <a:ext cx="2070000" cy="587100"/>
          </a:xfrm>
          <a:prstGeom prst="rect">
            <a:avLst/>
          </a:prstGeom>
          <a:solidFill>
            <a:srgbClr val="D5D5F4"/>
          </a:solidFill>
          <a:ln cap="flat" cmpd="sng" w="284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800">
                <a:solidFill>
                  <a:schemeClr val="dk1"/>
                </a:solidFill>
                <a:latin typeface="Calibri"/>
                <a:ea typeface="Calibri"/>
                <a:cs typeface="Calibri"/>
                <a:sym typeface="Calibri"/>
              </a:rPr>
              <a:t>Translators</a:t>
            </a:r>
            <a:endParaRPr/>
          </a:p>
          <a:p>
            <a:pPr indent="0" lvl="0" marL="0" marR="0" rtl="0" algn="ctr">
              <a:lnSpc>
                <a:spcPct val="98000"/>
              </a:lnSpc>
              <a:spcBef>
                <a:spcPts val="0"/>
              </a:spcBef>
              <a:spcAft>
                <a:spcPts val="0"/>
              </a:spcAft>
              <a:buNone/>
            </a:pPr>
            <a:r>
              <a:rPr b="1" lang="en" sz="1800">
                <a:solidFill>
                  <a:schemeClr val="dk1"/>
                </a:solidFill>
                <a:latin typeface="Calibri"/>
                <a:ea typeface="Calibri"/>
                <a:cs typeface="Calibri"/>
                <a:sym typeface="Calibri"/>
              </a:rPr>
              <a:t>(</a:t>
            </a:r>
            <a:r>
              <a:rPr b="1" lang="en" sz="1800">
                <a:solidFill>
                  <a:schemeClr val="dk1"/>
                </a:solidFill>
                <a:latin typeface="Courier New"/>
                <a:ea typeface="Courier New"/>
                <a:cs typeface="Courier New"/>
                <a:sym typeface="Courier New"/>
              </a:rPr>
              <a:t>cpp</a:t>
            </a:r>
            <a:r>
              <a:rPr b="1" lang="en" sz="1800">
                <a:solidFill>
                  <a:schemeClr val="dk1"/>
                </a:solidFill>
                <a:latin typeface="Calibri"/>
                <a:ea typeface="Calibri"/>
                <a:cs typeface="Calibri"/>
                <a:sym typeface="Calibri"/>
              </a:rPr>
              <a:t>, </a:t>
            </a:r>
            <a:r>
              <a:rPr b="1" lang="en" sz="1800">
                <a:solidFill>
                  <a:schemeClr val="dk1"/>
                </a:solidFill>
                <a:latin typeface="Courier New"/>
                <a:ea typeface="Courier New"/>
                <a:cs typeface="Courier New"/>
                <a:sym typeface="Courier New"/>
              </a:rPr>
              <a:t>cc1</a:t>
            </a:r>
            <a:r>
              <a:rPr b="1" lang="en" sz="1800">
                <a:solidFill>
                  <a:schemeClr val="dk1"/>
                </a:solidFill>
                <a:latin typeface="Calibri"/>
                <a:ea typeface="Calibri"/>
                <a:cs typeface="Calibri"/>
                <a:sym typeface="Calibri"/>
              </a:rPr>
              <a:t>, </a:t>
            </a:r>
            <a:r>
              <a:rPr b="1" lang="en" sz="1800">
                <a:solidFill>
                  <a:schemeClr val="dk1"/>
                </a:solidFill>
                <a:latin typeface="Courier New"/>
                <a:ea typeface="Courier New"/>
                <a:cs typeface="Courier New"/>
                <a:sym typeface="Courier New"/>
              </a:rPr>
              <a:t>as</a:t>
            </a:r>
            <a:r>
              <a:rPr b="1" lang="en" sz="1800">
                <a:solidFill>
                  <a:schemeClr val="dk1"/>
                </a:solidFill>
                <a:latin typeface="Calibri"/>
                <a:ea typeface="Calibri"/>
                <a:cs typeface="Calibri"/>
                <a:sym typeface="Calibri"/>
              </a:rPr>
              <a:t>)</a:t>
            </a:r>
            <a:endParaRPr/>
          </a:p>
        </p:txBody>
      </p:sp>
      <p:sp>
        <p:nvSpPr>
          <p:cNvPr id="372" name="Google Shape;372;p46"/>
          <p:cNvSpPr txBox="1"/>
          <p:nvPr/>
        </p:nvSpPr>
        <p:spPr>
          <a:xfrm>
            <a:off x="152400" y="1599144"/>
            <a:ext cx="1146900" cy="3549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800">
                <a:solidFill>
                  <a:schemeClr val="dk1"/>
                </a:solidFill>
                <a:latin typeface="Courier New"/>
                <a:ea typeface="Courier New"/>
                <a:cs typeface="Courier New"/>
                <a:sym typeface="Courier New"/>
              </a:rPr>
              <a:t>main2.c</a:t>
            </a:r>
            <a:endParaRPr/>
          </a:p>
        </p:txBody>
      </p:sp>
      <p:sp>
        <p:nvSpPr>
          <p:cNvPr id="373" name="Google Shape;373;p46"/>
          <p:cNvSpPr txBox="1"/>
          <p:nvPr/>
        </p:nvSpPr>
        <p:spPr>
          <a:xfrm>
            <a:off x="1788238" y="2938350"/>
            <a:ext cx="1146900" cy="3549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800">
                <a:solidFill>
                  <a:schemeClr val="dk1"/>
                </a:solidFill>
                <a:latin typeface="Courier New"/>
                <a:ea typeface="Courier New"/>
                <a:cs typeface="Courier New"/>
                <a:sym typeface="Courier New"/>
              </a:rPr>
              <a:t>main2.o</a:t>
            </a:r>
            <a:endParaRPr/>
          </a:p>
        </p:txBody>
      </p:sp>
      <p:cxnSp>
        <p:nvCxnSpPr>
          <p:cNvPr id="374" name="Google Shape;374;p46"/>
          <p:cNvCxnSpPr/>
          <p:nvPr/>
        </p:nvCxnSpPr>
        <p:spPr>
          <a:xfrm>
            <a:off x="1241425" y="2761060"/>
            <a:ext cx="816000" cy="285900"/>
          </a:xfrm>
          <a:prstGeom prst="straightConnector1">
            <a:avLst/>
          </a:prstGeom>
          <a:noFill/>
          <a:ln cap="flat" cmpd="sng" w="28425">
            <a:solidFill>
              <a:srgbClr val="000066"/>
            </a:solidFill>
            <a:prstDash val="solid"/>
            <a:miter lim="800000"/>
            <a:headEnd len="med" w="med" type="none"/>
            <a:tailEnd len="med" w="med" type="triangle"/>
          </a:ln>
        </p:spPr>
      </p:cxnSp>
      <p:cxnSp>
        <p:nvCxnSpPr>
          <p:cNvPr id="375" name="Google Shape;375;p46"/>
          <p:cNvCxnSpPr/>
          <p:nvPr/>
        </p:nvCxnSpPr>
        <p:spPr>
          <a:xfrm>
            <a:off x="2344738" y="3218260"/>
            <a:ext cx="762000" cy="228600"/>
          </a:xfrm>
          <a:prstGeom prst="straightConnector1">
            <a:avLst/>
          </a:prstGeom>
          <a:noFill/>
          <a:ln cap="flat" cmpd="sng" w="28425">
            <a:solidFill>
              <a:srgbClr val="000066"/>
            </a:solidFill>
            <a:prstDash val="solid"/>
            <a:miter lim="800000"/>
            <a:headEnd len="med" w="med" type="none"/>
            <a:tailEnd len="med" w="med" type="triangle"/>
          </a:ln>
        </p:spPr>
      </p:cxnSp>
      <p:sp>
        <p:nvSpPr>
          <p:cNvPr id="376" name="Google Shape;376;p46"/>
          <p:cNvSpPr txBox="1"/>
          <p:nvPr/>
        </p:nvSpPr>
        <p:spPr>
          <a:xfrm>
            <a:off x="5403275" y="2394300"/>
            <a:ext cx="1008900" cy="3549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800">
                <a:solidFill>
                  <a:schemeClr val="dk1"/>
                </a:solidFill>
                <a:latin typeface="Courier New"/>
                <a:ea typeface="Courier New"/>
                <a:cs typeface="Courier New"/>
                <a:sym typeface="Courier New"/>
              </a:rPr>
              <a:t>libc.a</a:t>
            </a:r>
            <a:endParaRPr/>
          </a:p>
        </p:txBody>
      </p:sp>
      <p:cxnSp>
        <p:nvCxnSpPr>
          <p:cNvPr id="377" name="Google Shape;377;p46"/>
          <p:cNvCxnSpPr/>
          <p:nvPr/>
        </p:nvCxnSpPr>
        <p:spPr>
          <a:xfrm flipH="1">
            <a:off x="3982825" y="2978875"/>
            <a:ext cx="20700" cy="525000"/>
          </a:xfrm>
          <a:prstGeom prst="straightConnector1">
            <a:avLst/>
          </a:prstGeom>
          <a:noFill/>
          <a:ln cap="flat" cmpd="sng" w="28425">
            <a:solidFill>
              <a:srgbClr val="000066"/>
            </a:solidFill>
            <a:prstDash val="solid"/>
            <a:miter lim="800000"/>
            <a:headEnd len="med" w="med" type="none"/>
            <a:tailEnd len="med" w="med" type="triangle"/>
          </a:ln>
        </p:spPr>
      </p:cxnSp>
      <p:sp>
        <p:nvSpPr>
          <p:cNvPr id="378" name="Google Shape;378;p46"/>
          <p:cNvSpPr/>
          <p:nvPr/>
        </p:nvSpPr>
        <p:spPr>
          <a:xfrm>
            <a:off x="2497150" y="3503997"/>
            <a:ext cx="2971800" cy="338700"/>
          </a:xfrm>
          <a:prstGeom prst="rect">
            <a:avLst/>
          </a:prstGeom>
          <a:solidFill>
            <a:srgbClr val="D5D5F4"/>
          </a:solidFill>
          <a:ln cap="flat" cmpd="sng" w="284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800">
                <a:solidFill>
                  <a:schemeClr val="dk1"/>
                </a:solidFill>
                <a:latin typeface="Calibri"/>
                <a:ea typeface="Calibri"/>
                <a:cs typeface="Calibri"/>
                <a:sym typeface="Calibri"/>
              </a:rPr>
              <a:t>Linker (</a:t>
            </a:r>
            <a:r>
              <a:rPr b="1" lang="en" sz="1800">
                <a:solidFill>
                  <a:schemeClr val="dk1"/>
                </a:solidFill>
                <a:latin typeface="Courier New"/>
                <a:ea typeface="Courier New"/>
                <a:cs typeface="Courier New"/>
                <a:sym typeface="Courier New"/>
              </a:rPr>
              <a:t>ld</a:t>
            </a:r>
            <a:r>
              <a:rPr b="1" lang="en" sz="1800">
                <a:solidFill>
                  <a:schemeClr val="dk1"/>
                </a:solidFill>
                <a:latin typeface="Calibri"/>
                <a:ea typeface="Calibri"/>
                <a:cs typeface="Calibri"/>
                <a:sym typeface="Calibri"/>
              </a:rPr>
              <a:t>)</a:t>
            </a:r>
            <a:endParaRPr/>
          </a:p>
        </p:txBody>
      </p:sp>
      <p:sp>
        <p:nvSpPr>
          <p:cNvPr id="379" name="Google Shape;379;p46"/>
          <p:cNvSpPr txBox="1"/>
          <p:nvPr/>
        </p:nvSpPr>
        <p:spPr>
          <a:xfrm>
            <a:off x="3519593" y="4226826"/>
            <a:ext cx="1012800" cy="3549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800">
                <a:solidFill>
                  <a:schemeClr val="dk1"/>
                </a:solidFill>
                <a:latin typeface="Courier New"/>
                <a:ea typeface="Courier New"/>
                <a:cs typeface="Courier New"/>
                <a:sym typeface="Courier New"/>
              </a:rPr>
              <a:t>prog2c</a:t>
            </a:r>
            <a:endParaRPr b="1" sz="1800">
              <a:solidFill>
                <a:schemeClr val="dk1"/>
              </a:solidFill>
              <a:latin typeface="Courier New"/>
              <a:ea typeface="Courier New"/>
              <a:cs typeface="Courier New"/>
              <a:sym typeface="Courier New"/>
            </a:endParaRPr>
          </a:p>
        </p:txBody>
      </p:sp>
      <p:cxnSp>
        <p:nvCxnSpPr>
          <p:cNvPr id="380" name="Google Shape;380;p46"/>
          <p:cNvCxnSpPr/>
          <p:nvPr/>
        </p:nvCxnSpPr>
        <p:spPr>
          <a:xfrm>
            <a:off x="3981450" y="3873606"/>
            <a:ext cx="1500" cy="310800"/>
          </a:xfrm>
          <a:prstGeom prst="straightConnector1">
            <a:avLst/>
          </a:prstGeom>
          <a:noFill/>
          <a:ln cap="flat" cmpd="sng" w="28425">
            <a:solidFill>
              <a:srgbClr val="000066"/>
            </a:solidFill>
            <a:prstDash val="solid"/>
            <a:miter lim="800000"/>
            <a:headEnd len="med" w="med" type="none"/>
            <a:tailEnd len="med" w="med" type="triangle"/>
          </a:ln>
        </p:spPr>
      </p:cxnSp>
      <p:sp>
        <p:nvSpPr>
          <p:cNvPr id="381" name="Google Shape;381;p46"/>
          <p:cNvSpPr txBox="1"/>
          <p:nvPr/>
        </p:nvSpPr>
        <p:spPr>
          <a:xfrm>
            <a:off x="5577022" y="2914650"/>
            <a:ext cx="3186000" cy="626400"/>
          </a:xfrm>
          <a:prstGeom prst="rect">
            <a:avLst/>
          </a:prstGeom>
          <a:noFill/>
          <a:ln>
            <a:noFill/>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i="1" lang="en" sz="1800">
                <a:solidFill>
                  <a:srgbClr val="7F7F7F"/>
                </a:solidFill>
                <a:latin typeface="Courier New"/>
                <a:ea typeface="Courier New"/>
                <a:cs typeface="Courier New"/>
                <a:sym typeface="Courier New"/>
              </a:rPr>
              <a:t>printf.o </a:t>
            </a:r>
            <a:r>
              <a:rPr b="1" i="1" lang="en" sz="1800">
                <a:solidFill>
                  <a:srgbClr val="7F7F7F"/>
                </a:solidFill>
                <a:latin typeface="Calibri"/>
                <a:ea typeface="Calibri"/>
                <a:cs typeface="Calibri"/>
                <a:sym typeface="Calibri"/>
              </a:rPr>
              <a:t>and any other </a:t>
            </a:r>
            <a:endParaRPr/>
          </a:p>
          <a:p>
            <a:pPr indent="0" lvl="0" marL="0" marR="0" rtl="0" algn="l">
              <a:lnSpc>
                <a:spcPct val="98000"/>
              </a:lnSpc>
              <a:spcBef>
                <a:spcPts val="0"/>
              </a:spcBef>
              <a:spcAft>
                <a:spcPts val="0"/>
              </a:spcAft>
              <a:buNone/>
            </a:pPr>
            <a:r>
              <a:rPr b="1" i="1" lang="en" sz="1800">
                <a:solidFill>
                  <a:srgbClr val="7F7F7F"/>
                </a:solidFill>
                <a:latin typeface="Calibri"/>
                <a:ea typeface="Calibri"/>
                <a:cs typeface="Calibri"/>
                <a:sym typeface="Calibri"/>
              </a:rPr>
              <a:t>modules called by </a:t>
            </a:r>
            <a:r>
              <a:rPr b="1" i="1" lang="en" sz="1800">
                <a:solidFill>
                  <a:srgbClr val="7F7F7F"/>
                </a:solidFill>
                <a:latin typeface="Courier New"/>
                <a:ea typeface="Courier New"/>
                <a:cs typeface="Courier New"/>
                <a:sym typeface="Courier New"/>
              </a:rPr>
              <a:t>printf.o </a:t>
            </a:r>
            <a:endParaRPr/>
          </a:p>
        </p:txBody>
      </p:sp>
      <p:sp>
        <p:nvSpPr>
          <p:cNvPr id="382" name="Google Shape;382;p46"/>
          <p:cNvSpPr txBox="1"/>
          <p:nvPr/>
        </p:nvSpPr>
        <p:spPr>
          <a:xfrm>
            <a:off x="3187700" y="2588225"/>
            <a:ext cx="1698300" cy="3549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800">
                <a:solidFill>
                  <a:schemeClr val="dk1"/>
                </a:solidFill>
                <a:latin typeface="Courier New"/>
                <a:ea typeface="Courier New"/>
                <a:cs typeface="Courier New"/>
                <a:sym typeface="Courier New"/>
              </a:rPr>
              <a:t>libvector.a</a:t>
            </a:r>
            <a:endParaRPr/>
          </a:p>
        </p:txBody>
      </p:sp>
      <p:sp>
        <p:nvSpPr>
          <p:cNvPr id="383" name="Google Shape;383;p46"/>
          <p:cNvSpPr txBox="1"/>
          <p:nvPr/>
        </p:nvSpPr>
        <p:spPr>
          <a:xfrm>
            <a:off x="3992563" y="2995613"/>
            <a:ext cx="1284600" cy="3549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800">
                <a:solidFill>
                  <a:schemeClr val="dk1"/>
                </a:solidFill>
                <a:latin typeface="Courier New"/>
                <a:ea typeface="Courier New"/>
                <a:cs typeface="Courier New"/>
                <a:sym typeface="Courier New"/>
              </a:rPr>
              <a:t>addvec.o</a:t>
            </a:r>
            <a:endParaRPr/>
          </a:p>
        </p:txBody>
      </p:sp>
      <p:cxnSp>
        <p:nvCxnSpPr>
          <p:cNvPr id="384" name="Google Shape;384;p46"/>
          <p:cNvCxnSpPr/>
          <p:nvPr/>
        </p:nvCxnSpPr>
        <p:spPr>
          <a:xfrm flipH="1">
            <a:off x="4981450" y="2692798"/>
            <a:ext cx="841500" cy="800100"/>
          </a:xfrm>
          <a:prstGeom prst="straightConnector1">
            <a:avLst/>
          </a:prstGeom>
          <a:noFill/>
          <a:ln cap="flat" cmpd="sng" w="28425">
            <a:solidFill>
              <a:srgbClr val="000066"/>
            </a:solidFill>
            <a:prstDash val="solid"/>
            <a:miter lim="800000"/>
            <a:headEnd len="med" w="med" type="none"/>
            <a:tailEnd len="med" w="med" type="triangle"/>
          </a:ln>
        </p:spPr>
      </p:cxnSp>
      <p:sp>
        <p:nvSpPr>
          <p:cNvPr id="385" name="Google Shape;385;p46"/>
          <p:cNvSpPr txBox="1"/>
          <p:nvPr/>
        </p:nvSpPr>
        <p:spPr>
          <a:xfrm>
            <a:off x="6929438" y="2405063"/>
            <a:ext cx="1552800" cy="3660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i="1" lang="en" sz="1800">
                <a:solidFill>
                  <a:srgbClr val="C00000"/>
                </a:solidFill>
                <a:latin typeface="Calibri"/>
                <a:ea typeface="Calibri"/>
                <a:cs typeface="Calibri"/>
                <a:sym typeface="Calibri"/>
              </a:rPr>
              <a:t>Static libraries</a:t>
            </a:r>
            <a:endParaRPr/>
          </a:p>
        </p:txBody>
      </p:sp>
      <p:sp>
        <p:nvSpPr>
          <p:cNvPr id="386" name="Google Shape;386;p46"/>
          <p:cNvSpPr txBox="1"/>
          <p:nvPr/>
        </p:nvSpPr>
        <p:spPr>
          <a:xfrm>
            <a:off x="225425" y="2912269"/>
            <a:ext cx="1305600" cy="6375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i="1" lang="en" sz="1800">
                <a:solidFill>
                  <a:srgbClr val="C00000"/>
                </a:solidFill>
                <a:latin typeface="Calibri"/>
                <a:ea typeface="Calibri"/>
                <a:cs typeface="Calibri"/>
                <a:sym typeface="Calibri"/>
              </a:rPr>
              <a:t>Relocatable</a:t>
            </a:r>
            <a:endParaRPr b="1" i="1" sz="1800">
              <a:solidFill>
                <a:srgbClr val="C00000"/>
              </a:solidFill>
              <a:latin typeface="Calibri"/>
              <a:ea typeface="Calibri"/>
              <a:cs typeface="Calibri"/>
              <a:sym typeface="Calibri"/>
            </a:endParaRPr>
          </a:p>
          <a:p>
            <a:pPr indent="0" lvl="0" marL="0" marR="0" rtl="0" algn="l">
              <a:lnSpc>
                <a:spcPct val="98000"/>
              </a:lnSpc>
              <a:spcBef>
                <a:spcPts val="0"/>
              </a:spcBef>
              <a:spcAft>
                <a:spcPts val="0"/>
              </a:spcAft>
              <a:buNone/>
            </a:pPr>
            <a:r>
              <a:rPr b="1" i="1" lang="en" sz="1800">
                <a:solidFill>
                  <a:srgbClr val="C00000"/>
                </a:solidFill>
                <a:latin typeface="Calibri"/>
                <a:ea typeface="Calibri"/>
                <a:cs typeface="Calibri"/>
                <a:sym typeface="Calibri"/>
              </a:rPr>
              <a:t>object files</a:t>
            </a:r>
            <a:endParaRPr/>
          </a:p>
        </p:txBody>
      </p:sp>
      <p:sp>
        <p:nvSpPr>
          <p:cNvPr id="387" name="Google Shape;387;p46"/>
          <p:cNvSpPr txBox="1"/>
          <p:nvPr/>
        </p:nvSpPr>
        <p:spPr>
          <a:xfrm>
            <a:off x="4648251" y="4122051"/>
            <a:ext cx="2209800" cy="6375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i="1" lang="en" sz="1800">
                <a:solidFill>
                  <a:srgbClr val="C00000"/>
                </a:solidFill>
                <a:latin typeface="Calibri"/>
                <a:ea typeface="Calibri"/>
                <a:cs typeface="Calibri"/>
                <a:sym typeface="Calibri"/>
              </a:rPr>
              <a:t>Fully linked </a:t>
            </a:r>
            <a:endParaRPr/>
          </a:p>
          <a:p>
            <a:pPr indent="0" lvl="0" marL="0" marR="0" rtl="0" algn="l">
              <a:lnSpc>
                <a:spcPct val="98000"/>
              </a:lnSpc>
              <a:spcBef>
                <a:spcPts val="0"/>
              </a:spcBef>
              <a:spcAft>
                <a:spcPts val="0"/>
              </a:spcAft>
              <a:buNone/>
            </a:pPr>
            <a:r>
              <a:rPr b="1" i="1" lang="en" sz="1800">
                <a:solidFill>
                  <a:srgbClr val="C00000"/>
                </a:solidFill>
                <a:latin typeface="Calibri"/>
                <a:ea typeface="Calibri"/>
                <a:cs typeface="Calibri"/>
                <a:sym typeface="Calibri"/>
              </a:rPr>
              <a:t>executable object file</a:t>
            </a:r>
            <a:endParaRPr/>
          </a:p>
        </p:txBody>
      </p:sp>
      <p:sp>
        <p:nvSpPr>
          <p:cNvPr id="388" name="Google Shape;388;p46"/>
          <p:cNvSpPr txBox="1"/>
          <p:nvPr/>
        </p:nvSpPr>
        <p:spPr>
          <a:xfrm>
            <a:off x="1260475" y="1599144"/>
            <a:ext cx="1284600" cy="3549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800">
                <a:solidFill>
                  <a:schemeClr val="dk1"/>
                </a:solidFill>
                <a:latin typeface="Courier New"/>
                <a:ea typeface="Courier New"/>
                <a:cs typeface="Courier New"/>
                <a:sym typeface="Courier New"/>
              </a:rPr>
              <a:t>vector.h</a:t>
            </a:r>
            <a:endParaRPr/>
          </a:p>
        </p:txBody>
      </p:sp>
      <p:cxnSp>
        <p:nvCxnSpPr>
          <p:cNvPr id="389" name="Google Shape;389;p46"/>
          <p:cNvCxnSpPr/>
          <p:nvPr/>
        </p:nvCxnSpPr>
        <p:spPr>
          <a:xfrm>
            <a:off x="1882775" y="1821791"/>
            <a:ext cx="1500" cy="285900"/>
          </a:xfrm>
          <a:prstGeom prst="straightConnector1">
            <a:avLst/>
          </a:prstGeom>
          <a:noFill/>
          <a:ln cap="flat" cmpd="sng" w="28425">
            <a:solidFill>
              <a:srgbClr val="000066"/>
            </a:solidFill>
            <a:prstDash val="solid"/>
            <a:miter lim="800000"/>
            <a:headEnd len="med" w="med" type="none"/>
            <a:tailEnd len="med" w="med" type="triangle"/>
          </a:ln>
        </p:spPr>
      </p:cxnSp>
      <p:sp>
        <p:nvSpPr>
          <p:cNvPr id="390" name="Google Shape;390;p46"/>
          <p:cNvSpPr/>
          <p:nvPr/>
        </p:nvSpPr>
        <p:spPr>
          <a:xfrm>
            <a:off x="3329000" y="1716873"/>
            <a:ext cx="1305000" cy="637500"/>
          </a:xfrm>
          <a:prstGeom prst="rect">
            <a:avLst/>
          </a:prstGeom>
          <a:solidFill>
            <a:srgbClr val="D5D5F4"/>
          </a:solidFill>
          <a:ln cap="flat" cmpd="sng" w="284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800">
                <a:solidFill>
                  <a:schemeClr val="dk1"/>
                </a:solidFill>
                <a:latin typeface="Calibri"/>
                <a:ea typeface="Calibri"/>
                <a:cs typeface="Calibri"/>
                <a:sym typeface="Calibri"/>
              </a:rPr>
              <a:t>Archiver</a:t>
            </a:r>
            <a:endParaRPr b="1" sz="1800">
              <a:solidFill>
                <a:schemeClr val="dk1"/>
              </a:solidFill>
              <a:latin typeface="Calibri"/>
              <a:ea typeface="Calibri"/>
              <a:cs typeface="Calibri"/>
              <a:sym typeface="Calibri"/>
            </a:endParaRPr>
          </a:p>
          <a:p>
            <a:pPr indent="0" lvl="0" marL="0" marR="0" rtl="0" algn="ctr">
              <a:lnSpc>
                <a:spcPct val="98000"/>
              </a:lnSpc>
              <a:spcBef>
                <a:spcPts val="0"/>
              </a:spcBef>
              <a:spcAft>
                <a:spcPts val="0"/>
              </a:spcAft>
              <a:buNone/>
            </a:pPr>
            <a:r>
              <a:rPr b="1" lang="en" sz="1800">
                <a:solidFill>
                  <a:schemeClr val="dk1"/>
                </a:solidFill>
                <a:latin typeface="Calibri"/>
                <a:ea typeface="Calibri"/>
                <a:cs typeface="Calibri"/>
                <a:sym typeface="Calibri"/>
              </a:rPr>
              <a:t>(</a:t>
            </a:r>
            <a:r>
              <a:rPr b="1" lang="en" sz="1800">
                <a:solidFill>
                  <a:schemeClr val="dk1"/>
                </a:solidFill>
                <a:latin typeface="Courier New"/>
                <a:ea typeface="Courier New"/>
                <a:cs typeface="Courier New"/>
                <a:sym typeface="Courier New"/>
              </a:rPr>
              <a:t>ar</a:t>
            </a:r>
            <a:r>
              <a:rPr b="1" lang="en" sz="1800">
                <a:solidFill>
                  <a:schemeClr val="dk1"/>
                </a:solidFill>
                <a:latin typeface="Calibri"/>
                <a:ea typeface="Calibri"/>
                <a:cs typeface="Calibri"/>
                <a:sym typeface="Calibri"/>
              </a:rPr>
              <a:t>)</a:t>
            </a:r>
            <a:endParaRPr/>
          </a:p>
        </p:txBody>
      </p:sp>
      <p:cxnSp>
        <p:nvCxnSpPr>
          <p:cNvPr id="391" name="Google Shape;391;p46"/>
          <p:cNvCxnSpPr/>
          <p:nvPr/>
        </p:nvCxnSpPr>
        <p:spPr>
          <a:xfrm>
            <a:off x="3981451" y="2345871"/>
            <a:ext cx="1500" cy="308400"/>
          </a:xfrm>
          <a:prstGeom prst="straightConnector1">
            <a:avLst/>
          </a:prstGeom>
          <a:noFill/>
          <a:ln cap="flat" cmpd="sng" w="28425">
            <a:solidFill>
              <a:srgbClr val="000066"/>
            </a:solidFill>
            <a:prstDash val="solid"/>
            <a:miter lim="800000"/>
            <a:headEnd len="med" w="med" type="none"/>
            <a:tailEnd len="med" w="med" type="triangle"/>
          </a:ln>
        </p:spPr>
      </p:cxnSp>
      <p:cxnSp>
        <p:nvCxnSpPr>
          <p:cNvPr id="392" name="Google Shape;392;p46"/>
          <p:cNvCxnSpPr/>
          <p:nvPr/>
        </p:nvCxnSpPr>
        <p:spPr>
          <a:xfrm>
            <a:off x="3429000" y="1406128"/>
            <a:ext cx="1500" cy="308400"/>
          </a:xfrm>
          <a:prstGeom prst="straightConnector1">
            <a:avLst/>
          </a:prstGeom>
          <a:noFill/>
          <a:ln cap="flat" cmpd="sng" w="28425">
            <a:solidFill>
              <a:srgbClr val="000066"/>
            </a:solidFill>
            <a:prstDash val="solid"/>
            <a:miter lim="800000"/>
            <a:headEnd len="med" w="med" type="none"/>
            <a:tailEnd len="med" w="med" type="triangle"/>
          </a:ln>
        </p:spPr>
      </p:cxnSp>
      <p:cxnSp>
        <p:nvCxnSpPr>
          <p:cNvPr id="393" name="Google Shape;393;p46"/>
          <p:cNvCxnSpPr/>
          <p:nvPr/>
        </p:nvCxnSpPr>
        <p:spPr>
          <a:xfrm>
            <a:off x="4572000" y="1406128"/>
            <a:ext cx="1500" cy="308400"/>
          </a:xfrm>
          <a:prstGeom prst="straightConnector1">
            <a:avLst/>
          </a:prstGeom>
          <a:noFill/>
          <a:ln cap="flat" cmpd="sng" w="28425">
            <a:solidFill>
              <a:srgbClr val="000066"/>
            </a:solidFill>
            <a:prstDash val="solid"/>
            <a:miter lim="800000"/>
            <a:headEnd len="med" w="med" type="none"/>
            <a:tailEnd len="med" w="med" type="triangle"/>
          </a:ln>
        </p:spPr>
      </p:cxnSp>
      <p:sp>
        <p:nvSpPr>
          <p:cNvPr id="394" name="Google Shape;394;p46"/>
          <p:cNvSpPr txBox="1"/>
          <p:nvPr/>
        </p:nvSpPr>
        <p:spPr>
          <a:xfrm>
            <a:off x="2601913" y="1153716"/>
            <a:ext cx="1284600" cy="3549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800">
                <a:solidFill>
                  <a:schemeClr val="dk1"/>
                </a:solidFill>
                <a:latin typeface="Courier New"/>
                <a:ea typeface="Courier New"/>
                <a:cs typeface="Courier New"/>
                <a:sym typeface="Courier New"/>
              </a:rPr>
              <a:t>addvec.o</a:t>
            </a:r>
            <a:endParaRPr/>
          </a:p>
        </p:txBody>
      </p:sp>
      <p:sp>
        <p:nvSpPr>
          <p:cNvPr id="395" name="Google Shape;395;p46"/>
          <p:cNvSpPr txBox="1"/>
          <p:nvPr/>
        </p:nvSpPr>
        <p:spPr>
          <a:xfrm>
            <a:off x="3925888" y="1143000"/>
            <a:ext cx="1422600" cy="3549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800">
                <a:solidFill>
                  <a:schemeClr val="dk1"/>
                </a:solidFill>
                <a:latin typeface="Courier New"/>
                <a:ea typeface="Courier New"/>
                <a:cs typeface="Courier New"/>
                <a:sym typeface="Courier New"/>
              </a:rPr>
              <a:t>multvec.o</a:t>
            </a:r>
            <a:endParaRPr/>
          </a:p>
        </p:txBody>
      </p:sp>
      <p:sp>
        <p:nvSpPr>
          <p:cNvPr id="396" name="Google Shape;396;p46"/>
          <p:cNvSpPr txBox="1"/>
          <p:nvPr/>
        </p:nvSpPr>
        <p:spPr>
          <a:xfrm>
            <a:off x="2895600" y="4760534"/>
            <a:ext cx="2175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 sz="1600">
                <a:solidFill>
                  <a:schemeClr val="dk1"/>
                </a:solidFill>
                <a:latin typeface="Calibri"/>
                <a:ea typeface="Calibri"/>
                <a:cs typeface="Calibri"/>
                <a:sym typeface="Calibri"/>
              </a:rPr>
              <a:t>“c” for “compile-time”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7"/>
          <p:cNvSpPr txBox="1"/>
          <p:nvPr>
            <p:ph idx="4294967295" type="title"/>
          </p:nvPr>
        </p:nvSpPr>
        <p:spPr>
          <a:xfrm>
            <a:off x="457200" y="27027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Using Static Libraries</a:t>
            </a:r>
            <a:endParaRPr/>
          </a:p>
        </p:txBody>
      </p:sp>
      <p:sp>
        <p:nvSpPr>
          <p:cNvPr id="403" name="Google Shape;403;p47"/>
          <p:cNvSpPr txBox="1"/>
          <p:nvPr>
            <p:ph idx="1" type="body"/>
          </p:nvPr>
        </p:nvSpPr>
        <p:spPr>
          <a:xfrm>
            <a:off x="311700" y="949975"/>
            <a:ext cx="8520600" cy="2347500"/>
          </a:xfrm>
          <a:prstGeom prst="rect">
            <a:avLst/>
          </a:prstGeom>
          <a:noFill/>
          <a:ln>
            <a:noFill/>
          </a:ln>
        </p:spPr>
        <p:txBody>
          <a:bodyPr anchorCtr="0" anchor="t" bIns="45700" lIns="91425" spcFirstLastPara="1" rIns="91425" wrap="square" tIns="45700">
            <a:normAutofit/>
          </a:bodyPr>
          <a:lstStyle/>
          <a:p>
            <a:pPr indent="-342900" lvl="0" marL="457200" rtl="0" algn="l">
              <a:lnSpc>
                <a:spcPct val="83000"/>
              </a:lnSpc>
              <a:spcBef>
                <a:spcPts val="0"/>
              </a:spcBef>
              <a:spcAft>
                <a:spcPts val="0"/>
              </a:spcAft>
              <a:buSzPts val="1800"/>
              <a:buChar char="●"/>
            </a:pPr>
            <a:r>
              <a:rPr lang="en"/>
              <a:t>Linker’s algorithm for resolving external references:</a:t>
            </a:r>
            <a:endParaRPr/>
          </a:p>
          <a:p>
            <a:pPr indent="-317500" lvl="1" marL="914400" rtl="0" algn="l">
              <a:lnSpc>
                <a:spcPct val="88000"/>
              </a:lnSpc>
              <a:spcBef>
                <a:spcPts val="0"/>
              </a:spcBef>
              <a:spcAft>
                <a:spcPts val="0"/>
              </a:spcAft>
              <a:buSzPts val="1400"/>
              <a:buChar char="○"/>
            </a:pPr>
            <a:r>
              <a:rPr lang="en"/>
              <a:t>Scan </a:t>
            </a:r>
            <a:r>
              <a:rPr lang="en">
                <a:latin typeface="Courier New"/>
                <a:ea typeface="Courier New"/>
                <a:cs typeface="Courier New"/>
                <a:sym typeface="Courier New"/>
              </a:rPr>
              <a:t>.o</a:t>
            </a:r>
            <a:r>
              <a:rPr lang="en"/>
              <a:t> files and </a:t>
            </a:r>
            <a:r>
              <a:rPr lang="en">
                <a:latin typeface="Courier New"/>
                <a:ea typeface="Courier New"/>
                <a:cs typeface="Courier New"/>
                <a:sym typeface="Courier New"/>
              </a:rPr>
              <a:t>.a</a:t>
            </a:r>
            <a:r>
              <a:rPr lang="en"/>
              <a:t> files in the command line order.</a:t>
            </a:r>
            <a:endParaRPr/>
          </a:p>
          <a:p>
            <a:pPr indent="-317500" lvl="1" marL="914400" rtl="0" algn="l">
              <a:lnSpc>
                <a:spcPct val="88000"/>
              </a:lnSpc>
              <a:spcBef>
                <a:spcPts val="0"/>
              </a:spcBef>
              <a:spcAft>
                <a:spcPts val="0"/>
              </a:spcAft>
              <a:buSzPts val="1400"/>
              <a:buChar char="○"/>
            </a:pPr>
            <a:r>
              <a:rPr lang="en"/>
              <a:t>During the scan, keep a list of the current unresolved references.</a:t>
            </a:r>
            <a:endParaRPr/>
          </a:p>
          <a:p>
            <a:pPr indent="-317500" lvl="1" marL="914400" rtl="0" algn="l">
              <a:lnSpc>
                <a:spcPct val="88000"/>
              </a:lnSpc>
              <a:spcBef>
                <a:spcPts val="0"/>
              </a:spcBef>
              <a:spcAft>
                <a:spcPts val="0"/>
              </a:spcAft>
              <a:buSzPts val="1400"/>
              <a:buChar char="○"/>
            </a:pPr>
            <a:r>
              <a:rPr lang="en"/>
              <a:t>As each new </a:t>
            </a:r>
            <a:r>
              <a:rPr lang="en">
                <a:latin typeface="Courier New"/>
                <a:ea typeface="Courier New"/>
                <a:cs typeface="Courier New"/>
                <a:sym typeface="Courier New"/>
              </a:rPr>
              <a:t>.o</a:t>
            </a:r>
            <a:r>
              <a:rPr lang="en"/>
              <a:t> or </a:t>
            </a:r>
            <a:r>
              <a:rPr lang="en">
                <a:latin typeface="Courier New"/>
                <a:ea typeface="Courier New"/>
                <a:cs typeface="Courier New"/>
                <a:sym typeface="Courier New"/>
              </a:rPr>
              <a:t>.a</a:t>
            </a:r>
            <a:r>
              <a:rPr lang="en"/>
              <a:t> file, obj, is encountered</a:t>
            </a:r>
            <a:endParaRPr/>
          </a:p>
          <a:p>
            <a:pPr indent="-317500" lvl="2" marL="1371600" rtl="0" algn="l">
              <a:lnSpc>
                <a:spcPct val="88000"/>
              </a:lnSpc>
              <a:spcBef>
                <a:spcPts val="0"/>
              </a:spcBef>
              <a:spcAft>
                <a:spcPts val="0"/>
              </a:spcAft>
              <a:buSzPts val="1400"/>
              <a:buChar char="■"/>
            </a:pPr>
            <a:r>
              <a:rPr lang="en"/>
              <a:t>try to resolve each unresolved reference in the list against the symbols defined in obj. </a:t>
            </a:r>
            <a:endParaRPr/>
          </a:p>
          <a:p>
            <a:pPr indent="-317500" lvl="1" marL="914400" rtl="0" algn="l">
              <a:lnSpc>
                <a:spcPct val="88000"/>
              </a:lnSpc>
              <a:spcBef>
                <a:spcPts val="0"/>
              </a:spcBef>
              <a:spcAft>
                <a:spcPts val="0"/>
              </a:spcAft>
              <a:buSzPts val="1400"/>
              <a:buChar char="○"/>
            </a:pPr>
            <a:r>
              <a:rPr lang="en"/>
              <a:t>If any entries in the unresolved list at end of scan, then error.</a:t>
            </a:r>
            <a:endParaRPr/>
          </a:p>
          <a:p>
            <a:pPr indent="-342900" lvl="0" marL="457200" rtl="0" algn="l">
              <a:lnSpc>
                <a:spcPct val="83000"/>
              </a:lnSpc>
              <a:spcBef>
                <a:spcPts val="0"/>
              </a:spcBef>
              <a:spcAft>
                <a:spcPts val="0"/>
              </a:spcAft>
              <a:buSzPts val="1800"/>
              <a:buChar char="●"/>
            </a:pPr>
            <a:r>
              <a:rPr lang="en"/>
              <a:t>Problem:</a:t>
            </a:r>
            <a:endParaRPr/>
          </a:p>
          <a:p>
            <a:pPr indent="-317500" lvl="1" marL="914400" rtl="0" algn="l">
              <a:lnSpc>
                <a:spcPct val="88000"/>
              </a:lnSpc>
              <a:spcBef>
                <a:spcPts val="0"/>
              </a:spcBef>
              <a:spcAft>
                <a:spcPts val="0"/>
              </a:spcAft>
              <a:buSzPts val="1400"/>
              <a:buChar char="○"/>
            </a:pPr>
            <a:r>
              <a:rPr lang="en"/>
              <a:t>Command line order matters!</a:t>
            </a:r>
            <a:endParaRPr/>
          </a:p>
          <a:p>
            <a:pPr indent="-317500" lvl="1" marL="914400" rtl="0" algn="l">
              <a:lnSpc>
                <a:spcPct val="88000"/>
              </a:lnSpc>
              <a:spcBef>
                <a:spcPts val="0"/>
              </a:spcBef>
              <a:spcAft>
                <a:spcPts val="0"/>
              </a:spcAft>
              <a:buSzPts val="1400"/>
              <a:buChar char="○"/>
            </a:pPr>
            <a:r>
              <a:rPr lang="en"/>
              <a:t>Moral: put libraries at the end of the command line. </a:t>
            </a:r>
            <a:endParaRPr/>
          </a:p>
        </p:txBody>
      </p:sp>
      <p:sp>
        <p:nvSpPr>
          <p:cNvPr id="404" name="Google Shape;404;p47"/>
          <p:cNvSpPr/>
          <p:nvPr/>
        </p:nvSpPr>
        <p:spPr>
          <a:xfrm>
            <a:off x="1031325" y="3848574"/>
            <a:ext cx="6846900" cy="1064100"/>
          </a:xfrm>
          <a:prstGeom prst="rect">
            <a:avLst/>
          </a:prstGeom>
          <a:solidFill>
            <a:srgbClr val="E6E6E6"/>
          </a:solidFill>
          <a:ln cap="flat" cmpd="sng" w="9525">
            <a:solidFill>
              <a:schemeClr val="dk1"/>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unix&gt; gcc -L. libtest.o -lmine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unix&gt; gcc -L. -lmine libtest.o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libtest.o: In function `main': </a:t>
            </a:r>
            <a:endParaRPr/>
          </a:p>
          <a:p>
            <a:pPr indent="0" lvl="0" marL="0" marR="0" rtl="0" algn="l">
              <a:lnSpc>
                <a:spcPct val="94000"/>
              </a:lnSpc>
              <a:spcBef>
                <a:spcPts val="0"/>
              </a:spcBef>
              <a:spcAft>
                <a:spcPts val="0"/>
              </a:spcAft>
              <a:buNone/>
            </a:pPr>
            <a:r>
              <a:rPr b="1" lang="en" sz="1600">
                <a:solidFill>
                  <a:schemeClr val="dk1"/>
                </a:solidFill>
                <a:latin typeface="Courier New"/>
                <a:ea typeface="Courier New"/>
                <a:cs typeface="Courier New"/>
                <a:sym typeface="Courier New"/>
              </a:rPr>
              <a:t>libtest.o(.text+0x4): undefined reference to `libfun'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8"/>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rgbClr val="000000"/>
              </a:buClr>
              <a:buSzPts val="3500"/>
              <a:buFont typeface="Cambria"/>
              <a:buNone/>
            </a:pPr>
            <a:r>
              <a:rPr lang="en"/>
              <a:t>Dynamic Linking:</a:t>
            </a:r>
            <a:endParaRPr/>
          </a:p>
        </p:txBody>
      </p:sp>
      <p:sp>
        <p:nvSpPr>
          <p:cNvPr id="410" name="Google Shape;410;p48"/>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a:bodyPr>
          <a:lstStyle/>
          <a:p>
            <a:pPr indent="-279400" lvl="0" marL="342900" rtl="0" algn="l">
              <a:spcBef>
                <a:spcPts val="400"/>
              </a:spcBef>
              <a:spcAft>
                <a:spcPts val="0"/>
              </a:spcAft>
              <a:buSzPts val="1800"/>
              <a:buChar char="●"/>
            </a:pPr>
            <a:r>
              <a:rPr lang="en"/>
              <a:t>Since almost every program uses printf, isn’t it wasteful to include that object file in every ELF?</a:t>
            </a:r>
            <a:endParaRPr/>
          </a:p>
          <a:p>
            <a:pPr indent="-254000" lvl="1" marL="685800" rtl="0" algn="l">
              <a:spcBef>
                <a:spcPts val="0"/>
              </a:spcBef>
              <a:spcAft>
                <a:spcPts val="0"/>
              </a:spcAft>
              <a:buSzPts val="1400"/>
              <a:buChar char="○"/>
            </a:pPr>
            <a:r>
              <a:rPr lang="en"/>
              <a:t>Yes, “Shared Libraries” allow for a process called “Dynamic linking”. </a:t>
            </a:r>
            <a:endParaRPr/>
          </a:p>
          <a:p>
            <a:pPr indent="-254000" lvl="1" marL="685800" rtl="0" algn="l">
              <a:spcBef>
                <a:spcPts val="0"/>
              </a:spcBef>
              <a:spcAft>
                <a:spcPts val="0"/>
              </a:spcAft>
              <a:buSzPts val="1400"/>
              <a:buChar char="○"/>
            </a:pPr>
            <a:r>
              <a:rPr lang="en"/>
              <a:t>This process uses a different kind of object called a shared object (*.so) </a:t>
            </a:r>
            <a:endParaRPr/>
          </a:p>
          <a:p>
            <a:pPr indent="-254000" lvl="2" marL="1028700" rtl="0" algn="l">
              <a:spcBef>
                <a:spcPts val="0"/>
              </a:spcBef>
              <a:spcAft>
                <a:spcPts val="0"/>
              </a:spcAft>
              <a:buSzPts val="1400"/>
              <a:buChar char="■"/>
            </a:pPr>
            <a:r>
              <a:rPr lang="en"/>
              <a:t>Windows uses this feature a lot with their Dynamically Linked Libraries (DLLs)</a:t>
            </a:r>
            <a:endParaRPr/>
          </a:p>
        </p:txBody>
      </p:sp>
      <p:pic>
        <p:nvPicPr>
          <p:cNvPr descr="static and dynamic linking together" id="411" name="Google Shape;411;p48"/>
          <p:cNvPicPr preferRelativeResize="0"/>
          <p:nvPr/>
        </p:nvPicPr>
        <p:blipFill>
          <a:blip r:embed="rId3">
            <a:alphaModFix/>
          </a:blip>
          <a:stretch>
            <a:fillRect/>
          </a:stretch>
        </p:blipFill>
        <p:spPr>
          <a:xfrm>
            <a:off x="6025669" y="2624880"/>
            <a:ext cx="2728985" cy="21532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9"/>
          <p:cNvSpPr txBox="1"/>
          <p:nvPr>
            <p:ph idx="4294967295" type="title"/>
          </p:nvPr>
        </p:nvSpPr>
        <p:spPr>
          <a:xfrm>
            <a:off x="350838" y="285750"/>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Modern Solution: Shared Libraries</a:t>
            </a:r>
            <a:endParaRPr/>
          </a:p>
        </p:txBody>
      </p:sp>
      <p:sp>
        <p:nvSpPr>
          <p:cNvPr id="418" name="Google Shape;418;p49"/>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
              <a:t>Static libraries have the following disadvantages:</a:t>
            </a:r>
            <a:endParaRPr/>
          </a:p>
          <a:p>
            <a:pPr indent="-317500" lvl="1" marL="914400" rtl="0" algn="l">
              <a:spcBef>
                <a:spcPts val="0"/>
              </a:spcBef>
              <a:spcAft>
                <a:spcPts val="0"/>
              </a:spcAft>
              <a:buSzPts val="1400"/>
              <a:buChar char="○"/>
            </a:pPr>
            <a:r>
              <a:rPr lang="en"/>
              <a:t>Duplication in the stored executables (every function needs libc)</a:t>
            </a:r>
            <a:endParaRPr/>
          </a:p>
          <a:p>
            <a:pPr indent="-317500" lvl="1" marL="914400" rtl="0" algn="l">
              <a:spcBef>
                <a:spcPts val="0"/>
              </a:spcBef>
              <a:spcAft>
                <a:spcPts val="0"/>
              </a:spcAft>
              <a:buSzPts val="1400"/>
              <a:buChar char="○"/>
            </a:pPr>
            <a:r>
              <a:rPr lang="en"/>
              <a:t>Duplication in the running executables</a:t>
            </a:r>
            <a:endParaRPr/>
          </a:p>
          <a:p>
            <a:pPr indent="-317500" lvl="1" marL="914400" rtl="0" algn="l">
              <a:spcBef>
                <a:spcPts val="0"/>
              </a:spcBef>
              <a:spcAft>
                <a:spcPts val="0"/>
              </a:spcAft>
              <a:buSzPts val="1400"/>
              <a:buChar char="○"/>
            </a:pPr>
            <a:r>
              <a:rPr lang="en"/>
              <a:t>Minor bug fixes of system libraries require each application to explicitly relink</a:t>
            </a:r>
            <a:endParaRPr>
              <a:solidFill>
                <a:srgbClr val="000004"/>
              </a:solidFill>
            </a:endParaRPr>
          </a:p>
          <a:p>
            <a:pPr indent="-342900" lvl="0" marL="457200" rtl="0" algn="l">
              <a:spcBef>
                <a:spcPts val="0"/>
              </a:spcBef>
              <a:spcAft>
                <a:spcPts val="0"/>
              </a:spcAft>
              <a:buClr>
                <a:srgbClr val="000004"/>
              </a:buClr>
              <a:buSzPts val="1800"/>
              <a:buChar char="●"/>
            </a:pPr>
            <a:r>
              <a:rPr lang="en">
                <a:solidFill>
                  <a:srgbClr val="000004"/>
                </a:solidFill>
              </a:rPr>
              <a:t>Modern solution: Shared Libraries </a:t>
            </a:r>
            <a:endParaRPr/>
          </a:p>
          <a:p>
            <a:pPr indent="-317500" lvl="1" marL="914400" rtl="0" algn="l">
              <a:spcBef>
                <a:spcPts val="0"/>
              </a:spcBef>
              <a:spcAft>
                <a:spcPts val="0"/>
              </a:spcAft>
              <a:buSzPts val="1400"/>
              <a:buChar char="○"/>
            </a:pPr>
            <a:r>
              <a:rPr lang="en"/>
              <a:t>Object files that contain code and data are</a:t>
            </a:r>
            <a:endParaRPr/>
          </a:p>
          <a:p>
            <a:pPr indent="-317500" lvl="2" marL="1371600" rtl="0" algn="l">
              <a:spcBef>
                <a:spcPts val="0"/>
              </a:spcBef>
              <a:spcAft>
                <a:spcPts val="0"/>
              </a:spcAft>
              <a:buSzPts val="1400"/>
              <a:buChar char="■"/>
            </a:pPr>
            <a:r>
              <a:rPr lang="en"/>
              <a:t>loaded and linked into an application dynamically, at either load-time or run-time</a:t>
            </a:r>
            <a:endParaRPr/>
          </a:p>
          <a:p>
            <a:pPr indent="-317500" lvl="1" marL="914400" rtl="0" algn="l">
              <a:spcBef>
                <a:spcPts val="0"/>
              </a:spcBef>
              <a:spcAft>
                <a:spcPts val="0"/>
              </a:spcAft>
              <a:buSzPts val="1400"/>
              <a:buChar char="○"/>
            </a:pPr>
            <a:r>
              <a:rPr lang="en"/>
              <a:t>Also called: dynamic link libraries, DLLs, </a:t>
            </a:r>
            <a:r>
              <a:rPr lang="en">
                <a:latin typeface="Courier New"/>
                <a:ea typeface="Courier New"/>
                <a:cs typeface="Courier New"/>
                <a:sym typeface="Courier New"/>
              </a:rPr>
              <a:t>.so </a:t>
            </a:r>
            <a:r>
              <a:rPr lang="en"/>
              <a:t>files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0"/>
          <p:cNvSpPr txBox="1"/>
          <p:nvPr>
            <p:ph idx="4294967295" type="title"/>
          </p:nvPr>
        </p:nvSpPr>
        <p:spPr>
          <a:xfrm>
            <a:off x="404813" y="32742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Shared Libraries (cont.)</a:t>
            </a:r>
            <a:endParaRPr/>
          </a:p>
        </p:txBody>
      </p:sp>
      <p:sp>
        <p:nvSpPr>
          <p:cNvPr id="425" name="Google Shape;425;p50"/>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
              <a:t>Dynamic linking can occur when executable is loaded and run </a:t>
            </a:r>
            <a:endParaRPr/>
          </a:p>
          <a:p>
            <a:pPr indent="-317500" lvl="1" marL="914400" rtl="0" algn="l">
              <a:spcBef>
                <a:spcPts val="0"/>
              </a:spcBef>
              <a:spcAft>
                <a:spcPts val="0"/>
              </a:spcAft>
              <a:buSzPts val="1400"/>
              <a:buChar char="○"/>
            </a:pPr>
            <a:r>
              <a:rPr lang="en"/>
              <a:t>load-time linking</a:t>
            </a:r>
            <a:endParaRPr/>
          </a:p>
          <a:p>
            <a:pPr indent="-317500" lvl="1" marL="914400" rtl="0" algn="l">
              <a:spcBef>
                <a:spcPts val="0"/>
              </a:spcBef>
              <a:spcAft>
                <a:spcPts val="0"/>
              </a:spcAft>
              <a:buSzPts val="1400"/>
              <a:buChar char="○"/>
            </a:pPr>
            <a:r>
              <a:rPr lang="en"/>
              <a:t>Common case for Linux, handled automatically by the dynamic linker (</a:t>
            </a:r>
            <a:r>
              <a:rPr lang="en">
                <a:latin typeface="Courier New"/>
                <a:ea typeface="Courier New"/>
                <a:cs typeface="Courier New"/>
                <a:sym typeface="Courier New"/>
              </a:rPr>
              <a:t>ld-linux.so)</a:t>
            </a:r>
            <a:r>
              <a:rPr lang="en"/>
              <a:t>.</a:t>
            </a:r>
            <a:endParaRPr/>
          </a:p>
          <a:p>
            <a:pPr indent="-317500" lvl="1" marL="914400" rtl="0" algn="l">
              <a:spcBef>
                <a:spcPts val="0"/>
              </a:spcBef>
              <a:spcAft>
                <a:spcPts val="0"/>
              </a:spcAft>
              <a:buSzPts val="1400"/>
              <a:buChar char="○"/>
            </a:pPr>
            <a:r>
              <a:rPr lang="en"/>
              <a:t>Standard C library (</a:t>
            </a:r>
            <a:r>
              <a:rPr lang="en">
                <a:latin typeface="Courier New"/>
                <a:ea typeface="Courier New"/>
                <a:cs typeface="Courier New"/>
                <a:sym typeface="Courier New"/>
              </a:rPr>
              <a:t>libc.so</a:t>
            </a:r>
            <a:r>
              <a:rPr lang="en"/>
              <a:t>) usually dynamically linked. </a:t>
            </a:r>
            <a:endParaRPr/>
          </a:p>
          <a:p>
            <a:pPr indent="-342900" lvl="0" marL="457200" rtl="0" algn="l">
              <a:spcBef>
                <a:spcPts val="0"/>
              </a:spcBef>
              <a:spcAft>
                <a:spcPts val="0"/>
              </a:spcAft>
              <a:buSzPts val="1800"/>
              <a:buChar char="●"/>
            </a:pPr>
            <a:r>
              <a:rPr lang="en"/>
              <a:t>Dynamic linking can occur after program has begun (run-time linking).</a:t>
            </a:r>
            <a:endParaRPr/>
          </a:p>
          <a:p>
            <a:pPr indent="-317500" lvl="1" marL="914400" rtl="0" algn="l">
              <a:spcBef>
                <a:spcPts val="0"/>
              </a:spcBef>
              <a:spcAft>
                <a:spcPts val="0"/>
              </a:spcAft>
              <a:buSzPts val="1400"/>
              <a:buChar char="○"/>
            </a:pPr>
            <a:r>
              <a:rPr lang="en"/>
              <a:t>In Linux, this is done by calls to the </a:t>
            </a:r>
            <a:r>
              <a:rPr lang="en">
                <a:latin typeface="Courier New"/>
                <a:ea typeface="Courier New"/>
                <a:cs typeface="Courier New"/>
                <a:sym typeface="Courier New"/>
              </a:rPr>
              <a:t>dlopen() </a:t>
            </a:r>
            <a:r>
              <a:rPr lang="en"/>
              <a:t>interface</a:t>
            </a:r>
            <a:r>
              <a:rPr lang="en">
                <a:latin typeface="Courier New"/>
                <a:ea typeface="Courier New"/>
                <a:cs typeface="Courier New"/>
                <a:sym typeface="Courier New"/>
              </a:rPr>
              <a:t>.</a:t>
            </a:r>
            <a:endParaRPr>
              <a:latin typeface="Courier New"/>
              <a:ea typeface="Courier New"/>
              <a:cs typeface="Courier New"/>
              <a:sym typeface="Courier New"/>
            </a:endParaRPr>
          </a:p>
          <a:p>
            <a:pPr indent="-317500" lvl="2" marL="1371600" rtl="0" algn="l">
              <a:spcBef>
                <a:spcPts val="0"/>
              </a:spcBef>
              <a:spcAft>
                <a:spcPts val="0"/>
              </a:spcAft>
              <a:buSzPts val="1400"/>
              <a:buChar char="■"/>
            </a:pPr>
            <a:r>
              <a:rPr lang="en"/>
              <a:t>Distributing software.</a:t>
            </a:r>
            <a:endParaRPr/>
          </a:p>
          <a:p>
            <a:pPr indent="-317500" lvl="2" marL="1371600" rtl="0" algn="l">
              <a:spcBef>
                <a:spcPts val="0"/>
              </a:spcBef>
              <a:spcAft>
                <a:spcPts val="0"/>
              </a:spcAft>
              <a:buSzPts val="1400"/>
              <a:buChar char="■"/>
            </a:pPr>
            <a:r>
              <a:rPr lang="en"/>
              <a:t>High-performance web servers. </a:t>
            </a:r>
            <a:endParaRPr/>
          </a:p>
          <a:p>
            <a:pPr indent="-317500" lvl="2" marL="1371600" rtl="0" algn="l">
              <a:spcBef>
                <a:spcPts val="0"/>
              </a:spcBef>
              <a:spcAft>
                <a:spcPts val="0"/>
              </a:spcAft>
              <a:buSzPts val="1400"/>
              <a:buChar char="■"/>
            </a:pPr>
            <a:r>
              <a:rPr lang="en"/>
              <a:t>Runtime library interpositioning.</a:t>
            </a:r>
            <a:endParaRPr/>
          </a:p>
          <a:p>
            <a:pPr indent="-342900" lvl="0" marL="457200" rtl="0" algn="l">
              <a:spcBef>
                <a:spcPts val="0"/>
              </a:spcBef>
              <a:spcAft>
                <a:spcPts val="0"/>
              </a:spcAft>
              <a:buSzPts val="1800"/>
              <a:buChar char="●"/>
            </a:pPr>
            <a:r>
              <a:rPr lang="en"/>
              <a:t>Shared library routines can be shared by multiple processes.</a:t>
            </a:r>
            <a:endParaRPr/>
          </a:p>
          <a:p>
            <a:pPr indent="-317500" lvl="1" marL="914400" rtl="0" algn="l">
              <a:spcBef>
                <a:spcPts val="0"/>
              </a:spcBef>
              <a:spcAft>
                <a:spcPts val="0"/>
              </a:spcAft>
              <a:buSzPts val="1400"/>
              <a:buChar char="○"/>
            </a:pPr>
            <a:r>
              <a:rPr lang="en"/>
              <a:t>More on this when we learn about virtual memory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1"/>
          <p:cNvSpPr txBox="1"/>
          <p:nvPr>
            <p:ph idx="4294967295" type="title"/>
          </p:nvPr>
        </p:nvSpPr>
        <p:spPr>
          <a:xfrm>
            <a:off x="350838" y="214313"/>
            <a:ext cx="8717100" cy="5859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Dynamic Linking at Load-time</a:t>
            </a:r>
            <a:endParaRPr/>
          </a:p>
        </p:txBody>
      </p:sp>
      <p:cxnSp>
        <p:nvCxnSpPr>
          <p:cNvPr id="432" name="Google Shape;432;p51"/>
          <p:cNvCxnSpPr/>
          <p:nvPr/>
        </p:nvCxnSpPr>
        <p:spPr>
          <a:xfrm>
            <a:off x="2620963" y="935625"/>
            <a:ext cx="1500" cy="285900"/>
          </a:xfrm>
          <a:prstGeom prst="straightConnector1">
            <a:avLst/>
          </a:prstGeom>
          <a:noFill/>
          <a:ln cap="flat" cmpd="sng" w="9525">
            <a:solidFill>
              <a:srgbClr val="000066"/>
            </a:solidFill>
            <a:prstDash val="solid"/>
            <a:miter lim="800000"/>
            <a:headEnd len="med" w="med" type="none"/>
            <a:tailEnd len="med" w="med" type="triangle"/>
          </a:ln>
        </p:spPr>
      </p:cxnSp>
      <p:sp>
        <p:nvSpPr>
          <p:cNvPr id="433" name="Google Shape;433;p51"/>
          <p:cNvSpPr/>
          <p:nvPr/>
        </p:nvSpPr>
        <p:spPr>
          <a:xfrm>
            <a:off x="2454275" y="1242798"/>
            <a:ext cx="1676400" cy="585900"/>
          </a:xfrm>
          <a:prstGeom prst="rect">
            <a:avLst/>
          </a:prstGeom>
          <a:solidFill>
            <a:srgbClr val="D5D5F4"/>
          </a:solidFill>
          <a:ln cap="flat" cmpd="sng" w="95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Translators </a:t>
            </a:r>
            <a:endParaRPr b="1" sz="1600">
              <a:solidFill>
                <a:schemeClr val="dk1"/>
              </a:solidFill>
              <a:latin typeface="Calibri"/>
              <a:ea typeface="Calibri"/>
              <a:cs typeface="Calibri"/>
              <a:sym typeface="Calibri"/>
            </a:endParaRPr>
          </a:p>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a:t>
            </a:r>
            <a:r>
              <a:rPr b="1" lang="en" sz="1600">
                <a:solidFill>
                  <a:schemeClr val="dk1"/>
                </a:solidFill>
                <a:latin typeface="Courier New"/>
                <a:ea typeface="Courier New"/>
                <a:cs typeface="Courier New"/>
                <a:sym typeface="Courier New"/>
              </a:rPr>
              <a:t>cpp</a:t>
            </a:r>
            <a:r>
              <a:rPr b="1" lang="en" sz="1600">
                <a:solidFill>
                  <a:schemeClr val="dk1"/>
                </a:solidFill>
                <a:latin typeface="Calibri"/>
                <a:ea typeface="Calibri"/>
                <a:cs typeface="Calibri"/>
                <a:sym typeface="Calibri"/>
              </a:rPr>
              <a:t>, </a:t>
            </a:r>
            <a:r>
              <a:rPr b="1" lang="en" sz="1600">
                <a:solidFill>
                  <a:schemeClr val="dk1"/>
                </a:solidFill>
                <a:latin typeface="Courier New"/>
                <a:ea typeface="Courier New"/>
                <a:cs typeface="Courier New"/>
                <a:sym typeface="Courier New"/>
              </a:rPr>
              <a:t>cc1</a:t>
            </a:r>
            <a:r>
              <a:rPr b="1" lang="en" sz="1600">
                <a:solidFill>
                  <a:schemeClr val="dk1"/>
                </a:solidFill>
                <a:latin typeface="Calibri"/>
                <a:ea typeface="Calibri"/>
                <a:cs typeface="Calibri"/>
                <a:sym typeface="Calibri"/>
              </a:rPr>
              <a:t>, </a:t>
            </a:r>
            <a:r>
              <a:rPr b="1" lang="en" sz="1600">
                <a:solidFill>
                  <a:schemeClr val="dk1"/>
                </a:solidFill>
                <a:latin typeface="Courier New"/>
                <a:ea typeface="Courier New"/>
                <a:cs typeface="Courier New"/>
                <a:sym typeface="Courier New"/>
              </a:rPr>
              <a:t>as</a:t>
            </a:r>
            <a:r>
              <a:rPr b="1" lang="en" sz="1600">
                <a:solidFill>
                  <a:schemeClr val="dk1"/>
                </a:solidFill>
                <a:latin typeface="Calibri"/>
                <a:ea typeface="Calibri"/>
                <a:cs typeface="Calibri"/>
                <a:sym typeface="Calibri"/>
              </a:rPr>
              <a:t>)</a:t>
            </a:r>
            <a:endParaRPr/>
          </a:p>
        </p:txBody>
      </p:sp>
      <p:sp>
        <p:nvSpPr>
          <p:cNvPr id="434" name="Google Shape;434;p51"/>
          <p:cNvSpPr txBox="1"/>
          <p:nvPr/>
        </p:nvSpPr>
        <p:spPr>
          <a:xfrm>
            <a:off x="2081213" y="676795"/>
            <a:ext cx="1045800" cy="3261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main2.c</a:t>
            </a:r>
            <a:endParaRPr/>
          </a:p>
        </p:txBody>
      </p:sp>
      <p:sp>
        <p:nvSpPr>
          <p:cNvPr id="435" name="Google Shape;435;p51"/>
          <p:cNvSpPr txBox="1"/>
          <p:nvPr/>
        </p:nvSpPr>
        <p:spPr>
          <a:xfrm>
            <a:off x="2757488" y="1926225"/>
            <a:ext cx="1045800" cy="3261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main2.o</a:t>
            </a:r>
            <a:endParaRPr/>
          </a:p>
        </p:txBody>
      </p:sp>
      <p:cxnSp>
        <p:nvCxnSpPr>
          <p:cNvPr id="436" name="Google Shape;436;p51"/>
          <p:cNvCxnSpPr>
            <a:stCxn id="433" idx="2"/>
          </p:cNvCxnSpPr>
          <p:nvPr/>
        </p:nvCxnSpPr>
        <p:spPr>
          <a:xfrm>
            <a:off x="3292475" y="1828698"/>
            <a:ext cx="1500" cy="183300"/>
          </a:xfrm>
          <a:prstGeom prst="straightConnector1">
            <a:avLst/>
          </a:prstGeom>
          <a:noFill/>
          <a:ln cap="flat" cmpd="sng" w="9525">
            <a:solidFill>
              <a:srgbClr val="000066"/>
            </a:solidFill>
            <a:prstDash val="solid"/>
            <a:miter lim="800000"/>
            <a:headEnd len="med" w="med" type="none"/>
            <a:tailEnd len="med" w="med" type="triangle"/>
          </a:ln>
        </p:spPr>
      </p:cxnSp>
      <p:sp>
        <p:nvSpPr>
          <p:cNvPr id="437" name="Google Shape;437;p51"/>
          <p:cNvSpPr txBox="1"/>
          <p:nvPr/>
        </p:nvSpPr>
        <p:spPr>
          <a:xfrm>
            <a:off x="4359275" y="1461881"/>
            <a:ext cx="1662900" cy="5574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libc.so</a:t>
            </a:r>
            <a:endParaRPr/>
          </a:p>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libvector.so</a:t>
            </a:r>
            <a:endParaRPr/>
          </a:p>
        </p:txBody>
      </p:sp>
      <p:sp>
        <p:nvSpPr>
          <p:cNvPr id="438" name="Google Shape;438;p51"/>
          <p:cNvSpPr/>
          <p:nvPr/>
        </p:nvSpPr>
        <p:spPr>
          <a:xfrm>
            <a:off x="2454275" y="2419144"/>
            <a:ext cx="3029100" cy="256200"/>
          </a:xfrm>
          <a:prstGeom prst="rect">
            <a:avLst/>
          </a:prstGeom>
          <a:solidFill>
            <a:srgbClr val="D5D5F4"/>
          </a:solidFill>
          <a:ln cap="flat" cmpd="sng" w="95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Linker (</a:t>
            </a:r>
            <a:r>
              <a:rPr b="1" lang="en" sz="1600">
                <a:solidFill>
                  <a:schemeClr val="dk1"/>
                </a:solidFill>
                <a:latin typeface="Courier New"/>
                <a:ea typeface="Courier New"/>
                <a:cs typeface="Courier New"/>
                <a:sym typeface="Courier New"/>
              </a:rPr>
              <a:t>ld</a:t>
            </a:r>
            <a:r>
              <a:rPr b="1" lang="en" sz="1600">
                <a:solidFill>
                  <a:schemeClr val="dk1"/>
                </a:solidFill>
                <a:latin typeface="Calibri"/>
                <a:ea typeface="Calibri"/>
                <a:cs typeface="Calibri"/>
                <a:sym typeface="Calibri"/>
              </a:rPr>
              <a:t>)</a:t>
            </a:r>
            <a:endParaRPr/>
          </a:p>
        </p:txBody>
      </p:sp>
      <p:sp>
        <p:nvSpPr>
          <p:cNvPr id="439" name="Google Shape;439;p51"/>
          <p:cNvSpPr txBox="1"/>
          <p:nvPr/>
        </p:nvSpPr>
        <p:spPr>
          <a:xfrm>
            <a:off x="2802477" y="2947191"/>
            <a:ext cx="920400" cy="3261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prog2l</a:t>
            </a:r>
            <a:endParaRPr b="1" sz="1600">
              <a:solidFill>
                <a:schemeClr val="dk1"/>
              </a:solidFill>
              <a:latin typeface="Courier New"/>
              <a:ea typeface="Courier New"/>
              <a:cs typeface="Courier New"/>
              <a:sym typeface="Courier New"/>
            </a:endParaRPr>
          </a:p>
        </p:txBody>
      </p:sp>
      <p:cxnSp>
        <p:nvCxnSpPr>
          <p:cNvPr id="440" name="Google Shape;440;p51"/>
          <p:cNvCxnSpPr/>
          <p:nvPr/>
        </p:nvCxnSpPr>
        <p:spPr>
          <a:xfrm>
            <a:off x="3292475" y="2707275"/>
            <a:ext cx="1500" cy="285900"/>
          </a:xfrm>
          <a:prstGeom prst="straightConnector1">
            <a:avLst/>
          </a:prstGeom>
          <a:noFill/>
          <a:ln cap="flat" cmpd="sng" w="9525">
            <a:solidFill>
              <a:srgbClr val="000066"/>
            </a:solidFill>
            <a:prstDash val="solid"/>
            <a:miter lim="800000"/>
            <a:headEnd len="med" w="med" type="none"/>
            <a:tailEnd len="med" w="med" type="triangle"/>
          </a:ln>
        </p:spPr>
      </p:cxnSp>
      <p:cxnSp>
        <p:nvCxnSpPr>
          <p:cNvPr id="441" name="Google Shape;441;p51"/>
          <p:cNvCxnSpPr/>
          <p:nvPr/>
        </p:nvCxnSpPr>
        <p:spPr>
          <a:xfrm>
            <a:off x="3292475" y="3221625"/>
            <a:ext cx="1500" cy="342900"/>
          </a:xfrm>
          <a:prstGeom prst="straightConnector1">
            <a:avLst/>
          </a:prstGeom>
          <a:noFill/>
          <a:ln cap="flat" cmpd="sng" w="9525">
            <a:solidFill>
              <a:srgbClr val="000066"/>
            </a:solidFill>
            <a:prstDash val="solid"/>
            <a:miter lim="800000"/>
            <a:headEnd len="med" w="med" type="none"/>
            <a:tailEnd len="med" w="med" type="triangle"/>
          </a:ln>
        </p:spPr>
      </p:cxnSp>
      <p:sp>
        <p:nvSpPr>
          <p:cNvPr id="442" name="Google Shape;442;p51"/>
          <p:cNvSpPr/>
          <p:nvPr/>
        </p:nvSpPr>
        <p:spPr>
          <a:xfrm>
            <a:off x="2454275" y="4593225"/>
            <a:ext cx="3200400" cy="256200"/>
          </a:xfrm>
          <a:prstGeom prst="rect">
            <a:avLst/>
          </a:prstGeom>
          <a:solidFill>
            <a:srgbClr val="D5D5F4"/>
          </a:solidFill>
          <a:ln cap="flat" cmpd="sng" w="95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Dynamic linker (</a:t>
            </a:r>
            <a:r>
              <a:rPr b="1" lang="en" sz="1600">
                <a:solidFill>
                  <a:schemeClr val="dk1"/>
                </a:solidFill>
                <a:latin typeface="Courier New"/>
                <a:ea typeface="Courier New"/>
                <a:cs typeface="Courier New"/>
                <a:sym typeface="Courier New"/>
              </a:rPr>
              <a:t>ld-linux.so</a:t>
            </a:r>
            <a:r>
              <a:rPr b="1" lang="en" sz="1600">
                <a:solidFill>
                  <a:schemeClr val="dk1"/>
                </a:solidFill>
                <a:latin typeface="Calibri"/>
                <a:ea typeface="Calibri"/>
                <a:cs typeface="Calibri"/>
                <a:sym typeface="Calibri"/>
              </a:rPr>
              <a:t>)</a:t>
            </a:r>
            <a:endParaRPr/>
          </a:p>
        </p:txBody>
      </p:sp>
      <p:cxnSp>
        <p:nvCxnSpPr>
          <p:cNvPr id="443" name="Google Shape;443;p51"/>
          <p:cNvCxnSpPr>
            <a:stCxn id="444" idx="2"/>
          </p:cNvCxnSpPr>
          <p:nvPr/>
        </p:nvCxnSpPr>
        <p:spPr>
          <a:xfrm>
            <a:off x="3283025" y="4119552"/>
            <a:ext cx="11100" cy="473700"/>
          </a:xfrm>
          <a:prstGeom prst="straightConnector1">
            <a:avLst/>
          </a:prstGeom>
          <a:noFill/>
          <a:ln cap="flat" cmpd="sng" w="9525">
            <a:solidFill>
              <a:srgbClr val="000066"/>
            </a:solidFill>
            <a:prstDash val="solid"/>
            <a:miter lim="800000"/>
            <a:headEnd len="med" w="med" type="none"/>
            <a:tailEnd len="med" w="med" type="triangle"/>
          </a:ln>
        </p:spPr>
      </p:cxnSp>
      <p:cxnSp>
        <p:nvCxnSpPr>
          <p:cNvPr id="445" name="Google Shape;445;p51"/>
          <p:cNvCxnSpPr/>
          <p:nvPr/>
        </p:nvCxnSpPr>
        <p:spPr>
          <a:xfrm>
            <a:off x="3292475" y="2135775"/>
            <a:ext cx="1500" cy="285900"/>
          </a:xfrm>
          <a:prstGeom prst="straightConnector1">
            <a:avLst/>
          </a:prstGeom>
          <a:noFill/>
          <a:ln cap="flat" cmpd="sng" w="9525">
            <a:solidFill>
              <a:srgbClr val="000066"/>
            </a:solidFill>
            <a:prstDash val="solid"/>
            <a:miter lim="800000"/>
            <a:headEnd len="med" w="med" type="none"/>
            <a:tailEnd len="med" w="med" type="triangle"/>
          </a:ln>
        </p:spPr>
      </p:cxnSp>
      <p:sp>
        <p:nvSpPr>
          <p:cNvPr id="446" name="Google Shape;446;p51"/>
          <p:cNvSpPr txBox="1"/>
          <p:nvPr/>
        </p:nvSpPr>
        <p:spPr>
          <a:xfrm>
            <a:off x="5254625" y="1907175"/>
            <a:ext cx="2610000" cy="5772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i="1" lang="en" sz="1600">
                <a:solidFill>
                  <a:srgbClr val="7F7F7F"/>
                </a:solidFill>
                <a:latin typeface="Calibri"/>
                <a:ea typeface="Calibri"/>
                <a:cs typeface="Calibri"/>
                <a:sym typeface="Calibri"/>
              </a:rPr>
              <a:t>Relocation and symbol  table info</a:t>
            </a:r>
            <a:endParaRPr/>
          </a:p>
        </p:txBody>
      </p:sp>
      <p:cxnSp>
        <p:nvCxnSpPr>
          <p:cNvPr id="447" name="Google Shape;447;p51"/>
          <p:cNvCxnSpPr/>
          <p:nvPr/>
        </p:nvCxnSpPr>
        <p:spPr>
          <a:xfrm>
            <a:off x="5163850" y="2015325"/>
            <a:ext cx="17700" cy="406500"/>
          </a:xfrm>
          <a:prstGeom prst="straightConnector1">
            <a:avLst/>
          </a:prstGeom>
          <a:noFill/>
          <a:ln cap="flat" cmpd="sng" w="9525">
            <a:solidFill>
              <a:srgbClr val="000066"/>
            </a:solidFill>
            <a:prstDash val="solid"/>
            <a:miter lim="800000"/>
            <a:headEnd len="med" w="med" type="none"/>
            <a:tailEnd len="med" w="med" type="triangle"/>
          </a:ln>
        </p:spPr>
      </p:cxnSp>
      <p:sp>
        <p:nvSpPr>
          <p:cNvPr id="448" name="Google Shape;448;p51"/>
          <p:cNvSpPr txBox="1"/>
          <p:nvPr/>
        </p:nvSpPr>
        <p:spPr>
          <a:xfrm>
            <a:off x="4352925" y="3579296"/>
            <a:ext cx="1662900" cy="5574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libc.so</a:t>
            </a:r>
            <a:endParaRPr/>
          </a:p>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libvector.so</a:t>
            </a:r>
            <a:endParaRPr/>
          </a:p>
        </p:txBody>
      </p:sp>
      <p:sp>
        <p:nvSpPr>
          <p:cNvPr id="449" name="Google Shape;449;p51"/>
          <p:cNvSpPr txBox="1"/>
          <p:nvPr/>
        </p:nvSpPr>
        <p:spPr>
          <a:xfrm>
            <a:off x="5254625" y="4169363"/>
            <a:ext cx="1771800" cy="336000"/>
          </a:xfrm>
          <a:prstGeom prst="rect">
            <a:avLst/>
          </a:prstGeom>
          <a:noFill/>
          <a:ln>
            <a:noFill/>
          </a:ln>
        </p:spPr>
        <p:txBody>
          <a:bodyPr anchorCtr="0" anchor="t" bIns="46800" lIns="90000" spcFirstLastPara="1" rIns="90000" wrap="square" tIns="46800">
            <a:spAutoFit/>
          </a:bodyPr>
          <a:lstStyle/>
          <a:p>
            <a:pPr indent="0" lvl="0" marL="0" marR="0" rtl="0" algn="l">
              <a:lnSpc>
                <a:spcPct val="98000"/>
              </a:lnSpc>
              <a:spcBef>
                <a:spcPts val="0"/>
              </a:spcBef>
              <a:spcAft>
                <a:spcPts val="0"/>
              </a:spcAft>
              <a:buNone/>
            </a:pPr>
            <a:r>
              <a:rPr b="1" i="1" lang="en" sz="1600">
                <a:solidFill>
                  <a:srgbClr val="7F7F7F"/>
                </a:solidFill>
                <a:latin typeface="Calibri"/>
                <a:ea typeface="Calibri"/>
                <a:cs typeface="Calibri"/>
                <a:sym typeface="Calibri"/>
              </a:rPr>
              <a:t>Code and data</a:t>
            </a:r>
            <a:endParaRPr/>
          </a:p>
        </p:txBody>
      </p:sp>
      <p:cxnSp>
        <p:nvCxnSpPr>
          <p:cNvPr id="450" name="Google Shape;450;p51"/>
          <p:cNvCxnSpPr/>
          <p:nvPr/>
        </p:nvCxnSpPr>
        <p:spPr>
          <a:xfrm>
            <a:off x="5173663" y="4078875"/>
            <a:ext cx="1500" cy="514500"/>
          </a:xfrm>
          <a:prstGeom prst="straightConnector1">
            <a:avLst/>
          </a:prstGeom>
          <a:noFill/>
          <a:ln cap="flat" cmpd="sng" w="9525">
            <a:solidFill>
              <a:srgbClr val="000066"/>
            </a:solidFill>
            <a:prstDash val="solid"/>
            <a:miter lim="800000"/>
            <a:headEnd len="med" w="med" type="none"/>
            <a:tailEnd len="med" w="med" type="triangle"/>
          </a:ln>
        </p:spPr>
      </p:cxnSp>
      <p:sp>
        <p:nvSpPr>
          <p:cNvPr id="451" name="Google Shape;451;p51"/>
          <p:cNvSpPr txBox="1"/>
          <p:nvPr/>
        </p:nvSpPr>
        <p:spPr>
          <a:xfrm>
            <a:off x="-228600" y="2904918"/>
            <a:ext cx="2514600" cy="577200"/>
          </a:xfrm>
          <a:prstGeom prst="rect">
            <a:avLst/>
          </a:prstGeom>
          <a:noFill/>
          <a:ln>
            <a:noFill/>
          </a:ln>
        </p:spPr>
        <p:txBody>
          <a:bodyPr anchorCtr="0" anchor="t" bIns="46800" lIns="90000" spcFirstLastPara="1" rIns="90000" wrap="square" tIns="46800">
            <a:spAutoFit/>
          </a:bodyPr>
          <a:lstStyle/>
          <a:p>
            <a:pPr indent="0" lvl="0" marL="0" marR="0" rtl="0" algn="r">
              <a:lnSpc>
                <a:spcPct val="98000"/>
              </a:lnSpc>
              <a:spcBef>
                <a:spcPts val="0"/>
              </a:spcBef>
              <a:spcAft>
                <a:spcPts val="0"/>
              </a:spcAft>
              <a:buNone/>
            </a:pPr>
            <a:r>
              <a:rPr b="1" i="1" lang="en" sz="1600">
                <a:solidFill>
                  <a:srgbClr val="990000"/>
                </a:solidFill>
                <a:latin typeface="Calibri"/>
                <a:ea typeface="Calibri"/>
                <a:cs typeface="Calibri"/>
                <a:sym typeface="Calibri"/>
              </a:rPr>
              <a:t>Partially linked </a:t>
            </a:r>
            <a:endParaRPr b="1" i="1" sz="1600">
              <a:solidFill>
                <a:srgbClr val="990000"/>
              </a:solidFill>
              <a:latin typeface="Calibri"/>
              <a:ea typeface="Calibri"/>
              <a:cs typeface="Calibri"/>
              <a:sym typeface="Calibri"/>
            </a:endParaRPr>
          </a:p>
          <a:p>
            <a:pPr indent="0" lvl="0" marL="0" marR="0" rtl="0" algn="r">
              <a:lnSpc>
                <a:spcPct val="98000"/>
              </a:lnSpc>
              <a:spcBef>
                <a:spcPts val="0"/>
              </a:spcBef>
              <a:spcAft>
                <a:spcPts val="0"/>
              </a:spcAft>
              <a:buNone/>
            </a:pPr>
            <a:r>
              <a:rPr b="1" i="1" lang="en" sz="1600">
                <a:solidFill>
                  <a:srgbClr val="990000"/>
                </a:solidFill>
                <a:latin typeface="Calibri"/>
                <a:ea typeface="Calibri"/>
                <a:cs typeface="Calibri"/>
                <a:sym typeface="Calibri"/>
              </a:rPr>
              <a:t>executable object file</a:t>
            </a:r>
            <a:endParaRPr/>
          </a:p>
        </p:txBody>
      </p:sp>
      <p:sp>
        <p:nvSpPr>
          <p:cNvPr id="452" name="Google Shape;452;p51"/>
          <p:cNvSpPr txBox="1"/>
          <p:nvPr/>
        </p:nvSpPr>
        <p:spPr>
          <a:xfrm>
            <a:off x="914400" y="1838516"/>
            <a:ext cx="1371600" cy="577200"/>
          </a:xfrm>
          <a:prstGeom prst="rect">
            <a:avLst/>
          </a:prstGeom>
          <a:noFill/>
          <a:ln>
            <a:noFill/>
          </a:ln>
        </p:spPr>
        <p:txBody>
          <a:bodyPr anchorCtr="0" anchor="t" bIns="46800" lIns="90000" spcFirstLastPara="1" rIns="90000" wrap="square" tIns="46800">
            <a:spAutoFit/>
          </a:bodyPr>
          <a:lstStyle/>
          <a:p>
            <a:pPr indent="0" lvl="0" marL="0" marR="0" rtl="0" algn="r">
              <a:lnSpc>
                <a:spcPct val="98000"/>
              </a:lnSpc>
              <a:spcBef>
                <a:spcPts val="0"/>
              </a:spcBef>
              <a:spcAft>
                <a:spcPts val="0"/>
              </a:spcAft>
              <a:buNone/>
            </a:pPr>
            <a:r>
              <a:rPr b="1" i="1" lang="en" sz="1600">
                <a:solidFill>
                  <a:srgbClr val="990000"/>
                </a:solidFill>
                <a:latin typeface="Calibri"/>
                <a:ea typeface="Calibri"/>
                <a:cs typeface="Calibri"/>
                <a:sym typeface="Calibri"/>
              </a:rPr>
              <a:t>Relocatable</a:t>
            </a:r>
            <a:endParaRPr b="1" i="1" sz="1600">
              <a:solidFill>
                <a:srgbClr val="990000"/>
              </a:solidFill>
              <a:latin typeface="Calibri"/>
              <a:ea typeface="Calibri"/>
              <a:cs typeface="Calibri"/>
              <a:sym typeface="Calibri"/>
            </a:endParaRPr>
          </a:p>
          <a:p>
            <a:pPr indent="0" lvl="0" marL="0" marR="0" rtl="0" algn="r">
              <a:lnSpc>
                <a:spcPct val="98000"/>
              </a:lnSpc>
              <a:spcBef>
                <a:spcPts val="0"/>
              </a:spcBef>
              <a:spcAft>
                <a:spcPts val="0"/>
              </a:spcAft>
              <a:buNone/>
            </a:pPr>
            <a:r>
              <a:rPr b="1" i="1" lang="en" sz="1600">
                <a:solidFill>
                  <a:srgbClr val="990000"/>
                </a:solidFill>
                <a:latin typeface="Calibri"/>
                <a:ea typeface="Calibri"/>
                <a:cs typeface="Calibri"/>
                <a:sym typeface="Calibri"/>
              </a:rPr>
              <a:t>object file</a:t>
            </a:r>
            <a:endParaRPr/>
          </a:p>
        </p:txBody>
      </p:sp>
      <p:sp>
        <p:nvSpPr>
          <p:cNvPr id="453" name="Google Shape;453;p51"/>
          <p:cNvSpPr txBox="1"/>
          <p:nvPr/>
        </p:nvSpPr>
        <p:spPr>
          <a:xfrm>
            <a:off x="533400" y="4415425"/>
            <a:ext cx="1752600" cy="818700"/>
          </a:xfrm>
          <a:prstGeom prst="rect">
            <a:avLst/>
          </a:prstGeom>
          <a:noFill/>
          <a:ln>
            <a:noFill/>
          </a:ln>
        </p:spPr>
        <p:txBody>
          <a:bodyPr anchorCtr="0" anchor="t" bIns="46800" lIns="90000" spcFirstLastPara="1" rIns="90000" wrap="square" tIns="46800">
            <a:spAutoFit/>
          </a:bodyPr>
          <a:lstStyle/>
          <a:p>
            <a:pPr indent="0" lvl="0" marL="0" marR="0" rtl="0" algn="r">
              <a:lnSpc>
                <a:spcPct val="98000"/>
              </a:lnSpc>
              <a:spcBef>
                <a:spcPts val="0"/>
              </a:spcBef>
              <a:spcAft>
                <a:spcPts val="0"/>
              </a:spcAft>
              <a:buNone/>
            </a:pPr>
            <a:r>
              <a:rPr b="1" i="1" lang="en" sz="1600">
                <a:solidFill>
                  <a:srgbClr val="990000"/>
                </a:solidFill>
                <a:latin typeface="Calibri"/>
                <a:ea typeface="Calibri"/>
                <a:cs typeface="Calibri"/>
                <a:sym typeface="Calibri"/>
              </a:rPr>
              <a:t>Fully linked </a:t>
            </a:r>
            <a:endParaRPr/>
          </a:p>
          <a:p>
            <a:pPr indent="0" lvl="0" marL="0" marR="0" rtl="0" algn="r">
              <a:lnSpc>
                <a:spcPct val="98000"/>
              </a:lnSpc>
              <a:spcBef>
                <a:spcPts val="0"/>
              </a:spcBef>
              <a:spcAft>
                <a:spcPts val="0"/>
              </a:spcAft>
              <a:buNone/>
            </a:pPr>
            <a:r>
              <a:rPr b="1" i="1" lang="en" sz="1600">
                <a:solidFill>
                  <a:srgbClr val="990000"/>
                </a:solidFill>
                <a:latin typeface="Calibri"/>
                <a:ea typeface="Calibri"/>
                <a:cs typeface="Calibri"/>
                <a:sym typeface="Calibri"/>
              </a:rPr>
              <a:t>executable</a:t>
            </a:r>
            <a:endParaRPr/>
          </a:p>
          <a:p>
            <a:pPr indent="0" lvl="0" marL="0" marR="0" rtl="0" algn="r">
              <a:lnSpc>
                <a:spcPct val="98000"/>
              </a:lnSpc>
              <a:spcBef>
                <a:spcPts val="0"/>
              </a:spcBef>
              <a:spcAft>
                <a:spcPts val="0"/>
              </a:spcAft>
              <a:buNone/>
            </a:pPr>
            <a:r>
              <a:rPr b="1" i="1" lang="en" sz="1600">
                <a:solidFill>
                  <a:srgbClr val="990000"/>
                </a:solidFill>
                <a:latin typeface="Calibri"/>
                <a:ea typeface="Calibri"/>
                <a:cs typeface="Calibri"/>
                <a:sym typeface="Calibri"/>
              </a:rPr>
              <a:t>in memory</a:t>
            </a:r>
            <a:endParaRPr/>
          </a:p>
        </p:txBody>
      </p:sp>
      <p:cxnSp>
        <p:nvCxnSpPr>
          <p:cNvPr id="454" name="Google Shape;454;p51"/>
          <p:cNvCxnSpPr/>
          <p:nvPr/>
        </p:nvCxnSpPr>
        <p:spPr>
          <a:xfrm>
            <a:off x="3783013" y="935625"/>
            <a:ext cx="1500" cy="285900"/>
          </a:xfrm>
          <a:prstGeom prst="straightConnector1">
            <a:avLst/>
          </a:prstGeom>
          <a:noFill/>
          <a:ln cap="flat" cmpd="sng" w="9525">
            <a:solidFill>
              <a:srgbClr val="000066"/>
            </a:solidFill>
            <a:prstDash val="solid"/>
            <a:miter lim="800000"/>
            <a:headEnd len="med" w="med" type="none"/>
            <a:tailEnd len="med" w="med" type="triangle"/>
          </a:ln>
        </p:spPr>
      </p:cxnSp>
      <p:sp>
        <p:nvSpPr>
          <p:cNvPr id="455" name="Google Shape;455;p51"/>
          <p:cNvSpPr txBox="1"/>
          <p:nvPr/>
        </p:nvSpPr>
        <p:spPr>
          <a:xfrm>
            <a:off x="3184525" y="676795"/>
            <a:ext cx="1169100" cy="326100"/>
          </a:xfrm>
          <a:prstGeom prst="rect">
            <a:avLst/>
          </a:prstGeom>
          <a:noFill/>
          <a:ln>
            <a:noFill/>
          </a:ln>
        </p:spPr>
        <p:txBody>
          <a:bodyPr anchorCtr="0" anchor="t" bIns="46800" lIns="90000" spcFirstLastPara="1" rIns="90000" wrap="square" tIns="46800">
            <a:spAutoFit/>
          </a:bodyPr>
          <a:lstStyle/>
          <a:p>
            <a:pPr indent="0" lvl="0" marL="0" marR="0" rtl="0" algn="ctr">
              <a:lnSpc>
                <a:spcPct val="94000"/>
              </a:lnSpc>
              <a:spcBef>
                <a:spcPts val="0"/>
              </a:spcBef>
              <a:spcAft>
                <a:spcPts val="0"/>
              </a:spcAft>
              <a:buNone/>
            </a:pPr>
            <a:r>
              <a:rPr b="1" lang="en" sz="1600">
                <a:solidFill>
                  <a:schemeClr val="dk1"/>
                </a:solidFill>
                <a:latin typeface="Courier New"/>
                <a:ea typeface="Courier New"/>
                <a:cs typeface="Courier New"/>
                <a:sym typeface="Courier New"/>
              </a:rPr>
              <a:t>vector.h</a:t>
            </a:r>
            <a:endParaRPr/>
          </a:p>
        </p:txBody>
      </p:sp>
      <p:sp>
        <p:nvSpPr>
          <p:cNvPr id="444" name="Google Shape;444;p51"/>
          <p:cNvSpPr/>
          <p:nvPr/>
        </p:nvSpPr>
        <p:spPr>
          <a:xfrm>
            <a:off x="2454275" y="3562152"/>
            <a:ext cx="1657500" cy="557400"/>
          </a:xfrm>
          <a:prstGeom prst="rect">
            <a:avLst/>
          </a:prstGeom>
          <a:solidFill>
            <a:srgbClr val="D5D5F4"/>
          </a:solidFill>
          <a:ln cap="flat" cmpd="sng" w="9525">
            <a:solidFill>
              <a:schemeClr val="dk1"/>
            </a:solidFill>
            <a:prstDash val="solid"/>
            <a:miter lim="800000"/>
            <a:headEnd len="sm" w="sm" type="none"/>
            <a:tailEnd len="sm" w="sm" type="none"/>
          </a:ln>
        </p:spPr>
        <p:txBody>
          <a:bodyPr anchorCtr="0" anchor="t" bIns="44275" lIns="90350" spcFirstLastPara="1" rIns="90350" wrap="square" tIns="44275">
            <a:noAutofit/>
          </a:bodyPr>
          <a:lstStyle/>
          <a:p>
            <a:pPr indent="0" lvl="0" marL="0" marR="0" rtl="0" algn="ctr">
              <a:lnSpc>
                <a:spcPct val="98000"/>
              </a:lnSpc>
              <a:spcBef>
                <a:spcPts val="0"/>
              </a:spcBef>
              <a:spcAft>
                <a:spcPts val="0"/>
              </a:spcAft>
              <a:buNone/>
            </a:pPr>
            <a:r>
              <a:rPr b="1" lang="en" sz="1600">
                <a:solidFill>
                  <a:schemeClr val="dk1"/>
                </a:solidFill>
                <a:latin typeface="Calibri"/>
                <a:ea typeface="Calibri"/>
                <a:cs typeface="Calibri"/>
                <a:sym typeface="Calibri"/>
              </a:rPr>
              <a:t>Loader (</a:t>
            </a:r>
            <a:r>
              <a:rPr b="1" lang="en" sz="1600">
                <a:solidFill>
                  <a:schemeClr val="dk1"/>
                </a:solidFill>
                <a:latin typeface="Courier New"/>
                <a:ea typeface="Courier New"/>
                <a:cs typeface="Courier New"/>
                <a:sym typeface="Courier New"/>
              </a:rPr>
              <a:t>execve</a:t>
            </a:r>
            <a:r>
              <a:rPr b="1" lang="en" sz="1600">
                <a:solidFill>
                  <a:schemeClr val="dk1"/>
                </a:solidFill>
                <a:latin typeface="Calibri"/>
                <a:ea typeface="Calibri"/>
                <a:cs typeface="Calibri"/>
                <a:sym typeface="Calibri"/>
              </a:rPr>
              <a:t>)</a:t>
            </a:r>
            <a:endParaRPr/>
          </a:p>
        </p:txBody>
      </p:sp>
      <p:sp>
        <p:nvSpPr>
          <p:cNvPr id="456" name="Google Shape;456;p51"/>
          <p:cNvSpPr txBox="1"/>
          <p:nvPr/>
        </p:nvSpPr>
        <p:spPr>
          <a:xfrm>
            <a:off x="4689475" y="785606"/>
            <a:ext cx="4501800" cy="557400"/>
          </a:xfrm>
          <a:prstGeom prst="rect">
            <a:avLst/>
          </a:prstGeom>
          <a:noFill/>
          <a:ln>
            <a:noFill/>
          </a:ln>
        </p:spPr>
        <p:txBody>
          <a:bodyPr anchorCtr="0" anchor="t" bIns="46800" lIns="90000" spcFirstLastPara="1" rIns="90000" wrap="square" tIns="46800">
            <a:spAutoFit/>
          </a:bodyPr>
          <a:lstStyle/>
          <a:p>
            <a:pPr indent="0" lvl="0" marL="0" marR="0" rtl="0" algn="l">
              <a:lnSpc>
                <a:spcPct val="94000"/>
              </a:lnSpc>
              <a:spcBef>
                <a:spcPts val="0"/>
              </a:spcBef>
              <a:spcAft>
                <a:spcPts val="0"/>
              </a:spcAft>
              <a:buNone/>
            </a:pPr>
            <a:r>
              <a:rPr b="1" lang="en" sz="1600">
                <a:solidFill>
                  <a:srgbClr val="990000"/>
                </a:solidFill>
                <a:latin typeface="Courier New"/>
                <a:ea typeface="Courier New"/>
                <a:cs typeface="Courier New"/>
                <a:sym typeface="Courier New"/>
              </a:rPr>
              <a:t>unix&gt; gcc -shared -o libvector.so \</a:t>
            </a:r>
            <a:endParaRPr/>
          </a:p>
          <a:p>
            <a:pPr indent="0" lvl="0" marL="0" marR="0" rtl="0" algn="l">
              <a:lnSpc>
                <a:spcPct val="94000"/>
              </a:lnSpc>
              <a:spcBef>
                <a:spcPts val="0"/>
              </a:spcBef>
              <a:spcAft>
                <a:spcPts val="0"/>
              </a:spcAft>
              <a:buNone/>
            </a:pPr>
            <a:r>
              <a:rPr b="1" lang="en" sz="1600">
                <a:solidFill>
                  <a:srgbClr val="990000"/>
                </a:solidFill>
                <a:latin typeface="Courier New"/>
                <a:ea typeface="Courier New"/>
                <a:cs typeface="Courier New"/>
                <a:sym typeface="Courier New"/>
              </a:rPr>
              <a:t>     addvec.c multvec.c</a:t>
            </a:r>
            <a:endParaRPr/>
          </a:p>
        </p:txBody>
      </p:sp>
      <p:cxnSp>
        <p:nvCxnSpPr>
          <p:cNvPr id="457" name="Google Shape;457;p51"/>
          <p:cNvCxnSpPr/>
          <p:nvPr/>
        </p:nvCxnSpPr>
        <p:spPr>
          <a:xfrm flipH="1">
            <a:off x="5714875" y="1181099"/>
            <a:ext cx="460500" cy="457200"/>
          </a:xfrm>
          <a:prstGeom prst="straightConnector1">
            <a:avLst/>
          </a:prstGeom>
          <a:noFill/>
          <a:ln cap="flat" cmpd="sng" w="25550">
            <a:solidFill>
              <a:schemeClr val="dk1"/>
            </a:solidFill>
            <a:prstDash val="solid"/>
            <a:miter lim="800000"/>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2"/>
          <p:cNvSpPr txBox="1"/>
          <p:nvPr>
            <p:ph idx="4294967295" type="title"/>
          </p:nvPr>
        </p:nvSpPr>
        <p:spPr>
          <a:xfrm>
            <a:off x="427038" y="270272"/>
            <a:ext cx="8717100" cy="5871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Dynamic Linking at Run-time</a:t>
            </a:r>
            <a:endParaRPr/>
          </a:p>
        </p:txBody>
      </p:sp>
      <p:sp>
        <p:nvSpPr>
          <p:cNvPr id="464" name="Google Shape;464;p52"/>
          <p:cNvSpPr txBox="1"/>
          <p:nvPr/>
        </p:nvSpPr>
        <p:spPr>
          <a:xfrm>
            <a:off x="324750" y="824300"/>
            <a:ext cx="7105800" cy="4188900"/>
          </a:xfrm>
          <a:prstGeom prst="rect">
            <a:avLst/>
          </a:prstGeom>
          <a:solidFill>
            <a:srgbClr val="F6F5BD"/>
          </a:solidFill>
          <a:ln cap="flat" cmpd="sng" w="12600">
            <a:solidFill>
              <a:srgbClr val="000066"/>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spcBef>
                <a:spcPts val="0"/>
              </a:spcBef>
              <a:spcAft>
                <a:spcPts val="0"/>
              </a:spcAft>
              <a:buNone/>
            </a:pPr>
            <a:r>
              <a:rPr b="1" lang="en">
                <a:solidFill>
                  <a:srgbClr val="926492"/>
                </a:solidFill>
                <a:latin typeface="Arial"/>
                <a:ea typeface="Arial"/>
                <a:cs typeface="Arial"/>
                <a:sym typeface="Arial"/>
              </a:rPr>
              <a:t>#include</a:t>
            </a:r>
            <a:r>
              <a:rPr b="1" lang="en">
                <a:solidFill>
                  <a:srgbClr val="000000"/>
                </a:solidFill>
                <a:latin typeface="Arial"/>
                <a:ea typeface="Arial"/>
                <a:cs typeface="Arial"/>
                <a:sym typeface="Arial"/>
              </a:rPr>
              <a:t> </a:t>
            </a:r>
            <a:r>
              <a:rPr b="1" lang="en">
                <a:solidFill>
                  <a:srgbClr val="9D206F"/>
                </a:solidFill>
                <a:latin typeface="Arial"/>
                <a:ea typeface="Arial"/>
                <a:cs typeface="Arial"/>
                <a:sym typeface="Arial"/>
              </a:rPr>
              <a:t>&lt;stdio.h&gt;</a:t>
            </a:r>
            <a:endParaRPr b="1">
              <a:solidFill>
                <a:srgbClr val="000000"/>
              </a:solidFill>
              <a:latin typeface="Arial"/>
              <a:ea typeface="Arial"/>
              <a:cs typeface="Arial"/>
              <a:sym typeface="Arial"/>
            </a:endParaRPr>
          </a:p>
          <a:p>
            <a:pPr indent="0" lvl="0" marL="0" marR="0" rtl="0" algn="l">
              <a:spcBef>
                <a:spcPts val="0"/>
              </a:spcBef>
              <a:spcAft>
                <a:spcPts val="0"/>
              </a:spcAft>
              <a:buNone/>
            </a:pPr>
            <a:r>
              <a:rPr b="1" lang="en">
                <a:solidFill>
                  <a:srgbClr val="926492"/>
                </a:solidFill>
                <a:latin typeface="Arial"/>
                <a:ea typeface="Arial"/>
                <a:cs typeface="Arial"/>
                <a:sym typeface="Arial"/>
              </a:rPr>
              <a:t>#include</a:t>
            </a:r>
            <a:r>
              <a:rPr b="1" lang="en">
                <a:solidFill>
                  <a:srgbClr val="000000"/>
                </a:solidFill>
                <a:latin typeface="Arial"/>
                <a:ea typeface="Arial"/>
                <a:cs typeface="Arial"/>
                <a:sym typeface="Arial"/>
              </a:rPr>
              <a:t> </a:t>
            </a:r>
            <a:r>
              <a:rPr b="1" lang="en">
                <a:solidFill>
                  <a:srgbClr val="9D206F"/>
                </a:solidFill>
                <a:latin typeface="Arial"/>
                <a:ea typeface="Arial"/>
                <a:cs typeface="Arial"/>
                <a:sym typeface="Arial"/>
              </a:rPr>
              <a:t>&lt;stdlib.h&gt;</a:t>
            </a:r>
            <a:endParaRPr b="1">
              <a:solidFill>
                <a:srgbClr val="000000"/>
              </a:solidFill>
              <a:latin typeface="Arial"/>
              <a:ea typeface="Arial"/>
              <a:cs typeface="Arial"/>
              <a:sym typeface="Arial"/>
            </a:endParaRPr>
          </a:p>
          <a:p>
            <a:pPr indent="0" lvl="0" marL="0" marR="0" rtl="0" algn="l">
              <a:spcBef>
                <a:spcPts val="0"/>
              </a:spcBef>
              <a:spcAft>
                <a:spcPts val="0"/>
              </a:spcAft>
              <a:buNone/>
            </a:pPr>
            <a:r>
              <a:rPr b="1" lang="en">
                <a:solidFill>
                  <a:srgbClr val="926492"/>
                </a:solidFill>
                <a:latin typeface="Arial"/>
                <a:ea typeface="Arial"/>
                <a:cs typeface="Arial"/>
                <a:sym typeface="Arial"/>
              </a:rPr>
              <a:t>#include</a:t>
            </a:r>
            <a:r>
              <a:rPr b="1" lang="en">
                <a:solidFill>
                  <a:srgbClr val="000000"/>
                </a:solidFill>
                <a:latin typeface="Arial"/>
                <a:ea typeface="Arial"/>
                <a:cs typeface="Arial"/>
                <a:sym typeface="Arial"/>
              </a:rPr>
              <a:t> </a:t>
            </a:r>
            <a:r>
              <a:rPr b="1" lang="en">
                <a:solidFill>
                  <a:srgbClr val="9D206F"/>
                </a:solidFill>
                <a:latin typeface="Arial"/>
                <a:ea typeface="Arial"/>
                <a:cs typeface="Arial"/>
                <a:sym typeface="Arial"/>
              </a:rPr>
              <a:t>&lt;dlfcn.h&gt;</a:t>
            </a:r>
            <a:endParaRPr b="1">
              <a:solidFill>
                <a:srgbClr val="000000"/>
              </a:solidFill>
              <a:latin typeface="Arial"/>
              <a:ea typeface="Arial"/>
              <a:cs typeface="Arial"/>
              <a:sym typeface="Arial"/>
            </a:endParaRPr>
          </a:p>
          <a:p>
            <a:pPr indent="0" lvl="0" marL="0" marR="0" rtl="0" algn="l">
              <a:spcBef>
                <a:spcPts val="0"/>
              </a:spcBef>
              <a:spcAft>
                <a:spcPts val="0"/>
              </a:spcAft>
              <a:buNone/>
            </a:pPr>
            <a:r>
              <a:rPr b="1" lang="en">
                <a:solidFill>
                  <a:srgbClr val="2D961E"/>
                </a:solidFill>
                <a:latin typeface="Arial"/>
                <a:ea typeface="Arial"/>
                <a:cs typeface="Arial"/>
                <a:sym typeface="Arial"/>
              </a:rPr>
              <a:t>int</a:t>
            </a:r>
            <a:r>
              <a:rPr b="1" lang="en">
                <a:solidFill>
                  <a:srgbClr val="000000"/>
                </a:solidFill>
                <a:latin typeface="Arial"/>
                <a:ea typeface="Arial"/>
                <a:cs typeface="Arial"/>
                <a:sym typeface="Arial"/>
              </a:rPr>
              <a:t> </a:t>
            </a:r>
            <a:r>
              <a:rPr b="1" lang="en">
                <a:solidFill>
                  <a:srgbClr val="C1651C"/>
                </a:solidFill>
                <a:latin typeface="Arial"/>
                <a:ea typeface="Arial"/>
                <a:cs typeface="Arial"/>
                <a:sym typeface="Arial"/>
              </a:rPr>
              <a:t>x</a:t>
            </a:r>
            <a:r>
              <a:rPr b="1" lang="en">
                <a:solidFill>
                  <a:srgbClr val="000000"/>
                </a:solidFill>
                <a:latin typeface="Arial"/>
                <a:ea typeface="Arial"/>
                <a:cs typeface="Arial"/>
                <a:sym typeface="Arial"/>
              </a:rPr>
              <a:t>[2] = {1, 2};</a:t>
            </a:r>
            <a:r>
              <a:rPr lang="en" sz="1200"/>
              <a:t> </a:t>
            </a:r>
            <a:r>
              <a:rPr b="1" lang="en">
                <a:solidFill>
                  <a:srgbClr val="2D961E"/>
                </a:solidFill>
                <a:latin typeface="Arial"/>
                <a:ea typeface="Arial"/>
                <a:cs typeface="Arial"/>
                <a:sym typeface="Arial"/>
              </a:rPr>
              <a:t>int</a:t>
            </a:r>
            <a:r>
              <a:rPr b="1" lang="en">
                <a:solidFill>
                  <a:srgbClr val="000000"/>
                </a:solidFill>
                <a:latin typeface="Arial"/>
                <a:ea typeface="Arial"/>
                <a:cs typeface="Arial"/>
                <a:sym typeface="Arial"/>
              </a:rPr>
              <a:t> </a:t>
            </a:r>
            <a:r>
              <a:rPr b="1" lang="en">
                <a:solidFill>
                  <a:srgbClr val="C1651C"/>
                </a:solidFill>
                <a:latin typeface="Arial"/>
                <a:ea typeface="Arial"/>
                <a:cs typeface="Arial"/>
                <a:sym typeface="Arial"/>
              </a:rPr>
              <a:t>y</a:t>
            </a:r>
            <a:r>
              <a:rPr b="1" lang="en">
                <a:solidFill>
                  <a:srgbClr val="000000"/>
                </a:solidFill>
                <a:latin typeface="Arial"/>
                <a:ea typeface="Arial"/>
                <a:cs typeface="Arial"/>
                <a:sym typeface="Arial"/>
              </a:rPr>
              <a:t>[2] = {3, 4};</a:t>
            </a:r>
            <a:r>
              <a:rPr lang="en" sz="1200"/>
              <a:t> </a:t>
            </a:r>
            <a:r>
              <a:rPr b="1" lang="en">
                <a:solidFill>
                  <a:srgbClr val="2D961E"/>
                </a:solidFill>
                <a:latin typeface="Arial"/>
                <a:ea typeface="Arial"/>
                <a:cs typeface="Arial"/>
                <a:sym typeface="Arial"/>
              </a:rPr>
              <a:t>int</a:t>
            </a:r>
            <a:r>
              <a:rPr b="1" lang="en">
                <a:solidFill>
                  <a:srgbClr val="000000"/>
                </a:solidFill>
                <a:latin typeface="Arial"/>
                <a:ea typeface="Arial"/>
                <a:cs typeface="Arial"/>
                <a:sym typeface="Arial"/>
              </a:rPr>
              <a:t> </a:t>
            </a:r>
            <a:r>
              <a:rPr b="1" lang="en">
                <a:solidFill>
                  <a:srgbClr val="C1651C"/>
                </a:solidFill>
                <a:latin typeface="Arial"/>
                <a:ea typeface="Arial"/>
                <a:cs typeface="Arial"/>
                <a:sym typeface="Arial"/>
              </a:rPr>
              <a:t>z</a:t>
            </a:r>
            <a:r>
              <a:rPr b="1" lang="en">
                <a:solidFill>
                  <a:srgbClr val="000000"/>
                </a:solidFill>
                <a:latin typeface="Arial"/>
                <a:ea typeface="Arial"/>
                <a:cs typeface="Arial"/>
                <a:sym typeface="Arial"/>
              </a:rPr>
              <a:t>[2];</a:t>
            </a:r>
            <a:endParaRPr sz="1200"/>
          </a:p>
          <a:p>
            <a:pPr indent="0" lvl="0" marL="0" marR="0" rtl="0" algn="l">
              <a:spcBef>
                <a:spcPts val="0"/>
              </a:spcBef>
              <a:spcAft>
                <a:spcPts val="0"/>
              </a:spcAft>
              <a:buNone/>
            </a:pPr>
            <a:r>
              <a:rPr b="1" lang="en">
                <a:solidFill>
                  <a:srgbClr val="2D961E"/>
                </a:solidFill>
                <a:latin typeface="Arial"/>
                <a:ea typeface="Arial"/>
                <a:cs typeface="Arial"/>
                <a:sym typeface="Arial"/>
              </a:rPr>
              <a:t>int</a:t>
            </a:r>
            <a:r>
              <a:rPr b="1" lang="en">
                <a:solidFill>
                  <a:srgbClr val="000000"/>
                </a:solidFill>
                <a:latin typeface="Arial"/>
                <a:ea typeface="Arial"/>
                <a:cs typeface="Arial"/>
                <a:sym typeface="Arial"/>
              </a:rPr>
              <a:t> </a:t>
            </a:r>
            <a:r>
              <a:rPr b="1" lang="en">
                <a:solidFill>
                  <a:srgbClr val="4A00FF"/>
                </a:solidFill>
                <a:latin typeface="Arial"/>
                <a:ea typeface="Arial"/>
                <a:cs typeface="Arial"/>
                <a:sym typeface="Arial"/>
              </a:rPr>
              <a:t>main</a:t>
            </a:r>
            <a:r>
              <a:rPr b="1" lang="en">
                <a:solidFill>
                  <a:srgbClr val="000000"/>
                </a:solidFill>
                <a:latin typeface="Arial"/>
                <a:ea typeface="Arial"/>
                <a:cs typeface="Arial"/>
                <a:sym typeface="Arial"/>
              </a:rPr>
              <a:t>()</a:t>
            </a:r>
            <a:endParaRPr sz="1200"/>
          </a:p>
          <a:p>
            <a:pPr indent="0" lvl="0" marL="0" marR="0" rtl="0" algn="l">
              <a:spcBef>
                <a:spcPts val="0"/>
              </a:spcBef>
              <a:spcAft>
                <a:spcPts val="0"/>
              </a:spcAft>
              <a:buNone/>
            </a:pPr>
            <a:r>
              <a:rPr b="1" lang="en">
                <a:solidFill>
                  <a:srgbClr val="000000"/>
                </a:solidFill>
                <a:latin typeface="Arial"/>
                <a:ea typeface="Arial"/>
                <a:cs typeface="Arial"/>
                <a:sym typeface="Arial"/>
              </a:rPr>
              <a:t>{</a:t>
            </a:r>
            <a:endParaRPr sz="1200"/>
          </a:p>
          <a:p>
            <a:pPr indent="0" lvl="0" marL="0" marR="0" rtl="0" algn="l">
              <a:spcBef>
                <a:spcPts val="0"/>
              </a:spcBef>
              <a:spcAft>
                <a:spcPts val="0"/>
              </a:spcAft>
              <a:buNone/>
            </a:pPr>
            <a:r>
              <a:rPr b="1" lang="en">
                <a:solidFill>
                  <a:srgbClr val="000000"/>
                </a:solidFill>
                <a:latin typeface="Arial"/>
                <a:ea typeface="Arial"/>
                <a:cs typeface="Arial"/>
                <a:sym typeface="Arial"/>
              </a:rPr>
              <a:t>    </a:t>
            </a:r>
            <a:r>
              <a:rPr b="1" lang="en">
                <a:solidFill>
                  <a:srgbClr val="2D961E"/>
                </a:solidFill>
                <a:latin typeface="Arial"/>
                <a:ea typeface="Arial"/>
                <a:cs typeface="Arial"/>
                <a:sym typeface="Arial"/>
              </a:rPr>
              <a:t>void</a:t>
            </a:r>
            <a:r>
              <a:rPr b="1" lang="en">
                <a:solidFill>
                  <a:srgbClr val="000000"/>
                </a:solidFill>
                <a:latin typeface="Arial"/>
                <a:ea typeface="Arial"/>
                <a:cs typeface="Arial"/>
                <a:sym typeface="Arial"/>
              </a:rPr>
              <a:t> *</a:t>
            </a:r>
            <a:r>
              <a:rPr b="1" lang="en">
                <a:solidFill>
                  <a:srgbClr val="C1651C"/>
                </a:solidFill>
                <a:latin typeface="Arial"/>
                <a:ea typeface="Arial"/>
                <a:cs typeface="Arial"/>
                <a:sym typeface="Arial"/>
              </a:rPr>
              <a:t>handle</a:t>
            </a:r>
            <a:r>
              <a:rPr b="1" lang="en">
                <a:solidFill>
                  <a:srgbClr val="000000"/>
                </a:solidFill>
                <a:latin typeface="Arial"/>
                <a:ea typeface="Arial"/>
                <a:cs typeface="Arial"/>
                <a:sym typeface="Arial"/>
              </a:rPr>
              <a:t>;    </a:t>
            </a:r>
            <a:r>
              <a:rPr b="1" lang="en">
                <a:solidFill>
                  <a:srgbClr val="2D961E"/>
                </a:solidFill>
                <a:latin typeface="Arial"/>
                <a:ea typeface="Arial"/>
                <a:cs typeface="Arial"/>
                <a:sym typeface="Arial"/>
              </a:rPr>
              <a:t>void</a:t>
            </a:r>
            <a:r>
              <a:rPr b="1" lang="en">
                <a:solidFill>
                  <a:srgbClr val="000000"/>
                </a:solidFill>
                <a:latin typeface="Arial"/>
                <a:ea typeface="Arial"/>
                <a:cs typeface="Arial"/>
                <a:sym typeface="Arial"/>
              </a:rPr>
              <a:t> (*</a:t>
            </a:r>
            <a:r>
              <a:rPr b="1" lang="en">
                <a:solidFill>
                  <a:srgbClr val="C1651C"/>
                </a:solidFill>
                <a:latin typeface="Arial"/>
                <a:ea typeface="Arial"/>
                <a:cs typeface="Arial"/>
                <a:sym typeface="Arial"/>
              </a:rPr>
              <a:t>addvec</a:t>
            </a:r>
            <a:r>
              <a:rPr b="1" lang="en">
                <a:solidFill>
                  <a:srgbClr val="000000"/>
                </a:solidFill>
                <a:latin typeface="Arial"/>
                <a:ea typeface="Arial"/>
                <a:cs typeface="Arial"/>
                <a:sym typeface="Arial"/>
              </a:rPr>
              <a:t>)(</a:t>
            </a:r>
            <a:r>
              <a:rPr b="1" lang="en">
                <a:solidFill>
                  <a:srgbClr val="2D961E"/>
                </a:solidFill>
                <a:latin typeface="Arial"/>
                <a:ea typeface="Arial"/>
                <a:cs typeface="Arial"/>
                <a:sym typeface="Arial"/>
              </a:rPr>
              <a:t>int</a:t>
            </a:r>
            <a:r>
              <a:rPr b="1" lang="en">
                <a:solidFill>
                  <a:srgbClr val="000000"/>
                </a:solidFill>
                <a:latin typeface="Arial"/>
                <a:ea typeface="Arial"/>
                <a:cs typeface="Arial"/>
                <a:sym typeface="Arial"/>
              </a:rPr>
              <a:t> *, </a:t>
            </a:r>
            <a:r>
              <a:rPr b="1" lang="en">
                <a:solidFill>
                  <a:srgbClr val="2D961E"/>
                </a:solidFill>
                <a:latin typeface="Arial"/>
                <a:ea typeface="Arial"/>
                <a:cs typeface="Arial"/>
                <a:sym typeface="Arial"/>
              </a:rPr>
              <a:t>int</a:t>
            </a:r>
            <a:r>
              <a:rPr b="1" lang="en">
                <a:solidFill>
                  <a:srgbClr val="000000"/>
                </a:solidFill>
                <a:latin typeface="Arial"/>
                <a:ea typeface="Arial"/>
                <a:cs typeface="Arial"/>
                <a:sym typeface="Arial"/>
              </a:rPr>
              <a:t> *, </a:t>
            </a:r>
            <a:r>
              <a:rPr b="1" lang="en">
                <a:solidFill>
                  <a:srgbClr val="2D961E"/>
                </a:solidFill>
                <a:latin typeface="Arial"/>
                <a:ea typeface="Arial"/>
                <a:cs typeface="Arial"/>
                <a:sym typeface="Arial"/>
              </a:rPr>
              <a:t>int</a:t>
            </a:r>
            <a:r>
              <a:rPr b="1" lang="en">
                <a:solidFill>
                  <a:srgbClr val="000000"/>
                </a:solidFill>
                <a:latin typeface="Arial"/>
                <a:ea typeface="Arial"/>
                <a:cs typeface="Arial"/>
                <a:sym typeface="Arial"/>
              </a:rPr>
              <a:t> *, </a:t>
            </a:r>
            <a:r>
              <a:rPr b="1" lang="en">
                <a:solidFill>
                  <a:srgbClr val="2D961E"/>
                </a:solidFill>
                <a:latin typeface="Arial"/>
                <a:ea typeface="Arial"/>
                <a:cs typeface="Arial"/>
                <a:sym typeface="Arial"/>
              </a:rPr>
              <a:t>int</a:t>
            </a:r>
            <a:r>
              <a:rPr b="1" lang="en">
                <a:solidFill>
                  <a:srgbClr val="000000"/>
                </a:solidFill>
                <a:latin typeface="Arial"/>
                <a:ea typeface="Arial"/>
                <a:cs typeface="Arial"/>
                <a:sym typeface="Arial"/>
              </a:rPr>
              <a:t>);    </a:t>
            </a:r>
            <a:r>
              <a:rPr b="1" lang="en">
                <a:solidFill>
                  <a:srgbClr val="2D961E"/>
                </a:solidFill>
                <a:latin typeface="Arial"/>
                <a:ea typeface="Arial"/>
                <a:cs typeface="Arial"/>
                <a:sym typeface="Arial"/>
              </a:rPr>
              <a:t>char</a:t>
            </a:r>
            <a:r>
              <a:rPr b="1" lang="en">
                <a:solidFill>
                  <a:srgbClr val="000000"/>
                </a:solidFill>
                <a:latin typeface="Arial"/>
                <a:ea typeface="Arial"/>
                <a:cs typeface="Arial"/>
                <a:sym typeface="Arial"/>
              </a:rPr>
              <a:t> *</a:t>
            </a:r>
            <a:r>
              <a:rPr b="1" lang="en">
                <a:solidFill>
                  <a:srgbClr val="C1651C"/>
                </a:solidFill>
                <a:latin typeface="Arial"/>
                <a:ea typeface="Arial"/>
                <a:cs typeface="Arial"/>
                <a:sym typeface="Arial"/>
              </a:rPr>
              <a:t>error</a:t>
            </a:r>
            <a:r>
              <a:rPr b="1" lang="en">
                <a:solidFill>
                  <a:srgbClr val="000000"/>
                </a:solidFill>
                <a:latin typeface="Arial"/>
                <a:ea typeface="Arial"/>
                <a:cs typeface="Arial"/>
                <a:sym typeface="Arial"/>
              </a:rPr>
              <a:t>;</a:t>
            </a:r>
            <a:endParaRPr b="1">
              <a:solidFill>
                <a:srgbClr val="000000"/>
              </a:solidFill>
              <a:latin typeface="Arial"/>
              <a:ea typeface="Arial"/>
              <a:cs typeface="Arial"/>
              <a:sym typeface="Arial"/>
            </a:endParaRPr>
          </a:p>
          <a:p>
            <a:pPr indent="0" lvl="0" marL="0" marR="0" rtl="0" algn="l">
              <a:spcBef>
                <a:spcPts val="0"/>
              </a:spcBef>
              <a:spcAft>
                <a:spcPts val="0"/>
              </a:spcAft>
              <a:buNone/>
            </a:pPr>
            <a:r>
              <a:rPr b="1" lang="en">
                <a:solidFill>
                  <a:srgbClr val="000000"/>
                </a:solidFill>
                <a:latin typeface="Arial"/>
                <a:ea typeface="Arial"/>
                <a:cs typeface="Arial"/>
                <a:sym typeface="Arial"/>
              </a:rPr>
              <a:t>    </a:t>
            </a:r>
            <a:r>
              <a:rPr b="1" lang="en">
                <a:solidFill>
                  <a:srgbClr val="CB2418"/>
                </a:solidFill>
                <a:latin typeface="Arial"/>
                <a:ea typeface="Arial"/>
                <a:cs typeface="Arial"/>
                <a:sym typeface="Arial"/>
              </a:rPr>
              <a:t>/* Dynamically load the shared library that contains addvec() */</a:t>
            </a:r>
            <a:endParaRPr b="1">
              <a:solidFill>
                <a:srgbClr val="000000"/>
              </a:solidFill>
              <a:latin typeface="Arial"/>
              <a:ea typeface="Arial"/>
              <a:cs typeface="Arial"/>
              <a:sym typeface="Arial"/>
            </a:endParaRPr>
          </a:p>
          <a:p>
            <a:pPr indent="0" lvl="0" marL="0" marR="0" rtl="0" algn="l">
              <a:spcBef>
                <a:spcPts val="0"/>
              </a:spcBef>
              <a:spcAft>
                <a:spcPts val="0"/>
              </a:spcAft>
              <a:buNone/>
            </a:pPr>
            <a:r>
              <a:rPr b="1" lang="en">
                <a:solidFill>
                  <a:srgbClr val="000000"/>
                </a:solidFill>
                <a:latin typeface="Arial"/>
                <a:ea typeface="Arial"/>
                <a:cs typeface="Arial"/>
                <a:sym typeface="Arial"/>
              </a:rPr>
              <a:t>    handle = dlopen(</a:t>
            </a:r>
            <a:r>
              <a:rPr b="1" lang="en">
                <a:solidFill>
                  <a:srgbClr val="9D206F"/>
                </a:solidFill>
                <a:latin typeface="Arial"/>
                <a:ea typeface="Arial"/>
                <a:cs typeface="Arial"/>
                <a:sym typeface="Arial"/>
              </a:rPr>
              <a:t>"./libvector.so"</a:t>
            </a:r>
            <a:r>
              <a:rPr b="1" lang="en">
                <a:solidFill>
                  <a:srgbClr val="000000"/>
                </a:solidFill>
                <a:latin typeface="Arial"/>
                <a:ea typeface="Arial"/>
                <a:cs typeface="Arial"/>
                <a:sym typeface="Arial"/>
              </a:rPr>
              <a:t>, RTLD_LAZY);</a:t>
            </a:r>
            <a:endParaRPr sz="1200"/>
          </a:p>
          <a:p>
            <a:pPr indent="0" lvl="0" marL="0" marR="0" rtl="0" algn="l">
              <a:spcBef>
                <a:spcPts val="0"/>
              </a:spcBef>
              <a:spcAft>
                <a:spcPts val="0"/>
              </a:spcAft>
              <a:buNone/>
            </a:pPr>
            <a:r>
              <a:rPr b="1" lang="en">
                <a:solidFill>
                  <a:srgbClr val="000000"/>
                </a:solidFill>
                <a:latin typeface="Arial"/>
                <a:ea typeface="Arial"/>
                <a:cs typeface="Arial"/>
                <a:sym typeface="Arial"/>
              </a:rPr>
              <a:t>    </a:t>
            </a:r>
            <a:r>
              <a:rPr b="1" lang="en">
                <a:solidFill>
                  <a:srgbClr val="C200FF"/>
                </a:solidFill>
                <a:latin typeface="Arial"/>
                <a:ea typeface="Arial"/>
                <a:cs typeface="Arial"/>
                <a:sym typeface="Arial"/>
              </a:rPr>
              <a:t>if</a:t>
            </a:r>
            <a:r>
              <a:rPr b="1" lang="en">
                <a:solidFill>
                  <a:srgbClr val="000000"/>
                </a:solidFill>
                <a:latin typeface="Arial"/>
                <a:ea typeface="Arial"/>
                <a:cs typeface="Arial"/>
                <a:sym typeface="Arial"/>
              </a:rPr>
              <a:t> (!handle) {        fprintf(stderr, </a:t>
            </a:r>
            <a:r>
              <a:rPr b="1" lang="en">
                <a:solidFill>
                  <a:srgbClr val="9D206F"/>
                </a:solidFill>
                <a:latin typeface="Arial"/>
                <a:ea typeface="Arial"/>
                <a:cs typeface="Arial"/>
                <a:sym typeface="Arial"/>
              </a:rPr>
              <a:t>"%s\n"</a:t>
            </a:r>
            <a:r>
              <a:rPr b="1" lang="en">
                <a:solidFill>
                  <a:srgbClr val="000000"/>
                </a:solidFill>
                <a:latin typeface="Arial"/>
                <a:ea typeface="Arial"/>
                <a:cs typeface="Arial"/>
                <a:sym typeface="Arial"/>
              </a:rPr>
              <a:t>, dlerror());        exit(1);    }</a:t>
            </a:r>
            <a:endParaRPr b="1">
              <a:solidFill>
                <a:srgbClr val="000000"/>
              </a:solidFill>
              <a:latin typeface="Arial"/>
              <a:ea typeface="Arial"/>
              <a:cs typeface="Arial"/>
              <a:sym typeface="Arial"/>
            </a:endParaRPr>
          </a:p>
          <a:p>
            <a:pPr indent="0" lvl="0" marL="0" rtl="0" algn="l">
              <a:spcBef>
                <a:spcPts val="0"/>
              </a:spcBef>
              <a:spcAft>
                <a:spcPts val="0"/>
              </a:spcAft>
              <a:buNone/>
            </a:pPr>
            <a:r>
              <a:rPr b="1" lang="en"/>
              <a:t>    </a:t>
            </a:r>
            <a:r>
              <a:rPr b="1" lang="en">
                <a:solidFill>
                  <a:srgbClr val="CB2418"/>
                </a:solidFill>
              </a:rPr>
              <a:t>/* Get a pointer to the addvec() function we just loaded */</a:t>
            </a:r>
            <a:endParaRPr b="1"/>
          </a:p>
          <a:p>
            <a:pPr indent="0" lvl="0" marL="0" rtl="0" algn="l">
              <a:spcBef>
                <a:spcPts val="0"/>
              </a:spcBef>
              <a:spcAft>
                <a:spcPts val="0"/>
              </a:spcAft>
              <a:buNone/>
            </a:pPr>
            <a:r>
              <a:rPr b="1" lang="en"/>
              <a:t>    addvec = dlsym(handle, </a:t>
            </a:r>
            <a:r>
              <a:rPr b="1" lang="en">
                <a:solidFill>
                  <a:srgbClr val="9D206F"/>
                </a:solidFill>
              </a:rPr>
              <a:t>"addvec"</a:t>
            </a:r>
            <a:r>
              <a:rPr b="1" lang="en"/>
              <a:t>);</a:t>
            </a:r>
            <a:endParaRPr sz="1200"/>
          </a:p>
          <a:p>
            <a:pPr indent="0" lvl="0" marL="0" rtl="0" algn="l">
              <a:spcBef>
                <a:spcPts val="0"/>
              </a:spcBef>
              <a:spcAft>
                <a:spcPts val="0"/>
              </a:spcAft>
              <a:buNone/>
            </a:pPr>
            <a:r>
              <a:rPr b="1" lang="en"/>
              <a:t>    </a:t>
            </a:r>
            <a:r>
              <a:rPr b="1" lang="en">
                <a:solidFill>
                  <a:srgbClr val="C200FF"/>
                </a:solidFill>
              </a:rPr>
              <a:t>if</a:t>
            </a:r>
            <a:r>
              <a:rPr b="1" lang="en"/>
              <a:t> ((error = dlerror()) != </a:t>
            </a:r>
            <a:r>
              <a:rPr b="1" lang="en">
                <a:solidFill>
                  <a:srgbClr val="2C9290"/>
                </a:solidFill>
              </a:rPr>
              <a:t>NULL</a:t>
            </a:r>
            <a:r>
              <a:rPr b="1" lang="en"/>
              <a:t>) {       fprintf(stderr, </a:t>
            </a:r>
            <a:r>
              <a:rPr b="1" lang="en">
                <a:solidFill>
                  <a:srgbClr val="9D206F"/>
                </a:solidFill>
              </a:rPr>
              <a:t>"%s\n"</a:t>
            </a:r>
            <a:r>
              <a:rPr b="1" lang="en"/>
              <a:t>, error);       exit(1);   }</a:t>
            </a:r>
            <a:endParaRPr b="1"/>
          </a:p>
          <a:p>
            <a:pPr indent="0" lvl="0" marL="0" rtl="0" algn="l">
              <a:spcBef>
                <a:spcPts val="0"/>
              </a:spcBef>
              <a:spcAft>
                <a:spcPts val="0"/>
              </a:spcAft>
              <a:buNone/>
            </a:pPr>
            <a:r>
              <a:rPr b="1" lang="en"/>
              <a:t>    </a:t>
            </a:r>
            <a:r>
              <a:rPr b="1" lang="en">
                <a:solidFill>
                  <a:srgbClr val="CB2418"/>
                </a:solidFill>
              </a:rPr>
              <a:t>/* Now we can call addvec() just like any other function */</a:t>
            </a:r>
            <a:endParaRPr b="1"/>
          </a:p>
          <a:p>
            <a:pPr indent="0" lvl="0" marL="0" rtl="0" algn="l">
              <a:spcBef>
                <a:spcPts val="0"/>
              </a:spcBef>
              <a:spcAft>
                <a:spcPts val="0"/>
              </a:spcAft>
              <a:buNone/>
            </a:pPr>
            <a:r>
              <a:rPr b="1" lang="en"/>
              <a:t>    addvec(x, y, z, 2);   printf(</a:t>
            </a:r>
            <a:r>
              <a:rPr b="1" lang="en">
                <a:solidFill>
                  <a:srgbClr val="9D206F"/>
                </a:solidFill>
              </a:rPr>
              <a:t>"z = [%d %d]\n"</a:t>
            </a:r>
            <a:r>
              <a:rPr b="1" lang="en"/>
              <a:t>, z[0], z[1]);</a:t>
            </a:r>
            <a:endParaRPr b="1"/>
          </a:p>
          <a:p>
            <a:pPr indent="0" lvl="0" marL="0" rtl="0" algn="l">
              <a:spcBef>
                <a:spcPts val="0"/>
              </a:spcBef>
              <a:spcAft>
                <a:spcPts val="0"/>
              </a:spcAft>
              <a:buNone/>
            </a:pPr>
            <a:r>
              <a:rPr b="1" lang="en"/>
              <a:t>    </a:t>
            </a:r>
            <a:r>
              <a:rPr b="1" lang="en">
                <a:solidFill>
                  <a:srgbClr val="CB2418"/>
                </a:solidFill>
              </a:rPr>
              <a:t>/* Unload the shared library */</a:t>
            </a:r>
            <a:endParaRPr b="1"/>
          </a:p>
          <a:p>
            <a:pPr indent="0" lvl="0" marL="0" rtl="0" algn="l">
              <a:spcBef>
                <a:spcPts val="0"/>
              </a:spcBef>
              <a:spcAft>
                <a:spcPts val="0"/>
              </a:spcAft>
              <a:buNone/>
            </a:pPr>
            <a:r>
              <a:rPr b="1" lang="en"/>
              <a:t>    </a:t>
            </a:r>
            <a:r>
              <a:rPr b="1" lang="en">
                <a:solidFill>
                  <a:srgbClr val="C200FF"/>
                </a:solidFill>
              </a:rPr>
              <a:t>if</a:t>
            </a:r>
            <a:r>
              <a:rPr b="1" lang="en"/>
              <a:t> (dlclose(handle) &lt; 0) {   fprintf(stderr, </a:t>
            </a:r>
            <a:r>
              <a:rPr b="1" lang="en">
                <a:solidFill>
                  <a:srgbClr val="9D206F"/>
                </a:solidFill>
              </a:rPr>
              <a:t>"%s\n"</a:t>
            </a:r>
            <a:r>
              <a:rPr b="1" lang="en"/>
              <a:t>, dlerror());  exit(1);   }</a:t>
            </a:r>
            <a:endParaRPr sz="1200"/>
          </a:p>
          <a:p>
            <a:pPr indent="0" lvl="0" marL="0" rtl="0" algn="l">
              <a:spcBef>
                <a:spcPts val="0"/>
              </a:spcBef>
              <a:spcAft>
                <a:spcPts val="0"/>
              </a:spcAft>
              <a:buNone/>
            </a:pPr>
            <a:r>
              <a:rPr b="1" lang="en"/>
              <a:t>    </a:t>
            </a:r>
            <a:r>
              <a:rPr b="1" lang="en">
                <a:solidFill>
                  <a:srgbClr val="C200FF"/>
                </a:solidFill>
              </a:rPr>
              <a:t>return</a:t>
            </a:r>
            <a:r>
              <a:rPr b="1" lang="en"/>
              <a:t> 0;</a:t>
            </a:r>
            <a:endParaRPr sz="1200"/>
          </a:p>
          <a:p>
            <a:pPr indent="0" lvl="0" marL="0" rtl="0" algn="l">
              <a:spcBef>
                <a:spcPts val="0"/>
              </a:spcBef>
              <a:spcAft>
                <a:spcPts val="0"/>
              </a:spcAft>
              <a:buNone/>
            </a:pPr>
            <a:r>
              <a:rPr b="1" lang="en"/>
              <a:t>}</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Linking Summary	</a:t>
            </a:r>
            <a:endParaRPr/>
          </a:p>
        </p:txBody>
      </p:sp>
      <p:sp>
        <p:nvSpPr>
          <p:cNvPr id="470" name="Google Shape;470;p53"/>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Linking is a technique that allows programs to be constructed from multiple object files. </a:t>
            </a:r>
            <a:endParaRPr/>
          </a:p>
          <a:p>
            <a:pPr indent="-342900" lvl="0" marL="342900" rtl="0" algn="l">
              <a:spcBef>
                <a:spcPts val="480"/>
              </a:spcBef>
              <a:spcAft>
                <a:spcPts val="0"/>
              </a:spcAft>
              <a:buSzPts val="1440"/>
              <a:buChar char="●"/>
            </a:pPr>
            <a:r>
              <a:rPr lang="en"/>
              <a:t>Linking can happen at different times in a program’s lifetime:</a:t>
            </a:r>
            <a:endParaRPr/>
          </a:p>
          <a:p>
            <a:pPr indent="-285750" lvl="1" marL="742950" rtl="0" algn="l">
              <a:spcBef>
                <a:spcPts val="400"/>
              </a:spcBef>
              <a:spcAft>
                <a:spcPts val="0"/>
              </a:spcAft>
              <a:buSzPts val="2200"/>
              <a:buChar char="○"/>
            </a:pPr>
            <a:r>
              <a:rPr lang="en"/>
              <a:t>Compile time (when a program is compiled)</a:t>
            </a:r>
            <a:endParaRPr/>
          </a:p>
          <a:p>
            <a:pPr indent="-285750" lvl="1" marL="742950" rtl="0" algn="l">
              <a:spcBef>
                <a:spcPts val="400"/>
              </a:spcBef>
              <a:spcAft>
                <a:spcPts val="0"/>
              </a:spcAft>
              <a:buSzPts val="2200"/>
              <a:buChar char="○"/>
            </a:pPr>
            <a:r>
              <a:rPr lang="en"/>
              <a:t>Load time (when a program is loaded into memory)</a:t>
            </a:r>
            <a:endParaRPr/>
          </a:p>
          <a:p>
            <a:pPr indent="-285750" lvl="1" marL="742950" rtl="0" algn="l">
              <a:spcBef>
                <a:spcPts val="400"/>
              </a:spcBef>
              <a:spcAft>
                <a:spcPts val="0"/>
              </a:spcAft>
              <a:buSzPts val="2200"/>
              <a:buChar char="○"/>
            </a:pPr>
            <a:r>
              <a:rPr lang="en"/>
              <a:t>Run time (while a program is executing)</a:t>
            </a:r>
            <a:endParaRPr/>
          </a:p>
          <a:p>
            <a:pPr indent="-342900" lvl="0" marL="342900" rtl="0" algn="l">
              <a:spcBef>
                <a:spcPts val="480"/>
              </a:spcBef>
              <a:spcAft>
                <a:spcPts val="0"/>
              </a:spcAft>
              <a:buSzPts val="1440"/>
              <a:buChar char="●"/>
            </a:pPr>
            <a:r>
              <a:rPr lang="en"/>
              <a:t>Understanding linking can help you avoid nasty errors and make you a better programmer.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4"/>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rgbClr val="000000"/>
              </a:buClr>
              <a:buSzPts val="3500"/>
              <a:buFont typeface="Cambria"/>
              <a:buNone/>
            </a:pPr>
            <a:r>
              <a:rPr lang="en"/>
              <a:t>Position Independent Code:</a:t>
            </a:r>
            <a:endParaRPr/>
          </a:p>
        </p:txBody>
      </p:sp>
      <p:sp>
        <p:nvSpPr>
          <p:cNvPr id="476" name="Google Shape;476;p54"/>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a:bodyPr>
          <a:lstStyle/>
          <a:p>
            <a:pPr indent="-279400" lvl="0" marL="342900" rtl="0" algn="l">
              <a:spcBef>
                <a:spcPts val="400"/>
              </a:spcBef>
              <a:spcAft>
                <a:spcPts val="0"/>
              </a:spcAft>
              <a:buSzPts val="1800"/>
              <a:buChar char="●"/>
            </a:pPr>
            <a:r>
              <a:rPr lang="en"/>
              <a:t>The compiler flag “fpic” can be used to specify that you want your code to be compiled and linked without relying on the ELF starting at address 0x0.</a:t>
            </a:r>
            <a:endParaRPr/>
          </a:p>
          <a:p>
            <a:pPr indent="-279400" lvl="0" marL="342900" rtl="0" algn="l">
              <a:spcBef>
                <a:spcPts val="0"/>
              </a:spcBef>
              <a:spcAft>
                <a:spcPts val="0"/>
              </a:spcAft>
              <a:buSzPts val="1800"/>
              <a:buChar char="●"/>
            </a:pPr>
            <a:r>
              <a:rPr lang="en"/>
              <a:t>This makes your code larger and potentially slower but it means that you can create </a:t>
            </a:r>
            <a:r>
              <a:rPr lang="en">
                <a:solidFill>
                  <a:schemeClr val="dk1"/>
                </a:solidFill>
              </a:rPr>
              <a:t>a system object that can be </a:t>
            </a:r>
            <a:r>
              <a:rPr lang="en"/>
              <a:t>dynamic linked outside of your program’s ELF file.</a:t>
            </a:r>
            <a:endParaRPr/>
          </a:p>
          <a:p>
            <a:pPr indent="-279400" lvl="0" marL="342900" rtl="0" algn="l">
              <a:spcBef>
                <a:spcPts val="0"/>
              </a:spcBef>
              <a:spcAft>
                <a:spcPts val="0"/>
              </a:spcAft>
              <a:buSzPts val="1800"/>
              <a:buChar char="●"/>
            </a:pPr>
            <a:r>
              <a:rPr lang="en"/>
              <a:t>This has the advantage of being able to skip the “relocation” passes and allows programs to be loaded at arbitrary memory locations.</a:t>
            </a:r>
            <a:endParaRPr/>
          </a:p>
          <a:p>
            <a:pPr indent="-254000" lvl="1" marL="685800" rtl="0" algn="l">
              <a:spcBef>
                <a:spcPts val="0"/>
              </a:spcBef>
              <a:spcAft>
                <a:spcPts val="0"/>
              </a:spcAft>
              <a:buSzPts val="1400"/>
              <a:buChar char="○"/>
            </a:pPr>
            <a:r>
              <a:rPr lang="en"/>
              <a:t>Modern operating systems have a mechanism that allows all programs to think they are at address 0x0, so this is unnecessary.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5"/>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Case Study: Library Interpositioning</a:t>
            </a:r>
            <a:endParaRPr/>
          </a:p>
        </p:txBody>
      </p:sp>
      <p:sp>
        <p:nvSpPr>
          <p:cNvPr id="482" name="Google Shape;482;p55"/>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Library interpositioning : powerful linking technique that allows programmers to intercept calls to arbitrary functions</a:t>
            </a:r>
            <a:endParaRPr/>
          </a:p>
          <a:p>
            <a:pPr indent="-342900" lvl="0" marL="342900" rtl="0" algn="l">
              <a:spcBef>
                <a:spcPts val="480"/>
              </a:spcBef>
              <a:spcAft>
                <a:spcPts val="0"/>
              </a:spcAft>
              <a:buSzPts val="1440"/>
              <a:buChar char="●"/>
            </a:pPr>
            <a:r>
              <a:rPr lang="en"/>
              <a:t>Interpositioning can occur at:</a:t>
            </a:r>
            <a:endParaRPr/>
          </a:p>
          <a:p>
            <a:pPr indent="-285750" lvl="1" marL="742950" rtl="0" algn="l">
              <a:spcBef>
                <a:spcPts val="400"/>
              </a:spcBef>
              <a:spcAft>
                <a:spcPts val="0"/>
              </a:spcAft>
              <a:buSzPts val="2200"/>
              <a:buChar char="○"/>
            </a:pPr>
            <a:r>
              <a:rPr lang="en"/>
              <a:t>Compile time: When the source code is compiled	</a:t>
            </a:r>
            <a:endParaRPr/>
          </a:p>
          <a:p>
            <a:pPr indent="-285750" lvl="1" marL="742950" rtl="0" algn="l">
              <a:spcBef>
                <a:spcPts val="400"/>
              </a:spcBef>
              <a:spcAft>
                <a:spcPts val="0"/>
              </a:spcAft>
              <a:buSzPts val="2200"/>
              <a:buChar char="○"/>
            </a:pPr>
            <a:r>
              <a:rPr lang="en"/>
              <a:t>Link time: When the relocatable object files are statically linked to form an executable object file</a:t>
            </a:r>
            <a:endParaRPr/>
          </a:p>
          <a:p>
            <a:pPr indent="-285750" lvl="1" marL="742950" rtl="0" algn="l">
              <a:spcBef>
                <a:spcPts val="400"/>
              </a:spcBef>
              <a:spcAft>
                <a:spcPts val="0"/>
              </a:spcAft>
              <a:buSzPts val="2200"/>
              <a:buChar char="○"/>
            </a:pPr>
            <a:r>
              <a:rPr lang="en"/>
              <a:t>Load/run time: When an executable object file is loaded into memory, dynamically linked, and then executed.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6" name="Shape 486"/>
        <p:cNvGrpSpPr/>
        <p:nvPr/>
      </p:nvGrpSpPr>
      <p:grpSpPr>
        <a:xfrm>
          <a:off x="0" y="0"/>
          <a:ext cx="0" cy="0"/>
          <a:chOff x="0" y="0"/>
          <a:chExt cx="0" cy="0"/>
        </a:xfrm>
      </p:grpSpPr>
      <p:sp>
        <p:nvSpPr>
          <p:cNvPr id="487" name="Google Shape;487;p56"/>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Some Interpositioning Applications</a:t>
            </a:r>
            <a:endParaRPr/>
          </a:p>
        </p:txBody>
      </p:sp>
      <p:sp>
        <p:nvSpPr>
          <p:cNvPr id="488" name="Google Shape;488;p56"/>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457200" rtl="0" algn="l">
              <a:spcBef>
                <a:spcPts val="0"/>
              </a:spcBef>
              <a:spcAft>
                <a:spcPts val="0"/>
              </a:spcAft>
              <a:buSzPts val="1800"/>
              <a:buChar char="●"/>
            </a:pPr>
            <a:r>
              <a:rPr lang="en"/>
              <a:t>Security</a:t>
            </a:r>
            <a:endParaRPr/>
          </a:p>
          <a:p>
            <a:pPr indent="-317500" lvl="1" marL="914400" rtl="0" algn="l">
              <a:spcBef>
                <a:spcPts val="0"/>
              </a:spcBef>
              <a:spcAft>
                <a:spcPts val="0"/>
              </a:spcAft>
              <a:buSzPts val="1400"/>
              <a:buChar char="○"/>
            </a:pPr>
            <a:r>
              <a:rPr lang="en"/>
              <a:t>Confinement (sandboxing)</a:t>
            </a:r>
            <a:endParaRPr/>
          </a:p>
          <a:p>
            <a:pPr indent="-317500" lvl="1" marL="914400" rtl="0" algn="l">
              <a:spcBef>
                <a:spcPts val="0"/>
              </a:spcBef>
              <a:spcAft>
                <a:spcPts val="0"/>
              </a:spcAft>
              <a:buSzPts val="1400"/>
              <a:buChar char="○"/>
            </a:pPr>
            <a:r>
              <a:rPr lang="en"/>
              <a:t>Behind the scenes encryption</a:t>
            </a:r>
            <a:endParaRPr/>
          </a:p>
          <a:p>
            <a:pPr indent="-342900" lvl="0" marL="457200" rtl="0" algn="l">
              <a:spcBef>
                <a:spcPts val="0"/>
              </a:spcBef>
              <a:spcAft>
                <a:spcPts val="0"/>
              </a:spcAft>
              <a:buSzPts val="1800"/>
              <a:buChar char="●"/>
            </a:pPr>
            <a:r>
              <a:rPr lang="en"/>
              <a:t>Debugging</a:t>
            </a:r>
            <a:endParaRPr/>
          </a:p>
          <a:p>
            <a:pPr indent="-317500" lvl="1" marL="914400" rtl="0" algn="l">
              <a:spcBef>
                <a:spcPts val="0"/>
              </a:spcBef>
              <a:spcAft>
                <a:spcPts val="0"/>
              </a:spcAft>
              <a:buSzPts val="1400"/>
              <a:buChar char="○"/>
            </a:pPr>
            <a:r>
              <a:rPr lang="en"/>
              <a:t>In 2014, Facebook engineers found a 1-year old bug in their iPhone app using interpositioning</a:t>
            </a:r>
            <a:endParaRPr/>
          </a:p>
          <a:p>
            <a:pPr indent="-317500" lvl="1" marL="914400" rtl="0" algn="l">
              <a:spcBef>
                <a:spcPts val="0"/>
              </a:spcBef>
              <a:spcAft>
                <a:spcPts val="0"/>
              </a:spcAft>
              <a:buSzPts val="1400"/>
              <a:buChar char="○"/>
            </a:pPr>
            <a:r>
              <a:rPr lang="en"/>
              <a:t>Code in the SPDY networking stack was writing to the wrong location</a:t>
            </a:r>
            <a:endParaRPr/>
          </a:p>
          <a:p>
            <a:pPr indent="-317500" lvl="1" marL="914400" rtl="0" algn="l">
              <a:spcBef>
                <a:spcPts val="0"/>
              </a:spcBef>
              <a:spcAft>
                <a:spcPts val="0"/>
              </a:spcAft>
              <a:buSzPts val="1400"/>
              <a:buChar char="○"/>
            </a:pPr>
            <a:r>
              <a:rPr lang="en"/>
              <a:t>Solved by intercepting calls to Posix write functions (write, writev, pwrite)</a:t>
            </a:r>
            <a:endParaRPr/>
          </a:p>
          <a:p>
            <a:pPr indent="-330200" lvl="1" marL="914400" rtl="0" algn="l">
              <a:spcBef>
                <a:spcPts val="0"/>
              </a:spcBef>
              <a:spcAft>
                <a:spcPts val="0"/>
              </a:spcAft>
              <a:buSzPts val="1600"/>
              <a:buChar char="○"/>
            </a:pPr>
            <a:r>
              <a:rPr lang="en" sz="1600"/>
              <a:t>Source:  Facebook engineering blog post at</a:t>
            </a:r>
            <a:endParaRPr sz="1600"/>
          </a:p>
          <a:p>
            <a:pPr indent="-330200" lvl="1" marL="914400" rtl="0" algn="l">
              <a:spcBef>
                <a:spcPts val="0"/>
              </a:spcBef>
              <a:spcAft>
                <a:spcPts val="0"/>
              </a:spcAft>
              <a:buSzPts val="1600"/>
              <a:buChar char="○"/>
            </a:pPr>
            <a:r>
              <a:rPr lang="en" sz="1600">
                <a:latin typeface="Courier New"/>
                <a:ea typeface="Courier New"/>
                <a:cs typeface="Courier New"/>
                <a:sym typeface="Courier New"/>
              </a:rPr>
              <a:t>https://code.facebook.com/posts/313033472212144/debugging-file-corruption-on-ios/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2" name="Shape 492"/>
        <p:cNvGrpSpPr/>
        <p:nvPr/>
      </p:nvGrpSpPr>
      <p:grpSpPr>
        <a:xfrm>
          <a:off x="0" y="0"/>
          <a:ext cx="0" cy="0"/>
          <a:chOff x="0" y="0"/>
          <a:chExt cx="0" cy="0"/>
        </a:xfrm>
      </p:grpSpPr>
      <p:sp>
        <p:nvSpPr>
          <p:cNvPr id="493" name="Google Shape;493;p57"/>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More Interpositioning Applications</a:t>
            </a:r>
            <a:endParaRPr/>
          </a:p>
        </p:txBody>
      </p:sp>
      <p:sp>
        <p:nvSpPr>
          <p:cNvPr id="494" name="Google Shape;494;p57"/>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Monitoring and Profiling</a:t>
            </a:r>
            <a:endParaRPr/>
          </a:p>
          <a:p>
            <a:pPr indent="-285750" lvl="1" marL="742950" rtl="0" algn="l">
              <a:spcBef>
                <a:spcPts val="400"/>
              </a:spcBef>
              <a:spcAft>
                <a:spcPts val="0"/>
              </a:spcAft>
              <a:buSzPts val="2200"/>
              <a:buChar char="○"/>
            </a:pPr>
            <a:r>
              <a:rPr lang="en"/>
              <a:t>Count number of calls to functions</a:t>
            </a:r>
            <a:endParaRPr/>
          </a:p>
          <a:p>
            <a:pPr indent="-285750" lvl="1" marL="742950" rtl="0" algn="l">
              <a:spcBef>
                <a:spcPts val="400"/>
              </a:spcBef>
              <a:spcAft>
                <a:spcPts val="0"/>
              </a:spcAft>
              <a:buSzPts val="2200"/>
              <a:buChar char="○"/>
            </a:pPr>
            <a:r>
              <a:rPr lang="en"/>
              <a:t>Characterize call sites and arguments to functions</a:t>
            </a:r>
            <a:endParaRPr/>
          </a:p>
          <a:p>
            <a:pPr indent="-285750" lvl="1" marL="742950" rtl="0" algn="l">
              <a:spcBef>
                <a:spcPts val="400"/>
              </a:spcBef>
              <a:spcAft>
                <a:spcPts val="0"/>
              </a:spcAft>
              <a:buSzPts val="2200"/>
              <a:buChar char="○"/>
            </a:pPr>
            <a:r>
              <a:rPr lang="en"/>
              <a:t>Malloc tracing</a:t>
            </a:r>
            <a:endParaRPr/>
          </a:p>
          <a:p>
            <a:pPr indent="-228600" lvl="2" marL="1143000" rtl="0" algn="l">
              <a:spcBef>
                <a:spcPts val="400"/>
              </a:spcBef>
              <a:spcAft>
                <a:spcPts val="0"/>
              </a:spcAft>
              <a:buClr>
                <a:schemeClr val="dk1"/>
              </a:buClr>
              <a:buSzPts val="1600"/>
              <a:buChar char="■"/>
            </a:pPr>
            <a:r>
              <a:rPr lang="en"/>
              <a:t>Detecting memory leaks</a:t>
            </a:r>
            <a:endParaRPr/>
          </a:p>
          <a:p>
            <a:pPr indent="-228600" lvl="2" marL="1143000" rtl="0" algn="l">
              <a:spcBef>
                <a:spcPts val="400"/>
              </a:spcBef>
              <a:spcAft>
                <a:spcPts val="0"/>
              </a:spcAft>
              <a:buClr>
                <a:srgbClr val="C00000"/>
              </a:buClr>
              <a:buSzPts val="1600"/>
              <a:buChar char="■"/>
            </a:pPr>
            <a:r>
              <a:rPr b="1" lang="en">
                <a:solidFill>
                  <a:srgbClr val="C00000"/>
                </a:solidFill>
              </a:rPr>
              <a:t>Generating address traces</a:t>
            </a:r>
            <a:endParaRPr>
              <a:latin typeface="Courier New"/>
              <a:ea typeface="Courier New"/>
              <a:cs typeface="Courier New"/>
              <a:sym typeface="Courier New"/>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8" name="Shape 498"/>
        <p:cNvGrpSpPr/>
        <p:nvPr/>
      </p:nvGrpSpPr>
      <p:grpSpPr>
        <a:xfrm>
          <a:off x="0" y="0"/>
          <a:ext cx="0" cy="0"/>
          <a:chOff x="0" y="0"/>
          <a:chExt cx="0" cy="0"/>
        </a:xfrm>
      </p:grpSpPr>
      <p:sp>
        <p:nvSpPr>
          <p:cNvPr id="499" name="Google Shape;499;p5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Example program		</a:t>
            </a:r>
            <a:endParaRPr/>
          </a:p>
        </p:txBody>
      </p:sp>
      <p:sp>
        <p:nvSpPr>
          <p:cNvPr id="500" name="Google Shape;500;p58"/>
          <p:cNvSpPr txBox="1"/>
          <p:nvPr>
            <p:ph idx="1" type="body"/>
          </p:nvPr>
        </p:nvSpPr>
        <p:spPr>
          <a:xfrm>
            <a:off x="4038700" y="1152475"/>
            <a:ext cx="47937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Goal: trace the addresses and sizes of the allocated and freed blocks, without breaking the program, and without modifying the source code. </a:t>
            </a:r>
            <a:endParaRPr/>
          </a:p>
          <a:p>
            <a:pPr indent="-342900" lvl="0" marL="342900" rtl="0" algn="l">
              <a:spcBef>
                <a:spcPts val="480"/>
              </a:spcBef>
              <a:spcAft>
                <a:spcPts val="0"/>
              </a:spcAft>
              <a:buSzPts val="1440"/>
              <a:buChar char="●"/>
            </a:pPr>
            <a:r>
              <a:rPr lang="en"/>
              <a:t>Three solutions: interpose on the </a:t>
            </a:r>
            <a:r>
              <a:rPr lang="en">
                <a:latin typeface="Courier New"/>
                <a:ea typeface="Courier New"/>
                <a:cs typeface="Courier New"/>
                <a:sym typeface="Courier New"/>
              </a:rPr>
              <a:t>lib</a:t>
            </a:r>
            <a:r>
              <a:rPr lang="en"/>
              <a:t> </a:t>
            </a:r>
            <a:r>
              <a:rPr lang="en">
                <a:latin typeface="Courier New"/>
                <a:ea typeface="Courier New"/>
                <a:cs typeface="Courier New"/>
                <a:sym typeface="Courier New"/>
              </a:rPr>
              <a:t>malloc</a:t>
            </a:r>
            <a:r>
              <a:rPr lang="en"/>
              <a:t> and </a:t>
            </a:r>
            <a:r>
              <a:rPr lang="en">
                <a:latin typeface="Courier New"/>
                <a:ea typeface="Courier New"/>
                <a:cs typeface="Courier New"/>
                <a:sym typeface="Courier New"/>
              </a:rPr>
              <a:t>free</a:t>
            </a:r>
            <a:r>
              <a:rPr lang="en"/>
              <a:t> functions at compile time, link time, and load/run time. </a:t>
            </a:r>
            <a:endParaRPr/>
          </a:p>
        </p:txBody>
      </p:sp>
      <p:sp>
        <p:nvSpPr>
          <p:cNvPr id="501" name="Google Shape;501;p58"/>
          <p:cNvSpPr txBox="1"/>
          <p:nvPr/>
        </p:nvSpPr>
        <p:spPr>
          <a:xfrm>
            <a:off x="311694" y="1351192"/>
            <a:ext cx="3517200" cy="2310900"/>
          </a:xfrm>
          <a:prstGeom prst="rect">
            <a:avLst/>
          </a:prstGeom>
          <a:solidFill>
            <a:srgbClr val="F6F5BD"/>
          </a:solidFill>
          <a:ln cap="flat" cmpd="sng" w="12600">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spcBef>
                <a:spcPts val="0"/>
              </a:spcBef>
              <a:spcAft>
                <a:spcPts val="0"/>
              </a:spcAft>
              <a:buNone/>
            </a:pPr>
            <a:r>
              <a:rPr b="1" lang="en" sz="1800">
                <a:solidFill>
                  <a:srgbClr val="926492"/>
                </a:solidFill>
                <a:latin typeface="Arial"/>
                <a:ea typeface="Arial"/>
                <a:cs typeface="Arial"/>
                <a:sym typeface="Arial"/>
              </a:rPr>
              <a:t>#include</a:t>
            </a:r>
            <a:r>
              <a:rPr b="1" lang="en" sz="1800">
                <a:solidFill>
                  <a:srgbClr val="000000"/>
                </a:solidFill>
                <a:latin typeface="Arial"/>
                <a:ea typeface="Arial"/>
                <a:cs typeface="Arial"/>
                <a:sym typeface="Arial"/>
              </a:rPr>
              <a:t> </a:t>
            </a:r>
            <a:r>
              <a:rPr b="1" lang="en" sz="1800">
                <a:solidFill>
                  <a:srgbClr val="9D206F"/>
                </a:solidFill>
                <a:latin typeface="Arial"/>
                <a:ea typeface="Arial"/>
                <a:cs typeface="Arial"/>
                <a:sym typeface="Arial"/>
              </a:rPr>
              <a:t>&lt;stdio.h&gt;</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926492"/>
                </a:solidFill>
                <a:latin typeface="Arial"/>
                <a:ea typeface="Arial"/>
                <a:cs typeface="Arial"/>
                <a:sym typeface="Arial"/>
              </a:rPr>
              <a:t>#include</a:t>
            </a:r>
            <a:r>
              <a:rPr b="1" lang="en" sz="1800">
                <a:solidFill>
                  <a:srgbClr val="000000"/>
                </a:solidFill>
                <a:latin typeface="Arial"/>
                <a:ea typeface="Arial"/>
                <a:cs typeface="Arial"/>
                <a:sym typeface="Arial"/>
              </a:rPr>
              <a:t> </a:t>
            </a:r>
            <a:r>
              <a:rPr b="1" lang="en" sz="1800">
                <a:solidFill>
                  <a:srgbClr val="9D206F"/>
                </a:solidFill>
                <a:latin typeface="Arial"/>
                <a:ea typeface="Arial"/>
                <a:cs typeface="Arial"/>
                <a:sym typeface="Arial"/>
              </a:rPr>
              <a:t>&lt;malloc.h&gt;</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main</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p</a:t>
            </a:r>
            <a:r>
              <a:rPr b="1" lang="en" sz="1800">
                <a:solidFill>
                  <a:srgbClr val="000000"/>
                </a:solidFill>
                <a:latin typeface="Arial"/>
                <a:ea typeface="Arial"/>
                <a:cs typeface="Arial"/>
                <a:sym typeface="Arial"/>
              </a:rPr>
              <a:t> = malloc(32);</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free(p);</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C200FF"/>
                </a:solidFill>
                <a:latin typeface="Arial"/>
                <a:ea typeface="Arial"/>
                <a:cs typeface="Arial"/>
                <a:sym typeface="Arial"/>
              </a:rPr>
              <a:t>return</a:t>
            </a:r>
            <a:r>
              <a:rPr b="1" lang="en" sz="1800">
                <a:solidFill>
                  <a:srgbClr val="000000"/>
                </a:solidFill>
                <a:latin typeface="Arial"/>
                <a:ea typeface="Arial"/>
                <a:cs typeface="Arial"/>
                <a:sym typeface="Arial"/>
              </a:rPr>
              <a:t>(0);</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b="1" sz="1800">
              <a:solidFill>
                <a:schemeClr val="dk1"/>
              </a:solidFill>
              <a:latin typeface="Courier New"/>
              <a:ea typeface="Courier New"/>
              <a:cs typeface="Courier New"/>
              <a:sym typeface="Courier New"/>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5" name="Shape 505"/>
        <p:cNvGrpSpPr/>
        <p:nvPr/>
      </p:nvGrpSpPr>
      <p:grpSpPr>
        <a:xfrm>
          <a:off x="0" y="0"/>
          <a:ext cx="0" cy="0"/>
          <a:chOff x="0" y="0"/>
          <a:chExt cx="0" cy="0"/>
        </a:xfrm>
      </p:grpSpPr>
      <p:sp>
        <p:nvSpPr>
          <p:cNvPr id="506" name="Google Shape;506;p59"/>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Compile-time Interpositioning (code)</a:t>
            </a:r>
            <a:endParaRPr/>
          </a:p>
        </p:txBody>
      </p:sp>
      <p:sp>
        <p:nvSpPr>
          <p:cNvPr id="507" name="Google Shape;507;p59"/>
          <p:cNvSpPr/>
          <p:nvPr/>
        </p:nvSpPr>
        <p:spPr>
          <a:xfrm>
            <a:off x="370600" y="1126300"/>
            <a:ext cx="8558400" cy="3657600"/>
          </a:xfrm>
          <a:prstGeom prst="rect">
            <a:avLst/>
          </a:prstGeom>
          <a:solidFill>
            <a:srgbClr val="F7F5CD"/>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926492"/>
                </a:solidFill>
                <a:latin typeface="Arial"/>
                <a:ea typeface="Arial"/>
                <a:cs typeface="Arial"/>
                <a:sym typeface="Arial"/>
              </a:rPr>
              <a:t>#ifdef</a:t>
            </a:r>
            <a:r>
              <a:rPr b="1" lang="en" sz="1800">
                <a:solidFill>
                  <a:srgbClr val="000000"/>
                </a:solidFill>
                <a:latin typeface="Arial"/>
                <a:ea typeface="Arial"/>
                <a:cs typeface="Arial"/>
                <a:sym typeface="Arial"/>
              </a:rPr>
              <a:t> COMPILETIME</a:t>
            </a:r>
            <a:endParaRPr/>
          </a:p>
          <a:p>
            <a:pPr indent="0" lvl="0" marL="0" marR="0" rtl="0" algn="l">
              <a:spcBef>
                <a:spcPts val="0"/>
              </a:spcBef>
              <a:spcAft>
                <a:spcPts val="0"/>
              </a:spcAft>
              <a:buNone/>
            </a:pPr>
            <a:r>
              <a:rPr b="1" lang="en" sz="1800">
                <a:solidFill>
                  <a:srgbClr val="926492"/>
                </a:solidFill>
                <a:latin typeface="Arial"/>
                <a:ea typeface="Arial"/>
                <a:cs typeface="Arial"/>
                <a:sym typeface="Arial"/>
              </a:rPr>
              <a:t>#include</a:t>
            </a:r>
            <a:r>
              <a:rPr b="1" lang="en" sz="1800">
                <a:solidFill>
                  <a:srgbClr val="000000"/>
                </a:solidFill>
                <a:latin typeface="Arial"/>
                <a:ea typeface="Arial"/>
                <a:cs typeface="Arial"/>
                <a:sym typeface="Arial"/>
              </a:rPr>
              <a:t> </a:t>
            </a:r>
            <a:r>
              <a:rPr b="1" lang="en" sz="1800">
                <a:solidFill>
                  <a:srgbClr val="9D206F"/>
                </a:solidFill>
                <a:latin typeface="Arial"/>
                <a:ea typeface="Arial"/>
                <a:cs typeface="Arial"/>
                <a:sym typeface="Arial"/>
              </a:rPr>
              <a:t>&lt;stdio.h&gt;</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926492"/>
                </a:solidFill>
                <a:latin typeface="Arial"/>
                <a:ea typeface="Arial"/>
                <a:cs typeface="Arial"/>
                <a:sym typeface="Arial"/>
              </a:rPr>
              <a:t>#include</a:t>
            </a:r>
            <a:r>
              <a:rPr b="1" lang="en" sz="1800">
                <a:solidFill>
                  <a:srgbClr val="000000"/>
                </a:solidFill>
                <a:latin typeface="Arial"/>
                <a:ea typeface="Arial"/>
                <a:cs typeface="Arial"/>
                <a:sym typeface="Arial"/>
              </a:rPr>
              <a:t> </a:t>
            </a:r>
            <a:r>
              <a:rPr b="1" lang="en" sz="1800">
                <a:solidFill>
                  <a:srgbClr val="9D206F"/>
                </a:solidFill>
                <a:latin typeface="Arial"/>
                <a:ea typeface="Arial"/>
                <a:cs typeface="Arial"/>
                <a:sym typeface="Arial"/>
              </a:rPr>
              <a:t>&lt;malloc.h&gt;</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CB2418"/>
                </a:solidFill>
                <a:latin typeface="Arial"/>
                <a:ea typeface="Arial"/>
                <a:cs typeface="Arial"/>
                <a:sym typeface="Arial"/>
              </a:rPr>
              <a:t>/* malloc wrapper function */</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mymalloc</a:t>
            </a:r>
            <a:r>
              <a:rPr b="1" lang="en" sz="1800">
                <a:solidFill>
                  <a:srgbClr val="000000"/>
                </a:solidFill>
                <a:latin typeface="Arial"/>
                <a:ea typeface="Arial"/>
                <a:cs typeface="Arial"/>
                <a:sym typeface="Arial"/>
              </a:rPr>
              <a:t>(</a:t>
            </a:r>
            <a:r>
              <a:rPr b="1" lang="en" sz="1800">
                <a:solidFill>
                  <a:srgbClr val="2D961E"/>
                </a:solidFill>
                <a:latin typeface="Arial"/>
                <a:ea typeface="Arial"/>
                <a:cs typeface="Arial"/>
                <a:sym typeface="Arial"/>
              </a:rPr>
              <a:t>size_t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size</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ptr</a:t>
            </a:r>
            <a:r>
              <a:rPr b="1" lang="en" sz="1800">
                <a:solidFill>
                  <a:srgbClr val="000000"/>
                </a:solidFill>
                <a:latin typeface="Arial"/>
                <a:ea typeface="Arial"/>
                <a:cs typeface="Arial"/>
                <a:sym typeface="Arial"/>
              </a:rPr>
              <a:t> = malloc(size); printf(</a:t>
            </a:r>
            <a:r>
              <a:rPr b="1" lang="en" sz="1800">
                <a:solidFill>
                  <a:srgbClr val="9D206F"/>
                </a:solidFill>
                <a:latin typeface="Arial"/>
                <a:ea typeface="Arial"/>
                <a:cs typeface="Arial"/>
                <a:sym typeface="Arial"/>
              </a:rPr>
              <a:t>"malloc(%d)=%p\n"</a:t>
            </a: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)size, ptr);</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C200FF"/>
                </a:solidFill>
                <a:latin typeface="Arial"/>
                <a:ea typeface="Arial"/>
                <a:cs typeface="Arial"/>
                <a:sym typeface="Arial"/>
              </a:rPr>
              <a:t>return</a:t>
            </a:r>
            <a:r>
              <a:rPr b="1" lang="en" sz="1800">
                <a:solidFill>
                  <a:srgbClr val="000000"/>
                </a:solidFill>
                <a:latin typeface="Arial"/>
                <a:ea typeface="Arial"/>
                <a:cs typeface="Arial"/>
                <a:sym typeface="Arial"/>
              </a:rPr>
              <a:t> ptr;</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CB2418"/>
                </a:solidFill>
                <a:latin typeface="Arial"/>
                <a:ea typeface="Arial"/>
                <a:cs typeface="Arial"/>
                <a:sym typeface="Arial"/>
              </a:rPr>
              <a:t>/* free wrapper function */</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myfree</a:t>
            </a:r>
            <a:r>
              <a:rPr b="1" lang="en" sz="1800">
                <a:solidFill>
                  <a:srgbClr val="000000"/>
                </a:solidFill>
                <a:latin typeface="Arial"/>
                <a:ea typeface="Arial"/>
                <a:cs typeface="Arial"/>
                <a:sym typeface="Arial"/>
              </a:rPr>
              <a:t>(</a:t>
            </a: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ptr</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free(ptr);  printf(</a:t>
            </a:r>
            <a:r>
              <a:rPr b="1" lang="en" sz="1800">
                <a:solidFill>
                  <a:srgbClr val="9D206F"/>
                </a:solidFill>
                <a:latin typeface="Arial"/>
                <a:ea typeface="Arial"/>
                <a:cs typeface="Arial"/>
                <a:sym typeface="Arial"/>
              </a:rPr>
              <a:t>"free(%p)\n"</a:t>
            </a:r>
            <a:r>
              <a:rPr b="1" lang="en" sz="1800">
                <a:solidFill>
                  <a:srgbClr val="000000"/>
                </a:solidFill>
                <a:latin typeface="Arial"/>
                <a:ea typeface="Arial"/>
                <a:cs typeface="Arial"/>
                <a:sym typeface="Arial"/>
              </a:rPr>
              <a:t>, ptr);</a:t>
            </a:r>
            <a:r>
              <a:rPr lang="en"/>
              <a:t> </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926492"/>
                </a:solidFill>
                <a:latin typeface="Arial"/>
                <a:ea typeface="Arial"/>
                <a:cs typeface="Arial"/>
                <a:sym typeface="Arial"/>
              </a:rPr>
              <a:t>#endif</a:t>
            </a:r>
            <a:endParaRPr b="1" sz="1800">
              <a:solidFill>
                <a:schemeClr val="dk1"/>
              </a:solidFill>
              <a:latin typeface="Courier New"/>
              <a:ea typeface="Courier New"/>
              <a:cs typeface="Courier New"/>
              <a:sym typeface="Courier New"/>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1" name="Shape 511"/>
        <p:cNvGrpSpPr/>
        <p:nvPr/>
      </p:nvGrpSpPr>
      <p:grpSpPr>
        <a:xfrm>
          <a:off x="0" y="0"/>
          <a:ext cx="0" cy="0"/>
          <a:chOff x="0" y="0"/>
          <a:chExt cx="0" cy="0"/>
        </a:xfrm>
      </p:grpSpPr>
      <p:sp>
        <p:nvSpPr>
          <p:cNvPr id="512" name="Google Shape;512;p60"/>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Compile-time Interpositioning</a:t>
            </a:r>
            <a:endParaRPr/>
          </a:p>
        </p:txBody>
      </p:sp>
      <p:sp>
        <p:nvSpPr>
          <p:cNvPr id="513" name="Google Shape;513;p60"/>
          <p:cNvSpPr/>
          <p:nvPr/>
        </p:nvSpPr>
        <p:spPr>
          <a:xfrm>
            <a:off x="357018" y="1141705"/>
            <a:ext cx="8558400" cy="1315800"/>
          </a:xfrm>
          <a:prstGeom prst="rect">
            <a:avLst/>
          </a:prstGeom>
          <a:solidFill>
            <a:srgbClr val="F7F5CD"/>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926492"/>
                </a:solidFill>
                <a:latin typeface="Arial"/>
                <a:ea typeface="Arial"/>
                <a:cs typeface="Arial"/>
                <a:sym typeface="Arial"/>
              </a:rPr>
              <a:t>#define</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malloc</a:t>
            </a:r>
            <a:r>
              <a:rPr b="1" lang="en" sz="1800">
                <a:solidFill>
                  <a:srgbClr val="000000"/>
                </a:solidFill>
                <a:latin typeface="Arial"/>
                <a:ea typeface="Arial"/>
                <a:cs typeface="Arial"/>
                <a:sym typeface="Arial"/>
              </a:rPr>
              <a:t>(</a:t>
            </a:r>
            <a:r>
              <a:rPr b="1" lang="en" sz="1800">
                <a:solidFill>
                  <a:srgbClr val="C1651C"/>
                </a:solidFill>
                <a:latin typeface="Arial"/>
                <a:ea typeface="Arial"/>
                <a:cs typeface="Arial"/>
                <a:sym typeface="Arial"/>
              </a:rPr>
              <a:t>size</a:t>
            </a:r>
            <a:r>
              <a:rPr b="1" lang="en" sz="1800">
                <a:solidFill>
                  <a:srgbClr val="000000"/>
                </a:solidFill>
                <a:latin typeface="Arial"/>
                <a:ea typeface="Arial"/>
                <a:cs typeface="Arial"/>
                <a:sym typeface="Arial"/>
              </a:rPr>
              <a:t>) mymalloc(size)</a:t>
            </a:r>
            <a:endParaRPr/>
          </a:p>
          <a:p>
            <a:pPr indent="0" lvl="0" marL="0" marR="0" rtl="0" algn="l">
              <a:spcBef>
                <a:spcPts val="0"/>
              </a:spcBef>
              <a:spcAft>
                <a:spcPts val="0"/>
              </a:spcAft>
              <a:buNone/>
            </a:pPr>
            <a:r>
              <a:rPr b="1" lang="en" sz="1800">
                <a:solidFill>
                  <a:srgbClr val="926492"/>
                </a:solidFill>
                <a:latin typeface="Arial"/>
                <a:ea typeface="Arial"/>
                <a:cs typeface="Arial"/>
                <a:sym typeface="Arial"/>
              </a:rPr>
              <a:t>#define</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free</a:t>
            </a:r>
            <a:r>
              <a:rPr b="1" lang="en" sz="1800">
                <a:solidFill>
                  <a:srgbClr val="000000"/>
                </a:solidFill>
                <a:latin typeface="Arial"/>
                <a:ea typeface="Arial"/>
                <a:cs typeface="Arial"/>
                <a:sym typeface="Arial"/>
              </a:rPr>
              <a:t>(</a:t>
            </a:r>
            <a:r>
              <a:rPr b="1" lang="en" sz="1800">
                <a:solidFill>
                  <a:srgbClr val="C1651C"/>
                </a:solidFill>
                <a:latin typeface="Arial"/>
                <a:ea typeface="Arial"/>
                <a:cs typeface="Arial"/>
                <a:sym typeface="Arial"/>
              </a:rPr>
              <a:t>ptr</a:t>
            </a:r>
            <a:r>
              <a:rPr b="1" lang="en" sz="1800">
                <a:solidFill>
                  <a:srgbClr val="000000"/>
                </a:solidFill>
                <a:latin typeface="Arial"/>
                <a:ea typeface="Arial"/>
                <a:cs typeface="Arial"/>
                <a:sym typeface="Arial"/>
              </a:rPr>
              <a:t>) myfree(ptr)</a:t>
            </a:r>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mymalloc</a:t>
            </a:r>
            <a:r>
              <a:rPr b="1" lang="en" sz="1800">
                <a:solidFill>
                  <a:srgbClr val="000000"/>
                </a:solidFill>
                <a:latin typeface="Arial"/>
                <a:ea typeface="Arial"/>
                <a:cs typeface="Arial"/>
                <a:sym typeface="Arial"/>
              </a:rPr>
              <a:t>(</a:t>
            </a:r>
            <a:r>
              <a:rPr b="1" lang="en" sz="1800">
                <a:solidFill>
                  <a:srgbClr val="2D961E"/>
                </a:solidFill>
                <a:latin typeface="Arial"/>
                <a:ea typeface="Arial"/>
                <a:cs typeface="Arial"/>
                <a:sym typeface="Arial"/>
              </a:rPr>
              <a:t>size_t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size</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myfree</a:t>
            </a:r>
            <a:r>
              <a:rPr b="1" lang="en" sz="1800">
                <a:solidFill>
                  <a:srgbClr val="000000"/>
                </a:solidFill>
                <a:latin typeface="Arial"/>
                <a:ea typeface="Arial"/>
                <a:cs typeface="Arial"/>
                <a:sym typeface="Arial"/>
              </a:rPr>
              <a:t>(</a:t>
            </a: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ptr</a:t>
            </a:r>
            <a:r>
              <a:rPr b="1" lang="en" sz="1800">
                <a:solidFill>
                  <a:srgbClr val="000000"/>
                </a:solidFill>
                <a:latin typeface="Arial"/>
                <a:ea typeface="Arial"/>
                <a:cs typeface="Arial"/>
                <a:sym typeface="Arial"/>
              </a:rPr>
              <a:t>);</a:t>
            </a:r>
            <a:endParaRPr b="1" sz="1800">
              <a:solidFill>
                <a:schemeClr val="dk1"/>
              </a:solidFill>
              <a:latin typeface="Courier New"/>
              <a:ea typeface="Courier New"/>
              <a:cs typeface="Courier New"/>
              <a:sym typeface="Courier New"/>
            </a:endParaRPr>
          </a:p>
        </p:txBody>
      </p:sp>
      <p:sp>
        <p:nvSpPr>
          <p:cNvPr id="514" name="Google Shape;514;p60"/>
          <p:cNvSpPr/>
          <p:nvPr/>
        </p:nvSpPr>
        <p:spPr>
          <a:xfrm>
            <a:off x="363811" y="2593916"/>
            <a:ext cx="7592100" cy="2237400"/>
          </a:xfrm>
          <a:prstGeom prst="rect">
            <a:avLst/>
          </a:prstGeom>
          <a:solidFill>
            <a:srgbClr val="E6E6E6"/>
          </a:solid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rgbClr val="C00000"/>
                </a:solidFill>
                <a:latin typeface="Courier New"/>
                <a:ea typeface="Courier New"/>
                <a:cs typeface="Courier New"/>
                <a:sym typeface="Courier New"/>
              </a:rPr>
              <a:t>linux&gt; make intc</a:t>
            </a:r>
            <a:endParaRPr sz="1800">
              <a:solidFill>
                <a:srgbClr val="C00000"/>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gcc -Wall -DCOMPILETIME -c mymalloc.c</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gcc -Wall -I. -o intc int.c mymalloc.o</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 sz="1800">
                <a:solidFill>
                  <a:srgbClr val="C00000"/>
                </a:solidFill>
                <a:latin typeface="Courier New"/>
                <a:ea typeface="Courier New"/>
                <a:cs typeface="Courier New"/>
                <a:sym typeface="Courier New"/>
              </a:rPr>
              <a:t>linux&gt; make runc</a:t>
            </a:r>
            <a:endParaRPr sz="1800">
              <a:solidFill>
                <a:srgbClr val="C00000"/>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./intc</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malloc(32)=0x1edc010</a:t>
            </a:r>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free(0x1edc010)</a:t>
            </a:r>
            <a:endParaRPr/>
          </a:p>
          <a:p>
            <a:pPr indent="0" lvl="0" marL="0" marR="0" rtl="0" algn="l">
              <a:spcBef>
                <a:spcPts val="0"/>
              </a:spcBef>
              <a:spcAft>
                <a:spcPts val="0"/>
              </a:spcAft>
              <a:buNone/>
            </a:pPr>
            <a:r>
              <a:rPr lang="en" sz="1800">
                <a:solidFill>
                  <a:srgbClr val="C00000"/>
                </a:solidFill>
                <a:latin typeface="Courier New"/>
                <a:ea typeface="Courier New"/>
                <a:cs typeface="Courier New"/>
                <a:sym typeface="Courier New"/>
              </a:rPr>
              <a:t>linux&gt;</a:t>
            </a:r>
            <a:endParaRPr sz="1800">
              <a:solidFill>
                <a:srgbClr val="C00000"/>
              </a:solidFill>
              <a:latin typeface="Courier New"/>
              <a:ea typeface="Courier New"/>
              <a:cs typeface="Courier New"/>
              <a:sym typeface="Courier New"/>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8" name="Shape 518"/>
        <p:cNvGrpSpPr/>
        <p:nvPr/>
      </p:nvGrpSpPr>
      <p:grpSpPr>
        <a:xfrm>
          <a:off x="0" y="0"/>
          <a:ext cx="0" cy="0"/>
          <a:chOff x="0" y="0"/>
          <a:chExt cx="0" cy="0"/>
        </a:xfrm>
      </p:grpSpPr>
      <p:sp>
        <p:nvSpPr>
          <p:cNvPr id="519" name="Google Shape;519;p61"/>
          <p:cNvSpPr txBox="1"/>
          <p:nvPr>
            <p:ph type="title"/>
          </p:nvPr>
        </p:nvSpPr>
        <p:spPr>
          <a:xfrm>
            <a:off x="311700" y="200750"/>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Link-time Interpositioning (code)</a:t>
            </a:r>
            <a:endParaRPr/>
          </a:p>
        </p:txBody>
      </p:sp>
      <p:sp>
        <p:nvSpPr>
          <p:cNvPr id="520" name="Google Shape;520;p61"/>
          <p:cNvSpPr/>
          <p:nvPr/>
        </p:nvSpPr>
        <p:spPr>
          <a:xfrm>
            <a:off x="343450" y="927225"/>
            <a:ext cx="8558400" cy="3910800"/>
          </a:xfrm>
          <a:prstGeom prst="rect">
            <a:avLst/>
          </a:prstGeom>
          <a:solidFill>
            <a:srgbClr val="F7F5CD"/>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800">
                <a:solidFill>
                  <a:srgbClr val="926492"/>
                </a:solidFill>
                <a:latin typeface="Arial"/>
                <a:ea typeface="Arial"/>
                <a:cs typeface="Arial"/>
                <a:sym typeface="Arial"/>
              </a:rPr>
              <a:t>#ifdef</a:t>
            </a:r>
            <a:r>
              <a:rPr b="1" lang="en" sz="1800">
                <a:solidFill>
                  <a:srgbClr val="000000"/>
                </a:solidFill>
                <a:latin typeface="Arial"/>
                <a:ea typeface="Arial"/>
                <a:cs typeface="Arial"/>
                <a:sym typeface="Arial"/>
              </a:rPr>
              <a:t> LINKTIME</a:t>
            </a:r>
            <a:endParaRPr/>
          </a:p>
          <a:p>
            <a:pPr indent="0" lvl="0" marL="0" marR="0" rtl="0" algn="l">
              <a:spcBef>
                <a:spcPts val="0"/>
              </a:spcBef>
              <a:spcAft>
                <a:spcPts val="0"/>
              </a:spcAft>
              <a:buNone/>
            </a:pPr>
            <a:r>
              <a:rPr b="1" lang="en" sz="1800">
                <a:solidFill>
                  <a:srgbClr val="926492"/>
                </a:solidFill>
                <a:latin typeface="Arial"/>
                <a:ea typeface="Arial"/>
                <a:cs typeface="Arial"/>
                <a:sym typeface="Arial"/>
              </a:rPr>
              <a:t>#include</a:t>
            </a:r>
            <a:r>
              <a:rPr b="1" lang="en" sz="1800">
                <a:solidFill>
                  <a:srgbClr val="000000"/>
                </a:solidFill>
                <a:latin typeface="Arial"/>
                <a:ea typeface="Arial"/>
                <a:cs typeface="Arial"/>
                <a:sym typeface="Arial"/>
              </a:rPr>
              <a:t> </a:t>
            </a:r>
            <a:r>
              <a:rPr b="1" lang="en" sz="1800">
                <a:solidFill>
                  <a:srgbClr val="9D206F"/>
                </a:solidFill>
                <a:latin typeface="Arial"/>
                <a:ea typeface="Arial"/>
                <a:cs typeface="Arial"/>
                <a:sym typeface="Arial"/>
              </a:rPr>
              <a:t>&lt;stdio.h&gt;</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__real_malloc</a:t>
            </a:r>
            <a:r>
              <a:rPr b="1" lang="en" sz="1800">
                <a:solidFill>
                  <a:srgbClr val="000000"/>
                </a:solidFill>
                <a:latin typeface="Arial"/>
                <a:ea typeface="Arial"/>
                <a:cs typeface="Arial"/>
                <a:sym typeface="Arial"/>
              </a:rPr>
              <a:t>(</a:t>
            </a:r>
            <a:r>
              <a:rPr b="1" lang="en" sz="1800">
                <a:solidFill>
                  <a:srgbClr val="2D961E"/>
                </a:solidFill>
                <a:latin typeface="Arial"/>
                <a:ea typeface="Arial"/>
                <a:cs typeface="Arial"/>
                <a:sym typeface="Arial"/>
              </a:rPr>
              <a:t>size_t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size</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__real_free</a:t>
            </a:r>
            <a:r>
              <a:rPr b="1" lang="en" sz="1800">
                <a:solidFill>
                  <a:srgbClr val="000000"/>
                </a:solidFill>
                <a:latin typeface="Arial"/>
                <a:ea typeface="Arial"/>
                <a:cs typeface="Arial"/>
                <a:sym typeface="Arial"/>
              </a:rPr>
              <a:t>(</a:t>
            </a: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ptr</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CB2418"/>
                </a:solidFill>
                <a:latin typeface="Arial"/>
                <a:ea typeface="Arial"/>
                <a:cs typeface="Arial"/>
                <a:sym typeface="Arial"/>
              </a:rPr>
              <a:t>/* malloc wrapper function */</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__wrap_malloc</a:t>
            </a:r>
            <a:r>
              <a:rPr b="1" lang="en" sz="1800">
                <a:solidFill>
                  <a:srgbClr val="000000"/>
                </a:solidFill>
                <a:latin typeface="Arial"/>
                <a:ea typeface="Arial"/>
                <a:cs typeface="Arial"/>
                <a:sym typeface="Arial"/>
              </a:rPr>
              <a:t>(</a:t>
            </a:r>
            <a:r>
              <a:rPr b="1" lang="en" sz="1800">
                <a:solidFill>
                  <a:srgbClr val="2D961E"/>
                </a:solidFill>
                <a:latin typeface="Arial"/>
                <a:ea typeface="Arial"/>
                <a:cs typeface="Arial"/>
                <a:sym typeface="Arial"/>
              </a:rPr>
              <a:t>size_t</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size</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ptr</a:t>
            </a:r>
            <a:r>
              <a:rPr b="1" lang="en" sz="1800">
                <a:solidFill>
                  <a:srgbClr val="000000"/>
                </a:solidFill>
                <a:latin typeface="Arial"/>
                <a:ea typeface="Arial"/>
                <a:cs typeface="Arial"/>
                <a:sym typeface="Arial"/>
              </a:rPr>
              <a:t> = __real_malloc(size); </a:t>
            </a:r>
            <a:r>
              <a:rPr b="1" lang="en" sz="1800">
                <a:solidFill>
                  <a:srgbClr val="CB2418"/>
                </a:solidFill>
                <a:latin typeface="Arial"/>
                <a:ea typeface="Arial"/>
                <a:cs typeface="Arial"/>
                <a:sym typeface="Arial"/>
              </a:rPr>
              <a:t>/* Call libc malloc */</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printf(</a:t>
            </a:r>
            <a:r>
              <a:rPr b="1" lang="en" sz="1800">
                <a:solidFill>
                  <a:srgbClr val="9D206F"/>
                </a:solidFill>
                <a:latin typeface="Arial"/>
                <a:ea typeface="Arial"/>
                <a:cs typeface="Arial"/>
                <a:sym typeface="Arial"/>
              </a:rPr>
              <a:t>"malloc(%d) = %p\n"</a:t>
            </a:r>
            <a:r>
              <a:rPr b="1" lang="en" sz="1800">
                <a:solidFill>
                  <a:srgbClr val="000000"/>
                </a:solidFill>
                <a:latin typeface="Arial"/>
                <a:ea typeface="Arial"/>
                <a:cs typeface="Arial"/>
                <a:sym typeface="Arial"/>
              </a:rPr>
              <a:t>, (</a:t>
            </a:r>
            <a:r>
              <a:rPr b="1" lang="en" sz="1800">
                <a:solidFill>
                  <a:srgbClr val="2D961E"/>
                </a:solidFill>
                <a:latin typeface="Arial"/>
                <a:ea typeface="Arial"/>
                <a:cs typeface="Arial"/>
                <a:sym typeface="Arial"/>
              </a:rPr>
              <a:t>int</a:t>
            </a:r>
            <a:r>
              <a:rPr b="1" lang="en" sz="1800">
                <a:solidFill>
                  <a:srgbClr val="000000"/>
                </a:solidFill>
                <a:latin typeface="Arial"/>
                <a:ea typeface="Arial"/>
                <a:cs typeface="Arial"/>
                <a:sym typeface="Arial"/>
              </a:rPr>
              <a:t>)size, ptr);    </a:t>
            </a:r>
            <a:r>
              <a:rPr b="1" lang="en" sz="1800">
                <a:solidFill>
                  <a:srgbClr val="C200FF"/>
                </a:solidFill>
                <a:latin typeface="Arial"/>
                <a:ea typeface="Arial"/>
                <a:cs typeface="Arial"/>
                <a:sym typeface="Arial"/>
              </a:rPr>
              <a:t>return</a:t>
            </a:r>
            <a:r>
              <a:rPr b="1" lang="en" sz="1800">
                <a:solidFill>
                  <a:srgbClr val="000000"/>
                </a:solidFill>
                <a:latin typeface="Arial"/>
                <a:ea typeface="Arial"/>
                <a:cs typeface="Arial"/>
                <a:sym typeface="Arial"/>
              </a:rPr>
              <a:t> ptr;</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CB2418"/>
                </a:solidFill>
                <a:latin typeface="Arial"/>
                <a:ea typeface="Arial"/>
                <a:cs typeface="Arial"/>
                <a:sym typeface="Arial"/>
              </a:rPr>
              <a:t>/* free wrapper function */</a:t>
            </a:r>
            <a:endParaRPr b="1" sz="1800">
              <a:solidFill>
                <a:srgbClr val="000000"/>
              </a:solidFill>
              <a:latin typeface="Arial"/>
              <a:ea typeface="Arial"/>
              <a:cs typeface="Arial"/>
              <a:sym typeface="Arial"/>
            </a:endParaRPr>
          </a:p>
          <a:p>
            <a:pPr indent="0" lvl="0" marL="0" marR="0" rtl="0" algn="l">
              <a:spcBef>
                <a:spcPts val="0"/>
              </a:spcBef>
              <a:spcAft>
                <a:spcPts val="0"/>
              </a:spcAft>
              <a:buNone/>
            </a:pP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4A00FF"/>
                </a:solidFill>
                <a:latin typeface="Arial"/>
                <a:ea typeface="Arial"/>
                <a:cs typeface="Arial"/>
                <a:sym typeface="Arial"/>
              </a:rPr>
              <a:t>__wrap_free</a:t>
            </a:r>
            <a:r>
              <a:rPr b="1" lang="en" sz="1800">
                <a:solidFill>
                  <a:srgbClr val="000000"/>
                </a:solidFill>
                <a:latin typeface="Arial"/>
                <a:ea typeface="Arial"/>
                <a:cs typeface="Arial"/>
                <a:sym typeface="Arial"/>
              </a:rPr>
              <a:t>(</a:t>
            </a:r>
            <a:r>
              <a:rPr b="1" lang="en" sz="1800">
                <a:solidFill>
                  <a:srgbClr val="2D961E"/>
                </a:solidFill>
                <a:latin typeface="Arial"/>
                <a:ea typeface="Arial"/>
                <a:cs typeface="Arial"/>
                <a:sym typeface="Arial"/>
              </a:rPr>
              <a:t>void</a:t>
            </a:r>
            <a:r>
              <a:rPr b="1" lang="en" sz="1800">
                <a:solidFill>
                  <a:srgbClr val="000000"/>
                </a:solidFill>
                <a:latin typeface="Arial"/>
                <a:ea typeface="Arial"/>
                <a:cs typeface="Arial"/>
                <a:sym typeface="Arial"/>
              </a:rPr>
              <a:t> *</a:t>
            </a:r>
            <a:r>
              <a:rPr b="1" lang="en" sz="1800">
                <a:solidFill>
                  <a:srgbClr val="C1651C"/>
                </a:solidFill>
                <a:latin typeface="Arial"/>
                <a:ea typeface="Arial"/>
                <a:cs typeface="Arial"/>
                <a:sym typeface="Arial"/>
              </a:rPr>
              <a:t>ptr</a:t>
            </a:r>
            <a:r>
              <a:rPr b="1" lang="en" sz="18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800">
                <a:solidFill>
                  <a:srgbClr val="000000"/>
                </a:solidFill>
                <a:latin typeface="Arial"/>
                <a:ea typeface="Arial"/>
                <a:cs typeface="Arial"/>
                <a:sym typeface="Arial"/>
              </a:rPr>
              <a:t>{    __real_free(ptr); </a:t>
            </a:r>
            <a:r>
              <a:rPr b="1" lang="en" sz="1800">
                <a:solidFill>
                  <a:srgbClr val="CB2418"/>
                </a:solidFill>
                <a:latin typeface="Arial"/>
                <a:ea typeface="Arial"/>
                <a:cs typeface="Arial"/>
                <a:sym typeface="Arial"/>
              </a:rPr>
              <a:t>/* Call libc free */</a:t>
            </a:r>
            <a:r>
              <a:rPr b="1" lang="en" sz="1800">
                <a:solidFill>
                  <a:srgbClr val="000000"/>
                </a:solidFill>
                <a:latin typeface="Arial"/>
                <a:ea typeface="Arial"/>
                <a:cs typeface="Arial"/>
                <a:sym typeface="Arial"/>
              </a:rPr>
              <a:t>    printf(</a:t>
            </a:r>
            <a:r>
              <a:rPr b="1" lang="en" sz="1800">
                <a:solidFill>
                  <a:srgbClr val="9D206F"/>
                </a:solidFill>
                <a:latin typeface="Arial"/>
                <a:ea typeface="Arial"/>
                <a:cs typeface="Arial"/>
                <a:sym typeface="Arial"/>
              </a:rPr>
              <a:t>"free(%p)\n"</a:t>
            </a:r>
            <a:r>
              <a:rPr b="1" lang="en" sz="1800">
                <a:solidFill>
                  <a:srgbClr val="000000"/>
                </a:solidFill>
                <a:latin typeface="Arial"/>
                <a:ea typeface="Arial"/>
                <a:cs typeface="Arial"/>
                <a:sym typeface="Arial"/>
              </a:rPr>
              <a:t>, ptr);}</a:t>
            </a:r>
            <a:endParaRPr/>
          </a:p>
          <a:p>
            <a:pPr indent="0" lvl="0" marL="0" marR="0" rtl="0" algn="l">
              <a:spcBef>
                <a:spcPts val="0"/>
              </a:spcBef>
              <a:spcAft>
                <a:spcPts val="0"/>
              </a:spcAft>
              <a:buNone/>
            </a:pPr>
            <a:r>
              <a:rPr b="1" lang="en" sz="1800">
                <a:solidFill>
                  <a:srgbClr val="926492"/>
                </a:solidFill>
                <a:latin typeface="Arial"/>
                <a:ea typeface="Arial"/>
                <a:cs typeface="Arial"/>
                <a:sym typeface="Arial"/>
              </a:rPr>
              <a:t>#endif</a:t>
            </a:r>
            <a:endParaRPr b="1" sz="1800">
              <a:solidFill>
                <a:schemeClr val="dk1"/>
              </a:solidFill>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4" name="Shape 524"/>
        <p:cNvGrpSpPr/>
        <p:nvPr/>
      </p:nvGrpSpPr>
      <p:grpSpPr>
        <a:xfrm>
          <a:off x="0" y="0"/>
          <a:ext cx="0" cy="0"/>
          <a:chOff x="0" y="0"/>
          <a:chExt cx="0" cy="0"/>
        </a:xfrm>
      </p:grpSpPr>
      <p:sp>
        <p:nvSpPr>
          <p:cNvPr id="525" name="Google Shape;525;p62"/>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Link-time Interpositioning</a:t>
            </a:r>
            <a:endParaRPr/>
          </a:p>
        </p:txBody>
      </p:sp>
      <p:sp>
        <p:nvSpPr>
          <p:cNvPr id="526" name="Google Shape;526;p62"/>
          <p:cNvSpPr txBox="1"/>
          <p:nvPr>
            <p:ph idx="1" type="body"/>
          </p:nvPr>
        </p:nvSpPr>
        <p:spPr>
          <a:xfrm>
            <a:off x="311700" y="3528650"/>
            <a:ext cx="8520600" cy="1431600"/>
          </a:xfrm>
          <a:prstGeom prst="rect">
            <a:avLst/>
          </a:prstGeom>
          <a:noFill/>
          <a:ln>
            <a:noFill/>
          </a:ln>
        </p:spPr>
        <p:txBody>
          <a:bodyPr anchorCtr="0" anchor="t" bIns="45700" lIns="91425" spcFirstLastPara="1" rIns="91425" wrap="square" tIns="45700">
            <a:normAutofit fontScale="92500" lnSpcReduction="10000"/>
          </a:bodyPr>
          <a:lstStyle/>
          <a:p>
            <a:pPr indent="-336042" lvl="0" marL="342900" rtl="0" algn="l">
              <a:spcBef>
                <a:spcPts val="0"/>
              </a:spcBef>
              <a:spcAft>
                <a:spcPts val="0"/>
              </a:spcAft>
              <a:buSzPct val="80000"/>
              <a:buChar char="●"/>
            </a:pPr>
            <a:r>
              <a:rPr lang="en"/>
              <a:t>The “</a:t>
            </a:r>
            <a:r>
              <a:rPr lang="en">
                <a:latin typeface="Courier New"/>
                <a:ea typeface="Courier New"/>
                <a:cs typeface="Courier New"/>
                <a:sym typeface="Courier New"/>
              </a:rPr>
              <a:t>-Wl</a:t>
            </a:r>
            <a:r>
              <a:rPr lang="en"/>
              <a:t>” flag passes argument to linker, replacing each comma with a space. </a:t>
            </a:r>
            <a:endParaRPr/>
          </a:p>
          <a:p>
            <a:pPr indent="-336042" lvl="0" marL="342900" rtl="0" algn="l">
              <a:spcBef>
                <a:spcPts val="480"/>
              </a:spcBef>
              <a:spcAft>
                <a:spcPts val="0"/>
              </a:spcAft>
              <a:buSzPct val="80000"/>
              <a:buChar char="●"/>
            </a:pPr>
            <a:r>
              <a:rPr lang="en"/>
              <a:t>The  “</a:t>
            </a:r>
            <a:r>
              <a:rPr lang="en">
                <a:latin typeface="Courier New"/>
                <a:ea typeface="Courier New"/>
                <a:cs typeface="Courier New"/>
                <a:sym typeface="Courier New"/>
              </a:rPr>
              <a:t>--wrap,malloc</a:t>
            </a:r>
            <a:r>
              <a:rPr lang="en"/>
              <a:t> ”</a:t>
            </a:r>
            <a:r>
              <a:rPr lang="en">
                <a:latin typeface="Courier New"/>
                <a:ea typeface="Courier New"/>
                <a:cs typeface="Courier New"/>
                <a:sym typeface="Courier New"/>
              </a:rPr>
              <a:t> arg </a:t>
            </a:r>
            <a:r>
              <a:rPr lang="en"/>
              <a:t>instructs linker to resolve references in a special way:</a:t>
            </a:r>
            <a:endParaRPr/>
          </a:p>
          <a:p>
            <a:pPr indent="-275273" lvl="1" marL="742950" rtl="0" algn="l">
              <a:spcBef>
                <a:spcPts val="400"/>
              </a:spcBef>
              <a:spcAft>
                <a:spcPts val="0"/>
              </a:spcAft>
              <a:buSzPct val="157143"/>
              <a:buChar char="○"/>
            </a:pPr>
            <a:r>
              <a:rPr lang="en"/>
              <a:t>Refs to </a:t>
            </a:r>
            <a:r>
              <a:rPr lang="en">
                <a:latin typeface="Courier New"/>
                <a:ea typeface="Courier New"/>
                <a:cs typeface="Courier New"/>
                <a:sym typeface="Courier New"/>
              </a:rPr>
              <a:t>malloc</a:t>
            </a:r>
            <a:r>
              <a:rPr lang="en"/>
              <a:t> should be resolved as </a:t>
            </a:r>
            <a:r>
              <a:rPr lang="en">
                <a:latin typeface="Courier New"/>
                <a:ea typeface="Courier New"/>
                <a:cs typeface="Courier New"/>
                <a:sym typeface="Courier New"/>
              </a:rPr>
              <a:t>__wrap_malloc</a:t>
            </a:r>
            <a:endParaRPr>
              <a:latin typeface="Courier New"/>
              <a:ea typeface="Courier New"/>
              <a:cs typeface="Courier New"/>
              <a:sym typeface="Courier New"/>
            </a:endParaRPr>
          </a:p>
          <a:p>
            <a:pPr indent="-275273" lvl="1" marL="742950" rtl="0" algn="l">
              <a:spcBef>
                <a:spcPts val="400"/>
              </a:spcBef>
              <a:spcAft>
                <a:spcPts val="0"/>
              </a:spcAft>
              <a:buSzPct val="157143"/>
              <a:buChar char="○"/>
            </a:pPr>
            <a:r>
              <a:rPr lang="en">
                <a:latin typeface="Calibri"/>
                <a:ea typeface="Calibri"/>
                <a:cs typeface="Calibri"/>
                <a:sym typeface="Calibri"/>
              </a:rPr>
              <a:t>Refs to </a:t>
            </a:r>
            <a:r>
              <a:rPr lang="en"/>
              <a:t>  </a:t>
            </a:r>
            <a:r>
              <a:rPr lang="en">
                <a:latin typeface="Courier New"/>
                <a:ea typeface="Courier New"/>
                <a:cs typeface="Courier New"/>
                <a:sym typeface="Courier New"/>
              </a:rPr>
              <a:t>__real_malloc</a:t>
            </a:r>
            <a:r>
              <a:rPr lang="en"/>
              <a:t> should be resolved as </a:t>
            </a:r>
            <a:r>
              <a:rPr lang="en">
                <a:latin typeface="Courier New"/>
                <a:ea typeface="Courier New"/>
                <a:cs typeface="Courier New"/>
                <a:sym typeface="Courier New"/>
              </a:rPr>
              <a:t>malloc</a:t>
            </a:r>
            <a:endParaRPr/>
          </a:p>
        </p:txBody>
      </p:sp>
      <p:sp>
        <p:nvSpPr>
          <p:cNvPr id="527" name="Google Shape;527;p62"/>
          <p:cNvSpPr/>
          <p:nvPr/>
        </p:nvSpPr>
        <p:spPr>
          <a:xfrm>
            <a:off x="357025" y="975650"/>
            <a:ext cx="7896300" cy="2553000"/>
          </a:xfrm>
          <a:prstGeom prst="rect">
            <a:avLst/>
          </a:prstGeom>
          <a:solidFill>
            <a:srgbClr val="E6E6E6"/>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rgbClr val="C00000"/>
                </a:solidFill>
                <a:latin typeface="Courier New"/>
                <a:ea typeface="Courier New"/>
                <a:cs typeface="Courier New"/>
                <a:sym typeface="Courier New"/>
              </a:rPr>
              <a:t>linux&gt; make intl</a:t>
            </a:r>
            <a:endParaRPr sz="1800">
              <a:solidFill>
                <a:srgbClr val="C00000"/>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gcc -Wall -DLINKTIME -c mymalloc.c</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gcc -Wall -c int.c</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gcc -Wall -Wl,--wrap,malloc -Wl,--wrap,free -o intl int.o mymalloc.o</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 sz="1800">
                <a:solidFill>
                  <a:srgbClr val="C00000"/>
                </a:solidFill>
                <a:latin typeface="Courier New"/>
                <a:ea typeface="Courier New"/>
                <a:cs typeface="Courier New"/>
                <a:sym typeface="Courier New"/>
              </a:rPr>
              <a:t>linux&gt; make runl</a:t>
            </a:r>
            <a:endParaRPr sz="1800">
              <a:solidFill>
                <a:srgbClr val="C00000"/>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./intl</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malloc(32) = 0x1aa0010</a:t>
            </a:r>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free(0x1aa0010)</a:t>
            </a:r>
            <a:endParaRPr sz="1800">
              <a:solidFill>
                <a:schemeClr val="dk1"/>
              </a:solidFill>
              <a:latin typeface="Courier New"/>
              <a:ea typeface="Courier New"/>
              <a:cs typeface="Courier New"/>
              <a:sym typeface="Courier New"/>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1" name="Shape 531"/>
        <p:cNvGrpSpPr/>
        <p:nvPr/>
      </p:nvGrpSpPr>
      <p:grpSpPr>
        <a:xfrm>
          <a:off x="0" y="0"/>
          <a:ext cx="0" cy="0"/>
          <a:chOff x="0" y="0"/>
          <a:chExt cx="0" cy="0"/>
        </a:xfrm>
      </p:grpSpPr>
      <p:sp>
        <p:nvSpPr>
          <p:cNvPr id="532" name="Google Shape;532;p63"/>
          <p:cNvSpPr/>
          <p:nvPr/>
        </p:nvSpPr>
        <p:spPr>
          <a:xfrm>
            <a:off x="152400" y="801156"/>
            <a:ext cx="8915400" cy="4016700"/>
          </a:xfrm>
          <a:prstGeom prst="rect">
            <a:avLst/>
          </a:prstGeom>
          <a:solidFill>
            <a:srgbClr val="F7F5CD"/>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600">
                <a:solidFill>
                  <a:srgbClr val="926492"/>
                </a:solidFill>
                <a:latin typeface="Arial"/>
                <a:ea typeface="Arial"/>
                <a:cs typeface="Arial"/>
                <a:sym typeface="Arial"/>
              </a:rPr>
              <a:t>#ifdef</a:t>
            </a:r>
            <a:r>
              <a:rPr b="1" lang="en" sz="1600">
                <a:solidFill>
                  <a:srgbClr val="000000"/>
                </a:solidFill>
                <a:latin typeface="Arial"/>
                <a:ea typeface="Arial"/>
                <a:cs typeface="Arial"/>
                <a:sym typeface="Arial"/>
              </a:rPr>
              <a:t> RUNTIME</a:t>
            </a:r>
            <a:endParaRPr/>
          </a:p>
          <a:p>
            <a:pPr indent="0" lvl="0" marL="0" marR="0" rtl="0" algn="l">
              <a:spcBef>
                <a:spcPts val="0"/>
              </a:spcBef>
              <a:spcAft>
                <a:spcPts val="0"/>
              </a:spcAft>
              <a:buNone/>
            </a:pPr>
            <a:r>
              <a:rPr b="1" lang="en" sz="1600">
                <a:solidFill>
                  <a:srgbClr val="926492"/>
                </a:solidFill>
                <a:latin typeface="Arial"/>
                <a:ea typeface="Arial"/>
                <a:cs typeface="Arial"/>
                <a:sym typeface="Arial"/>
              </a:rPr>
              <a:t>#define</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_GNU_SOURCE</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926492"/>
                </a:solidFill>
                <a:latin typeface="Arial"/>
                <a:ea typeface="Arial"/>
                <a:cs typeface="Arial"/>
                <a:sym typeface="Arial"/>
              </a:rPr>
              <a:t>#include</a:t>
            </a:r>
            <a:r>
              <a:rPr b="1" lang="en" sz="1600">
                <a:solidFill>
                  <a:srgbClr val="000000"/>
                </a:solidFill>
                <a:latin typeface="Arial"/>
                <a:ea typeface="Arial"/>
                <a:cs typeface="Arial"/>
                <a:sym typeface="Arial"/>
              </a:rPr>
              <a:t> </a:t>
            </a:r>
            <a:r>
              <a:rPr b="1" lang="en" sz="1600">
                <a:solidFill>
                  <a:srgbClr val="9D206F"/>
                </a:solidFill>
                <a:latin typeface="Arial"/>
                <a:ea typeface="Arial"/>
                <a:cs typeface="Arial"/>
                <a:sym typeface="Arial"/>
              </a:rPr>
              <a:t>&lt;stdio.h&gt;</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926492"/>
                </a:solidFill>
                <a:latin typeface="Arial"/>
                <a:ea typeface="Arial"/>
                <a:cs typeface="Arial"/>
                <a:sym typeface="Arial"/>
              </a:rPr>
              <a:t>#include</a:t>
            </a:r>
            <a:r>
              <a:rPr b="1" lang="en" sz="1600">
                <a:solidFill>
                  <a:srgbClr val="000000"/>
                </a:solidFill>
                <a:latin typeface="Arial"/>
                <a:ea typeface="Arial"/>
                <a:cs typeface="Arial"/>
                <a:sym typeface="Arial"/>
              </a:rPr>
              <a:t> </a:t>
            </a:r>
            <a:r>
              <a:rPr b="1" lang="en" sz="1600">
                <a:solidFill>
                  <a:srgbClr val="9D206F"/>
                </a:solidFill>
                <a:latin typeface="Arial"/>
                <a:ea typeface="Arial"/>
                <a:cs typeface="Arial"/>
                <a:sym typeface="Arial"/>
              </a:rPr>
              <a:t>&lt;stdlib.h&gt;</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926492"/>
                </a:solidFill>
                <a:latin typeface="Arial"/>
                <a:ea typeface="Arial"/>
                <a:cs typeface="Arial"/>
                <a:sym typeface="Arial"/>
              </a:rPr>
              <a:t>#include</a:t>
            </a:r>
            <a:r>
              <a:rPr b="1" lang="en" sz="1600">
                <a:solidFill>
                  <a:srgbClr val="000000"/>
                </a:solidFill>
                <a:latin typeface="Arial"/>
                <a:ea typeface="Arial"/>
                <a:cs typeface="Arial"/>
                <a:sym typeface="Arial"/>
              </a:rPr>
              <a:t> </a:t>
            </a:r>
            <a:r>
              <a:rPr b="1" lang="en" sz="1600">
                <a:solidFill>
                  <a:srgbClr val="9D206F"/>
                </a:solidFill>
                <a:latin typeface="Arial"/>
                <a:ea typeface="Arial"/>
                <a:cs typeface="Arial"/>
                <a:sym typeface="Arial"/>
              </a:rPr>
              <a:t>&lt;dlfcn.h&gt;</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CB2418"/>
                </a:solidFill>
                <a:latin typeface="Arial"/>
                <a:ea typeface="Arial"/>
                <a:cs typeface="Arial"/>
                <a:sym typeface="Arial"/>
              </a:rPr>
              <a:t>/* malloc wrapper function */</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2D961E"/>
                </a:solidFill>
                <a:latin typeface="Arial"/>
                <a:ea typeface="Arial"/>
                <a:cs typeface="Arial"/>
                <a:sym typeface="Arial"/>
              </a:rPr>
              <a:t>void</a:t>
            </a:r>
            <a:r>
              <a:rPr b="1" lang="en" sz="1600">
                <a:solidFill>
                  <a:srgbClr val="000000"/>
                </a:solidFill>
                <a:latin typeface="Arial"/>
                <a:ea typeface="Arial"/>
                <a:cs typeface="Arial"/>
                <a:sym typeface="Arial"/>
              </a:rPr>
              <a:t> *</a:t>
            </a:r>
            <a:r>
              <a:rPr b="1" lang="en" sz="1600">
                <a:solidFill>
                  <a:srgbClr val="4A00FF"/>
                </a:solidFill>
                <a:latin typeface="Arial"/>
                <a:ea typeface="Arial"/>
                <a:cs typeface="Arial"/>
                <a:sym typeface="Arial"/>
              </a:rPr>
              <a:t>malloc</a:t>
            </a:r>
            <a:r>
              <a:rPr b="1" lang="en" sz="1600">
                <a:solidFill>
                  <a:srgbClr val="000000"/>
                </a:solidFill>
                <a:latin typeface="Arial"/>
                <a:ea typeface="Arial"/>
                <a:cs typeface="Arial"/>
                <a:sym typeface="Arial"/>
              </a:rPr>
              <a:t>(</a:t>
            </a:r>
            <a:r>
              <a:rPr b="1" lang="en" sz="1600">
                <a:solidFill>
                  <a:srgbClr val="2D961E"/>
                </a:solidFill>
                <a:latin typeface="Arial"/>
                <a:ea typeface="Arial"/>
                <a:cs typeface="Arial"/>
                <a:sym typeface="Arial"/>
              </a:rPr>
              <a:t>size_t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size</a:t>
            </a: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void</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mallocp</a:t>
            </a:r>
            <a:r>
              <a:rPr b="1" lang="en" sz="1600">
                <a:solidFill>
                  <a:srgbClr val="000000"/>
                </a:solidFill>
                <a:latin typeface="Arial"/>
                <a:ea typeface="Arial"/>
                <a:cs typeface="Arial"/>
                <a:sym typeface="Arial"/>
              </a:rPr>
              <a:t>)(</a:t>
            </a:r>
            <a:r>
              <a:rPr b="1" lang="en" sz="1600">
                <a:solidFill>
                  <a:srgbClr val="2D961E"/>
                </a:solidFill>
                <a:latin typeface="Arial"/>
                <a:ea typeface="Arial"/>
                <a:cs typeface="Arial"/>
                <a:sym typeface="Arial"/>
              </a:rPr>
              <a:t>size_t</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size</a:t>
            </a: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char</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error</a:t>
            </a: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mallocp = dlsym(RTLD_NEXT, </a:t>
            </a:r>
            <a:r>
              <a:rPr b="1" lang="en" sz="1600">
                <a:solidFill>
                  <a:srgbClr val="9D206F"/>
                </a:solidFill>
                <a:latin typeface="Arial"/>
                <a:ea typeface="Arial"/>
                <a:cs typeface="Arial"/>
                <a:sym typeface="Arial"/>
              </a:rPr>
              <a:t>"malloc"</a:t>
            </a:r>
            <a:r>
              <a:rPr b="1" lang="en" sz="1600">
                <a:solidFill>
                  <a:srgbClr val="000000"/>
                </a:solidFill>
                <a:latin typeface="Arial"/>
                <a:ea typeface="Arial"/>
                <a:cs typeface="Arial"/>
                <a:sym typeface="Arial"/>
              </a:rPr>
              <a:t>); </a:t>
            </a:r>
            <a:r>
              <a:rPr b="1" lang="en" sz="1600">
                <a:solidFill>
                  <a:srgbClr val="CB2418"/>
                </a:solidFill>
                <a:latin typeface="Arial"/>
                <a:ea typeface="Arial"/>
                <a:cs typeface="Arial"/>
                <a:sym typeface="Arial"/>
              </a:rPr>
              <a:t>/* Get addr of libc malloc */</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C200FF"/>
                </a:solidFill>
                <a:latin typeface="Arial"/>
                <a:ea typeface="Arial"/>
                <a:cs typeface="Arial"/>
                <a:sym typeface="Arial"/>
              </a:rPr>
              <a:t>if</a:t>
            </a:r>
            <a:r>
              <a:rPr b="1" lang="en" sz="1600">
                <a:solidFill>
                  <a:srgbClr val="000000"/>
                </a:solidFill>
                <a:latin typeface="Arial"/>
                <a:ea typeface="Arial"/>
                <a:cs typeface="Arial"/>
                <a:sym typeface="Arial"/>
              </a:rPr>
              <a:t> ((error = dlerror()) != </a:t>
            </a:r>
            <a:r>
              <a:rPr b="1" lang="en" sz="1600">
                <a:solidFill>
                  <a:srgbClr val="2C9290"/>
                </a:solidFill>
                <a:latin typeface="Arial"/>
                <a:ea typeface="Arial"/>
                <a:cs typeface="Arial"/>
                <a:sym typeface="Arial"/>
              </a:rPr>
              <a:t>NULL</a:t>
            </a:r>
            <a:r>
              <a:rPr b="1" lang="en" sz="1600">
                <a:solidFill>
                  <a:srgbClr val="000000"/>
                </a:solidFill>
                <a:latin typeface="Arial"/>
                <a:ea typeface="Arial"/>
                <a:cs typeface="Arial"/>
                <a:sym typeface="Arial"/>
              </a:rPr>
              <a:t>) {        fputs(error, stderr);        exit(1);    }</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char</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ptr</a:t>
            </a:r>
            <a:r>
              <a:rPr b="1" lang="en" sz="1600">
                <a:solidFill>
                  <a:srgbClr val="000000"/>
                </a:solidFill>
                <a:latin typeface="Arial"/>
                <a:ea typeface="Arial"/>
                <a:cs typeface="Arial"/>
                <a:sym typeface="Arial"/>
              </a:rPr>
              <a:t> = mallocp(size); </a:t>
            </a:r>
            <a:r>
              <a:rPr b="1" lang="en" sz="1600">
                <a:solidFill>
                  <a:srgbClr val="CB2418"/>
                </a:solidFill>
                <a:latin typeface="Arial"/>
                <a:ea typeface="Arial"/>
                <a:cs typeface="Arial"/>
                <a:sym typeface="Arial"/>
              </a:rPr>
              <a:t>/* Call libc malloc */</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printf(</a:t>
            </a:r>
            <a:r>
              <a:rPr b="1" lang="en" sz="1600">
                <a:solidFill>
                  <a:srgbClr val="9D206F"/>
                </a:solidFill>
                <a:latin typeface="Arial"/>
                <a:ea typeface="Arial"/>
                <a:cs typeface="Arial"/>
                <a:sym typeface="Arial"/>
              </a:rPr>
              <a:t>"malloc(%d) = %p\n"</a:t>
            </a: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int</a:t>
            </a:r>
            <a:r>
              <a:rPr b="1" lang="en" sz="1600">
                <a:solidFill>
                  <a:srgbClr val="000000"/>
                </a:solidFill>
                <a:latin typeface="Arial"/>
                <a:ea typeface="Arial"/>
                <a:cs typeface="Arial"/>
                <a:sym typeface="Arial"/>
              </a:rPr>
              <a:t>)size, ptr);</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C200FF"/>
                </a:solidFill>
                <a:latin typeface="Arial"/>
                <a:ea typeface="Arial"/>
                <a:cs typeface="Arial"/>
                <a:sym typeface="Arial"/>
              </a:rPr>
              <a:t>return</a:t>
            </a:r>
            <a:r>
              <a:rPr b="1" lang="en" sz="1600">
                <a:solidFill>
                  <a:srgbClr val="000000"/>
                </a:solidFill>
                <a:latin typeface="Arial"/>
                <a:ea typeface="Arial"/>
                <a:cs typeface="Arial"/>
                <a:sym typeface="Arial"/>
              </a:rPr>
              <a:t> ptr;</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a:t>
            </a:r>
            <a:endParaRPr b="1" sz="1600">
              <a:solidFill>
                <a:schemeClr val="dk1"/>
              </a:solidFill>
              <a:latin typeface="Courier New"/>
              <a:ea typeface="Courier New"/>
              <a:cs typeface="Courier New"/>
              <a:sym typeface="Courier New"/>
            </a:endParaRPr>
          </a:p>
        </p:txBody>
      </p:sp>
      <p:sp>
        <p:nvSpPr>
          <p:cNvPr id="533" name="Google Shape;533;p63"/>
          <p:cNvSpPr txBox="1"/>
          <p:nvPr>
            <p:ph type="title"/>
          </p:nvPr>
        </p:nvSpPr>
        <p:spPr>
          <a:xfrm>
            <a:off x="216700" y="168150"/>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Load/Run-time Interpositioning (code)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7" name="Shape 537"/>
        <p:cNvGrpSpPr/>
        <p:nvPr/>
      </p:nvGrpSpPr>
      <p:grpSpPr>
        <a:xfrm>
          <a:off x="0" y="0"/>
          <a:ext cx="0" cy="0"/>
          <a:chOff x="0" y="0"/>
          <a:chExt cx="0" cy="0"/>
        </a:xfrm>
      </p:grpSpPr>
      <p:sp>
        <p:nvSpPr>
          <p:cNvPr id="538" name="Google Shape;538;p64"/>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Load/Run-time Interpositioning (free code)</a:t>
            </a:r>
            <a:endParaRPr/>
          </a:p>
        </p:txBody>
      </p:sp>
      <p:sp>
        <p:nvSpPr>
          <p:cNvPr id="539" name="Google Shape;539;p64"/>
          <p:cNvSpPr/>
          <p:nvPr/>
        </p:nvSpPr>
        <p:spPr>
          <a:xfrm>
            <a:off x="152400" y="1143000"/>
            <a:ext cx="8763000" cy="3525600"/>
          </a:xfrm>
          <a:prstGeom prst="rect">
            <a:avLst/>
          </a:prstGeom>
          <a:solidFill>
            <a:srgbClr val="F7F5CD"/>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 sz="1600">
                <a:solidFill>
                  <a:srgbClr val="CB2418"/>
                </a:solidFill>
                <a:latin typeface="Arial"/>
                <a:ea typeface="Arial"/>
                <a:cs typeface="Arial"/>
                <a:sym typeface="Arial"/>
              </a:rPr>
              <a:t>/* free wrapper function */</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2D961E"/>
                </a:solidFill>
                <a:latin typeface="Arial"/>
                <a:ea typeface="Arial"/>
                <a:cs typeface="Arial"/>
                <a:sym typeface="Arial"/>
              </a:rPr>
              <a:t>void</a:t>
            </a:r>
            <a:r>
              <a:rPr b="1" lang="en" sz="1600">
                <a:solidFill>
                  <a:srgbClr val="000000"/>
                </a:solidFill>
                <a:latin typeface="Arial"/>
                <a:ea typeface="Arial"/>
                <a:cs typeface="Arial"/>
                <a:sym typeface="Arial"/>
              </a:rPr>
              <a:t> </a:t>
            </a:r>
            <a:r>
              <a:rPr b="1" lang="en" sz="1600">
                <a:solidFill>
                  <a:srgbClr val="4A00FF"/>
                </a:solidFill>
                <a:latin typeface="Arial"/>
                <a:ea typeface="Arial"/>
                <a:cs typeface="Arial"/>
                <a:sym typeface="Arial"/>
              </a:rPr>
              <a:t>free</a:t>
            </a:r>
            <a:r>
              <a:rPr b="1" lang="en" sz="1600">
                <a:solidFill>
                  <a:srgbClr val="000000"/>
                </a:solidFill>
                <a:latin typeface="Arial"/>
                <a:ea typeface="Arial"/>
                <a:cs typeface="Arial"/>
                <a:sym typeface="Arial"/>
              </a:rPr>
              <a:t>(</a:t>
            </a:r>
            <a:r>
              <a:rPr b="1" lang="en" sz="1600">
                <a:solidFill>
                  <a:srgbClr val="2D961E"/>
                </a:solidFill>
                <a:latin typeface="Arial"/>
                <a:ea typeface="Arial"/>
                <a:cs typeface="Arial"/>
                <a:sym typeface="Arial"/>
              </a:rPr>
              <a:t>void</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ptr</a:t>
            </a: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void</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freep</a:t>
            </a:r>
            <a:r>
              <a:rPr b="1" lang="en" sz="1600">
                <a:solidFill>
                  <a:srgbClr val="000000"/>
                </a:solidFill>
                <a:latin typeface="Arial"/>
                <a:ea typeface="Arial"/>
                <a:cs typeface="Arial"/>
                <a:sym typeface="Arial"/>
              </a:rPr>
              <a:t>)(</a:t>
            </a:r>
            <a:r>
              <a:rPr b="1" lang="en" sz="1600">
                <a:solidFill>
                  <a:srgbClr val="2D961E"/>
                </a:solidFill>
                <a:latin typeface="Arial"/>
                <a:ea typeface="Arial"/>
                <a:cs typeface="Arial"/>
                <a:sym typeface="Arial"/>
              </a:rPr>
              <a:t>void</a:t>
            </a:r>
            <a:r>
              <a:rPr b="1" lang="en" sz="1600">
                <a:solidFill>
                  <a:srgbClr val="000000"/>
                </a:solidFill>
                <a:latin typeface="Arial"/>
                <a:ea typeface="Arial"/>
                <a:cs typeface="Arial"/>
                <a:sym typeface="Arial"/>
              </a:rPr>
              <a:t> *) = </a:t>
            </a:r>
            <a:r>
              <a:rPr b="1" lang="en" sz="1600">
                <a:solidFill>
                  <a:srgbClr val="2C9290"/>
                </a:solidFill>
                <a:latin typeface="Arial"/>
                <a:ea typeface="Arial"/>
                <a:cs typeface="Arial"/>
                <a:sym typeface="Arial"/>
              </a:rPr>
              <a:t>NULL</a:t>
            </a: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2D961E"/>
                </a:solidFill>
                <a:latin typeface="Arial"/>
                <a:ea typeface="Arial"/>
                <a:cs typeface="Arial"/>
                <a:sym typeface="Arial"/>
              </a:rPr>
              <a:t>char</a:t>
            </a:r>
            <a:r>
              <a:rPr b="1" lang="en" sz="1600">
                <a:solidFill>
                  <a:srgbClr val="000000"/>
                </a:solidFill>
                <a:latin typeface="Arial"/>
                <a:ea typeface="Arial"/>
                <a:cs typeface="Arial"/>
                <a:sym typeface="Arial"/>
              </a:rPr>
              <a:t> *</a:t>
            </a:r>
            <a:r>
              <a:rPr b="1" lang="en" sz="1600">
                <a:solidFill>
                  <a:srgbClr val="C1651C"/>
                </a:solidFill>
                <a:latin typeface="Arial"/>
                <a:ea typeface="Arial"/>
                <a:cs typeface="Arial"/>
                <a:sym typeface="Arial"/>
              </a:rPr>
              <a:t>error</a:t>
            </a:r>
            <a:r>
              <a:rPr b="1" lang="en" sz="1600">
                <a:solidFill>
                  <a:srgbClr val="000000"/>
                </a:solidFill>
                <a:latin typeface="Arial"/>
                <a:ea typeface="Arial"/>
                <a:cs typeface="Arial"/>
                <a:sym typeface="Arial"/>
              </a:rPr>
              <a:t>;</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C200FF"/>
                </a:solidFill>
                <a:latin typeface="Arial"/>
                <a:ea typeface="Arial"/>
                <a:cs typeface="Arial"/>
                <a:sym typeface="Arial"/>
              </a:rPr>
              <a:t>if</a:t>
            </a:r>
            <a:r>
              <a:rPr b="1" lang="en" sz="1600">
                <a:solidFill>
                  <a:srgbClr val="000000"/>
                </a:solidFill>
                <a:latin typeface="Arial"/>
                <a:ea typeface="Arial"/>
                <a:cs typeface="Arial"/>
                <a:sym typeface="Arial"/>
              </a:rPr>
              <a:t> (!ptr)    </a:t>
            </a:r>
            <a:r>
              <a:rPr b="1" lang="en" sz="1600">
                <a:solidFill>
                  <a:srgbClr val="C200FF"/>
                </a:solidFill>
                <a:latin typeface="Arial"/>
                <a:ea typeface="Arial"/>
                <a:cs typeface="Arial"/>
                <a:sym typeface="Arial"/>
              </a:rPr>
              <a:t>return</a:t>
            </a:r>
            <a:r>
              <a:rPr b="1" lang="en" sz="1600">
                <a:solidFill>
                  <a:srgbClr val="000000"/>
                </a:solidFill>
                <a:latin typeface="Arial"/>
                <a:ea typeface="Arial"/>
                <a:cs typeface="Arial"/>
                <a:sym typeface="Arial"/>
              </a:rPr>
              <a:t>;</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freep = dlsym(RTLD_NEXT, </a:t>
            </a:r>
            <a:r>
              <a:rPr b="1" lang="en" sz="1600">
                <a:solidFill>
                  <a:srgbClr val="9D206F"/>
                </a:solidFill>
                <a:latin typeface="Arial"/>
                <a:ea typeface="Arial"/>
                <a:cs typeface="Arial"/>
                <a:sym typeface="Arial"/>
              </a:rPr>
              <a:t>"free"</a:t>
            </a:r>
            <a:r>
              <a:rPr b="1" lang="en" sz="1600">
                <a:solidFill>
                  <a:srgbClr val="000000"/>
                </a:solidFill>
                <a:latin typeface="Arial"/>
                <a:ea typeface="Arial"/>
                <a:cs typeface="Arial"/>
                <a:sym typeface="Arial"/>
              </a:rPr>
              <a:t>); </a:t>
            </a:r>
            <a:r>
              <a:rPr b="1" lang="en" sz="1600">
                <a:solidFill>
                  <a:srgbClr val="CB2418"/>
                </a:solidFill>
                <a:latin typeface="Arial"/>
                <a:ea typeface="Arial"/>
                <a:cs typeface="Arial"/>
                <a:sym typeface="Arial"/>
              </a:rPr>
              <a:t>/* Get address of libc free */</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a:t>
            </a:r>
            <a:r>
              <a:rPr b="1" lang="en" sz="1600">
                <a:solidFill>
                  <a:srgbClr val="C200FF"/>
                </a:solidFill>
                <a:latin typeface="Arial"/>
                <a:ea typeface="Arial"/>
                <a:cs typeface="Arial"/>
                <a:sym typeface="Arial"/>
              </a:rPr>
              <a:t>if</a:t>
            </a:r>
            <a:r>
              <a:rPr b="1" lang="en" sz="1600">
                <a:solidFill>
                  <a:srgbClr val="000000"/>
                </a:solidFill>
                <a:latin typeface="Arial"/>
                <a:ea typeface="Arial"/>
                <a:cs typeface="Arial"/>
                <a:sym typeface="Arial"/>
              </a:rPr>
              <a:t> ((error = dlerror()) != </a:t>
            </a:r>
            <a:r>
              <a:rPr b="1" lang="en" sz="1600">
                <a:solidFill>
                  <a:srgbClr val="2C9290"/>
                </a:solidFill>
                <a:latin typeface="Arial"/>
                <a:ea typeface="Arial"/>
                <a:cs typeface="Arial"/>
                <a:sym typeface="Arial"/>
              </a:rPr>
              <a:t>NULL</a:t>
            </a:r>
            <a:r>
              <a:rPr b="1" lang="en" sz="1600">
                <a:solidFill>
                  <a:srgbClr val="000000"/>
                </a:solidFill>
                <a:latin typeface="Arial"/>
                <a:ea typeface="Arial"/>
                <a:cs typeface="Arial"/>
                <a:sym typeface="Arial"/>
              </a:rPr>
              <a:t>) {     fputs(error, stderr);     exit(1);   }</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freep(ptr); </a:t>
            </a:r>
            <a:r>
              <a:rPr b="1" lang="en" sz="1600">
                <a:solidFill>
                  <a:srgbClr val="CB2418"/>
                </a:solidFill>
                <a:latin typeface="Arial"/>
                <a:ea typeface="Arial"/>
                <a:cs typeface="Arial"/>
                <a:sym typeface="Arial"/>
              </a:rPr>
              <a:t>/* Call libc free */</a:t>
            </a:r>
            <a:endParaRPr b="1" sz="1600">
              <a:solidFill>
                <a:srgbClr val="000000"/>
              </a:solidFill>
              <a:latin typeface="Arial"/>
              <a:ea typeface="Arial"/>
              <a:cs typeface="Arial"/>
              <a:sym typeface="Arial"/>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    printf(</a:t>
            </a:r>
            <a:r>
              <a:rPr b="1" lang="en" sz="1600">
                <a:solidFill>
                  <a:srgbClr val="9D206F"/>
                </a:solidFill>
                <a:latin typeface="Arial"/>
                <a:ea typeface="Arial"/>
                <a:cs typeface="Arial"/>
                <a:sym typeface="Arial"/>
              </a:rPr>
              <a:t>"free(%p)\n"</a:t>
            </a:r>
            <a:r>
              <a:rPr b="1" lang="en" sz="1600">
                <a:solidFill>
                  <a:srgbClr val="000000"/>
                </a:solidFill>
                <a:latin typeface="Arial"/>
                <a:ea typeface="Arial"/>
                <a:cs typeface="Arial"/>
                <a:sym typeface="Arial"/>
              </a:rPr>
              <a:t>, ptr);</a:t>
            </a:r>
            <a:endParaRPr/>
          </a:p>
          <a:p>
            <a:pPr indent="0" lvl="0" marL="0" marR="0" rtl="0" algn="l">
              <a:spcBef>
                <a:spcPts val="0"/>
              </a:spcBef>
              <a:spcAft>
                <a:spcPts val="0"/>
              </a:spcAft>
              <a:buNone/>
            </a:pPr>
            <a:r>
              <a:rPr b="1" lang="en" sz="1600">
                <a:solidFill>
                  <a:srgbClr val="000000"/>
                </a:solidFill>
                <a:latin typeface="Arial"/>
                <a:ea typeface="Arial"/>
                <a:cs typeface="Arial"/>
                <a:sym typeface="Arial"/>
              </a:rPr>
              <a:t>}</a:t>
            </a:r>
            <a:endParaRPr/>
          </a:p>
          <a:p>
            <a:pPr indent="0" lvl="0" marL="0" marR="0" rtl="0" algn="l">
              <a:spcBef>
                <a:spcPts val="0"/>
              </a:spcBef>
              <a:spcAft>
                <a:spcPts val="0"/>
              </a:spcAft>
              <a:buNone/>
            </a:pPr>
            <a:r>
              <a:rPr b="1" lang="en" sz="1600">
                <a:solidFill>
                  <a:srgbClr val="926492"/>
                </a:solidFill>
                <a:latin typeface="Arial"/>
                <a:ea typeface="Arial"/>
                <a:cs typeface="Arial"/>
                <a:sym typeface="Arial"/>
              </a:rPr>
              <a:t>#endif</a:t>
            </a:r>
            <a:endParaRPr b="1" sz="1600">
              <a:solidFill>
                <a:schemeClr val="dk1"/>
              </a:solidFill>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3" name="Shape 543"/>
        <p:cNvGrpSpPr/>
        <p:nvPr/>
      </p:nvGrpSpPr>
      <p:grpSpPr>
        <a:xfrm>
          <a:off x="0" y="0"/>
          <a:ext cx="0" cy="0"/>
          <a:chOff x="0" y="0"/>
          <a:chExt cx="0" cy="0"/>
        </a:xfrm>
      </p:grpSpPr>
      <p:sp>
        <p:nvSpPr>
          <p:cNvPr id="544" name="Google Shape;544;p65"/>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Load/Run-time Interpositioning</a:t>
            </a:r>
            <a:endParaRPr/>
          </a:p>
        </p:txBody>
      </p:sp>
      <p:sp>
        <p:nvSpPr>
          <p:cNvPr id="545" name="Google Shape;545;p65"/>
          <p:cNvSpPr/>
          <p:nvPr/>
        </p:nvSpPr>
        <p:spPr>
          <a:xfrm>
            <a:off x="152400" y="975647"/>
            <a:ext cx="8991600" cy="2308500"/>
          </a:xfrm>
          <a:prstGeom prst="rect">
            <a:avLst/>
          </a:prstGeom>
          <a:solidFill>
            <a:srgbClr val="E6E6E6"/>
          </a:solid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solidFill>
                  <a:srgbClr val="C00000"/>
                </a:solidFill>
                <a:latin typeface="Courier New"/>
                <a:ea typeface="Courier New"/>
                <a:cs typeface="Courier New"/>
                <a:sym typeface="Courier New"/>
              </a:rPr>
              <a:t>linux&gt; make intr</a:t>
            </a:r>
            <a:endParaRPr sz="1800">
              <a:solidFill>
                <a:srgbClr val="C00000"/>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gcc -Wall -DRUNTIME -shared -fpic -o mymalloc.so mymalloc.c -ldl</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gcc -Wall -o intr int.c</a:t>
            </a:r>
            <a:endParaRPr sz="18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 sz="1800">
                <a:solidFill>
                  <a:srgbClr val="C00000"/>
                </a:solidFill>
                <a:latin typeface="Courier New"/>
                <a:ea typeface="Courier New"/>
                <a:cs typeface="Courier New"/>
                <a:sym typeface="Courier New"/>
              </a:rPr>
              <a:t>linux&gt; make runr</a:t>
            </a:r>
            <a:endParaRPr sz="1800">
              <a:solidFill>
                <a:srgbClr val="C00000"/>
              </a:solidFill>
              <a:latin typeface="Courier New"/>
              <a:ea typeface="Courier New"/>
              <a:cs typeface="Courier New"/>
              <a:sym typeface="Courier New"/>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(LD_PRELOAD="./mymalloc.so" ./intr)</a:t>
            </a:r>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malloc(32) = 0xe60010</a:t>
            </a:r>
            <a:endParaRPr/>
          </a:p>
          <a:p>
            <a:pPr indent="0" lvl="0" marL="0" marR="0" rtl="0" algn="l">
              <a:spcBef>
                <a:spcPts val="0"/>
              </a:spcBef>
              <a:spcAft>
                <a:spcPts val="0"/>
              </a:spcAft>
              <a:buNone/>
            </a:pPr>
            <a:r>
              <a:rPr lang="en" sz="1800">
                <a:solidFill>
                  <a:schemeClr val="dk1"/>
                </a:solidFill>
                <a:latin typeface="Courier New"/>
                <a:ea typeface="Courier New"/>
                <a:cs typeface="Courier New"/>
                <a:sym typeface="Courier New"/>
              </a:rPr>
              <a:t>free(0xe60010)</a:t>
            </a:r>
            <a:endParaRPr/>
          </a:p>
          <a:p>
            <a:pPr indent="0" lvl="0" marL="0" marR="0" rtl="0" algn="l">
              <a:spcBef>
                <a:spcPts val="0"/>
              </a:spcBef>
              <a:spcAft>
                <a:spcPts val="0"/>
              </a:spcAft>
              <a:buNone/>
            </a:pPr>
            <a:r>
              <a:rPr lang="en" sz="1800">
                <a:solidFill>
                  <a:srgbClr val="C00000"/>
                </a:solidFill>
                <a:latin typeface="Courier New"/>
                <a:ea typeface="Courier New"/>
                <a:cs typeface="Courier New"/>
                <a:sym typeface="Courier New"/>
              </a:rPr>
              <a:t>linux&gt;</a:t>
            </a:r>
            <a:endParaRPr sz="1800">
              <a:solidFill>
                <a:srgbClr val="C00000"/>
              </a:solidFill>
              <a:latin typeface="Courier New"/>
              <a:ea typeface="Courier New"/>
              <a:cs typeface="Courier New"/>
              <a:sym typeface="Courier New"/>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6"/>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119063" lvl="0" marL="119063" rtl="0" algn="l">
              <a:spcBef>
                <a:spcPts val="0"/>
              </a:spcBef>
              <a:spcAft>
                <a:spcPts val="0"/>
              </a:spcAft>
              <a:buNone/>
            </a:pPr>
            <a:r>
              <a:rPr lang="en"/>
              <a:t>Interpositioning Recap</a:t>
            </a:r>
            <a:endParaRPr/>
          </a:p>
        </p:txBody>
      </p:sp>
      <p:sp>
        <p:nvSpPr>
          <p:cNvPr id="551" name="Google Shape;551;p66"/>
          <p:cNvSpPr txBox="1"/>
          <p:nvPr>
            <p:ph idx="1" type="body"/>
          </p:nvPr>
        </p:nvSpPr>
        <p:spPr>
          <a:xfrm>
            <a:off x="311700" y="1152475"/>
            <a:ext cx="8520600" cy="3416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440"/>
              <a:buChar char="●"/>
            </a:pPr>
            <a:r>
              <a:rPr lang="en"/>
              <a:t>Compile Time</a:t>
            </a:r>
            <a:endParaRPr/>
          </a:p>
          <a:p>
            <a:pPr indent="-285750" lvl="1" marL="742950" rtl="0" algn="l">
              <a:spcBef>
                <a:spcPts val="400"/>
              </a:spcBef>
              <a:spcAft>
                <a:spcPts val="0"/>
              </a:spcAft>
              <a:buSzPts val="2200"/>
              <a:buChar char="○"/>
            </a:pPr>
            <a:r>
              <a:rPr lang="en"/>
              <a:t>Apparent calls to malloc/free get macro-expanded into calls to mymalloc/myfree</a:t>
            </a:r>
            <a:endParaRPr/>
          </a:p>
          <a:p>
            <a:pPr indent="-342900" lvl="0" marL="342900" rtl="0" algn="l">
              <a:spcBef>
                <a:spcPts val="480"/>
              </a:spcBef>
              <a:spcAft>
                <a:spcPts val="0"/>
              </a:spcAft>
              <a:buSzPts val="1440"/>
              <a:buChar char="●"/>
            </a:pPr>
            <a:r>
              <a:rPr lang="en"/>
              <a:t>Link Time</a:t>
            </a:r>
            <a:endParaRPr/>
          </a:p>
          <a:p>
            <a:pPr indent="-285750" lvl="1" marL="742950" rtl="0" algn="l">
              <a:spcBef>
                <a:spcPts val="400"/>
              </a:spcBef>
              <a:spcAft>
                <a:spcPts val="0"/>
              </a:spcAft>
              <a:buSzPts val="2200"/>
              <a:buChar char="○"/>
            </a:pPr>
            <a:r>
              <a:rPr lang="en"/>
              <a:t>Use linker trick to have special name resolutions</a:t>
            </a:r>
            <a:endParaRPr/>
          </a:p>
          <a:p>
            <a:pPr indent="-228600" lvl="2" marL="1143000" rtl="0" algn="l">
              <a:spcBef>
                <a:spcPts val="400"/>
              </a:spcBef>
              <a:spcAft>
                <a:spcPts val="0"/>
              </a:spcAft>
              <a:buClr>
                <a:schemeClr val="dk1"/>
              </a:buClr>
              <a:buSzPts val="1600"/>
              <a:buChar char="■"/>
            </a:pPr>
            <a:r>
              <a:rPr lang="en"/>
              <a:t>malloc 🡪 __wrap_malloc</a:t>
            </a:r>
            <a:endParaRPr/>
          </a:p>
          <a:p>
            <a:pPr indent="-228600" lvl="2" marL="1143000" rtl="0" algn="l">
              <a:spcBef>
                <a:spcPts val="400"/>
              </a:spcBef>
              <a:spcAft>
                <a:spcPts val="0"/>
              </a:spcAft>
              <a:buClr>
                <a:schemeClr val="dk1"/>
              </a:buClr>
              <a:buSzPts val="1600"/>
              <a:buChar char="■"/>
            </a:pPr>
            <a:r>
              <a:rPr lang="en"/>
              <a:t>__real_malloc 🡪 malloc</a:t>
            </a:r>
            <a:endParaRPr/>
          </a:p>
          <a:p>
            <a:pPr indent="-342900" lvl="0" marL="342900" rtl="0" algn="l">
              <a:spcBef>
                <a:spcPts val="480"/>
              </a:spcBef>
              <a:spcAft>
                <a:spcPts val="0"/>
              </a:spcAft>
              <a:buSzPts val="1440"/>
              <a:buChar char="●"/>
            </a:pPr>
            <a:r>
              <a:rPr lang="en"/>
              <a:t>Load/Run Time</a:t>
            </a:r>
            <a:endParaRPr/>
          </a:p>
          <a:p>
            <a:pPr indent="-285750" lvl="1" marL="742950" rtl="0" algn="l">
              <a:spcBef>
                <a:spcPts val="400"/>
              </a:spcBef>
              <a:spcAft>
                <a:spcPts val="0"/>
              </a:spcAft>
              <a:buSzPts val="2200"/>
              <a:buChar char="○"/>
            </a:pPr>
            <a:r>
              <a:rPr lang="en"/>
              <a:t>Implement custom version of malloc/free that use dynamic linking to load library malloc/free under different names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