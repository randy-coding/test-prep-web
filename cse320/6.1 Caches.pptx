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Lst>
  <p:sldSz cy="5143500" cx="9144000"/>
  <p:notesSz cx="6858000" cy="9144000"/>
  <p:embeddedFontLst>
    <p:embeddedFont>
      <p:font typeface="Proxima Nova"/>
      <p:regular r:id="rId45"/>
      <p:bold r:id="rId46"/>
      <p:italic r:id="rId47"/>
      <p:boldItalic r:id="rId48"/>
    </p:embeddedFont>
    <p:embeddedFont>
      <p:font typeface="Arial Narrow"/>
      <p:regular r:id="rId49"/>
      <p:bold r:id="rId50"/>
      <p:italic r:id="rId51"/>
      <p:boldItalic r:id="rId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font" Target="fonts/ProximaNova-bold.fntdata"/><Relationship Id="rId45" Type="http://schemas.openxmlformats.org/officeDocument/2006/relationships/font" Target="fonts/ProximaNova-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ProximaNova-boldItalic.fntdata"/><Relationship Id="rId47" Type="http://schemas.openxmlformats.org/officeDocument/2006/relationships/font" Target="fonts/ProximaNova-italic.fntdata"/><Relationship Id="rId49" Type="http://schemas.openxmlformats.org/officeDocument/2006/relationships/font" Target="fonts/ArialNarrow-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ArialNarrow-italic.fntdata"/><Relationship Id="rId50" Type="http://schemas.openxmlformats.org/officeDocument/2006/relationships/font" Target="fonts/ArialNarrow-bold.fntdata"/><Relationship Id="rId52" Type="http://schemas.openxmlformats.org/officeDocument/2006/relationships/font" Target="fonts/ArialNarrow-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ab4a8f2bd1_0_1626: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g3ab4a8f2bd1_0_1626:notes"/>
          <p:cNvSpPr txBox="1"/>
          <p:nvPr>
            <p:ph idx="1" type="body"/>
          </p:nvPr>
        </p:nvSpPr>
        <p:spPr>
          <a:xfrm>
            <a:off x="930303" y="4360781"/>
            <a:ext cx="5009400" cy="4070100"/>
          </a:xfrm>
          <a:prstGeom prst="rect">
            <a:avLst/>
          </a:prstGeom>
          <a:noFill/>
          <a:ln>
            <a:noFill/>
          </a:ln>
        </p:spPr>
        <p:txBody>
          <a:bodyPr anchorCtr="0" anchor="t" bIns="43150" lIns="86300" spcFirstLastPara="1" rIns="86300" wrap="square" tIns="4315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ab4b54c850_0_1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ab4b54c850_0_1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93c5a0e6ae_0_16: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a:noFill/>
          <a:ln cap="flat" cmpd="sng" w="9000">
            <a:solidFill>
              <a:srgbClr val="000000"/>
            </a:solidFill>
            <a:prstDash val="solid"/>
            <a:miter lim="800000"/>
            <a:headEnd len="sm" w="sm" type="none"/>
            <a:tailEnd len="sm" w="sm" type="none"/>
          </a:ln>
        </p:spPr>
      </p:sp>
      <p:sp>
        <p:nvSpPr>
          <p:cNvPr id="94" name="Google Shape;94;g393c5a0e6ae_0_16:notes"/>
          <p:cNvSpPr txBox="1"/>
          <p:nvPr>
            <p:ph idx="1" type="body"/>
          </p:nvPr>
        </p:nvSpPr>
        <p:spPr>
          <a:xfrm>
            <a:off x="930303" y="4360781"/>
            <a:ext cx="5009400" cy="4070100"/>
          </a:xfrm>
          <a:prstGeom prst="rect">
            <a:avLst/>
          </a:prstGeom>
          <a:noFill/>
          <a:ln>
            <a:noFill/>
          </a:ln>
        </p:spPr>
        <p:txBody>
          <a:bodyPr anchorCtr="0" anchor="t" bIns="43150" lIns="86300" spcFirstLastPara="1" rIns="86300" wrap="square" tIns="43150">
            <a:noAutofit/>
          </a:bodyPr>
          <a:lstStyle/>
          <a:p>
            <a:pPr indent="0" lvl="0" marL="0" rtl="0" algn="l">
              <a:spcBef>
                <a:spcPts val="0"/>
              </a:spcBef>
              <a:spcAft>
                <a:spcPts val="0"/>
              </a:spcAft>
              <a:buNone/>
            </a:pPr>
            <a:r>
              <a:t/>
            </a:r>
            <a:endParaRPr/>
          </a:p>
        </p:txBody>
      </p:sp>
      <p:sp>
        <p:nvSpPr>
          <p:cNvPr id="95" name="Google Shape;95;g393c5a0e6ae_0_16:notes"/>
          <p:cNvSpPr txBox="1"/>
          <p:nvPr>
            <p:ph idx="12" type="sldNum"/>
          </p:nvPr>
        </p:nvSpPr>
        <p:spPr>
          <a:xfrm>
            <a:off x="3864334" y="8721561"/>
            <a:ext cx="3005700" cy="436200"/>
          </a:xfrm>
          <a:prstGeom prst="rect">
            <a:avLst/>
          </a:prstGeom>
          <a:noFill/>
          <a:ln>
            <a:noFill/>
          </a:ln>
        </p:spPr>
        <p:txBody>
          <a:bodyPr anchorCtr="0" anchor="b" bIns="43150" lIns="86300" spcFirstLastPara="1" rIns="86300" wrap="square" tIns="43150">
            <a:noAutofit/>
          </a:bodyPr>
          <a:lstStyle/>
          <a:p>
            <a:pPr indent="0" lvl="0" marL="0" rtl="0" algn="r">
              <a:spcBef>
                <a:spcPts val="0"/>
              </a:spcBef>
              <a:spcAft>
                <a:spcPts val="0"/>
              </a:spcAft>
              <a:buNone/>
            </a:pPr>
            <a:fld id="{00000000-1234-1234-1234-123412341234}" type="slidenum">
              <a:rPr lang="en" sz="1300"/>
              <a:t>‹#›</a:t>
            </a:fld>
            <a:endParaRPr sz="1300"/>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ab4b54c850_0_82: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5" name="Google Shape;135;g3ab4b54c850_0_82:notes"/>
          <p:cNvSpPr txBox="1"/>
          <p:nvPr>
            <p:ph idx="1" type="body"/>
          </p:nvPr>
        </p:nvSpPr>
        <p:spPr>
          <a:xfrm>
            <a:off x="930303" y="4360781"/>
            <a:ext cx="5009400" cy="4070100"/>
          </a:xfrm>
          <a:prstGeom prst="rect">
            <a:avLst/>
          </a:prstGeom>
          <a:noFill/>
          <a:ln>
            <a:noFill/>
          </a:ln>
        </p:spPr>
        <p:txBody>
          <a:bodyPr anchorCtr="0" anchor="t" bIns="43150" lIns="86300" spcFirstLastPara="1" rIns="86300" wrap="square" tIns="4315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93c5a0e6ae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93c5a0e6ae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ab4b54c850_0_111: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a:noFill/>
          <a:ln cap="flat" cmpd="sng" w="9000">
            <a:solidFill>
              <a:srgbClr val="000000"/>
            </a:solidFill>
            <a:prstDash val="solid"/>
            <a:miter lim="800000"/>
            <a:headEnd len="sm" w="sm" type="none"/>
            <a:tailEnd len="sm" w="sm" type="none"/>
          </a:ln>
        </p:spPr>
      </p:sp>
      <p:sp>
        <p:nvSpPr>
          <p:cNvPr id="148" name="Google Shape;148;g3ab4b54c850_0_111:notes"/>
          <p:cNvSpPr txBox="1"/>
          <p:nvPr>
            <p:ph idx="1" type="body"/>
          </p:nvPr>
        </p:nvSpPr>
        <p:spPr>
          <a:xfrm>
            <a:off x="930303" y="4360781"/>
            <a:ext cx="5009400" cy="4070100"/>
          </a:xfrm>
          <a:prstGeom prst="rect">
            <a:avLst/>
          </a:prstGeom>
          <a:noFill/>
          <a:ln>
            <a:noFill/>
          </a:ln>
        </p:spPr>
        <p:txBody>
          <a:bodyPr anchorCtr="0" anchor="t" bIns="43150" lIns="86300" spcFirstLastPara="1" rIns="86300" wrap="square" tIns="43150">
            <a:noAutofit/>
          </a:bodyPr>
          <a:lstStyle/>
          <a:p>
            <a:pPr indent="0" lvl="0" marL="0" rtl="0" algn="l">
              <a:spcBef>
                <a:spcPts val="0"/>
              </a:spcBef>
              <a:spcAft>
                <a:spcPts val="0"/>
              </a:spcAft>
              <a:buNone/>
            </a:pPr>
            <a:r>
              <a:t/>
            </a:r>
            <a:endParaRPr/>
          </a:p>
        </p:txBody>
      </p:sp>
      <p:sp>
        <p:nvSpPr>
          <p:cNvPr id="149" name="Google Shape;149;g3ab4b54c850_0_111:notes"/>
          <p:cNvSpPr txBox="1"/>
          <p:nvPr>
            <p:ph idx="12" type="sldNum"/>
          </p:nvPr>
        </p:nvSpPr>
        <p:spPr>
          <a:xfrm>
            <a:off x="3864334" y="8721561"/>
            <a:ext cx="3005700" cy="436200"/>
          </a:xfrm>
          <a:prstGeom prst="rect">
            <a:avLst/>
          </a:prstGeom>
          <a:noFill/>
          <a:ln>
            <a:noFill/>
          </a:ln>
        </p:spPr>
        <p:txBody>
          <a:bodyPr anchorCtr="0" anchor="b" bIns="43150" lIns="86300" spcFirstLastPara="1" rIns="86300" wrap="square" tIns="43150">
            <a:noAutofit/>
          </a:bodyPr>
          <a:lstStyle/>
          <a:p>
            <a:pPr indent="0" lvl="0" marL="0" rtl="0" algn="r">
              <a:spcBef>
                <a:spcPts val="0"/>
              </a:spcBef>
              <a:spcAft>
                <a:spcPts val="0"/>
              </a:spcAft>
              <a:buNone/>
            </a:pPr>
            <a:fld id="{00000000-1234-1234-1234-123412341234}" type="slidenum">
              <a:rPr lang="en" sz="1300"/>
              <a:t>‹#›</a:t>
            </a:fld>
            <a:endParaRPr sz="1300"/>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ab4b54c850_0_164: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a:noFill/>
          <a:ln cap="flat" cmpd="sng" w="9000">
            <a:solidFill>
              <a:srgbClr val="000000"/>
            </a:solidFill>
            <a:prstDash val="solid"/>
            <a:miter lim="800000"/>
            <a:headEnd len="sm" w="sm" type="none"/>
            <a:tailEnd len="sm" w="sm" type="none"/>
          </a:ln>
        </p:spPr>
      </p:sp>
      <p:sp>
        <p:nvSpPr>
          <p:cNvPr id="155" name="Google Shape;155;g3ab4b54c850_0_164:notes"/>
          <p:cNvSpPr txBox="1"/>
          <p:nvPr>
            <p:ph idx="1" type="body"/>
          </p:nvPr>
        </p:nvSpPr>
        <p:spPr>
          <a:xfrm>
            <a:off x="930303" y="4360781"/>
            <a:ext cx="5009400" cy="4070100"/>
          </a:xfrm>
          <a:prstGeom prst="rect">
            <a:avLst/>
          </a:prstGeom>
          <a:noFill/>
          <a:ln>
            <a:noFill/>
          </a:ln>
        </p:spPr>
        <p:txBody>
          <a:bodyPr anchorCtr="0" anchor="t" bIns="43150" lIns="86300" spcFirstLastPara="1" rIns="86300" wrap="square" tIns="43150">
            <a:noAutofit/>
          </a:bodyPr>
          <a:lstStyle/>
          <a:p>
            <a:pPr indent="0" lvl="0" marL="0" rtl="0" algn="l">
              <a:spcBef>
                <a:spcPts val="0"/>
              </a:spcBef>
              <a:spcAft>
                <a:spcPts val="0"/>
              </a:spcAft>
              <a:buNone/>
            </a:pPr>
            <a:r>
              <a:t/>
            </a:r>
            <a:endParaRPr/>
          </a:p>
        </p:txBody>
      </p:sp>
      <p:sp>
        <p:nvSpPr>
          <p:cNvPr id="156" name="Google Shape;156;g3ab4b54c850_0_164:notes"/>
          <p:cNvSpPr txBox="1"/>
          <p:nvPr>
            <p:ph idx="12" type="sldNum"/>
          </p:nvPr>
        </p:nvSpPr>
        <p:spPr>
          <a:xfrm>
            <a:off x="3864334" y="8721561"/>
            <a:ext cx="3005700" cy="436200"/>
          </a:xfrm>
          <a:prstGeom prst="rect">
            <a:avLst/>
          </a:prstGeom>
          <a:noFill/>
          <a:ln>
            <a:noFill/>
          </a:ln>
        </p:spPr>
        <p:txBody>
          <a:bodyPr anchorCtr="0" anchor="b" bIns="43150" lIns="86300" spcFirstLastPara="1" rIns="86300" wrap="square" tIns="43150">
            <a:noAutofit/>
          </a:bodyPr>
          <a:lstStyle/>
          <a:p>
            <a:pPr indent="0" lvl="0" marL="0" rtl="0" algn="r">
              <a:spcBef>
                <a:spcPts val="0"/>
              </a:spcBef>
              <a:spcAft>
                <a:spcPts val="0"/>
              </a:spcAft>
              <a:buNone/>
            </a:pPr>
            <a:fld id="{00000000-1234-1234-1234-123412341234}" type="slidenum">
              <a:rPr lang="en" sz="1300"/>
              <a:t>‹#›</a:t>
            </a:fld>
            <a:endParaRPr sz="1300"/>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ab4b54c850_0_226: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a:noFill/>
          <a:ln cap="flat" cmpd="sng" w="9000">
            <a:solidFill>
              <a:srgbClr val="000000"/>
            </a:solidFill>
            <a:prstDash val="solid"/>
            <a:miter lim="800000"/>
            <a:headEnd len="sm" w="sm" type="none"/>
            <a:tailEnd len="sm" w="sm" type="none"/>
          </a:ln>
        </p:spPr>
      </p:sp>
      <p:sp>
        <p:nvSpPr>
          <p:cNvPr id="162" name="Google Shape;162;g3ab4b54c850_0_226:notes"/>
          <p:cNvSpPr txBox="1"/>
          <p:nvPr>
            <p:ph idx="1" type="body"/>
          </p:nvPr>
        </p:nvSpPr>
        <p:spPr>
          <a:xfrm>
            <a:off x="930303" y="4360781"/>
            <a:ext cx="5009400" cy="4070100"/>
          </a:xfrm>
          <a:prstGeom prst="rect">
            <a:avLst/>
          </a:prstGeom>
          <a:noFill/>
          <a:ln>
            <a:noFill/>
          </a:ln>
        </p:spPr>
        <p:txBody>
          <a:bodyPr anchorCtr="0" anchor="t" bIns="43150" lIns="86300" spcFirstLastPara="1" rIns="86300" wrap="square" tIns="43150">
            <a:noAutofit/>
          </a:bodyPr>
          <a:lstStyle/>
          <a:p>
            <a:pPr indent="0" lvl="0" marL="0" rtl="0" algn="l">
              <a:spcBef>
                <a:spcPts val="0"/>
              </a:spcBef>
              <a:spcAft>
                <a:spcPts val="0"/>
              </a:spcAft>
              <a:buNone/>
            </a:pPr>
            <a:r>
              <a:t/>
            </a:r>
            <a:endParaRPr/>
          </a:p>
        </p:txBody>
      </p:sp>
      <p:sp>
        <p:nvSpPr>
          <p:cNvPr id="163" name="Google Shape;163;g3ab4b54c850_0_226:notes"/>
          <p:cNvSpPr txBox="1"/>
          <p:nvPr>
            <p:ph idx="12" type="sldNum"/>
          </p:nvPr>
        </p:nvSpPr>
        <p:spPr>
          <a:xfrm>
            <a:off x="3864334" y="8721561"/>
            <a:ext cx="3005700" cy="436200"/>
          </a:xfrm>
          <a:prstGeom prst="rect">
            <a:avLst/>
          </a:prstGeom>
          <a:noFill/>
          <a:ln>
            <a:noFill/>
          </a:ln>
        </p:spPr>
        <p:txBody>
          <a:bodyPr anchorCtr="0" anchor="b" bIns="43150" lIns="86300" spcFirstLastPara="1" rIns="86300" wrap="square" tIns="43150">
            <a:noAutofit/>
          </a:bodyPr>
          <a:lstStyle/>
          <a:p>
            <a:pPr indent="0" lvl="0" marL="0" rtl="0" algn="r">
              <a:spcBef>
                <a:spcPts val="0"/>
              </a:spcBef>
              <a:spcAft>
                <a:spcPts val="0"/>
              </a:spcAft>
              <a:buNone/>
            </a:pPr>
            <a:fld id="{00000000-1234-1234-1234-123412341234}" type="slidenum">
              <a:rPr lang="en" sz="1300"/>
              <a:t>‹#›</a:t>
            </a:fld>
            <a:endParaRPr sz="1300"/>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ab4b54c850_0_314: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a:noFill/>
          <a:ln cap="flat" cmpd="sng" w="9000">
            <a:solidFill>
              <a:srgbClr val="000000"/>
            </a:solidFill>
            <a:prstDash val="solid"/>
            <a:miter lim="800000"/>
            <a:headEnd len="sm" w="sm" type="none"/>
            <a:tailEnd len="sm" w="sm" type="none"/>
          </a:ln>
        </p:spPr>
      </p:sp>
      <p:sp>
        <p:nvSpPr>
          <p:cNvPr id="170" name="Google Shape;170;g3ab4b54c850_0_314:notes"/>
          <p:cNvSpPr txBox="1"/>
          <p:nvPr>
            <p:ph idx="1" type="body"/>
          </p:nvPr>
        </p:nvSpPr>
        <p:spPr>
          <a:xfrm>
            <a:off x="930303" y="4360781"/>
            <a:ext cx="5009400" cy="4070100"/>
          </a:xfrm>
          <a:prstGeom prst="rect">
            <a:avLst/>
          </a:prstGeom>
          <a:noFill/>
          <a:ln>
            <a:noFill/>
          </a:ln>
        </p:spPr>
        <p:txBody>
          <a:bodyPr anchorCtr="0" anchor="t" bIns="43150" lIns="86300" spcFirstLastPara="1" rIns="86300" wrap="square" tIns="43150">
            <a:noAutofit/>
          </a:bodyPr>
          <a:lstStyle/>
          <a:p>
            <a:pPr indent="0" lvl="0" marL="0" rtl="0" algn="l">
              <a:spcBef>
                <a:spcPts val="0"/>
              </a:spcBef>
              <a:spcAft>
                <a:spcPts val="0"/>
              </a:spcAft>
              <a:buNone/>
            </a:pPr>
            <a:r>
              <a:t/>
            </a:r>
            <a:endParaRPr/>
          </a:p>
        </p:txBody>
      </p:sp>
      <p:sp>
        <p:nvSpPr>
          <p:cNvPr id="171" name="Google Shape;171;g3ab4b54c850_0_314:notes"/>
          <p:cNvSpPr txBox="1"/>
          <p:nvPr>
            <p:ph idx="12" type="sldNum"/>
          </p:nvPr>
        </p:nvSpPr>
        <p:spPr>
          <a:xfrm>
            <a:off x="3864334" y="8721561"/>
            <a:ext cx="3005700" cy="436200"/>
          </a:xfrm>
          <a:prstGeom prst="rect">
            <a:avLst/>
          </a:prstGeom>
          <a:noFill/>
          <a:ln>
            <a:noFill/>
          </a:ln>
        </p:spPr>
        <p:txBody>
          <a:bodyPr anchorCtr="0" anchor="b" bIns="43150" lIns="86300" spcFirstLastPara="1" rIns="86300" wrap="square" tIns="43150">
            <a:noAutofit/>
          </a:bodyPr>
          <a:lstStyle/>
          <a:p>
            <a:pPr indent="0" lvl="0" marL="0" rtl="0" algn="r">
              <a:spcBef>
                <a:spcPts val="0"/>
              </a:spcBef>
              <a:spcAft>
                <a:spcPts val="0"/>
              </a:spcAft>
              <a:buNone/>
            </a:pPr>
            <a:fld id="{00000000-1234-1234-1234-123412341234}" type="slidenum">
              <a:rPr lang="en" sz="1300"/>
              <a:t>‹#›</a:t>
            </a:fld>
            <a:endParaRPr sz="1300"/>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ab4b54c850_0_345:notes"/>
          <p:cNvSpPr/>
          <p:nvPr>
            <p:ph idx="2" type="sldImg"/>
          </p:nvPr>
        </p:nvSpPr>
        <p:spPr>
          <a:xfrm>
            <a:off x="444033" y="693485"/>
            <a:ext cx="5977500" cy="34158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9" name="Google Shape;179;g3ab4b54c850_0_345:notes"/>
          <p:cNvSpPr txBox="1"/>
          <p:nvPr>
            <p:ph idx="1" type="body"/>
          </p:nvPr>
        </p:nvSpPr>
        <p:spPr>
          <a:xfrm>
            <a:off x="914505" y="4341512"/>
            <a:ext cx="5028900" cy="4115700"/>
          </a:xfrm>
          <a:prstGeom prst="rect">
            <a:avLst/>
          </a:prstGeom>
          <a:noFill/>
          <a:ln>
            <a:noFill/>
          </a:ln>
        </p:spPr>
        <p:txBody>
          <a:bodyPr anchorCtr="0" anchor="t" bIns="43150" lIns="86300" spcFirstLastPara="1" rIns="86300" wrap="square" tIns="4315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ab4b54c850_0_397: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a:noFill/>
          <a:ln cap="flat" cmpd="sng" w="9000">
            <a:solidFill>
              <a:srgbClr val="000000"/>
            </a:solidFill>
            <a:prstDash val="solid"/>
            <a:miter lim="800000"/>
            <a:headEnd len="sm" w="sm" type="none"/>
            <a:tailEnd len="sm" w="sm" type="none"/>
          </a:ln>
        </p:spPr>
      </p:sp>
      <p:sp>
        <p:nvSpPr>
          <p:cNvPr id="186" name="Google Shape;186;g3ab4b54c850_0_397:notes"/>
          <p:cNvSpPr txBox="1"/>
          <p:nvPr>
            <p:ph idx="1" type="body"/>
          </p:nvPr>
        </p:nvSpPr>
        <p:spPr>
          <a:xfrm>
            <a:off x="930303" y="4360781"/>
            <a:ext cx="5009400" cy="4070100"/>
          </a:xfrm>
          <a:prstGeom prst="rect">
            <a:avLst/>
          </a:prstGeom>
          <a:noFill/>
          <a:ln>
            <a:noFill/>
          </a:ln>
        </p:spPr>
        <p:txBody>
          <a:bodyPr anchorCtr="0" anchor="t" bIns="43150" lIns="86300" spcFirstLastPara="1" rIns="86300" wrap="square" tIns="43150">
            <a:noAutofit/>
          </a:bodyPr>
          <a:lstStyle/>
          <a:p>
            <a:pPr indent="0" lvl="0" marL="0" rtl="0" algn="l">
              <a:spcBef>
                <a:spcPts val="0"/>
              </a:spcBef>
              <a:spcAft>
                <a:spcPts val="0"/>
              </a:spcAft>
              <a:buNone/>
            </a:pPr>
            <a:r>
              <a:t/>
            </a:r>
            <a:endParaRPr/>
          </a:p>
        </p:txBody>
      </p:sp>
      <p:sp>
        <p:nvSpPr>
          <p:cNvPr id="187" name="Google Shape;187;g3ab4b54c850_0_397:notes"/>
          <p:cNvSpPr txBox="1"/>
          <p:nvPr>
            <p:ph idx="12" type="sldNum"/>
          </p:nvPr>
        </p:nvSpPr>
        <p:spPr>
          <a:xfrm>
            <a:off x="3864334" y="8721561"/>
            <a:ext cx="3005700" cy="436200"/>
          </a:xfrm>
          <a:prstGeom prst="rect">
            <a:avLst/>
          </a:prstGeom>
          <a:noFill/>
          <a:ln>
            <a:noFill/>
          </a:ln>
        </p:spPr>
        <p:txBody>
          <a:bodyPr anchorCtr="0" anchor="b" bIns="43150" lIns="86300" spcFirstLastPara="1" rIns="86300" wrap="square" tIns="43150">
            <a:noAutofit/>
          </a:bodyPr>
          <a:lstStyle/>
          <a:p>
            <a:pPr indent="0" lvl="0" marL="0" rtl="0" algn="r">
              <a:spcBef>
                <a:spcPts val="0"/>
              </a:spcBef>
              <a:spcAft>
                <a:spcPts val="0"/>
              </a:spcAft>
              <a:buNone/>
            </a:pPr>
            <a:fld id="{00000000-1234-1234-1234-123412341234}" type="slidenum">
              <a:rPr lang="en" sz="1300"/>
              <a:t>‹#›</a:t>
            </a:fld>
            <a:endParaRPr sz="1300"/>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ab4b54c850_0_545: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a:noFill/>
          <a:ln cap="flat" cmpd="sng" w="9000">
            <a:solidFill>
              <a:srgbClr val="000000"/>
            </a:solidFill>
            <a:prstDash val="solid"/>
            <a:miter lim="800000"/>
            <a:headEnd len="sm" w="sm" type="none"/>
            <a:tailEnd len="sm" w="sm" type="none"/>
          </a:ln>
        </p:spPr>
      </p:sp>
      <p:sp>
        <p:nvSpPr>
          <p:cNvPr id="194" name="Google Shape;194;g3ab4b54c850_0_545:notes"/>
          <p:cNvSpPr txBox="1"/>
          <p:nvPr>
            <p:ph idx="1" type="body"/>
          </p:nvPr>
        </p:nvSpPr>
        <p:spPr>
          <a:xfrm>
            <a:off x="930303" y="4360781"/>
            <a:ext cx="5009400" cy="4070100"/>
          </a:xfrm>
          <a:prstGeom prst="rect">
            <a:avLst/>
          </a:prstGeom>
          <a:noFill/>
          <a:ln>
            <a:noFill/>
          </a:ln>
        </p:spPr>
        <p:txBody>
          <a:bodyPr anchorCtr="0" anchor="t" bIns="43150" lIns="86300" spcFirstLastPara="1" rIns="86300" wrap="square" tIns="43150">
            <a:noAutofit/>
          </a:bodyPr>
          <a:lstStyle/>
          <a:p>
            <a:pPr indent="0" lvl="0" marL="0" rtl="0" algn="l">
              <a:spcBef>
                <a:spcPts val="0"/>
              </a:spcBef>
              <a:spcAft>
                <a:spcPts val="0"/>
              </a:spcAft>
              <a:buNone/>
            </a:pPr>
            <a:r>
              <a:t/>
            </a:r>
            <a:endParaRPr/>
          </a:p>
        </p:txBody>
      </p:sp>
      <p:sp>
        <p:nvSpPr>
          <p:cNvPr id="195" name="Google Shape;195;g3ab4b54c850_0_545:notes"/>
          <p:cNvSpPr txBox="1"/>
          <p:nvPr>
            <p:ph idx="12" type="sldNum"/>
          </p:nvPr>
        </p:nvSpPr>
        <p:spPr>
          <a:xfrm>
            <a:off x="3864334" y="8721561"/>
            <a:ext cx="3005700" cy="436200"/>
          </a:xfrm>
          <a:prstGeom prst="rect">
            <a:avLst/>
          </a:prstGeom>
          <a:noFill/>
          <a:ln>
            <a:noFill/>
          </a:ln>
        </p:spPr>
        <p:txBody>
          <a:bodyPr anchorCtr="0" anchor="b" bIns="43150" lIns="86300" spcFirstLastPara="1" rIns="86300" wrap="square" tIns="43150">
            <a:noAutofit/>
          </a:bodyPr>
          <a:lstStyle/>
          <a:p>
            <a:pPr indent="0" lvl="0" marL="0" rtl="0" algn="r">
              <a:spcBef>
                <a:spcPts val="0"/>
              </a:spcBef>
              <a:spcAft>
                <a:spcPts val="0"/>
              </a:spcAft>
              <a:buNone/>
            </a:pPr>
            <a:fld id="{00000000-1234-1234-1234-123412341234}" type="slidenum">
              <a:rPr lang="en" sz="1300"/>
              <a:t>‹#›</a:t>
            </a:fld>
            <a:endParaRPr sz="1300"/>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ab4b54c850_0_590:notes"/>
          <p:cNvSpPr/>
          <p:nvPr>
            <p:ph idx="2" type="sldImg"/>
          </p:nvPr>
        </p:nvSpPr>
        <p:spPr>
          <a:xfrm>
            <a:off x="444033" y="693485"/>
            <a:ext cx="5977500" cy="34158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3" name="Google Shape;203;g3ab4b54c850_0_590:notes"/>
          <p:cNvSpPr txBox="1"/>
          <p:nvPr>
            <p:ph idx="1" type="body"/>
          </p:nvPr>
        </p:nvSpPr>
        <p:spPr>
          <a:xfrm>
            <a:off x="914505" y="4341512"/>
            <a:ext cx="5028900" cy="4115700"/>
          </a:xfrm>
          <a:prstGeom prst="rect">
            <a:avLst/>
          </a:prstGeom>
          <a:noFill/>
          <a:ln>
            <a:noFill/>
          </a:ln>
        </p:spPr>
        <p:txBody>
          <a:bodyPr anchorCtr="0" anchor="t" bIns="43150" lIns="86300" spcFirstLastPara="1" rIns="86300" wrap="square" tIns="4315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ab4b54c850_0_639:notes"/>
          <p:cNvSpPr txBox="1"/>
          <p:nvPr/>
        </p:nvSpPr>
        <p:spPr>
          <a:xfrm>
            <a:off x="1198562" y="692550"/>
            <a:ext cx="4463100" cy="3415200"/>
          </a:xfrm>
          <a:prstGeom prst="rect">
            <a:avLst/>
          </a:prstGeom>
          <a:solidFill>
            <a:srgbClr val="FFFFFF"/>
          </a:solidFill>
          <a:ln cap="flat" cmpd="sng" w="9000">
            <a:solidFill>
              <a:srgbClr val="000000"/>
            </a:solidFill>
            <a:prstDash val="solid"/>
            <a:miter lim="800000"/>
            <a:headEnd len="sm" w="sm" type="none"/>
            <a:tailEnd len="sm" w="sm" type="none"/>
          </a:ln>
        </p:spPr>
        <p:txBody>
          <a:bodyPr anchorCtr="0" anchor="ctr" bIns="43150" lIns="86300" spcFirstLastPara="1" rIns="86300" wrap="square" tIns="43150">
            <a:noAutofit/>
          </a:bodyPr>
          <a:lstStyle/>
          <a:p>
            <a:pPr indent="0" lvl="0" marL="0" marR="0" rtl="0" algn="l">
              <a:spcBef>
                <a:spcPts val="0"/>
              </a:spcBef>
              <a:spcAft>
                <a:spcPts val="0"/>
              </a:spcAft>
              <a:buNone/>
            </a:pPr>
            <a:r>
              <a:t/>
            </a:r>
            <a:endParaRPr b="1" sz="2300">
              <a:solidFill>
                <a:schemeClr val="dk1"/>
              </a:solidFill>
              <a:latin typeface="Arial Narrow"/>
              <a:ea typeface="Arial Narrow"/>
              <a:cs typeface="Arial Narrow"/>
              <a:sym typeface="Arial Narrow"/>
            </a:endParaRPr>
          </a:p>
        </p:txBody>
      </p:sp>
      <p:sp>
        <p:nvSpPr>
          <p:cNvPr id="210" name="Google Shape;210;g3ab4b54c850_0_639:notes"/>
          <p:cNvSpPr txBox="1"/>
          <p:nvPr>
            <p:ph idx="1" type="body"/>
          </p:nvPr>
        </p:nvSpPr>
        <p:spPr>
          <a:xfrm>
            <a:off x="915080" y="4343804"/>
            <a:ext cx="5028900" cy="4115700"/>
          </a:xfrm>
          <a:prstGeom prst="rect">
            <a:avLst/>
          </a:prstGeom>
          <a:noFill/>
          <a:ln>
            <a:noFill/>
          </a:ln>
        </p:spPr>
        <p:txBody>
          <a:bodyPr anchorCtr="0" anchor="ctr" bIns="44975" lIns="89975" spcFirstLastPara="1" rIns="89975" wrap="square" tIns="44975">
            <a:noAutofit/>
          </a:bodyPr>
          <a:lstStyle/>
          <a:p>
            <a:pPr indent="0" lvl="0" marL="0" rtl="0" algn="l">
              <a:spcBef>
                <a:spcPts val="0"/>
              </a:spcBef>
              <a:spcAft>
                <a:spcPts val="0"/>
              </a:spcAft>
              <a:buNone/>
            </a:pPr>
            <a:r>
              <a:t/>
            </a:r>
            <a:endParaRPr/>
          </a:p>
        </p:txBody>
      </p:sp>
      <p:sp>
        <p:nvSpPr>
          <p:cNvPr id="211" name="Google Shape;211;g3ab4b54c850_0_639: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f06923e22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f06923e22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f06923e22d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3f06923e22d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ab4b54c850_0_645:notes"/>
          <p:cNvSpPr txBox="1"/>
          <p:nvPr>
            <p:ph idx="1" type="body"/>
          </p:nvPr>
        </p:nvSpPr>
        <p:spPr>
          <a:xfrm>
            <a:off x="930303" y="4360781"/>
            <a:ext cx="5009400" cy="407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g3ab4b54c850_0_645: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ab4b54c850_0_676:notes"/>
          <p:cNvSpPr txBox="1"/>
          <p:nvPr>
            <p:ph idx="1" type="body"/>
          </p:nvPr>
        </p:nvSpPr>
        <p:spPr>
          <a:xfrm>
            <a:off x="915080" y="4343804"/>
            <a:ext cx="5028900" cy="4115700"/>
          </a:xfrm>
          <a:prstGeom prst="rect">
            <a:avLst/>
          </a:prstGeom>
          <a:noFill/>
          <a:ln>
            <a:noFill/>
          </a:ln>
        </p:spPr>
        <p:txBody>
          <a:bodyPr anchorCtr="0" anchor="ctr" bIns="43150" lIns="86300" spcFirstLastPara="1" rIns="86300" wrap="square" tIns="43150">
            <a:noAutofit/>
          </a:bodyPr>
          <a:lstStyle/>
          <a:p>
            <a:pPr indent="0" lvl="0" marL="0" rtl="0" algn="l">
              <a:spcBef>
                <a:spcPts val="0"/>
              </a:spcBef>
              <a:spcAft>
                <a:spcPts val="0"/>
              </a:spcAft>
              <a:buNone/>
            </a:pPr>
            <a:r>
              <a:t/>
            </a:r>
            <a:endParaRPr/>
          </a:p>
        </p:txBody>
      </p:sp>
      <p:sp>
        <p:nvSpPr>
          <p:cNvPr id="237" name="Google Shape;237;g3ab4b54c850_0_676:notes"/>
          <p:cNvSpPr txBox="1"/>
          <p:nvPr/>
        </p:nvSpPr>
        <p:spPr>
          <a:xfrm>
            <a:off x="1200831" y="692550"/>
            <a:ext cx="4465200" cy="3417000"/>
          </a:xfrm>
          <a:prstGeom prst="rect">
            <a:avLst/>
          </a:prstGeom>
          <a:solidFill>
            <a:srgbClr val="FFFFFF"/>
          </a:solidFill>
          <a:ln cap="flat" cmpd="sng" w="9000">
            <a:solidFill>
              <a:srgbClr val="000000"/>
            </a:solidFill>
            <a:prstDash val="solid"/>
            <a:miter lim="800000"/>
            <a:headEnd len="sm" w="sm" type="none"/>
            <a:tailEnd len="sm" w="sm" type="none"/>
          </a:ln>
        </p:spPr>
        <p:txBody>
          <a:bodyPr anchorCtr="0" anchor="ctr" bIns="43150" lIns="86300" spcFirstLastPara="1" rIns="86300" wrap="square" tIns="43150">
            <a:noAutofit/>
          </a:bodyPr>
          <a:lstStyle/>
          <a:p>
            <a:pPr indent="0" lvl="0" marL="0" marR="0" rtl="0" algn="l">
              <a:spcBef>
                <a:spcPts val="0"/>
              </a:spcBef>
              <a:spcAft>
                <a:spcPts val="0"/>
              </a:spcAft>
              <a:buNone/>
            </a:pPr>
            <a:r>
              <a:t/>
            </a:r>
            <a:endParaRPr b="1" sz="2300">
              <a:solidFill>
                <a:schemeClr val="dk1"/>
              </a:solidFill>
              <a:latin typeface="Arial Narrow"/>
              <a:ea typeface="Arial Narrow"/>
              <a:cs typeface="Arial Narrow"/>
              <a:sym typeface="Arial Narrow"/>
            </a:endParaRPr>
          </a:p>
        </p:txBody>
      </p:sp>
      <p:sp>
        <p:nvSpPr>
          <p:cNvPr id="238" name="Google Shape;238;g3ab4b54c850_0_676: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ab4b54c850_0_682:notes"/>
          <p:cNvSpPr txBox="1"/>
          <p:nvPr>
            <p:ph idx="1" type="body"/>
          </p:nvPr>
        </p:nvSpPr>
        <p:spPr>
          <a:xfrm>
            <a:off x="913947" y="4343804"/>
            <a:ext cx="5030100" cy="4115700"/>
          </a:xfrm>
          <a:prstGeom prst="rect">
            <a:avLst/>
          </a:prstGeom>
          <a:noFill/>
          <a:ln>
            <a:noFill/>
          </a:ln>
        </p:spPr>
        <p:txBody>
          <a:bodyPr anchorCtr="0" anchor="t" bIns="44375" lIns="90325" spcFirstLastPara="1" rIns="90325" wrap="square" tIns="44375">
            <a:noAutofit/>
          </a:bodyPr>
          <a:lstStyle/>
          <a:p>
            <a:pPr indent="0" lvl="0" marL="0" rtl="0" algn="l">
              <a:spcBef>
                <a:spcPts val="0"/>
              </a:spcBef>
              <a:spcAft>
                <a:spcPts val="0"/>
              </a:spcAft>
              <a:buNone/>
            </a:pPr>
            <a:r>
              <a:t/>
            </a:r>
            <a:endParaRPr/>
          </a:p>
        </p:txBody>
      </p:sp>
      <p:sp>
        <p:nvSpPr>
          <p:cNvPr id="244" name="Google Shape;244;g3ab4b54c850_0_682:notes"/>
          <p:cNvSpPr/>
          <p:nvPr>
            <p:ph idx="2" type="sldImg"/>
          </p:nvPr>
        </p:nvSpPr>
        <p:spPr>
          <a:xfrm>
            <a:off x="427140" y="682887"/>
            <a:ext cx="6005100" cy="3432600"/>
          </a:xfrm>
          <a:custGeom>
            <a:rect b="b" l="l" r="r" t="t"/>
            <a:pathLst>
              <a:path extrusionOk="0" h="120000" w="120000">
                <a:moveTo>
                  <a:pt x="0" y="0"/>
                </a:moveTo>
                <a:lnTo>
                  <a:pt x="120000" y="0"/>
                </a:lnTo>
                <a:lnTo>
                  <a:pt x="120000" y="120000"/>
                </a:lnTo>
                <a:lnTo>
                  <a:pt x="0" y="120000"/>
                </a:lnTo>
                <a:close/>
              </a:path>
            </a:pathLst>
          </a:custGeom>
          <a:noFill/>
          <a:ln cap="flat" cmpd="sng" w="12000">
            <a:solidFill>
              <a:schemeClr val="dk1"/>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ab4b54c850_0_687: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0" name="Google Shape;250;g3ab4b54c850_0_687:notes"/>
          <p:cNvSpPr txBox="1"/>
          <p:nvPr>
            <p:ph idx="1" type="body"/>
          </p:nvPr>
        </p:nvSpPr>
        <p:spPr>
          <a:xfrm>
            <a:off x="930303" y="4360781"/>
            <a:ext cx="5009400" cy="4070100"/>
          </a:xfrm>
          <a:prstGeom prst="rect">
            <a:avLst/>
          </a:prstGeom>
          <a:noFill/>
          <a:ln>
            <a:noFill/>
          </a:ln>
        </p:spPr>
        <p:txBody>
          <a:bodyPr anchorCtr="0" anchor="t" bIns="43150" lIns="86300" spcFirstLastPara="1" rIns="86300" wrap="square" tIns="43150">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ab4b54c850_0_699: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7" name="Google Shape;257;g3ab4b54c850_0_699:notes"/>
          <p:cNvSpPr txBox="1"/>
          <p:nvPr>
            <p:ph idx="1" type="body"/>
          </p:nvPr>
        </p:nvSpPr>
        <p:spPr>
          <a:xfrm>
            <a:off x="930303" y="4360781"/>
            <a:ext cx="5009400" cy="4070100"/>
          </a:xfrm>
          <a:prstGeom prst="rect">
            <a:avLst/>
          </a:prstGeom>
          <a:noFill/>
          <a:ln>
            <a:noFill/>
          </a:ln>
        </p:spPr>
        <p:txBody>
          <a:bodyPr anchorCtr="0" anchor="t" bIns="43150" lIns="86300" spcFirstLastPara="1" rIns="86300" wrap="square" tIns="43150">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ab4b54c850_0_704: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3" name="Google Shape;263;g3ab4b54c850_0_704:notes"/>
          <p:cNvSpPr txBox="1"/>
          <p:nvPr>
            <p:ph idx="1" type="body"/>
          </p:nvPr>
        </p:nvSpPr>
        <p:spPr>
          <a:xfrm>
            <a:off x="930303" y="4360781"/>
            <a:ext cx="5009400" cy="4070100"/>
          </a:xfrm>
          <a:prstGeom prst="rect">
            <a:avLst/>
          </a:prstGeom>
          <a:noFill/>
          <a:ln>
            <a:noFill/>
          </a:ln>
        </p:spPr>
        <p:txBody>
          <a:bodyPr anchorCtr="0" anchor="t" bIns="43150" lIns="86300" spcFirstLastPara="1" rIns="86300" wrap="square" tIns="43150">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ab4b54c850_0_14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3ab4b54c850_0_14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ab4b54c850_0_742: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6" name="Google Shape;276;g3ab4b54c850_0_742:notes"/>
          <p:cNvSpPr txBox="1"/>
          <p:nvPr>
            <p:ph idx="1" type="body"/>
          </p:nvPr>
        </p:nvSpPr>
        <p:spPr>
          <a:xfrm>
            <a:off x="930303" y="4360781"/>
            <a:ext cx="5009400" cy="4070100"/>
          </a:xfrm>
          <a:prstGeom prst="rect">
            <a:avLst/>
          </a:prstGeom>
          <a:noFill/>
          <a:ln>
            <a:noFill/>
          </a:ln>
        </p:spPr>
        <p:txBody>
          <a:bodyPr anchorCtr="0" anchor="t" bIns="43150" lIns="86300" spcFirstLastPara="1" rIns="86300" wrap="square" tIns="43150">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ab4b54c850_0_753: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3" name="Google Shape;283;g3ab4b54c850_0_753:notes"/>
          <p:cNvSpPr txBox="1"/>
          <p:nvPr>
            <p:ph idx="1" type="body"/>
          </p:nvPr>
        </p:nvSpPr>
        <p:spPr>
          <a:xfrm>
            <a:off x="930303" y="4360781"/>
            <a:ext cx="5009400" cy="4070100"/>
          </a:xfrm>
          <a:prstGeom prst="rect">
            <a:avLst/>
          </a:prstGeom>
          <a:noFill/>
          <a:ln>
            <a:noFill/>
          </a:ln>
        </p:spPr>
        <p:txBody>
          <a:bodyPr anchorCtr="0" anchor="t" bIns="43150" lIns="86300" spcFirstLastPara="1" rIns="86300" wrap="square" tIns="43150">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ab4b54c850_0_781: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0" name="Google Shape;290;g3ab4b54c850_0_781:notes"/>
          <p:cNvSpPr txBox="1"/>
          <p:nvPr>
            <p:ph idx="1" type="body"/>
          </p:nvPr>
        </p:nvSpPr>
        <p:spPr>
          <a:xfrm>
            <a:off x="930303" y="4360781"/>
            <a:ext cx="5009400" cy="4070100"/>
          </a:xfrm>
          <a:prstGeom prst="rect">
            <a:avLst/>
          </a:prstGeom>
          <a:noFill/>
          <a:ln>
            <a:noFill/>
          </a:ln>
        </p:spPr>
        <p:txBody>
          <a:bodyPr anchorCtr="0" anchor="t" bIns="43150" lIns="86300" spcFirstLastPara="1" rIns="86300" wrap="square" tIns="43150">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ab4b54c850_0_786: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6" name="Google Shape;296;g3ab4b54c850_0_786:notes"/>
          <p:cNvSpPr txBox="1"/>
          <p:nvPr>
            <p:ph idx="1" type="body"/>
          </p:nvPr>
        </p:nvSpPr>
        <p:spPr>
          <a:xfrm>
            <a:off x="930303" y="4360781"/>
            <a:ext cx="5009400" cy="4070100"/>
          </a:xfrm>
          <a:prstGeom prst="rect">
            <a:avLst/>
          </a:prstGeom>
          <a:noFill/>
          <a:ln>
            <a:noFill/>
          </a:ln>
        </p:spPr>
        <p:txBody>
          <a:bodyPr anchorCtr="0" anchor="t" bIns="43150" lIns="86300" spcFirstLastPara="1" rIns="86300" wrap="square" tIns="43150">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ab4b54c850_0_838: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4" name="Google Shape;304;g3ab4b54c850_0_838:notes"/>
          <p:cNvSpPr txBox="1"/>
          <p:nvPr>
            <p:ph idx="1" type="body"/>
          </p:nvPr>
        </p:nvSpPr>
        <p:spPr>
          <a:xfrm>
            <a:off x="930303" y="4360781"/>
            <a:ext cx="5009400" cy="4070100"/>
          </a:xfrm>
          <a:prstGeom prst="rect">
            <a:avLst/>
          </a:prstGeom>
          <a:noFill/>
          <a:ln>
            <a:noFill/>
          </a:ln>
        </p:spPr>
        <p:txBody>
          <a:bodyPr anchorCtr="0" anchor="t" bIns="43150" lIns="86300" spcFirstLastPara="1" rIns="86300" wrap="square" tIns="43150">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ab4b54c850_0_890: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2" name="Google Shape;312;g3ab4b54c850_0_890:notes"/>
          <p:cNvSpPr txBox="1"/>
          <p:nvPr>
            <p:ph idx="1" type="body"/>
          </p:nvPr>
        </p:nvSpPr>
        <p:spPr>
          <a:xfrm>
            <a:off x="930303" y="4360781"/>
            <a:ext cx="5009400" cy="4070100"/>
          </a:xfrm>
          <a:prstGeom prst="rect">
            <a:avLst/>
          </a:prstGeom>
          <a:noFill/>
          <a:ln>
            <a:noFill/>
          </a:ln>
        </p:spPr>
        <p:txBody>
          <a:bodyPr anchorCtr="0" anchor="t" bIns="43150" lIns="86300" spcFirstLastPara="1" rIns="86300" wrap="square" tIns="43150">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ab4b54c850_0_942: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0" name="Google Shape;320;g3ab4b54c850_0_942:notes"/>
          <p:cNvSpPr txBox="1"/>
          <p:nvPr>
            <p:ph idx="1" type="body"/>
          </p:nvPr>
        </p:nvSpPr>
        <p:spPr>
          <a:xfrm>
            <a:off x="930303" y="4360781"/>
            <a:ext cx="5009400" cy="4070100"/>
          </a:xfrm>
          <a:prstGeom prst="rect">
            <a:avLst/>
          </a:prstGeom>
          <a:noFill/>
          <a:ln>
            <a:noFill/>
          </a:ln>
        </p:spPr>
        <p:txBody>
          <a:bodyPr anchorCtr="0" anchor="t" bIns="43150" lIns="86300" spcFirstLastPara="1" rIns="86300" wrap="square" tIns="43150">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ab4b54c850_0_952:notes"/>
          <p:cNvSpPr txBox="1"/>
          <p:nvPr>
            <p:ph idx="1" type="body"/>
          </p:nvPr>
        </p:nvSpPr>
        <p:spPr>
          <a:xfrm>
            <a:off x="930303" y="4360781"/>
            <a:ext cx="5009400" cy="407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g3ab4b54c850_0_952: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ab4b54c850_0_966:notes"/>
          <p:cNvSpPr txBox="1"/>
          <p:nvPr>
            <p:ph idx="1" type="body"/>
          </p:nvPr>
        </p:nvSpPr>
        <p:spPr>
          <a:xfrm>
            <a:off x="930303" y="4360781"/>
            <a:ext cx="5009400" cy="407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g3ab4b54c850_0_966: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ab4b54c850_0_982:notes"/>
          <p:cNvSpPr txBox="1"/>
          <p:nvPr>
            <p:ph idx="1" type="body"/>
          </p:nvPr>
        </p:nvSpPr>
        <p:spPr>
          <a:xfrm>
            <a:off x="930303" y="4360781"/>
            <a:ext cx="5009400" cy="407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g3ab4b54c850_0_982: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3fa96640ed9_0_0:notes"/>
          <p:cNvSpPr txBox="1"/>
          <p:nvPr>
            <p:ph idx="1" type="body"/>
          </p:nvPr>
        </p:nvSpPr>
        <p:spPr>
          <a:xfrm>
            <a:off x="930303" y="4360781"/>
            <a:ext cx="5009400" cy="407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g3fa96640ed9_0_0: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3ab4b54c850_0_1026:notes"/>
          <p:cNvSpPr txBox="1"/>
          <p:nvPr>
            <p:ph idx="1" type="body"/>
          </p:nvPr>
        </p:nvSpPr>
        <p:spPr>
          <a:xfrm>
            <a:off x="930303" y="4360781"/>
            <a:ext cx="5009400" cy="407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g3ab4b54c850_0_1026: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ab4b54c850_0_1055:notes"/>
          <p:cNvSpPr txBox="1"/>
          <p:nvPr>
            <p:ph idx="1" type="body"/>
          </p:nvPr>
        </p:nvSpPr>
        <p:spPr>
          <a:xfrm>
            <a:off x="930303" y="4360781"/>
            <a:ext cx="5009400" cy="407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g3ab4b54c850_0_1055: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ab4b54c850_0_1129:notes"/>
          <p:cNvSpPr txBox="1"/>
          <p:nvPr>
            <p:ph idx="1" type="body"/>
          </p:nvPr>
        </p:nvSpPr>
        <p:spPr>
          <a:xfrm>
            <a:off x="930303" y="4360781"/>
            <a:ext cx="5009400" cy="407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g3ab4b54c850_0_1129: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3ab4b54c850_0_1134:notes"/>
          <p:cNvSpPr txBox="1"/>
          <p:nvPr>
            <p:ph idx="1" type="body"/>
          </p:nvPr>
        </p:nvSpPr>
        <p:spPr>
          <a:xfrm>
            <a:off x="930303" y="4360781"/>
            <a:ext cx="5009400" cy="407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g3ab4b54c850_0_1134: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2"/>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1" name="Google Shape;11;p2"/>
          <p:cNvSpPr txBox="1"/>
          <p:nvPr>
            <p:ph type="ctrTitle"/>
          </p:nvPr>
        </p:nvSpPr>
        <p:spPr>
          <a:xfrm>
            <a:off x="510450" y="1257300"/>
            <a:ext cx="8123100" cy="15885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12" name="Google Shape;12;p2"/>
          <p:cNvSpPr txBox="1"/>
          <p:nvPr>
            <p:ph idx="1" type="subTitle"/>
          </p:nvPr>
        </p:nvSpPr>
        <p:spPr>
          <a:xfrm>
            <a:off x="510450" y="3182313"/>
            <a:ext cx="8123100" cy="630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400"/>
              <a:buNone/>
              <a:defRPr sz="2400">
                <a:solidFill>
                  <a:schemeClr val="lt1"/>
                </a:solidFill>
              </a:defRPr>
            </a:lvl1pPr>
            <a:lvl2pPr lvl="1">
              <a:lnSpc>
                <a:spcPct val="100000"/>
              </a:lnSpc>
              <a:spcBef>
                <a:spcPts val="0"/>
              </a:spcBef>
              <a:spcAft>
                <a:spcPts val="0"/>
              </a:spcAft>
              <a:buClr>
                <a:schemeClr val="lt1"/>
              </a:buClr>
              <a:buSzPts val="2400"/>
              <a:buNone/>
              <a:defRPr sz="2400">
                <a:solidFill>
                  <a:schemeClr val="lt1"/>
                </a:solidFill>
              </a:defRPr>
            </a:lvl2pPr>
            <a:lvl3pPr lvl="2">
              <a:lnSpc>
                <a:spcPct val="100000"/>
              </a:lnSpc>
              <a:spcBef>
                <a:spcPts val="0"/>
              </a:spcBef>
              <a:spcAft>
                <a:spcPts val="0"/>
              </a:spcAft>
              <a:buClr>
                <a:schemeClr val="lt1"/>
              </a:buClr>
              <a:buSzPts val="2400"/>
              <a:buNone/>
              <a:defRPr sz="2400">
                <a:solidFill>
                  <a:schemeClr val="lt1"/>
                </a:solidFill>
              </a:defRPr>
            </a:lvl3pPr>
            <a:lvl4pPr lvl="3">
              <a:lnSpc>
                <a:spcPct val="100000"/>
              </a:lnSpc>
              <a:spcBef>
                <a:spcPts val="0"/>
              </a:spcBef>
              <a:spcAft>
                <a:spcPts val="0"/>
              </a:spcAft>
              <a:buClr>
                <a:schemeClr val="lt1"/>
              </a:buClr>
              <a:buSzPts val="2400"/>
              <a:buNone/>
              <a:defRPr sz="2400">
                <a:solidFill>
                  <a:schemeClr val="lt1"/>
                </a:solidFill>
              </a:defRPr>
            </a:lvl4pPr>
            <a:lvl5pPr lvl="4">
              <a:lnSpc>
                <a:spcPct val="100000"/>
              </a:lnSpc>
              <a:spcBef>
                <a:spcPts val="0"/>
              </a:spcBef>
              <a:spcAft>
                <a:spcPts val="0"/>
              </a:spcAft>
              <a:buClr>
                <a:schemeClr val="lt1"/>
              </a:buClr>
              <a:buSzPts val="2400"/>
              <a:buNone/>
              <a:defRPr sz="2400">
                <a:solidFill>
                  <a:schemeClr val="lt1"/>
                </a:solidFill>
              </a:defRPr>
            </a:lvl5pPr>
            <a:lvl6pPr lvl="5">
              <a:lnSpc>
                <a:spcPct val="100000"/>
              </a:lnSpc>
              <a:spcBef>
                <a:spcPts val="0"/>
              </a:spcBef>
              <a:spcAft>
                <a:spcPts val="0"/>
              </a:spcAft>
              <a:buClr>
                <a:schemeClr val="lt1"/>
              </a:buClr>
              <a:buSzPts val="2400"/>
              <a:buNone/>
              <a:defRPr sz="2400">
                <a:solidFill>
                  <a:schemeClr val="lt1"/>
                </a:solidFill>
              </a:defRPr>
            </a:lvl6pPr>
            <a:lvl7pPr lvl="6">
              <a:lnSpc>
                <a:spcPct val="100000"/>
              </a:lnSpc>
              <a:spcBef>
                <a:spcPts val="0"/>
              </a:spcBef>
              <a:spcAft>
                <a:spcPts val="0"/>
              </a:spcAft>
              <a:buClr>
                <a:schemeClr val="lt1"/>
              </a:buClr>
              <a:buSzPts val="2400"/>
              <a:buNone/>
              <a:defRPr sz="2400">
                <a:solidFill>
                  <a:schemeClr val="lt1"/>
                </a:solidFill>
              </a:defRPr>
            </a:lvl7pPr>
            <a:lvl8pPr lvl="7">
              <a:lnSpc>
                <a:spcPct val="100000"/>
              </a:lnSpc>
              <a:spcBef>
                <a:spcPts val="0"/>
              </a:spcBef>
              <a:spcAft>
                <a:spcPts val="0"/>
              </a:spcAft>
              <a:buClr>
                <a:schemeClr val="lt1"/>
              </a:buClr>
              <a:buSzPts val="2400"/>
              <a:buNone/>
              <a:defRPr sz="2400">
                <a:solidFill>
                  <a:schemeClr val="lt1"/>
                </a:solidFill>
              </a:defRPr>
            </a:lvl8pPr>
            <a:lvl9pPr lvl="8">
              <a:lnSpc>
                <a:spcPct val="100000"/>
              </a:lnSpc>
              <a:spcBef>
                <a:spcPts val="0"/>
              </a:spcBef>
              <a:spcAft>
                <a:spcPts val="0"/>
              </a:spcAft>
              <a:buClr>
                <a:schemeClr val="lt1"/>
              </a:buClr>
              <a:buSzPts val="2400"/>
              <a:buNone/>
              <a:defRPr sz="2400">
                <a:solidFill>
                  <a:schemeClr val="lt1"/>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cxnSp>
        <p:nvCxnSpPr>
          <p:cNvPr id="15" name="Google Shape;15;p3"/>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6" name="Google Shape;16;p3"/>
          <p:cNvSpPr txBox="1"/>
          <p:nvPr>
            <p:ph type="title"/>
          </p:nvPr>
        </p:nvSpPr>
        <p:spPr>
          <a:xfrm>
            <a:off x="510450" y="2057400"/>
            <a:ext cx="8123100" cy="77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7" name="Google Shape;17;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 name="Google Shape;21;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 name="Google Shape;22;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 name="Google Shape;25;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 name="Google Shape;30;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3" name="Google Shape;33;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5" name="Shape 35"/>
        <p:cNvGrpSpPr/>
        <p:nvPr/>
      </p:nvGrpSpPr>
      <p:grpSpPr>
        <a:xfrm>
          <a:off x="0" y="0"/>
          <a:ext cx="0" cy="0"/>
          <a:chOff x="0" y="0"/>
          <a:chExt cx="0" cy="0"/>
        </a:xfrm>
      </p:grpSpPr>
      <p:sp>
        <p:nvSpPr>
          <p:cNvPr id="36" name="Google Shape;36;p8"/>
          <p:cNvSpPr txBox="1"/>
          <p:nvPr>
            <p:ph type="title"/>
          </p:nvPr>
        </p:nvSpPr>
        <p:spPr>
          <a:xfrm>
            <a:off x="490250" y="526350"/>
            <a:ext cx="57975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7" name="Google Shape;37;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9"/>
          <p:cNvSpPr/>
          <p:nvPr/>
        </p:nvSpPr>
        <p:spPr>
          <a:xfrm>
            <a:off x="4572000" y="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 name="Google Shape;40;p9"/>
          <p:cNvCxnSpPr/>
          <p:nvPr/>
        </p:nvCxnSpPr>
        <p:spPr>
          <a:xfrm>
            <a:off x="5029675" y="4495500"/>
            <a:ext cx="468300" cy="0"/>
          </a:xfrm>
          <a:prstGeom prst="straightConnector1">
            <a:avLst/>
          </a:prstGeom>
          <a:noFill/>
          <a:ln cap="flat" cmpd="sng" w="19050">
            <a:solidFill>
              <a:schemeClr val="lt2"/>
            </a:solidFill>
            <a:prstDash val="solid"/>
            <a:round/>
            <a:headEnd len="sm" w="sm" type="none"/>
            <a:tailEnd len="sm" w="sm" type="none"/>
          </a:ln>
        </p:spPr>
      </p:cxnSp>
      <p:sp>
        <p:nvSpPr>
          <p:cNvPr id="41" name="Google Shape;41;p9"/>
          <p:cNvSpPr txBox="1"/>
          <p:nvPr>
            <p:ph type="title"/>
          </p:nvPr>
        </p:nvSpPr>
        <p:spPr>
          <a:xfrm>
            <a:off x="265500" y="1205825"/>
            <a:ext cx="4045200" cy="15096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4" name="Google Shape;44;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1700" y="42368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None/>
              <a:defRPr sz="2100"/>
            </a:lvl1pPr>
          </a:lstStyle>
          <a:p/>
        </p:txBody>
      </p:sp>
      <p:sp>
        <p:nvSpPr>
          <p:cNvPr id="47" name="Google Shape;47;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11"/>
          <p:cNvSpPr txBox="1"/>
          <p:nvPr>
            <p:ph hasCustomPrompt="1" type="title"/>
          </p:nvPr>
        </p:nvSpPr>
        <p:spPr>
          <a:xfrm>
            <a:off x="311700" y="991475"/>
            <a:ext cx="8520600" cy="19179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071300"/>
            <a:ext cx="8520600" cy="901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5" name="Shape 55"/>
        <p:cNvGrpSpPr/>
        <p:nvPr/>
      </p:nvGrpSpPr>
      <p:grpSpPr>
        <a:xfrm>
          <a:off x="0" y="0"/>
          <a:ext cx="0" cy="0"/>
          <a:chOff x="0" y="0"/>
          <a:chExt cx="0" cy="0"/>
        </a:xfrm>
      </p:grpSpPr>
      <p:sp>
        <p:nvSpPr>
          <p:cNvPr id="56" name="Google Shape;56;p13"/>
          <p:cNvSpPr txBox="1"/>
          <p:nvPr>
            <p:ph type="title"/>
          </p:nvPr>
        </p:nvSpPr>
        <p:spPr>
          <a:xfrm>
            <a:off x="457200" y="205978"/>
            <a:ext cx="8229600" cy="5370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Clr>
                <a:srgbClr val="000000"/>
              </a:buClr>
              <a:buSzPts val="3500"/>
              <a:buFont typeface="Cambria"/>
              <a:buNone/>
              <a:defRPr>
                <a:solidFill>
                  <a:srgbClr val="000000"/>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7" name="Google Shape;57;p13"/>
          <p:cNvSpPr txBox="1"/>
          <p:nvPr>
            <p:ph idx="1" type="body"/>
          </p:nvPr>
        </p:nvSpPr>
        <p:spPr>
          <a:xfrm>
            <a:off x="457200" y="857250"/>
            <a:ext cx="8229600" cy="3943200"/>
          </a:xfrm>
          <a:prstGeom prst="rect">
            <a:avLst/>
          </a:prstGeom>
          <a:noFill/>
          <a:ln>
            <a:noFill/>
          </a:ln>
        </p:spPr>
        <p:txBody>
          <a:bodyPr anchorCtr="0" anchor="t" bIns="34275" lIns="68575" spcFirstLastPara="1" rIns="68575" wrap="square" tIns="34275">
            <a:normAutofit/>
          </a:bodyPr>
          <a:lstStyle>
            <a:lvl1pPr indent="-342900" lvl="0" marL="457200" algn="l">
              <a:spcBef>
                <a:spcPts val="400"/>
              </a:spcBef>
              <a:spcAft>
                <a:spcPts val="0"/>
              </a:spcAft>
              <a:buClr>
                <a:srgbClr val="000000"/>
              </a:buClr>
              <a:buSzPts val="1800"/>
              <a:buChar char="●"/>
              <a:defRPr>
                <a:solidFill>
                  <a:srgbClr val="000000"/>
                </a:solidFill>
              </a:defRPr>
            </a:lvl1pPr>
            <a:lvl2pPr indent="-342900" lvl="1" marL="914400" algn="l">
              <a:spcBef>
                <a:spcPts val="1200"/>
              </a:spcBef>
              <a:spcAft>
                <a:spcPts val="0"/>
              </a:spcAft>
              <a:buClr>
                <a:srgbClr val="000000"/>
              </a:buClr>
              <a:buSzPts val="1800"/>
              <a:buChar char="○"/>
              <a:defRPr sz="1800">
                <a:solidFill>
                  <a:srgbClr val="000000"/>
                </a:solidFill>
              </a:defRPr>
            </a:lvl2pPr>
            <a:lvl3pPr indent="-342900" lvl="2" marL="1371600" algn="l">
              <a:spcBef>
                <a:spcPts val="1200"/>
              </a:spcBef>
              <a:spcAft>
                <a:spcPts val="0"/>
              </a:spcAft>
              <a:buClr>
                <a:srgbClr val="000000"/>
              </a:buClr>
              <a:buSzPts val="1800"/>
              <a:buChar char="■"/>
              <a:defRPr sz="1800">
                <a:solidFill>
                  <a:srgbClr val="000000"/>
                </a:solidFill>
              </a:defRPr>
            </a:lvl3pPr>
            <a:lvl4pPr indent="-304800" lvl="3" marL="1828800" algn="l">
              <a:spcBef>
                <a:spcPts val="1200"/>
              </a:spcBef>
              <a:spcAft>
                <a:spcPts val="0"/>
              </a:spcAft>
              <a:buClr>
                <a:srgbClr val="000000"/>
              </a:buClr>
              <a:buSzPts val="1200"/>
              <a:buChar char="●"/>
              <a:defRPr>
                <a:solidFill>
                  <a:srgbClr val="000000"/>
                </a:solidFill>
              </a:defRPr>
            </a:lvl4pPr>
            <a:lvl5pPr indent="-298450" lvl="4" marL="2286000" algn="l">
              <a:spcBef>
                <a:spcPts val="1200"/>
              </a:spcBef>
              <a:spcAft>
                <a:spcPts val="0"/>
              </a:spcAft>
              <a:buClr>
                <a:srgbClr val="000000"/>
              </a:buClr>
              <a:buSzPts val="1100"/>
              <a:buChar char="○"/>
              <a:defRPr>
                <a:solidFill>
                  <a:srgbClr val="000000"/>
                </a:solidFill>
              </a:defRPr>
            </a:lvl5pPr>
            <a:lvl6pPr indent="-317500" lvl="5" marL="2743200" algn="l">
              <a:spcBef>
                <a:spcPts val="1200"/>
              </a:spcBef>
              <a:spcAft>
                <a:spcPts val="0"/>
              </a:spcAft>
              <a:buSzPts val="1400"/>
              <a:buChar char="■"/>
              <a:defRPr/>
            </a:lvl6pPr>
            <a:lvl7pPr indent="-317500" lvl="6" marL="3200400" algn="l">
              <a:spcBef>
                <a:spcPts val="1200"/>
              </a:spcBef>
              <a:spcAft>
                <a:spcPts val="0"/>
              </a:spcAft>
              <a:buSzPts val="1400"/>
              <a:buChar char="●"/>
              <a:defRPr/>
            </a:lvl7pPr>
            <a:lvl8pPr indent="-317500" lvl="7" marL="3657600" algn="l">
              <a:spcBef>
                <a:spcPts val="1200"/>
              </a:spcBef>
              <a:spcAft>
                <a:spcPts val="0"/>
              </a:spcAft>
              <a:buSzPts val="1400"/>
              <a:buChar char="○"/>
              <a:defRPr/>
            </a:lvl8pPr>
            <a:lvl9pPr indent="-317500" lvl="8" marL="4114800" algn="l">
              <a:spcBef>
                <a:spcPts val="1200"/>
              </a:spcBef>
              <a:spcAft>
                <a:spcPts val="1200"/>
              </a:spcAft>
              <a:buSzPts val="1400"/>
              <a:buChar char="■"/>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58" name="Shape 58"/>
        <p:cNvGrpSpPr/>
        <p:nvPr/>
      </p:nvGrpSpPr>
      <p:grpSpPr>
        <a:xfrm>
          <a:off x="0" y="0"/>
          <a:ext cx="0" cy="0"/>
          <a:chOff x="0" y="0"/>
          <a:chExt cx="0" cy="0"/>
        </a:xfrm>
      </p:grpSpPr>
      <p:sp>
        <p:nvSpPr>
          <p:cNvPr id="59" name="Google Shape;59;p14"/>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SzPts val="2800"/>
              <a:buNone/>
              <a:defRPr>
                <a:solidFill>
                  <a:srgbClr val="FF0000"/>
                </a:solidFill>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p:txBody>
      </p:sp>
      <p:sp>
        <p:nvSpPr>
          <p:cNvPr id="60" name="Google Shape;60;p14"/>
          <p:cNvSpPr txBox="1"/>
          <p:nvPr>
            <p:ph idx="1" type="body"/>
          </p:nvPr>
        </p:nvSpPr>
        <p:spPr>
          <a:xfrm>
            <a:off x="886759" y="4135461"/>
            <a:ext cx="7759800" cy="625200"/>
          </a:xfrm>
          <a:prstGeom prst="rect">
            <a:avLst/>
          </a:prstGeom>
          <a:noFill/>
          <a:ln>
            <a:noFill/>
          </a:ln>
        </p:spPr>
        <p:txBody>
          <a:bodyPr anchorCtr="0" anchor="t" bIns="45700" lIns="91425" spcFirstLastPara="1" rIns="91425" wrap="square" tIns="45700">
            <a:noAutofit/>
          </a:bodyPr>
          <a:lstStyle>
            <a:lvl1pPr indent="-228600" lvl="0" marL="457200" algn="ctr">
              <a:spcBef>
                <a:spcPts val="480"/>
              </a:spcBef>
              <a:spcAft>
                <a:spcPts val="0"/>
              </a:spcAft>
              <a:buClr>
                <a:schemeClr val="dk1"/>
              </a:buClr>
              <a:buSzPts val="2400"/>
              <a:buNone/>
              <a:defRPr sz="2400"/>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1200"/>
              </a:spcBef>
              <a:spcAft>
                <a:spcPts val="0"/>
              </a:spcAft>
              <a:buClr>
                <a:schemeClr val="dk1"/>
              </a:buClr>
              <a:buSzPts val="1800"/>
              <a:buChar char="●"/>
              <a:defRPr/>
            </a:lvl7pPr>
            <a:lvl8pPr indent="-342900" lvl="7" marL="3657600" algn="l">
              <a:spcBef>
                <a:spcPts val="1200"/>
              </a:spcBef>
              <a:spcAft>
                <a:spcPts val="0"/>
              </a:spcAft>
              <a:buClr>
                <a:schemeClr val="dk1"/>
              </a:buClr>
              <a:buSzPts val="1800"/>
              <a:buChar char="○"/>
              <a:defRPr/>
            </a:lvl8pPr>
            <a:lvl9pPr indent="-342900" lvl="8" marL="4114800" algn="l">
              <a:spcBef>
                <a:spcPts val="1200"/>
              </a:spcBef>
              <a:spcAft>
                <a:spcPts val="1200"/>
              </a:spcAft>
              <a:buClr>
                <a:schemeClr val="dk1"/>
              </a:buClr>
              <a:buSzPts val="1800"/>
              <a:buChar char="■"/>
              <a:defRPr/>
            </a:lvl9pPr>
          </a:lstStyle>
          <a:p/>
        </p:txBody>
      </p:sp>
      <p:sp>
        <p:nvSpPr>
          <p:cNvPr id="61" name="Google Shape;61;p14"/>
          <p:cNvSpPr txBox="1"/>
          <p:nvPr>
            <p:ph idx="11" type="ftr"/>
          </p:nvPr>
        </p:nvSpPr>
        <p:spPr>
          <a:xfrm>
            <a:off x="215900" y="4869656"/>
            <a:ext cx="86724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14"/>
          <p:cNvSpPr txBox="1"/>
          <p:nvPr>
            <p:ph idx="12" type="sldNum"/>
          </p:nvPr>
        </p:nvSpPr>
        <p:spPr>
          <a:xfrm>
            <a:off x="8305800" y="4767263"/>
            <a:ext cx="499200" cy="273900"/>
          </a:xfrm>
          <a:prstGeom prst="rect">
            <a:avLst/>
          </a:prstGeom>
          <a:noFill/>
          <a:ln>
            <a:noFill/>
          </a:ln>
        </p:spPr>
        <p:txBody>
          <a:bodyPr anchorCtr="0" anchor="t" bIns="45700" lIns="91425" spcFirstLastPara="1" rIns="91425" wrap="square" tIns="45700">
            <a:normAutofit lnSpcReduction="10000"/>
          </a:bodyPr>
          <a:lstStyle>
            <a:lvl1pPr indent="0" lvl="0" marL="0" marR="0" algn="r">
              <a:spcBef>
                <a:spcPts val="0"/>
              </a:spcBef>
              <a:buNone/>
              <a:defRPr sz="1200">
                <a:solidFill>
                  <a:srgbClr val="888888"/>
                </a:solidFill>
                <a:latin typeface="Calibri"/>
                <a:ea typeface="Calibri"/>
                <a:cs typeface="Calibri"/>
                <a:sym typeface="Calibri"/>
              </a:defRPr>
            </a:lvl1pPr>
            <a:lvl2pPr indent="0" lvl="1" marL="0" marR="0" algn="r">
              <a:spcBef>
                <a:spcPts val="0"/>
              </a:spcBef>
              <a:buNone/>
              <a:defRPr sz="1200">
                <a:solidFill>
                  <a:srgbClr val="888888"/>
                </a:solidFill>
                <a:latin typeface="Calibri"/>
                <a:ea typeface="Calibri"/>
                <a:cs typeface="Calibri"/>
                <a:sym typeface="Calibri"/>
              </a:defRPr>
            </a:lvl2pPr>
            <a:lvl3pPr indent="0" lvl="2" marL="0" marR="0" algn="r">
              <a:spcBef>
                <a:spcPts val="0"/>
              </a:spcBef>
              <a:buNone/>
              <a:defRPr sz="1200">
                <a:solidFill>
                  <a:srgbClr val="888888"/>
                </a:solidFill>
                <a:latin typeface="Calibri"/>
                <a:ea typeface="Calibri"/>
                <a:cs typeface="Calibri"/>
                <a:sym typeface="Calibri"/>
              </a:defRPr>
            </a:lvl3pPr>
            <a:lvl4pPr indent="0" lvl="3" marL="0" marR="0" algn="r">
              <a:spcBef>
                <a:spcPts val="0"/>
              </a:spcBef>
              <a:buNone/>
              <a:defRPr sz="1200">
                <a:solidFill>
                  <a:srgbClr val="888888"/>
                </a:solidFill>
                <a:latin typeface="Calibri"/>
                <a:ea typeface="Calibri"/>
                <a:cs typeface="Calibri"/>
                <a:sym typeface="Calibri"/>
              </a:defRPr>
            </a:lvl4pPr>
            <a:lvl5pPr indent="0" lvl="4" marL="0" marR="0" algn="r">
              <a:spcBef>
                <a:spcPts val="0"/>
              </a:spcBef>
              <a:buNone/>
              <a:defRPr sz="1200">
                <a:solidFill>
                  <a:srgbClr val="888888"/>
                </a:solidFill>
                <a:latin typeface="Calibri"/>
                <a:ea typeface="Calibri"/>
                <a:cs typeface="Calibri"/>
                <a:sym typeface="Calibri"/>
              </a:defRPr>
            </a:lvl5pPr>
            <a:lvl6pPr indent="0" lvl="5" marL="0" marR="0" algn="r">
              <a:spcBef>
                <a:spcPts val="0"/>
              </a:spcBef>
              <a:buNone/>
              <a:defRPr sz="1200">
                <a:solidFill>
                  <a:srgbClr val="888888"/>
                </a:solidFill>
                <a:latin typeface="Calibri"/>
                <a:ea typeface="Calibri"/>
                <a:cs typeface="Calibri"/>
                <a:sym typeface="Calibri"/>
              </a:defRPr>
            </a:lvl6pPr>
            <a:lvl7pPr indent="0" lvl="6" marL="0" marR="0" algn="r">
              <a:spcBef>
                <a:spcPts val="0"/>
              </a:spcBef>
              <a:buNone/>
              <a:defRPr sz="1200">
                <a:solidFill>
                  <a:srgbClr val="888888"/>
                </a:solidFill>
                <a:latin typeface="Calibri"/>
                <a:ea typeface="Calibri"/>
                <a:cs typeface="Calibri"/>
                <a:sym typeface="Calibri"/>
              </a:defRPr>
            </a:lvl7pPr>
            <a:lvl8pPr indent="0" lvl="7" marL="0" marR="0" algn="r">
              <a:spcBef>
                <a:spcPts val="0"/>
              </a:spcBef>
              <a:buNone/>
              <a:defRPr sz="1200">
                <a:solidFill>
                  <a:srgbClr val="888888"/>
                </a:solidFill>
                <a:latin typeface="Calibri"/>
                <a:ea typeface="Calibri"/>
                <a:cs typeface="Calibri"/>
                <a:sym typeface="Calibri"/>
              </a:defRPr>
            </a:lvl8pPr>
            <a:lvl9pPr indent="0" lvl="8" marL="0" marR="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OBJECT_1">
    <p:spTree>
      <p:nvGrpSpPr>
        <p:cNvPr id="63" name="Shape 63"/>
        <p:cNvGrpSpPr/>
        <p:nvPr/>
      </p:nvGrpSpPr>
      <p:grpSpPr>
        <a:xfrm>
          <a:off x="0" y="0"/>
          <a:ext cx="0" cy="0"/>
          <a:chOff x="0" y="0"/>
          <a:chExt cx="0" cy="0"/>
        </a:xfrm>
      </p:grpSpPr>
      <p:sp>
        <p:nvSpPr>
          <p:cNvPr id="64" name="Google Shape;64;p15"/>
          <p:cNvSpPr txBox="1"/>
          <p:nvPr>
            <p:ph type="ctrTitle"/>
          </p:nvPr>
        </p:nvSpPr>
        <p:spPr>
          <a:xfrm>
            <a:off x="3031998" y="1871281"/>
            <a:ext cx="3080100" cy="5340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2800"/>
              <a:buNone/>
              <a:defRPr b="0" i="0">
                <a:solidFill>
                  <a:schemeClr val="dk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5" name="Google Shape;65;p15"/>
          <p:cNvSpPr txBox="1"/>
          <p:nvPr>
            <p:ph idx="1" type="subTitle"/>
          </p:nvPr>
        </p:nvSpPr>
        <p:spPr>
          <a:xfrm>
            <a:off x="1371600" y="2880360"/>
            <a:ext cx="6400800" cy="12858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800"/>
              <a:buNone/>
              <a:defRPr/>
            </a:lvl1pPr>
            <a:lvl2pPr lvl="1" algn="l">
              <a:spcBef>
                <a:spcPts val="1200"/>
              </a:spcBef>
              <a:spcAft>
                <a:spcPts val="0"/>
              </a:spcAft>
              <a:buSzPts val="1400"/>
              <a:buNone/>
              <a:defRPr/>
            </a:lvl2pPr>
            <a:lvl3pPr lvl="2" algn="l">
              <a:spcBef>
                <a:spcPts val="1200"/>
              </a:spcBef>
              <a:spcAft>
                <a:spcPts val="0"/>
              </a:spcAft>
              <a:buSzPts val="1400"/>
              <a:buNone/>
              <a:defRPr/>
            </a:lvl3pPr>
            <a:lvl4pPr lvl="3" algn="l">
              <a:spcBef>
                <a:spcPts val="1200"/>
              </a:spcBef>
              <a:spcAft>
                <a:spcPts val="0"/>
              </a:spcAft>
              <a:buSzPts val="1400"/>
              <a:buNone/>
              <a:defRPr/>
            </a:lvl4pPr>
            <a:lvl5pPr lvl="4" algn="l">
              <a:spcBef>
                <a:spcPts val="1200"/>
              </a:spcBef>
              <a:spcAft>
                <a:spcPts val="0"/>
              </a:spcAft>
              <a:buSzPts val="1400"/>
              <a:buNone/>
              <a:defRPr/>
            </a:lvl5pPr>
            <a:lvl6pPr lvl="5" algn="l">
              <a:spcBef>
                <a:spcPts val="1200"/>
              </a:spcBef>
              <a:spcAft>
                <a:spcPts val="0"/>
              </a:spcAft>
              <a:buSzPts val="1400"/>
              <a:buNone/>
              <a:defRPr/>
            </a:lvl6pPr>
            <a:lvl7pPr lvl="6" algn="l">
              <a:spcBef>
                <a:spcPts val="1200"/>
              </a:spcBef>
              <a:spcAft>
                <a:spcPts val="0"/>
              </a:spcAft>
              <a:buSzPts val="1400"/>
              <a:buNone/>
              <a:defRPr/>
            </a:lvl7pPr>
            <a:lvl8pPr lvl="7" algn="l">
              <a:spcBef>
                <a:spcPts val="1200"/>
              </a:spcBef>
              <a:spcAft>
                <a:spcPts val="0"/>
              </a:spcAft>
              <a:buSzPts val="1400"/>
              <a:buNone/>
              <a:defRPr/>
            </a:lvl8pPr>
            <a:lvl9pPr lvl="8" algn="l">
              <a:spcBef>
                <a:spcPts val="1200"/>
              </a:spcBef>
              <a:spcAft>
                <a:spcPts val="1200"/>
              </a:spcAft>
              <a:buSzPts val="1400"/>
              <a:buNone/>
              <a:defRPr/>
            </a:lvl9pPr>
          </a:lstStyle>
          <a:p/>
        </p:txBody>
      </p:sp>
      <p:sp>
        <p:nvSpPr>
          <p:cNvPr id="66" name="Google Shape;66;p15"/>
          <p:cNvSpPr txBox="1"/>
          <p:nvPr>
            <p:ph idx="11" type="ftr"/>
          </p:nvPr>
        </p:nvSpPr>
        <p:spPr>
          <a:xfrm>
            <a:off x="762000" y="5009304"/>
            <a:ext cx="7467600" cy="1170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1200">
                <a:solidFill>
                  <a:srgbClr val="888888"/>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5"/>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15"/>
          <p:cNvSpPr txBox="1"/>
          <p:nvPr>
            <p:ph idx="12" type="sldNum"/>
          </p:nvPr>
        </p:nvSpPr>
        <p:spPr>
          <a:xfrm>
            <a:off x="6583680" y="4783455"/>
            <a:ext cx="2103000" cy="15390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
              <a:t>‹#›</a:t>
            </a:fld>
            <a:endParaRPr b="0" i="0" sz="1800" u="none" cap="none" strike="noStrike">
              <a:latin typeface="Calibri"/>
              <a:ea typeface="Calibri"/>
              <a:cs typeface="Calibri"/>
              <a:sym typeface="Calibri"/>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 Layout_1">
    <p:spTree>
      <p:nvGrpSpPr>
        <p:cNvPr id="69" name="Shape 69"/>
        <p:cNvGrpSpPr/>
        <p:nvPr/>
      </p:nvGrpSpPr>
      <p:grpSpPr>
        <a:xfrm>
          <a:off x="0" y="0"/>
          <a:ext cx="0" cy="0"/>
          <a:chOff x="0" y="0"/>
          <a:chExt cx="0" cy="0"/>
        </a:xfrm>
      </p:grpSpPr>
      <p:sp>
        <p:nvSpPr>
          <p:cNvPr id="70" name="Google Shape;70;p16"/>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SzPts val="2800"/>
              <a:buNone/>
              <a:defRPr>
                <a:solidFill>
                  <a:srgbClr val="FF0000"/>
                </a:solidFill>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p:txBody>
      </p:sp>
      <p:sp>
        <p:nvSpPr>
          <p:cNvPr id="71" name="Google Shape;71;p16"/>
          <p:cNvSpPr txBox="1"/>
          <p:nvPr>
            <p:ph idx="1" type="body"/>
          </p:nvPr>
        </p:nvSpPr>
        <p:spPr>
          <a:xfrm>
            <a:off x="886759" y="4135461"/>
            <a:ext cx="7759800" cy="625200"/>
          </a:xfrm>
          <a:prstGeom prst="rect">
            <a:avLst/>
          </a:prstGeom>
          <a:noFill/>
          <a:ln>
            <a:noFill/>
          </a:ln>
        </p:spPr>
        <p:txBody>
          <a:bodyPr anchorCtr="0" anchor="t" bIns="45700" lIns="91425" spcFirstLastPara="1" rIns="91425" wrap="square" tIns="45700">
            <a:noAutofit/>
          </a:bodyPr>
          <a:lstStyle>
            <a:lvl1pPr indent="-228600" lvl="0" marL="457200" algn="ctr">
              <a:spcBef>
                <a:spcPts val="480"/>
              </a:spcBef>
              <a:spcAft>
                <a:spcPts val="0"/>
              </a:spcAft>
              <a:buClr>
                <a:schemeClr val="dk1"/>
              </a:buClr>
              <a:buSzPts val="2400"/>
              <a:buNone/>
              <a:defRPr sz="2400"/>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1200"/>
              </a:spcBef>
              <a:spcAft>
                <a:spcPts val="0"/>
              </a:spcAft>
              <a:buClr>
                <a:schemeClr val="dk1"/>
              </a:buClr>
              <a:buSzPts val="1800"/>
              <a:buChar char="●"/>
              <a:defRPr/>
            </a:lvl7pPr>
            <a:lvl8pPr indent="-342900" lvl="7" marL="3657600" algn="l">
              <a:spcBef>
                <a:spcPts val="1200"/>
              </a:spcBef>
              <a:spcAft>
                <a:spcPts val="0"/>
              </a:spcAft>
              <a:buClr>
                <a:schemeClr val="dk1"/>
              </a:buClr>
              <a:buSzPts val="1800"/>
              <a:buChar char="○"/>
              <a:defRPr/>
            </a:lvl8pPr>
            <a:lvl9pPr indent="-342900" lvl="8" marL="4114800" algn="l">
              <a:spcBef>
                <a:spcPts val="1200"/>
              </a:spcBef>
              <a:spcAft>
                <a:spcPts val="1200"/>
              </a:spcAft>
              <a:buClr>
                <a:schemeClr val="dk1"/>
              </a:buClr>
              <a:buSzPts val="1800"/>
              <a:buChar char="■"/>
              <a:defRPr/>
            </a:lvl9pPr>
          </a:lstStyle>
          <a:p/>
        </p:txBody>
      </p:sp>
      <p:sp>
        <p:nvSpPr>
          <p:cNvPr id="72" name="Google Shape;72;p16"/>
          <p:cNvSpPr txBox="1"/>
          <p:nvPr>
            <p:ph idx="11" type="ftr"/>
          </p:nvPr>
        </p:nvSpPr>
        <p:spPr>
          <a:xfrm>
            <a:off x="215900" y="4869656"/>
            <a:ext cx="86724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6"/>
          <p:cNvSpPr txBox="1"/>
          <p:nvPr>
            <p:ph idx="12" type="sldNum"/>
          </p:nvPr>
        </p:nvSpPr>
        <p:spPr>
          <a:xfrm>
            <a:off x="8305800" y="4767263"/>
            <a:ext cx="499200" cy="273900"/>
          </a:xfrm>
          <a:prstGeom prst="rect">
            <a:avLst/>
          </a:prstGeom>
          <a:noFill/>
          <a:ln>
            <a:noFill/>
          </a:ln>
        </p:spPr>
        <p:txBody>
          <a:bodyPr anchorCtr="0" anchor="t" bIns="45700" lIns="91425" spcFirstLastPara="1" rIns="91425" wrap="square" tIns="45700">
            <a:normAutofit lnSpcReduction="10000"/>
          </a:bodyPr>
          <a:lstStyle>
            <a:lvl1pPr indent="0" lvl="0" marL="0" marR="0" algn="r">
              <a:spcBef>
                <a:spcPts val="0"/>
              </a:spcBef>
              <a:buNone/>
              <a:defRPr sz="1200">
                <a:solidFill>
                  <a:srgbClr val="888888"/>
                </a:solidFill>
                <a:latin typeface="Calibri"/>
                <a:ea typeface="Calibri"/>
                <a:cs typeface="Calibri"/>
                <a:sym typeface="Calibri"/>
              </a:defRPr>
            </a:lvl1pPr>
            <a:lvl2pPr indent="0" lvl="1" marL="0" marR="0" algn="r">
              <a:spcBef>
                <a:spcPts val="0"/>
              </a:spcBef>
              <a:buNone/>
              <a:defRPr sz="1200">
                <a:solidFill>
                  <a:srgbClr val="888888"/>
                </a:solidFill>
                <a:latin typeface="Calibri"/>
                <a:ea typeface="Calibri"/>
                <a:cs typeface="Calibri"/>
                <a:sym typeface="Calibri"/>
              </a:defRPr>
            </a:lvl2pPr>
            <a:lvl3pPr indent="0" lvl="2" marL="0" marR="0" algn="r">
              <a:spcBef>
                <a:spcPts val="0"/>
              </a:spcBef>
              <a:buNone/>
              <a:defRPr sz="1200">
                <a:solidFill>
                  <a:srgbClr val="888888"/>
                </a:solidFill>
                <a:latin typeface="Calibri"/>
                <a:ea typeface="Calibri"/>
                <a:cs typeface="Calibri"/>
                <a:sym typeface="Calibri"/>
              </a:defRPr>
            </a:lvl3pPr>
            <a:lvl4pPr indent="0" lvl="3" marL="0" marR="0" algn="r">
              <a:spcBef>
                <a:spcPts val="0"/>
              </a:spcBef>
              <a:buNone/>
              <a:defRPr sz="1200">
                <a:solidFill>
                  <a:srgbClr val="888888"/>
                </a:solidFill>
                <a:latin typeface="Calibri"/>
                <a:ea typeface="Calibri"/>
                <a:cs typeface="Calibri"/>
                <a:sym typeface="Calibri"/>
              </a:defRPr>
            </a:lvl4pPr>
            <a:lvl5pPr indent="0" lvl="4" marL="0" marR="0" algn="r">
              <a:spcBef>
                <a:spcPts val="0"/>
              </a:spcBef>
              <a:buNone/>
              <a:defRPr sz="1200">
                <a:solidFill>
                  <a:srgbClr val="888888"/>
                </a:solidFill>
                <a:latin typeface="Calibri"/>
                <a:ea typeface="Calibri"/>
                <a:cs typeface="Calibri"/>
                <a:sym typeface="Calibri"/>
              </a:defRPr>
            </a:lvl5pPr>
            <a:lvl6pPr indent="0" lvl="5" marL="0" marR="0" algn="r">
              <a:spcBef>
                <a:spcPts val="0"/>
              </a:spcBef>
              <a:buNone/>
              <a:defRPr sz="1200">
                <a:solidFill>
                  <a:srgbClr val="888888"/>
                </a:solidFill>
                <a:latin typeface="Calibri"/>
                <a:ea typeface="Calibri"/>
                <a:cs typeface="Calibri"/>
                <a:sym typeface="Calibri"/>
              </a:defRPr>
            </a:lvl6pPr>
            <a:lvl7pPr indent="0" lvl="6" marL="0" marR="0" algn="r">
              <a:spcBef>
                <a:spcPts val="0"/>
              </a:spcBef>
              <a:buNone/>
              <a:defRPr sz="1200">
                <a:solidFill>
                  <a:srgbClr val="888888"/>
                </a:solidFill>
                <a:latin typeface="Calibri"/>
                <a:ea typeface="Calibri"/>
                <a:cs typeface="Calibri"/>
                <a:sym typeface="Calibri"/>
              </a:defRPr>
            </a:lvl7pPr>
            <a:lvl8pPr indent="0" lvl="7" marL="0" marR="0" algn="r">
              <a:spcBef>
                <a:spcPts val="0"/>
              </a:spcBef>
              <a:buNone/>
              <a:defRPr sz="1200">
                <a:solidFill>
                  <a:srgbClr val="888888"/>
                </a:solidFill>
                <a:latin typeface="Calibri"/>
                <a:ea typeface="Calibri"/>
                <a:cs typeface="Calibri"/>
                <a:sym typeface="Calibri"/>
              </a:defRPr>
            </a:lvl8pPr>
            <a:lvl9pPr indent="0" lvl="8" marL="0" marR="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pearmint">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1pPr>
            <a:lvl2pPr lvl="1">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2pPr>
            <a:lvl3pPr lvl="2">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3pPr>
            <a:lvl4pPr lvl="3">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4pPr>
            <a:lvl5pPr lvl="4">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5pPr>
            <a:lvl6pPr lvl="5">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6pPr>
            <a:lvl7pPr lvl="6">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7pPr>
            <a:lvl8pPr lvl="7">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8pPr>
            <a:lvl9pPr lvl="8">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Proxima Nova"/>
              <a:buChar char="●"/>
              <a:defRPr sz="1800">
                <a:solidFill>
                  <a:schemeClr val="accent3"/>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Proxima Nova"/>
                <a:ea typeface="Proxima Nova"/>
                <a:cs typeface="Proxima Nova"/>
                <a:sym typeface="Proxima Nova"/>
              </a:defRPr>
            </a:lvl1pPr>
            <a:lvl2pPr lvl="1" algn="r">
              <a:buNone/>
              <a:defRPr sz="1000">
                <a:solidFill>
                  <a:schemeClr val="dk1"/>
                </a:solidFill>
                <a:latin typeface="Proxima Nova"/>
                <a:ea typeface="Proxima Nova"/>
                <a:cs typeface="Proxima Nova"/>
                <a:sym typeface="Proxima Nova"/>
              </a:defRPr>
            </a:lvl2pPr>
            <a:lvl3pPr lvl="2" algn="r">
              <a:buNone/>
              <a:defRPr sz="1000">
                <a:solidFill>
                  <a:schemeClr val="dk1"/>
                </a:solidFill>
                <a:latin typeface="Proxima Nova"/>
                <a:ea typeface="Proxima Nova"/>
                <a:cs typeface="Proxima Nova"/>
                <a:sym typeface="Proxima Nova"/>
              </a:defRPr>
            </a:lvl3pPr>
            <a:lvl4pPr lvl="3" algn="r">
              <a:buNone/>
              <a:defRPr sz="1000">
                <a:solidFill>
                  <a:schemeClr val="dk1"/>
                </a:solidFill>
                <a:latin typeface="Proxima Nova"/>
                <a:ea typeface="Proxima Nova"/>
                <a:cs typeface="Proxima Nova"/>
                <a:sym typeface="Proxima Nova"/>
              </a:defRPr>
            </a:lvl4pPr>
            <a:lvl5pPr lvl="4" algn="r">
              <a:buNone/>
              <a:defRPr sz="1000">
                <a:solidFill>
                  <a:schemeClr val="dk1"/>
                </a:solidFill>
                <a:latin typeface="Proxima Nova"/>
                <a:ea typeface="Proxima Nova"/>
                <a:cs typeface="Proxima Nova"/>
                <a:sym typeface="Proxima Nova"/>
              </a:defRPr>
            </a:lvl5pPr>
            <a:lvl6pPr lvl="5" algn="r">
              <a:buNone/>
              <a:defRPr sz="1000">
                <a:solidFill>
                  <a:schemeClr val="dk1"/>
                </a:solidFill>
                <a:latin typeface="Proxima Nova"/>
                <a:ea typeface="Proxima Nova"/>
                <a:cs typeface="Proxima Nova"/>
                <a:sym typeface="Proxima Nova"/>
              </a:defRPr>
            </a:lvl6pPr>
            <a:lvl7pPr lvl="6" algn="r">
              <a:buNone/>
              <a:defRPr sz="1000">
                <a:solidFill>
                  <a:schemeClr val="dk1"/>
                </a:solidFill>
                <a:latin typeface="Proxima Nova"/>
                <a:ea typeface="Proxima Nova"/>
                <a:cs typeface="Proxima Nova"/>
                <a:sym typeface="Proxima Nova"/>
              </a:defRPr>
            </a:lvl7pPr>
            <a:lvl8pPr lvl="7" algn="r">
              <a:buNone/>
              <a:defRPr sz="1000">
                <a:solidFill>
                  <a:schemeClr val="dk1"/>
                </a:solidFill>
                <a:latin typeface="Proxima Nova"/>
                <a:ea typeface="Proxima Nova"/>
                <a:cs typeface="Proxima Nova"/>
                <a:sym typeface="Proxima Nova"/>
              </a:defRPr>
            </a:lvl8pPr>
            <a:lvl9pPr lvl="8" algn="r">
              <a:buNone/>
              <a:defRPr sz="1000">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2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19.png"/><Relationship Id="rId4" Type="http://schemas.openxmlformats.org/officeDocument/2006/relationships/image" Target="../media/image2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1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1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ctrTitle"/>
          </p:nvPr>
        </p:nvSpPr>
        <p:spPr>
          <a:xfrm>
            <a:off x="510450" y="1257300"/>
            <a:ext cx="8123100" cy="1588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CSE 320: Caches</a:t>
            </a:r>
            <a:endParaRPr/>
          </a:p>
        </p:txBody>
      </p:sp>
      <p:sp>
        <p:nvSpPr>
          <p:cNvPr id="79" name="Google Shape;79;p17"/>
          <p:cNvSpPr txBox="1"/>
          <p:nvPr>
            <p:ph idx="1" type="subTitle"/>
          </p:nvPr>
        </p:nvSpPr>
        <p:spPr>
          <a:xfrm>
            <a:off x="510450" y="3182329"/>
            <a:ext cx="8123100" cy="8280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Chapter 6</a:t>
            </a:r>
            <a:endParaRPr/>
          </a:p>
          <a:p>
            <a:pPr indent="0" lvl="0" marL="0" rtl="0" algn="l">
              <a:spcBef>
                <a:spcPts val="0"/>
              </a:spcBef>
              <a:spcAft>
                <a:spcPts val="0"/>
              </a:spcAft>
              <a:buNone/>
            </a:pPr>
            <a:r>
              <a:rPr lang="en"/>
              <a:t>Professor Dan Benz</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Caches</a:t>
            </a:r>
            <a:endParaRPr/>
          </a:p>
        </p:txBody>
      </p:sp>
      <p:sp>
        <p:nvSpPr>
          <p:cNvPr id="85" name="Google Shape;85;p18"/>
          <p:cNvSpPr txBox="1"/>
          <p:nvPr>
            <p:ph idx="1" type="body"/>
          </p:nvPr>
        </p:nvSpPr>
        <p:spPr>
          <a:xfrm>
            <a:off x="311700" y="1152475"/>
            <a:ext cx="8520600" cy="3416400"/>
          </a:xfrm>
          <a:prstGeom prst="rect">
            <a:avLst/>
          </a:prstGeom>
          <a:noFill/>
          <a:ln>
            <a:noFill/>
          </a:ln>
        </p:spPr>
        <p:txBody>
          <a:bodyPr anchorCtr="0" anchor="t" bIns="45700" lIns="91425" spcFirstLastPara="1" rIns="91425" wrap="square" tIns="45700">
            <a:normAutofit fontScale="92500" lnSpcReduction="20000"/>
          </a:bodyPr>
          <a:lstStyle/>
          <a:p>
            <a:pPr indent="-336042" lvl="0" marL="342900" rtl="0" algn="l">
              <a:spcBef>
                <a:spcPts val="0"/>
              </a:spcBef>
              <a:spcAft>
                <a:spcPts val="0"/>
              </a:spcAft>
              <a:buSzPct val="80000"/>
              <a:buChar char="●"/>
            </a:pPr>
            <a:r>
              <a:rPr lang="en">
                <a:solidFill>
                  <a:srgbClr val="FF0000"/>
                </a:solidFill>
              </a:rPr>
              <a:t>Cache:</a:t>
            </a:r>
            <a:r>
              <a:rPr lang="en"/>
              <a:t> A smaller, faster storage device that acts as a staging area for a subset of the data in a larger, slower device.</a:t>
            </a:r>
            <a:endParaRPr/>
          </a:p>
          <a:p>
            <a:pPr indent="-336042" lvl="0" marL="342900" rtl="0" algn="l">
              <a:spcBef>
                <a:spcPts val="480"/>
              </a:spcBef>
              <a:spcAft>
                <a:spcPts val="0"/>
              </a:spcAft>
              <a:buSzPct val="80000"/>
              <a:buChar char="●"/>
            </a:pPr>
            <a:r>
              <a:rPr lang="en"/>
              <a:t>Fundamental idea of a memory hierarchy:</a:t>
            </a:r>
            <a:endParaRPr/>
          </a:p>
          <a:p>
            <a:pPr indent="-275273" lvl="1" marL="742950" rtl="0" algn="l">
              <a:spcBef>
                <a:spcPts val="400"/>
              </a:spcBef>
              <a:spcAft>
                <a:spcPts val="0"/>
              </a:spcAft>
              <a:buSzPct val="157143"/>
              <a:buChar char="○"/>
            </a:pPr>
            <a:r>
              <a:rPr lang="en"/>
              <a:t>For each k, the faster, smaller device at level k serves as a cache for the larger, slower device at level k+1.</a:t>
            </a:r>
            <a:endParaRPr/>
          </a:p>
          <a:p>
            <a:pPr indent="-336042" lvl="0" marL="342900" rtl="0" algn="l">
              <a:spcBef>
                <a:spcPts val="480"/>
              </a:spcBef>
              <a:spcAft>
                <a:spcPts val="0"/>
              </a:spcAft>
              <a:buSzPct val="80000"/>
              <a:buChar char="●"/>
            </a:pPr>
            <a:r>
              <a:rPr lang="en"/>
              <a:t>Why do memory hierarchies work?</a:t>
            </a:r>
            <a:endParaRPr/>
          </a:p>
          <a:p>
            <a:pPr indent="-275273" lvl="1" marL="742950" rtl="0" algn="l">
              <a:spcBef>
                <a:spcPts val="400"/>
              </a:spcBef>
              <a:spcAft>
                <a:spcPts val="0"/>
              </a:spcAft>
              <a:buSzPct val="157143"/>
              <a:buChar char="○"/>
            </a:pPr>
            <a:r>
              <a:rPr lang="en"/>
              <a:t>Because of locality, programs tend to access the data at level k more often than they access the data at level k+1. </a:t>
            </a:r>
            <a:endParaRPr/>
          </a:p>
          <a:p>
            <a:pPr indent="-275273" lvl="1" marL="742950" rtl="0" algn="l">
              <a:spcBef>
                <a:spcPts val="400"/>
              </a:spcBef>
              <a:spcAft>
                <a:spcPts val="0"/>
              </a:spcAft>
              <a:buSzPct val="157143"/>
              <a:buChar char="○"/>
            </a:pPr>
            <a:r>
              <a:rPr lang="en"/>
              <a:t>Thus, the storage at level k+1 can be slower, and thus larger and cheaper per bit.</a:t>
            </a:r>
            <a:endParaRPr/>
          </a:p>
          <a:p>
            <a:pPr indent="-336042" lvl="0" marL="342900" rtl="0" algn="l">
              <a:spcBef>
                <a:spcPts val="480"/>
              </a:spcBef>
              <a:spcAft>
                <a:spcPts val="0"/>
              </a:spcAft>
              <a:buSzPct val="80000"/>
              <a:buChar char="●"/>
            </a:pPr>
            <a:r>
              <a:rPr lang="en">
                <a:solidFill>
                  <a:srgbClr val="FF0000"/>
                </a:solidFill>
              </a:rPr>
              <a:t>Big Idea:  </a:t>
            </a:r>
            <a:r>
              <a:rPr lang="en"/>
              <a:t>The memory hierarchy creates a large pool of storage that costs as much as the cheap storage near the bottom, but that serves data to programs at the rate of the fast storage near the top.</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Memory Hierarchy:</a:t>
            </a:r>
            <a:endParaRPr/>
          </a:p>
        </p:txBody>
      </p:sp>
      <p:pic>
        <p:nvPicPr>
          <p:cNvPr descr="Memory hierarchy pyramid" id="91" name="Google Shape;91;p19"/>
          <p:cNvPicPr preferRelativeResize="0"/>
          <p:nvPr/>
        </p:nvPicPr>
        <p:blipFill>
          <a:blip r:embed="rId3">
            <a:alphaModFix/>
          </a:blip>
          <a:stretch>
            <a:fillRect/>
          </a:stretch>
        </p:blipFill>
        <p:spPr>
          <a:xfrm>
            <a:off x="1767375" y="1170125"/>
            <a:ext cx="5928188" cy="382097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descr="Interface between RAM and Cache" id="97" name="Google Shape;97;p20"/>
          <p:cNvSpPr/>
          <p:nvPr/>
        </p:nvSpPr>
        <p:spPr>
          <a:xfrm>
            <a:off x="3352800" y="2171700"/>
            <a:ext cx="685800" cy="1028700"/>
          </a:xfrm>
          <a:prstGeom prst="upDownArrow">
            <a:avLst>
              <a:gd fmla="val 50000" name="adj1"/>
              <a:gd fmla="val 50000" name="adj2"/>
            </a:avLst>
          </a:prstGeom>
          <a:solidFill>
            <a:srgbClr val="BFBFBF"/>
          </a:solidFill>
          <a:ln>
            <a:noFill/>
          </a:ln>
        </p:spPr>
        <p:txBody>
          <a:bodyPr anchorCtr="1" anchor="ctr" bIns="45700" lIns="91425" spcFirstLastPara="1" rIns="91425" wrap="square" tIns="45700">
            <a:noAutofit/>
          </a:bodyPr>
          <a:lstStyle/>
          <a:p>
            <a:pPr indent="0" lvl="0" marL="0" marR="0" rtl="0" algn="ctr">
              <a:spcBef>
                <a:spcPts val="0"/>
              </a:spcBef>
              <a:spcAft>
                <a:spcPts val="0"/>
              </a:spcAft>
              <a:buNone/>
            </a:pPr>
            <a:r>
              <a:t/>
            </a:r>
            <a:endParaRPr b="1" sz="2400">
              <a:solidFill>
                <a:schemeClr val="dk1"/>
              </a:solidFill>
              <a:latin typeface="Calibri"/>
              <a:ea typeface="Calibri"/>
              <a:cs typeface="Calibri"/>
              <a:sym typeface="Calibri"/>
            </a:endParaRPr>
          </a:p>
        </p:txBody>
      </p:sp>
      <p:sp>
        <p:nvSpPr>
          <p:cNvPr id="98" name="Google Shape;98;p20"/>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General Cache Concepts</a:t>
            </a:r>
            <a:endParaRPr/>
          </a:p>
        </p:txBody>
      </p:sp>
      <p:sp>
        <p:nvSpPr>
          <p:cNvPr descr="Visualization of RAM contents" id="99" name="Google Shape;99;p20"/>
          <p:cNvSpPr/>
          <p:nvPr/>
        </p:nvSpPr>
        <p:spPr>
          <a:xfrm>
            <a:off x="1905000" y="3200400"/>
            <a:ext cx="3581400" cy="1543200"/>
          </a:xfrm>
          <a:prstGeom prst="rect">
            <a:avLst/>
          </a:prstGeom>
          <a:solidFill>
            <a:srgbClr val="DEDFF5"/>
          </a:solidFill>
          <a:ln cap="flat" cmpd="sng" w="2857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Narrow"/>
              <a:buNone/>
            </a:pPr>
            <a:r>
              <a:t/>
            </a:r>
            <a:endParaRPr b="1" sz="1800">
              <a:solidFill>
                <a:schemeClr val="dk1"/>
              </a:solidFill>
              <a:latin typeface="Calibri"/>
              <a:ea typeface="Calibri"/>
              <a:cs typeface="Calibri"/>
              <a:sym typeface="Calibri"/>
            </a:endParaRPr>
          </a:p>
        </p:txBody>
      </p:sp>
      <p:sp>
        <p:nvSpPr>
          <p:cNvPr descr="Visualization of Cache contents" id="100" name="Google Shape;100;p20"/>
          <p:cNvSpPr/>
          <p:nvPr/>
        </p:nvSpPr>
        <p:spPr>
          <a:xfrm>
            <a:off x="1905000" y="1704293"/>
            <a:ext cx="3581400" cy="457200"/>
          </a:xfrm>
          <a:prstGeom prst="rect">
            <a:avLst/>
          </a:prstGeom>
          <a:solidFill>
            <a:srgbClr val="D5D5F4"/>
          </a:solidFill>
          <a:ln cap="flat" cmpd="sng" w="2857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Narrow"/>
              <a:buNone/>
            </a:pPr>
            <a:r>
              <a:t/>
            </a:r>
            <a:endParaRPr b="1" sz="2400">
              <a:solidFill>
                <a:schemeClr val="dk1"/>
              </a:solidFill>
              <a:latin typeface="Calibri"/>
              <a:ea typeface="Calibri"/>
              <a:cs typeface="Calibri"/>
              <a:sym typeface="Calibri"/>
            </a:endParaRPr>
          </a:p>
        </p:txBody>
      </p:sp>
      <p:sp>
        <p:nvSpPr>
          <p:cNvPr id="101" name="Google Shape;101;p20"/>
          <p:cNvSpPr/>
          <p:nvPr/>
        </p:nvSpPr>
        <p:spPr>
          <a:xfrm>
            <a:off x="2057400" y="3314700"/>
            <a:ext cx="762000" cy="228600"/>
          </a:xfrm>
          <a:prstGeom prst="rect">
            <a:avLst/>
          </a:prstGeom>
          <a:solidFill>
            <a:schemeClr val="lt1"/>
          </a:solidFill>
          <a:ln cap="flat" cmpd="sng" w="2857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rPr b="1" lang="en" sz="1800">
                <a:solidFill>
                  <a:schemeClr val="dk1"/>
                </a:solidFill>
                <a:latin typeface="Calibri"/>
                <a:ea typeface="Calibri"/>
                <a:cs typeface="Calibri"/>
                <a:sym typeface="Calibri"/>
              </a:rPr>
              <a:t>0</a:t>
            </a:r>
            <a:endParaRPr/>
          </a:p>
        </p:txBody>
      </p:sp>
      <p:sp>
        <p:nvSpPr>
          <p:cNvPr id="102" name="Google Shape;102;p20"/>
          <p:cNvSpPr/>
          <p:nvPr/>
        </p:nvSpPr>
        <p:spPr>
          <a:xfrm>
            <a:off x="2895600" y="3314700"/>
            <a:ext cx="762000" cy="228600"/>
          </a:xfrm>
          <a:prstGeom prst="rect">
            <a:avLst/>
          </a:prstGeom>
          <a:solidFill>
            <a:schemeClr val="lt1"/>
          </a:solidFill>
          <a:ln cap="flat" cmpd="sng" w="2857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rPr b="1" lang="en" sz="1800">
                <a:solidFill>
                  <a:schemeClr val="dk1"/>
                </a:solidFill>
                <a:latin typeface="Calibri"/>
                <a:ea typeface="Calibri"/>
                <a:cs typeface="Calibri"/>
                <a:sym typeface="Calibri"/>
              </a:rPr>
              <a:t>1</a:t>
            </a:r>
            <a:endParaRPr/>
          </a:p>
        </p:txBody>
      </p:sp>
      <p:sp>
        <p:nvSpPr>
          <p:cNvPr id="103" name="Google Shape;103;p20"/>
          <p:cNvSpPr/>
          <p:nvPr/>
        </p:nvSpPr>
        <p:spPr>
          <a:xfrm>
            <a:off x="3733800" y="3314700"/>
            <a:ext cx="762000" cy="228600"/>
          </a:xfrm>
          <a:prstGeom prst="rect">
            <a:avLst/>
          </a:prstGeom>
          <a:solidFill>
            <a:schemeClr val="lt1"/>
          </a:solidFill>
          <a:ln cap="flat" cmpd="sng" w="2857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rPr b="1" lang="en" sz="1800">
                <a:solidFill>
                  <a:schemeClr val="dk1"/>
                </a:solidFill>
                <a:latin typeface="Calibri"/>
                <a:ea typeface="Calibri"/>
                <a:cs typeface="Calibri"/>
                <a:sym typeface="Calibri"/>
              </a:rPr>
              <a:t>2</a:t>
            </a:r>
            <a:endParaRPr/>
          </a:p>
        </p:txBody>
      </p:sp>
      <p:sp>
        <p:nvSpPr>
          <p:cNvPr id="104" name="Google Shape;104;p20"/>
          <p:cNvSpPr/>
          <p:nvPr/>
        </p:nvSpPr>
        <p:spPr>
          <a:xfrm>
            <a:off x="4572000" y="3314700"/>
            <a:ext cx="762000" cy="228600"/>
          </a:xfrm>
          <a:prstGeom prst="rect">
            <a:avLst/>
          </a:prstGeom>
          <a:solidFill>
            <a:schemeClr val="lt1"/>
          </a:solidFill>
          <a:ln cap="flat" cmpd="sng" w="2857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rPr b="1" lang="en" sz="1800">
                <a:solidFill>
                  <a:schemeClr val="dk1"/>
                </a:solidFill>
                <a:latin typeface="Calibri"/>
                <a:ea typeface="Calibri"/>
                <a:cs typeface="Calibri"/>
                <a:sym typeface="Calibri"/>
              </a:rPr>
              <a:t>3</a:t>
            </a:r>
            <a:endParaRPr/>
          </a:p>
        </p:txBody>
      </p:sp>
      <p:sp>
        <p:nvSpPr>
          <p:cNvPr id="105" name="Google Shape;105;p20"/>
          <p:cNvSpPr/>
          <p:nvPr/>
        </p:nvSpPr>
        <p:spPr>
          <a:xfrm>
            <a:off x="2057400" y="3600450"/>
            <a:ext cx="762000" cy="228600"/>
          </a:xfrm>
          <a:prstGeom prst="rect">
            <a:avLst/>
          </a:prstGeom>
          <a:solidFill>
            <a:schemeClr val="lt1"/>
          </a:solidFill>
          <a:ln cap="flat" cmpd="sng" w="2857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rPr b="1" lang="en" sz="1800">
                <a:solidFill>
                  <a:schemeClr val="dk1"/>
                </a:solidFill>
                <a:latin typeface="Calibri"/>
                <a:ea typeface="Calibri"/>
                <a:cs typeface="Calibri"/>
                <a:sym typeface="Calibri"/>
              </a:rPr>
              <a:t>4</a:t>
            </a:r>
            <a:endParaRPr/>
          </a:p>
        </p:txBody>
      </p:sp>
      <p:sp>
        <p:nvSpPr>
          <p:cNvPr id="106" name="Google Shape;106;p20"/>
          <p:cNvSpPr/>
          <p:nvPr/>
        </p:nvSpPr>
        <p:spPr>
          <a:xfrm>
            <a:off x="2895600" y="3600450"/>
            <a:ext cx="762000" cy="228600"/>
          </a:xfrm>
          <a:prstGeom prst="rect">
            <a:avLst/>
          </a:prstGeom>
          <a:solidFill>
            <a:schemeClr val="lt1"/>
          </a:solidFill>
          <a:ln cap="flat" cmpd="sng" w="2857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rPr b="1" lang="en" sz="1800">
                <a:solidFill>
                  <a:schemeClr val="dk1"/>
                </a:solidFill>
                <a:latin typeface="Calibri"/>
                <a:ea typeface="Calibri"/>
                <a:cs typeface="Calibri"/>
                <a:sym typeface="Calibri"/>
              </a:rPr>
              <a:t>5</a:t>
            </a:r>
            <a:endParaRPr/>
          </a:p>
        </p:txBody>
      </p:sp>
      <p:sp>
        <p:nvSpPr>
          <p:cNvPr id="107" name="Google Shape;107;p20"/>
          <p:cNvSpPr/>
          <p:nvPr/>
        </p:nvSpPr>
        <p:spPr>
          <a:xfrm>
            <a:off x="3733800" y="3600450"/>
            <a:ext cx="762000" cy="228600"/>
          </a:xfrm>
          <a:prstGeom prst="rect">
            <a:avLst/>
          </a:prstGeom>
          <a:solidFill>
            <a:schemeClr val="lt1"/>
          </a:solidFill>
          <a:ln cap="flat" cmpd="sng" w="2857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rPr b="1" lang="en" sz="1800">
                <a:solidFill>
                  <a:schemeClr val="dk1"/>
                </a:solidFill>
                <a:latin typeface="Calibri"/>
                <a:ea typeface="Calibri"/>
                <a:cs typeface="Calibri"/>
                <a:sym typeface="Calibri"/>
              </a:rPr>
              <a:t>6</a:t>
            </a:r>
            <a:endParaRPr/>
          </a:p>
        </p:txBody>
      </p:sp>
      <p:sp>
        <p:nvSpPr>
          <p:cNvPr id="108" name="Google Shape;108;p20"/>
          <p:cNvSpPr/>
          <p:nvPr/>
        </p:nvSpPr>
        <p:spPr>
          <a:xfrm>
            <a:off x="4572000" y="3600450"/>
            <a:ext cx="762000" cy="228600"/>
          </a:xfrm>
          <a:prstGeom prst="rect">
            <a:avLst/>
          </a:prstGeom>
          <a:solidFill>
            <a:schemeClr val="lt1"/>
          </a:solidFill>
          <a:ln cap="flat" cmpd="sng" w="2857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rPr b="1" lang="en" sz="1800">
                <a:solidFill>
                  <a:schemeClr val="dk1"/>
                </a:solidFill>
                <a:latin typeface="Calibri"/>
                <a:ea typeface="Calibri"/>
                <a:cs typeface="Calibri"/>
                <a:sym typeface="Calibri"/>
              </a:rPr>
              <a:t>7</a:t>
            </a:r>
            <a:endParaRPr/>
          </a:p>
        </p:txBody>
      </p:sp>
      <p:sp>
        <p:nvSpPr>
          <p:cNvPr id="109" name="Google Shape;109;p20"/>
          <p:cNvSpPr/>
          <p:nvPr/>
        </p:nvSpPr>
        <p:spPr>
          <a:xfrm>
            <a:off x="2057400" y="3886200"/>
            <a:ext cx="762000" cy="228600"/>
          </a:xfrm>
          <a:prstGeom prst="rect">
            <a:avLst/>
          </a:prstGeom>
          <a:solidFill>
            <a:schemeClr val="lt1"/>
          </a:solidFill>
          <a:ln cap="flat" cmpd="sng" w="2857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rPr b="1" lang="en" sz="1800">
                <a:solidFill>
                  <a:schemeClr val="dk1"/>
                </a:solidFill>
                <a:latin typeface="Calibri"/>
                <a:ea typeface="Calibri"/>
                <a:cs typeface="Calibri"/>
                <a:sym typeface="Calibri"/>
              </a:rPr>
              <a:t>8</a:t>
            </a:r>
            <a:endParaRPr/>
          </a:p>
        </p:txBody>
      </p:sp>
      <p:sp>
        <p:nvSpPr>
          <p:cNvPr id="110" name="Google Shape;110;p20"/>
          <p:cNvSpPr/>
          <p:nvPr/>
        </p:nvSpPr>
        <p:spPr>
          <a:xfrm>
            <a:off x="2895600" y="3886200"/>
            <a:ext cx="762000" cy="228600"/>
          </a:xfrm>
          <a:prstGeom prst="rect">
            <a:avLst/>
          </a:prstGeom>
          <a:solidFill>
            <a:schemeClr val="lt1"/>
          </a:solidFill>
          <a:ln cap="flat" cmpd="sng" w="2857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rPr b="1" lang="en" sz="1800">
                <a:solidFill>
                  <a:schemeClr val="dk1"/>
                </a:solidFill>
                <a:latin typeface="Calibri"/>
                <a:ea typeface="Calibri"/>
                <a:cs typeface="Calibri"/>
                <a:sym typeface="Calibri"/>
              </a:rPr>
              <a:t>9</a:t>
            </a:r>
            <a:endParaRPr/>
          </a:p>
        </p:txBody>
      </p:sp>
      <p:sp>
        <p:nvSpPr>
          <p:cNvPr id="111" name="Google Shape;111;p20"/>
          <p:cNvSpPr/>
          <p:nvPr/>
        </p:nvSpPr>
        <p:spPr>
          <a:xfrm>
            <a:off x="3733800" y="3886200"/>
            <a:ext cx="762000" cy="228600"/>
          </a:xfrm>
          <a:prstGeom prst="rect">
            <a:avLst/>
          </a:prstGeom>
          <a:solidFill>
            <a:schemeClr val="lt1"/>
          </a:solidFill>
          <a:ln cap="flat" cmpd="sng" w="2857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rPr b="1" lang="en" sz="1800">
                <a:solidFill>
                  <a:schemeClr val="dk1"/>
                </a:solidFill>
                <a:latin typeface="Calibri"/>
                <a:ea typeface="Calibri"/>
                <a:cs typeface="Calibri"/>
                <a:sym typeface="Calibri"/>
              </a:rPr>
              <a:t>10</a:t>
            </a:r>
            <a:endParaRPr/>
          </a:p>
        </p:txBody>
      </p:sp>
      <p:sp>
        <p:nvSpPr>
          <p:cNvPr id="112" name="Google Shape;112;p20"/>
          <p:cNvSpPr/>
          <p:nvPr/>
        </p:nvSpPr>
        <p:spPr>
          <a:xfrm>
            <a:off x="4572000" y="3886200"/>
            <a:ext cx="762000" cy="228600"/>
          </a:xfrm>
          <a:prstGeom prst="rect">
            <a:avLst/>
          </a:prstGeom>
          <a:solidFill>
            <a:schemeClr val="lt1"/>
          </a:solidFill>
          <a:ln cap="flat" cmpd="sng" w="2857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rPr b="1" lang="en" sz="1800">
                <a:solidFill>
                  <a:schemeClr val="dk1"/>
                </a:solidFill>
                <a:latin typeface="Calibri"/>
                <a:ea typeface="Calibri"/>
                <a:cs typeface="Calibri"/>
                <a:sym typeface="Calibri"/>
              </a:rPr>
              <a:t>11</a:t>
            </a:r>
            <a:endParaRPr/>
          </a:p>
        </p:txBody>
      </p:sp>
      <p:sp>
        <p:nvSpPr>
          <p:cNvPr id="113" name="Google Shape;113;p20"/>
          <p:cNvSpPr/>
          <p:nvPr/>
        </p:nvSpPr>
        <p:spPr>
          <a:xfrm>
            <a:off x="2057400" y="4171950"/>
            <a:ext cx="762000" cy="228600"/>
          </a:xfrm>
          <a:prstGeom prst="rect">
            <a:avLst/>
          </a:prstGeom>
          <a:solidFill>
            <a:schemeClr val="lt1"/>
          </a:solidFill>
          <a:ln cap="flat" cmpd="sng" w="2857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rPr b="1" lang="en" sz="1800">
                <a:solidFill>
                  <a:schemeClr val="dk1"/>
                </a:solidFill>
                <a:latin typeface="Calibri"/>
                <a:ea typeface="Calibri"/>
                <a:cs typeface="Calibri"/>
                <a:sym typeface="Calibri"/>
              </a:rPr>
              <a:t>12</a:t>
            </a:r>
            <a:endParaRPr/>
          </a:p>
        </p:txBody>
      </p:sp>
      <p:sp>
        <p:nvSpPr>
          <p:cNvPr id="114" name="Google Shape;114;p20"/>
          <p:cNvSpPr/>
          <p:nvPr/>
        </p:nvSpPr>
        <p:spPr>
          <a:xfrm>
            <a:off x="2895600" y="4171950"/>
            <a:ext cx="762000" cy="228600"/>
          </a:xfrm>
          <a:prstGeom prst="rect">
            <a:avLst/>
          </a:prstGeom>
          <a:solidFill>
            <a:schemeClr val="lt1"/>
          </a:solidFill>
          <a:ln cap="flat" cmpd="sng" w="2857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rPr b="1" lang="en" sz="1800">
                <a:solidFill>
                  <a:schemeClr val="dk1"/>
                </a:solidFill>
                <a:latin typeface="Calibri"/>
                <a:ea typeface="Calibri"/>
                <a:cs typeface="Calibri"/>
                <a:sym typeface="Calibri"/>
              </a:rPr>
              <a:t>13</a:t>
            </a:r>
            <a:endParaRPr/>
          </a:p>
        </p:txBody>
      </p:sp>
      <p:sp>
        <p:nvSpPr>
          <p:cNvPr id="115" name="Google Shape;115;p20"/>
          <p:cNvSpPr/>
          <p:nvPr/>
        </p:nvSpPr>
        <p:spPr>
          <a:xfrm>
            <a:off x="3733800" y="4171950"/>
            <a:ext cx="762000" cy="228600"/>
          </a:xfrm>
          <a:prstGeom prst="rect">
            <a:avLst/>
          </a:prstGeom>
          <a:solidFill>
            <a:schemeClr val="lt1"/>
          </a:solidFill>
          <a:ln cap="flat" cmpd="sng" w="2857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rPr b="1" lang="en" sz="1800">
                <a:solidFill>
                  <a:schemeClr val="dk1"/>
                </a:solidFill>
                <a:latin typeface="Calibri"/>
                <a:ea typeface="Calibri"/>
                <a:cs typeface="Calibri"/>
                <a:sym typeface="Calibri"/>
              </a:rPr>
              <a:t>14</a:t>
            </a:r>
            <a:endParaRPr/>
          </a:p>
        </p:txBody>
      </p:sp>
      <p:sp>
        <p:nvSpPr>
          <p:cNvPr id="116" name="Google Shape;116;p20"/>
          <p:cNvSpPr/>
          <p:nvPr/>
        </p:nvSpPr>
        <p:spPr>
          <a:xfrm>
            <a:off x="4572000" y="4171950"/>
            <a:ext cx="762000" cy="228600"/>
          </a:xfrm>
          <a:prstGeom prst="rect">
            <a:avLst/>
          </a:prstGeom>
          <a:solidFill>
            <a:schemeClr val="lt1"/>
          </a:solidFill>
          <a:ln cap="flat" cmpd="sng" w="2857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rPr b="1" lang="en" sz="1800">
                <a:solidFill>
                  <a:schemeClr val="dk1"/>
                </a:solidFill>
                <a:latin typeface="Calibri"/>
                <a:ea typeface="Calibri"/>
                <a:cs typeface="Calibri"/>
                <a:sym typeface="Calibri"/>
              </a:rPr>
              <a:t>15</a:t>
            </a:r>
            <a:endParaRPr/>
          </a:p>
        </p:txBody>
      </p:sp>
      <p:cxnSp>
        <p:nvCxnSpPr>
          <p:cNvPr id="117" name="Google Shape;117;p20"/>
          <p:cNvCxnSpPr/>
          <p:nvPr/>
        </p:nvCxnSpPr>
        <p:spPr>
          <a:xfrm>
            <a:off x="2286000" y="4572000"/>
            <a:ext cx="3048000" cy="1200"/>
          </a:xfrm>
          <a:prstGeom prst="straightConnector1">
            <a:avLst/>
          </a:prstGeom>
          <a:noFill/>
          <a:ln cap="rnd" cmpd="sng" w="88900">
            <a:solidFill>
              <a:schemeClr val="dk1"/>
            </a:solidFill>
            <a:prstDash val="dot"/>
            <a:round/>
            <a:headEnd len="sm" w="sm" type="none"/>
            <a:tailEnd len="sm" w="sm" type="none"/>
          </a:ln>
        </p:spPr>
      </p:cxnSp>
      <p:sp>
        <p:nvSpPr>
          <p:cNvPr id="118" name="Google Shape;118;p20"/>
          <p:cNvSpPr/>
          <p:nvPr/>
        </p:nvSpPr>
        <p:spPr>
          <a:xfrm>
            <a:off x="2057400" y="1818593"/>
            <a:ext cx="762000" cy="228600"/>
          </a:xfrm>
          <a:prstGeom prst="rect">
            <a:avLst/>
          </a:prstGeom>
          <a:solidFill>
            <a:schemeClr val="lt1"/>
          </a:solidFill>
          <a:ln cap="flat" cmpd="sng" w="2857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rPr b="1" lang="en" sz="1800">
                <a:solidFill>
                  <a:schemeClr val="dk1"/>
                </a:solidFill>
                <a:latin typeface="Calibri"/>
                <a:ea typeface="Calibri"/>
                <a:cs typeface="Calibri"/>
                <a:sym typeface="Calibri"/>
              </a:rPr>
              <a:t>8</a:t>
            </a:r>
            <a:endParaRPr/>
          </a:p>
        </p:txBody>
      </p:sp>
      <p:sp>
        <p:nvSpPr>
          <p:cNvPr id="119" name="Google Shape;119;p20"/>
          <p:cNvSpPr/>
          <p:nvPr/>
        </p:nvSpPr>
        <p:spPr>
          <a:xfrm>
            <a:off x="2895600" y="1818593"/>
            <a:ext cx="762000" cy="228600"/>
          </a:xfrm>
          <a:prstGeom prst="rect">
            <a:avLst/>
          </a:prstGeom>
          <a:solidFill>
            <a:schemeClr val="lt1"/>
          </a:solidFill>
          <a:ln cap="flat" cmpd="sng" w="2857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rPr b="1" lang="en" sz="1800">
                <a:solidFill>
                  <a:schemeClr val="dk1"/>
                </a:solidFill>
                <a:latin typeface="Calibri"/>
                <a:ea typeface="Calibri"/>
                <a:cs typeface="Calibri"/>
                <a:sym typeface="Calibri"/>
              </a:rPr>
              <a:t>9</a:t>
            </a:r>
            <a:endParaRPr/>
          </a:p>
        </p:txBody>
      </p:sp>
      <p:sp>
        <p:nvSpPr>
          <p:cNvPr id="120" name="Google Shape;120;p20"/>
          <p:cNvSpPr/>
          <p:nvPr/>
        </p:nvSpPr>
        <p:spPr>
          <a:xfrm>
            <a:off x="3733800" y="1818593"/>
            <a:ext cx="762000" cy="228600"/>
          </a:xfrm>
          <a:prstGeom prst="rect">
            <a:avLst/>
          </a:prstGeom>
          <a:solidFill>
            <a:schemeClr val="lt1"/>
          </a:solidFill>
          <a:ln cap="flat" cmpd="sng" w="2857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rPr b="1" lang="en" sz="1800">
                <a:solidFill>
                  <a:schemeClr val="dk1"/>
                </a:solidFill>
                <a:latin typeface="Calibri"/>
                <a:ea typeface="Calibri"/>
                <a:cs typeface="Calibri"/>
                <a:sym typeface="Calibri"/>
              </a:rPr>
              <a:t>14</a:t>
            </a:r>
            <a:endParaRPr/>
          </a:p>
        </p:txBody>
      </p:sp>
      <p:sp>
        <p:nvSpPr>
          <p:cNvPr id="121" name="Google Shape;121;p20"/>
          <p:cNvSpPr/>
          <p:nvPr/>
        </p:nvSpPr>
        <p:spPr>
          <a:xfrm>
            <a:off x="4572000" y="1818593"/>
            <a:ext cx="762000" cy="228600"/>
          </a:xfrm>
          <a:prstGeom prst="rect">
            <a:avLst/>
          </a:prstGeom>
          <a:solidFill>
            <a:schemeClr val="lt1"/>
          </a:solidFill>
          <a:ln cap="flat" cmpd="sng" w="2857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rPr b="1" lang="en" sz="1800">
                <a:solidFill>
                  <a:schemeClr val="dk1"/>
                </a:solidFill>
                <a:latin typeface="Calibri"/>
                <a:ea typeface="Calibri"/>
                <a:cs typeface="Calibri"/>
                <a:sym typeface="Calibri"/>
              </a:rPr>
              <a:t>3</a:t>
            </a:r>
            <a:endParaRPr/>
          </a:p>
        </p:txBody>
      </p:sp>
      <p:sp>
        <p:nvSpPr>
          <p:cNvPr id="122" name="Google Shape;122;p20"/>
          <p:cNvSpPr txBox="1"/>
          <p:nvPr/>
        </p:nvSpPr>
        <p:spPr>
          <a:xfrm>
            <a:off x="788764" y="1761443"/>
            <a:ext cx="9492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2400">
                <a:solidFill>
                  <a:schemeClr val="dk1"/>
                </a:solidFill>
                <a:latin typeface="Calibri"/>
                <a:ea typeface="Calibri"/>
                <a:cs typeface="Calibri"/>
                <a:sym typeface="Calibri"/>
              </a:rPr>
              <a:t>Cache</a:t>
            </a:r>
            <a:endParaRPr/>
          </a:p>
        </p:txBody>
      </p:sp>
      <p:sp>
        <p:nvSpPr>
          <p:cNvPr id="123" name="Google Shape;123;p20"/>
          <p:cNvSpPr txBox="1"/>
          <p:nvPr/>
        </p:nvSpPr>
        <p:spPr>
          <a:xfrm>
            <a:off x="457200" y="3257550"/>
            <a:ext cx="12810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2400">
                <a:solidFill>
                  <a:schemeClr val="dk1"/>
                </a:solidFill>
                <a:latin typeface="Calibri"/>
                <a:ea typeface="Calibri"/>
                <a:cs typeface="Calibri"/>
                <a:sym typeface="Calibri"/>
              </a:rPr>
              <a:t>Memory</a:t>
            </a:r>
            <a:endParaRPr/>
          </a:p>
        </p:txBody>
      </p:sp>
      <p:sp>
        <p:nvSpPr>
          <p:cNvPr id="124" name="Google Shape;124;p20"/>
          <p:cNvSpPr txBox="1"/>
          <p:nvPr/>
        </p:nvSpPr>
        <p:spPr>
          <a:xfrm>
            <a:off x="5635242" y="3110488"/>
            <a:ext cx="3200100" cy="577200"/>
          </a:xfrm>
          <a:prstGeom prst="rect">
            <a:avLst/>
          </a:prstGeom>
          <a:noFill/>
          <a:ln>
            <a:noFill/>
          </a:ln>
        </p:spPr>
        <p:txBody>
          <a:bodyPr anchorCtr="0" anchor="ctr" bIns="46800" lIns="90000" spcFirstLastPara="1" rIns="90000" wrap="square" tIns="46800">
            <a:spAutoFit/>
          </a:bodyPr>
          <a:lstStyle/>
          <a:p>
            <a:pPr indent="0" lvl="0" marL="0" marR="0" rtl="0" algn="l">
              <a:lnSpc>
                <a:spcPct val="98000"/>
              </a:lnSpc>
              <a:spcBef>
                <a:spcPts val="0"/>
              </a:spcBef>
              <a:spcAft>
                <a:spcPts val="0"/>
              </a:spcAft>
              <a:buNone/>
            </a:pPr>
            <a:r>
              <a:rPr b="1" lang="en" sz="1600">
                <a:solidFill>
                  <a:schemeClr val="dk1"/>
                </a:solidFill>
                <a:latin typeface="Calibri"/>
                <a:ea typeface="Calibri"/>
                <a:cs typeface="Calibri"/>
                <a:sym typeface="Calibri"/>
              </a:rPr>
              <a:t>Larger, slower, cheaper memory</a:t>
            </a:r>
            <a:endParaRPr/>
          </a:p>
          <a:p>
            <a:pPr indent="0" lvl="0" marL="0" marR="0" rtl="0" algn="l">
              <a:lnSpc>
                <a:spcPct val="98000"/>
              </a:lnSpc>
              <a:spcBef>
                <a:spcPts val="0"/>
              </a:spcBef>
              <a:spcAft>
                <a:spcPts val="0"/>
              </a:spcAft>
              <a:buNone/>
            </a:pPr>
            <a:r>
              <a:rPr b="1" lang="en" sz="1600">
                <a:solidFill>
                  <a:schemeClr val="dk1"/>
                </a:solidFill>
                <a:latin typeface="Calibri"/>
                <a:ea typeface="Calibri"/>
                <a:cs typeface="Calibri"/>
                <a:sym typeface="Calibri"/>
              </a:rPr>
              <a:t>viewed as partitioned into “blocks”</a:t>
            </a:r>
            <a:endParaRPr/>
          </a:p>
        </p:txBody>
      </p:sp>
      <p:sp>
        <p:nvSpPr>
          <p:cNvPr id="125" name="Google Shape;125;p20"/>
          <p:cNvSpPr txBox="1"/>
          <p:nvPr/>
        </p:nvSpPr>
        <p:spPr>
          <a:xfrm>
            <a:off x="3942800" y="2424689"/>
            <a:ext cx="2838900" cy="577200"/>
          </a:xfrm>
          <a:prstGeom prst="rect">
            <a:avLst/>
          </a:prstGeom>
          <a:noFill/>
          <a:ln>
            <a:noFill/>
          </a:ln>
        </p:spPr>
        <p:txBody>
          <a:bodyPr anchorCtr="0" anchor="ctr" bIns="46800" lIns="90000" spcFirstLastPara="1" rIns="90000" wrap="square" tIns="46800">
            <a:spAutoFit/>
          </a:bodyPr>
          <a:lstStyle/>
          <a:p>
            <a:pPr indent="0" lvl="0" marL="0" marR="0" rtl="0" algn="l">
              <a:lnSpc>
                <a:spcPct val="98000"/>
              </a:lnSpc>
              <a:spcBef>
                <a:spcPts val="0"/>
              </a:spcBef>
              <a:spcAft>
                <a:spcPts val="0"/>
              </a:spcAft>
              <a:buNone/>
            </a:pPr>
            <a:r>
              <a:rPr b="1" lang="en" sz="1600">
                <a:solidFill>
                  <a:schemeClr val="dk1"/>
                </a:solidFill>
                <a:latin typeface="Calibri"/>
                <a:ea typeface="Calibri"/>
                <a:cs typeface="Calibri"/>
                <a:sym typeface="Calibri"/>
              </a:rPr>
              <a:t>Data is copied in block-sized transfer units</a:t>
            </a:r>
            <a:endParaRPr/>
          </a:p>
        </p:txBody>
      </p:sp>
      <p:sp>
        <p:nvSpPr>
          <p:cNvPr id="126" name="Google Shape;126;p20"/>
          <p:cNvSpPr txBox="1"/>
          <p:nvPr/>
        </p:nvSpPr>
        <p:spPr>
          <a:xfrm>
            <a:off x="5562600" y="1624733"/>
            <a:ext cx="2931000" cy="818700"/>
          </a:xfrm>
          <a:prstGeom prst="rect">
            <a:avLst/>
          </a:prstGeom>
          <a:noFill/>
          <a:ln>
            <a:noFill/>
          </a:ln>
        </p:spPr>
        <p:txBody>
          <a:bodyPr anchorCtr="0" anchor="ctr" bIns="46800" lIns="90000" spcFirstLastPara="1" rIns="90000" wrap="square" tIns="46800">
            <a:spAutoFit/>
          </a:bodyPr>
          <a:lstStyle/>
          <a:p>
            <a:pPr indent="0" lvl="0" marL="0" marR="0" rtl="0" algn="l">
              <a:lnSpc>
                <a:spcPct val="98000"/>
              </a:lnSpc>
              <a:spcBef>
                <a:spcPts val="0"/>
              </a:spcBef>
              <a:spcAft>
                <a:spcPts val="0"/>
              </a:spcAft>
              <a:buNone/>
            </a:pPr>
            <a:r>
              <a:rPr b="1" lang="en" sz="1600">
                <a:solidFill>
                  <a:schemeClr val="dk1"/>
                </a:solidFill>
                <a:latin typeface="Calibri"/>
                <a:ea typeface="Calibri"/>
                <a:cs typeface="Calibri"/>
                <a:sym typeface="Calibri"/>
              </a:rPr>
              <a:t>Smaller, faster, more expensive</a:t>
            </a:r>
            <a:endParaRPr/>
          </a:p>
          <a:p>
            <a:pPr indent="0" lvl="0" marL="0" marR="0" rtl="0" algn="l">
              <a:lnSpc>
                <a:spcPct val="98000"/>
              </a:lnSpc>
              <a:spcBef>
                <a:spcPts val="0"/>
              </a:spcBef>
              <a:spcAft>
                <a:spcPts val="0"/>
              </a:spcAft>
              <a:buNone/>
            </a:pPr>
            <a:r>
              <a:rPr b="1" lang="en" sz="1600">
                <a:solidFill>
                  <a:schemeClr val="dk1"/>
                </a:solidFill>
                <a:latin typeface="Calibri"/>
                <a:ea typeface="Calibri"/>
                <a:cs typeface="Calibri"/>
                <a:sym typeface="Calibri"/>
              </a:rPr>
              <a:t>memory caches a  subset of</a:t>
            </a:r>
            <a:endParaRPr/>
          </a:p>
          <a:p>
            <a:pPr indent="0" lvl="0" marL="0" marR="0" rtl="0" algn="l">
              <a:lnSpc>
                <a:spcPct val="98000"/>
              </a:lnSpc>
              <a:spcBef>
                <a:spcPts val="0"/>
              </a:spcBef>
              <a:spcAft>
                <a:spcPts val="0"/>
              </a:spcAft>
              <a:buNone/>
            </a:pPr>
            <a:r>
              <a:rPr b="1" lang="en" sz="1600">
                <a:solidFill>
                  <a:schemeClr val="dk1"/>
                </a:solidFill>
                <a:latin typeface="Calibri"/>
                <a:ea typeface="Calibri"/>
                <a:cs typeface="Calibri"/>
                <a:sym typeface="Calibri"/>
              </a:rPr>
              <a:t>the blocks</a:t>
            </a:r>
            <a:endParaRPr/>
          </a:p>
        </p:txBody>
      </p:sp>
      <p:sp>
        <p:nvSpPr>
          <p:cNvPr id="127" name="Google Shape;127;p20"/>
          <p:cNvSpPr/>
          <p:nvPr/>
        </p:nvSpPr>
        <p:spPr>
          <a:xfrm>
            <a:off x="2057400" y="3600450"/>
            <a:ext cx="762000" cy="228600"/>
          </a:xfrm>
          <a:prstGeom prst="rect">
            <a:avLst/>
          </a:prstGeom>
          <a:solidFill>
            <a:srgbClr val="FF9999"/>
          </a:solidFill>
          <a:ln cap="flat" cmpd="sng" w="2857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rPr b="1" lang="en" sz="1800">
                <a:solidFill>
                  <a:schemeClr val="dk1"/>
                </a:solidFill>
                <a:latin typeface="Calibri"/>
                <a:ea typeface="Calibri"/>
                <a:cs typeface="Calibri"/>
                <a:sym typeface="Calibri"/>
              </a:rPr>
              <a:t>4</a:t>
            </a:r>
            <a:endParaRPr/>
          </a:p>
        </p:txBody>
      </p:sp>
      <p:sp>
        <p:nvSpPr>
          <p:cNvPr id="128" name="Google Shape;128;p20"/>
          <p:cNvSpPr/>
          <p:nvPr/>
        </p:nvSpPr>
        <p:spPr>
          <a:xfrm>
            <a:off x="2590800" y="2571750"/>
            <a:ext cx="762000" cy="228600"/>
          </a:xfrm>
          <a:prstGeom prst="rect">
            <a:avLst/>
          </a:prstGeom>
          <a:solidFill>
            <a:srgbClr val="FF9999"/>
          </a:solidFill>
          <a:ln cap="flat" cmpd="sng" w="2857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rPr b="1" lang="en" sz="1800">
                <a:solidFill>
                  <a:schemeClr val="dk1"/>
                </a:solidFill>
                <a:latin typeface="Calibri"/>
                <a:ea typeface="Calibri"/>
                <a:cs typeface="Calibri"/>
                <a:sym typeface="Calibri"/>
              </a:rPr>
              <a:t>4</a:t>
            </a:r>
            <a:endParaRPr/>
          </a:p>
        </p:txBody>
      </p:sp>
      <p:sp>
        <p:nvSpPr>
          <p:cNvPr id="129" name="Google Shape;129;p20"/>
          <p:cNvSpPr/>
          <p:nvPr/>
        </p:nvSpPr>
        <p:spPr>
          <a:xfrm>
            <a:off x="2057400" y="1818593"/>
            <a:ext cx="762000" cy="228600"/>
          </a:xfrm>
          <a:prstGeom prst="rect">
            <a:avLst/>
          </a:prstGeom>
          <a:solidFill>
            <a:srgbClr val="FF9999"/>
          </a:solidFill>
          <a:ln cap="flat" cmpd="sng" w="2857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rPr b="1" lang="en" sz="1800">
                <a:solidFill>
                  <a:schemeClr val="dk1"/>
                </a:solidFill>
                <a:latin typeface="Calibri"/>
                <a:ea typeface="Calibri"/>
                <a:cs typeface="Calibri"/>
                <a:sym typeface="Calibri"/>
              </a:rPr>
              <a:t>4</a:t>
            </a:r>
            <a:endParaRPr/>
          </a:p>
        </p:txBody>
      </p:sp>
      <p:sp>
        <p:nvSpPr>
          <p:cNvPr id="130" name="Google Shape;130;p20"/>
          <p:cNvSpPr/>
          <p:nvPr/>
        </p:nvSpPr>
        <p:spPr>
          <a:xfrm>
            <a:off x="3733800" y="3886200"/>
            <a:ext cx="762000" cy="228600"/>
          </a:xfrm>
          <a:prstGeom prst="rect">
            <a:avLst/>
          </a:prstGeom>
          <a:solidFill>
            <a:srgbClr val="A9E39D"/>
          </a:solidFill>
          <a:ln cap="flat" cmpd="sng" w="2857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rPr b="1" lang="en" sz="1800">
                <a:solidFill>
                  <a:schemeClr val="dk1"/>
                </a:solidFill>
                <a:latin typeface="Calibri"/>
                <a:ea typeface="Calibri"/>
                <a:cs typeface="Calibri"/>
                <a:sym typeface="Calibri"/>
              </a:rPr>
              <a:t>10</a:t>
            </a:r>
            <a:endParaRPr/>
          </a:p>
        </p:txBody>
      </p:sp>
      <p:sp>
        <p:nvSpPr>
          <p:cNvPr id="131" name="Google Shape;131;p20"/>
          <p:cNvSpPr/>
          <p:nvPr/>
        </p:nvSpPr>
        <p:spPr>
          <a:xfrm>
            <a:off x="2590800" y="2571750"/>
            <a:ext cx="762000" cy="228600"/>
          </a:xfrm>
          <a:prstGeom prst="rect">
            <a:avLst/>
          </a:prstGeom>
          <a:solidFill>
            <a:srgbClr val="A9E39D"/>
          </a:solidFill>
          <a:ln cap="flat" cmpd="sng" w="2857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rPr b="1" lang="en" sz="1800">
                <a:solidFill>
                  <a:schemeClr val="dk1"/>
                </a:solidFill>
                <a:latin typeface="Calibri"/>
                <a:ea typeface="Calibri"/>
                <a:cs typeface="Calibri"/>
                <a:sym typeface="Calibri"/>
              </a:rPr>
              <a:t>10</a:t>
            </a:r>
            <a:endParaRPr/>
          </a:p>
        </p:txBody>
      </p:sp>
      <p:sp>
        <p:nvSpPr>
          <p:cNvPr id="132" name="Google Shape;132;p20"/>
          <p:cNvSpPr/>
          <p:nvPr/>
        </p:nvSpPr>
        <p:spPr>
          <a:xfrm>
            <a:off x="3733800" y="1818593"/>
            <a:ext cx="762000" cy="228600"/>
          </a:xfrm>
          <a:prstGeom prst="rect">
            <a:avLst/>
          </a:prstGeom>
          <a:solidFill>
            <a:srgbClr val="A9E39D"/>
          </a:solidFill>
          <a:ln cap="flat" cmpd="sng" w="2857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rPr b="1" lang="en" sz="1800">
                <a:solidFill>
                  <a:schemeClr val="dk1"/>
                </a:solidFill>
                <a:latin typeface="Calibri"/>
                <a:ea typeface="Calibri"/>
                <a:cs typeface="Calibri"/>
                <a:sym typeface="Calibri"/>
              </a:rPr>
              <a:t>10</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1"/>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Cache Memories</a:t>
            </a:r>
            <a:endParaRPr/>
          </a:p>
        </p:txBody>
      </p:sp>
      <p:sp>
        <p:nvSpPr>
          <p:cNvPr id="138" name="Google Shape;138;p21"/>
          <p:cNvSpPr txBox="1"/>
          <p:nvPr>
            <p:ph idx="1" type="body"/>
          </p:nvPr>
        </p:nvSpPr>
        <p:spPr>
          <a:xfrm>
            <a:off x="311700" y="1152475"/>
            <a:ext cx="8520600" cy="1561800"/>
          </a:xfrm>
          <a:prstGeom prst="rect">
            <a:avLst/>
          </a:prstGeom>
          <a:noFill/>
          <a:ln>
            <a:noFill/>
          </a:ln>
        </p:spPr>
        <p:txBody>
          <a:bodyPr anchorCtr="0" anchor="t" bIns="45700" lIns="91425" spcFirstLastPara="1" rIns="91425" wrap="square" tIns="45700">
            <a:normAutofit fontScale="92500" lnSpcReduction="20000"/>
          </a:bodyPr>
          <a:lstStyle/>
          <a:p>
            <a:pPr indent="-336042" lvl="0" marL="342900" rtl="0" algn="l">
              <a:spcBef>
                <a:spcPts val="0"/>
              </a:spcBef>
              <a:spcAft>
                <a:spcPts val="0"/>
              </a:spcAft>
              <a:buSzPct val="80000"/>
              <a:buChar char="●"/>
            </a:pPr>
            <a:r>
              <a:rPr lang="en">
                <a:solidFill>
                  <a:srgbClr val="FF0000"/>
                </a:solidFill>
              </a:rPr>
              <a:t>Cache memories </a:t>
            </a:r>
            <a:r>
              <a:rPr lang="en"/>
              <a:t>are small, fast SRAM-based memories managed automatically in hardware</a:t>
            </a:r>
            <a:endParaRPr/>
          </a:p>
          <a:p>
            <a:pPr indent="-275273" lvl="1" marL="742950" rtl="0" algn="l">
              <a:spcBef>
                <a:spcPts val="400"/>
              </a:spcBef>
              <a:spcAft>
                <a:spcPts val="0"/>
              </a:spcAft>
              <a:buSzPct val="157143"/>
              <a:buChar char="○"/>
            </a:pPr>
            <a:r>
              <a:rPr lang="en"/>
              <a:t>Hold frequently accessed blocks of main memory</a:t>
            </a:r>
            <a:endParaRPr/>
          </a:p>
          <a:p>
            <a:pPr indent="-336042" lvl="0" marL="342900" rtl="0" algn="l">
              <a:spcBef>
                <a:spcPts val="480"/>
              </a:spcBef>
              <a:spcAft>
                <a:spcPts val="0"/>
              </a:spcAft>
              <a:buSzPct val="80000"/>
              <a:buChar char="●"/>
            </a:pPr>
            <a:r>
              <a:rPr lang="en"/>
              <a:t>CPU looks first for data in cache</a:t>
            </a:r>
            <a:endParaRPr/>
          </a:p>
          <a:p>
            <a:pPr indent="-336042" lvl="0" marL="342900" rtl="0" algn="l">
              <a:spcBef>
                <a:spcPts val="480"/>
              </a:spcBef>
              <a:spcAft>
                <a:spcPts val="0"/>
              </a:spcAft>
              <a:buSzPct val="80000"/>
              <a:buChar char="●"/>
            </a:pPr>
            <a:r>
              <a:rPr lang="en"/>
              <a:t>Typical system structure:</a:t>
            </a:r>
            <a:endParaRPr/>
          </a:p>
        </p:txBody>
      </p:sp>
      <p:pic>
        <p:nvPicPr>
          <p:cNvPr descr="System diagram with cache added" id="139" name="Google Shape;139;p21"/>
          <p:cNvPicPr preferRelativeResize="0"/>
          <p:nvPr/>
        </p:nvPicPr>
        <p:blipFill>
          <a:blip r:embed="rId3">
            <a:alphaModFix/>
          </a:blip>
          <a:stretch>
            <a:fillRect/>
          </a:stretch>
        </p:blipFill>
        <p:spPr>
          <a:xfrm>
            <a:off x="447375" y="2714275"/>
            <a:ext cx="8002002" cy="21244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Cache Architectures:</a:t>
            </a:r>
            <a:endParaRPr/>
          </a:p>
        </p:txBody>
      </p:sp>
      <p:sp>
        <p:nvSpPr>
          <p:cNvPr id="145" name="Google Shape;145;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Direct Mapped</a:t>
            </a:r>
            <a:endParaRPr/>
          </a:p>
          <a:p>
            <a:pPr indent="-317500" lvl="1" marL="914400" rtl="0" algn="l">
              <a:spcBef>
                <a:spcPts val="0"/>
              </a:spcBef>
              <a:spcAft>
                <a:spcPts val="0"/>
              </a:spcAft>
              <a:buSzPts val="1400"/>
              <a:buChar char="○"/>
            </a:pPr>
            <a:r>
              <a:rPr lang="en"/>
              <a:t>Every address in RAM has 1 cache block that it can use</a:t>
            </a:r>
            <a:endParaRPr/>
          </a:p>
          <a:p>
            <a:pPr indent="-317500" lvl="1" marL="914400" rtl="0" algn="l">
              <a:spcBef>
                <a:spcPts val="0"/>
              </a:spcBef>
              <a:spcAft>
                <a:spcPts val="0"/>
              </a:spcAft>
              <a:buSzPts val="1400"/>
              <a:buChar char="○"/>
            </a:pPr>
            <a:r>
              <a:rPr lang="en"/>
              <a:t>Lines = 1</a:t>
            </a:r>
            <a:endParaRPr/>
          </a:p>
          <a:p>
            <a:pPr indent="-342900" lvl="0" marL="457200" rtl="0" algn="l">
              <a:spcBef>
                <a:spcPts val="0"/>
              </a:spcBef>
              <a:spcAft>
                <a:spcPts val="0"/>
              </a:spcAft>
              <a:buSzPts val="1800"/>
              <a:buChar char="●"/>
            </a:pPr>
            <a:r>
              <a:rPr lang="en"/>
              <a:t>Fully Associative</a:t>
            </a:r>
            <a:endParaRPr/>
          </a:p>
          <a:p>
            <a:pPr indent="-317500" lvl="1" marL="914400" rtl="0" algn="l">
              <a:spcBef>
                <a:spcPts val="0"/>
              </a:spcBef>
              <a:spcAft>
                <a:spcPts val="0"/>
              </a:spcAft>
              <a:buSzPts val="1400"/>
              <a:buChar char="○"/>
            </a:pPr>
            <a:r>
              <a:rPr lang="en"/>
              <a:t>“No assigned seats”</a:t>
            </a:r>
            <a:endParaRPr/>
          </a:p>
          <a:p>
            <a:pPr indent="-317500" lvl="1" marL="914400" rtl="0" algn="l">
              <a:spcBef>
                <a:spcPts val="0"/>
              </a:spcBef>
              <a:spcAft>
                <a:spcPts val="0"/>
              </a:spcAft>
              <a:buSzPts val="1400"/>
              <a:buChar char="○"/>
            </a:pPr>
            <a:r>
              <a:rPr lang="en"/>
              <a:t>Any RAM address can be stored in any cache block</a:t>
            </a:r>
            <a:endParaRPr/>
          </a:p>
          <a:p>
            <a:pPr indent="-317500" lvl="1" marL="914400" rtl="0" algn="l">
              <a:spcBef>
                <a:spcPts val="0"/>
              </a:spcBef>
              <a:spcAft>
                <a:spcPts val="0"/>
              </a:spcAft>
              <a:buSzPts val="1400"/>
              <a:buChar char="○"/>
            </a:pPr>
            <a:r>
              <a:rPr lang="en"/>
              <a:t>Sets = 1</a:t>
            </a:r>
            <a:endParaRPr/>
          </a:p>
          <a:p>
            <a:pPr indent="-342900" lvl="0" marL="457200" rtl="0" algn="l">
              <a:spcBef>
                <a:spcPts val="0"/>
              </a:spcBef>
              <a:spcAft>
                <a:spcPts val="0"/>
              </a:spcAft>
              <a:buSzPts val="1800"/>
              <a:buChar char="●"/>
            </a:pPr>
            <a:r>
              <a:rPr lang="en"/>
              <a:t>Set-Associative</a:t>
            </a:r>
            <a:endParaRPr/>
          </a:p>
          <a:p>
            <a:pPr indent="-317500" lvl="1" marL="914400" rtl="0" algn="l">
              <a:spcBef>
                <a:spcPts val="0"/>
              </a:spcBef>
              <a:spcAft>
                <a:spcPts val="0"/>
              </a:spcAft>
              <a:buSzPts val="1400"/>
              <a:buChar char="○"/>
            </a:pPr>
            <a:r>
              <a:rPr lang="en"/>
              <a:t>Every address in RAM has 1 cache set that it can use</a:t>
            </a:r>
            <a:endParaRPr/>
          </a:p>
          <a:p>
            <a:pPr indent="-317500" lvl="1" marL="914400" rtl="0" algn="l">
              <a:spcBef>
                <a:spcPts val="0"/>
              </a:spcBef>
              <a:spcAft>
                <a:spcPts val="0"/>
              </a:spcAft>
              <a:buSzPts val="1400"/>
              <a:buChar char="○"/>
            </a:pPr>
            <a:r>
              <a:rPr lang="en"/>
              <a:t>Middle ground idea</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3"/>
          <p:cNvSpPr txBox="1"/>
          <p:nvPr>
            <p:ph type="title"/>
          </p:nvPr>
        </p:nvSpPr>
        <p:spPr>
          <a:xfrm>
            <a:off x="311700" y="151584"/>
            <a:ext cx="8520600" cy="5727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General Cache Organization (S, E, B)</a:t>
            </a:r>
            <a:endParaRPr/>
          </a:p>
        </p:txBody>
      </p:sp>
      <p:pic>
        <p:nvPicPr>
          <p:cNvPr descr="Cache structure, with sets, lines, and blocks identified." id="152" name="Google Shape;152;p23"/>
          <p:cNvPicPr preferRelativeResize="0"/>
          <p:nvPr/>
        </p:nvPicPr>
        <p:blipFill>
          <a:blip r:embed="rId3">
            <a:alphaModFix/>
          </a:blip>
          <a:stretch>
            <a:fillRect/>
          </a:stretch>
        </p:blipFill>
        <p:spPr>
          <a:xfrm>
            <a:off x="252700" y="576800"/>
            <a:ext cx="8638601" cy="42619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4"/>
          <p:cNvSpPr txBox="1"/>
          <p:nvPr>
            <p:ph type="title"/>
          </p:nvPr>
        </p:nvSpPr>
        <p:spPr>
          <a:xfrm>
            <a:off x="311700" y="148950"/>
            <a:ext cx="8520600" cy="5727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Cache Read</a:t>
            </a:r>
            <a:endParaRPr/>
          </a:p>
        </p:txBody>
      </p:sp>
      <p:pic>
        <p:nvPicPr>
          <p:cNvPr descr="Cache architecture with an address specified for access" id="159" name="Google Shape;159;p24"/>
          <p:cNvPicPr preferRelativeResize="0"/>
          <p:nvPr/>
        </p:nvPicPr>
        <p:blipFill>
          <a:blip r:embed="rId3">
            <a:alphaModFix/>
          </a:blip>
          <a:stretch>
            <a:fillRect/>
          </a:stretch>
        </p:blipFill>
        <p:spPr>
          <a:xfrm>
            <a:off x="311700" y="721650"/>
            <a:ext cx="8671495" cy="411705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5"/>
          <p:cNvSpPr txBox="1"/>
          <p:nvPr>
            <p:ph type="title"/>
          </p:nvPr>
        </p:nvSpPr>
        <p:spPr>
          <a:xfrm>
            <a:off x="311700" y="322625"/>
            <a:ext cx="8520600" cy="5727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Example: Direct Mapped Cache (E = 1)</a:t>
            </a:r>
            <a:endParaRPr/>
          </a:p>
        </p:txBody>
      </p:sp>
      <p:sp>
        <p:nvSpPr>
          <p:cNvPr id="166" name="Google Shape;166;p25"/>
          <p:cNvSpPr txBox="1"/>
          <p:nvPr/>
        </p:nvSpPr>
        <p:spPr>
          <a:xfrm>
            <a:off x="381000" y="866001"/>
            <a:ext cx="32988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800">
                <a:solidFill>
                  <a:schemeClr val="dk1"/>
                </a:solidFill>
                <a:latin typeface="Calibri"/>
                <a:ea typeface="Calibri"/>
                <a:cs typeface="Calibri"/>
                <a:sym typeface="Calibri"/>
              </a:rPr>
              <a:t>Direct mapped: One line per set</a:t>
            </a:r>
            <a:endParaRPr/>
          </a:p>
          <a:p>
            <a:pPr indent="0" lvl="0" marL="0" marR="0" rtl="0" algn="l">
              <a:spcBef>
                <a:spcPts val="0"/>
              </a:spcBef>
              <a:spcAft>
                <a:spcPts val="0"/>
              </a:spcAft>
              <a:buNone/>
            </a:pPr>
            <a:r>
              <a:rPr b="1" lang="en" sz="1800">
                <a:solidFill>
                  <a:schemeClr val="dk1"/>
                </a:solidFill>
                <a:latin typeface="Calibri"/>
                <a:ea typeface="Calibri"/>
                <a:cs typeface="Calibri"/>
                <a:sym typeface="Calibri"/>
              </a:rPr>
              <a:t>Assume: cache block size 8 bytes</a:t>
            </a:r>
            <a:endParaRPr/>
          </a:p>
        </p:txBody>
      </p:sp>
      <p:pic>
        <p:nvPicPr>
          <p:cNvPr descr="Direct mapped cache structure" id="167" name="Google Shape;167;p25"/>
          <p:cNvPicPr preferRelativeResize="0"/>
          <p:nvPr/>
        </p:nvPicPr>
        <p:blipFill>
          <a:blip r:embed="rId3">
            <a:alphaModFix/>
          </a:blip>
          <a:stretch>
            <a:fillRect/>
          </a:stretch>
        </p:blipFill>
        <p:spPr>
          <a:xfrm>
            <a:off x="152400" y="1512501"/>
            <a:ext cx="8839199" cy="254025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6"/>
          <p:cNvSpPr txBox="1"/>
          <p:nvPr>
            <p:ph type="title"/>
          </p:nvPr>
        </p:nvSpPr>
        <p:spPr>
          <a:xfrm>
            <a:off x="280525" y="293300"/>
            <a:ext cx="8520600" cy="5727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Example: Direct Mapped Cache (E = 1) Access</a:t>
            </a:r>
            <a:endParaRPr/>
          </a:p>
        </p:txBody>
      </p:sp>
      <p:sp>
        <p:nvSpPr>
          <p:cNvPr id="174" name="Google Shape;174;p26"/>
          <p:cNvSpPr txBox="1"/>
          <p:nvPr/>
        </p:nvSpPr>
        <p:spPr>
          <a:xfrm>
            <a:off x="381000" y="866001"/>
            <a:ext cx="32988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800">
                <a:solidFill>
                  <a:schemeClr val="dk1"/>
                </a:solidFill>
                <a:latin typeface="Calibri"/>
                <a:ea typeface="Calibri"/>
                <a:cs typeface="Calibri"/>
                <a:sym typeface="Calibri"/>
              </a:rPr>
              <a:t>Direct mapped: One line per set</a:t>
            </a:r>
            <a:endParaRPr/>
          </a:p>
          <a:p>
            <a:pPr indent="0" lvl="0" marL="0" marR="0" rtl="0" algn="l">
              <a:spcBef>
                <a:spcPts val="0"/>
              </a:spcBef>
              <a:spcAft>
                <a:spcPts val="0"/>
              </a:spcAft>
              <a:buNone/>
            </a:pPr>
            <a:r>
              <a:rPr b="1" lang="en" sz="1800">
                <a:solidFill>
                  <a:schemeClr val="dk1"/>
                </a:solidFill>
                <a:latin typeface="Calibri"/>
                <a:ea typeface="Calibri"/>
                <a:cs typeface="Calibri"/>
                <a:sym typeface="Calibri"/>
              </a:rPr>
              <a:t>Assume: cache block size 8 bytes</a:t>
            </a:r>
            <a:endParaRPr/>
          </a:p>
        </p:txBody>
      </p:sp>
      <p:sp>
        <p:nvSpPr>
          <p:cNvPr id="175" name="Google Shape;175;p26"/>
          <p:cNvSpPr txBox="1"/>
          <p:nvPr/>
        </p:nvSpPr>
        <p:spPr>
          <a:xfrm>
            <a:off x="457200" y="4286250"/>
            <a:ext cx="68193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2400">
                <a:solidFill>
                  <a:srgbClr val="C00000"/>
                </a:solidFill>
                <a:latin typeface="Calibri"/>
                <a:ea typeface="Calibri"/>
                <a:cs typeface="Calibri"/>
                <a:sym typeface="Calibri"/>
              </a:rPr>
              <a:t>If tag doesn’t match: </a:t>
            </a:r>
            <a:r>
              <a:rPr b="1" lang="en" sz="2400">
                <a:solidFill>
                  <a:schemeClr val="dk1"/>
                </a:solidFill>
                <a:latin typeface="Calibri"/>
                <a:ea typeface="Calibri"/>
                <a:cs typeface="Calibri"/>
                <a:sym typeface="Calibri"/>
              </a:rPr>
              <a:t>old line is evicted and replaced</a:t>
            </a:r>
            <a:endParaRPr/>
          </a:p>
        </p:txBody>
      </p:sp>
      <p:pic>
        <p:nvPicPr>
          <p:cNvPr descr="Cache access of direct mapped cache" id="176" name="Google Shape;176;p26"/>
          <p:cNvPicPr preferRelativeResize="0"/>
          <p:nvPr/>
        </p:nvPicPr>
        <p:blipFill>
          <a:blip r:embed="rId3">
            <a:alphaModFix/>
          </a:blip>
          <a:stretch>
            <a:fillRect/>
          </a:stretch>
        </p:blipFill>
        <p:spPr>
          <a:xfrm>
            <a:off x="332400" y="1621701"/>
            <a:ext cx="8541020" cy="246894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7"/>
          <p:cNvSpPr txBox="1"/>
          <p:nvPr>
            <p:ph type="title"/>
          </p:nvPr>
        </p:nvSpPr>
        <p:spPr>
          <a:xfrm>
            <a:off x="311700" y="339679"/>
            <a:ext cx="8520600" cy="5727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Direct-Mapped Cache Simulation</a:t>
            </a:r>
            <a:endParaRPr/>
          </a:p>
        </p:txBody>
      </p:sp>
      <p:sp>
        <p:nvSpPr>
          <p:cNvPr id="182" name="Google Shape;182;p27"/>
          <p:cNvSpPr/>
          <p:nvPr/>
        </p:nvSpPr>
        <p:spPr>
          <a:xfrm>
            <a:off x="4218225" y="971550"/>
            <a:ext cx="4597500" cy="3176700"/>
          </a:xfrm>
          <a:prstGeom prst="rect">
            <a:avLst/>
          </a:prstGeom>
          <a:noFill/>
          <a:ln>
            <a:noFill/>
          </a:ln>
        </p:spPr>
        <p:txBody>
          <a:bodyPr anchorCtr="0" anchor="t" bIns="44450" lIns="90475" spcFirstLastPara="1" rIns="90475" wrap="square" tIns="44450">
            <a:noAutofit/>
          </a:bodyPr>
          <a:lstStyle/>
          <a:p>
            <a:pPr indent="0" lvl="0" marL="0" marR="0" rtl="0" algn="l">
              <a:lnSpc>
                <a:spcPct val="100000"/>
              </a:lnSpc>
              <a:spcBef>
                <a:spcPts val="0"/>
              </a:spcBef>
              <a:spcAft>
                <a:spcPts val="0"/>
              </a:spcAft>
              <a:buNone/>
            </a:pPr>
            <a:r>
              <a:rPr b="0" lang="en" sz="2000">
                <a:solidFill>
                  <a:schemeClr val="dk1"/>
                </a:solidFill>
                <a:latin typeface="Calibri"/>
                <a:ea typeface="Calibri"/>
                <a:cs typeface="Calibri"/>
                <a:sym typeface="Calibri"/>
              </a:rPr>
              <a:t>M=16 bytes (4-bit addresses)</a:t>
            </a:r>
            <a:endParaRPr b="0" sz="20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b="0" lang="en" sz="2000">
                <a:solidFill>
                  <a:schemeClr val="dk1"/>
                </a:solidFill>
                <a:latin typeface="Calibri"/>
                <a:ea typeface="Calibri"/>
                <a:cs typeface="Calibri"/>
                <a:sym typeface="Calibri"/>
              </a:rPr>
              <a:t>B=2 bytes/block</a:t>
            </a:r>
            <a:endParaRPr/>
          </a:p>
          <a:p>
            <a:pPr indent="0" lvl="0" marL="0" marR="0" rtl="0" algn="l">
              <a:lnSpc>
                <a:spcPct val="100000"/>
              </a:lnSpc>
              <a:spcBef>
                <a:spcPts val="0"/>
              </a:spcBef>
              <a:spcAft>
                <a:spcPts val="0"/>
              </a:spcAft>
              <a:buNone/>
            </a:pPr>
            <a:r>
              <a:rPr b="0" lang="en" sz="2000">
                <a:solidFill>
                  <a:schemeClr val="dk1"/>
                </a:solidFill>
                <a:latin typeface="Calibri"/>
                <a:ea typeface="Calibri"/>
                <a:cs typeface="Calibri"/>
                <a:sym typeface="Calibri"/>
              </a:rPr>
              <a:t>S=4 sets</a:t>
            </a:r>
            <a:endParaRPr b="0" sz="20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b="0" lang="en" sz="2000">
                <a:solidFill>
                  <a:schemeClr val="dk1"/>
                </a:solidFill>
                <a:latin typeface="Calibri"/>
                <a:ea typeface="Calibri"/>
                <a:cs typeface="Calibri"/>
                <a:sym typeface="Calibri"/>
              </a:rPr>
              <a:t>E=1 Blocks/set</a:t>
            </a:r>
            <a:endParaRPr b="0" sz="20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b="0" lang="en" sz="2000">
                <a:solidFill>
                  <a:schemeClr val="dk1"/>
                </a:solidFill>
                <a:latin typeface="Calibri"/>
                <a:ea typeface="Calibri"/>
                <a:cs typeface="Calibri"/>
                <a:sym typeface="Calibri"/>
              </a:rPr>
              <a:t>Address trace (reads, one byte per read):</a:t>
            </a:r>
            <a:endParaRPr/>
          </a:p>
          <a:p>
            <a:pPr indent="0" lvl="0" marL="0" marR="0" rtl="0" algn="l">
              <a:lnSpc>
                <a:spcPct val="100000"/>
              </a:lnSpc>
              <a:spcBef>
                <a:spcPts val="0"/>
              </a:spcBef>
              <a:spcAft>
                <a:spcPts val="0"/>
              </a:spcAft>
              <a:buNone/>
            </a:pPr>
            <a:r>
              <a:rPr lang="en" sz="2000">
                <a:solidFill>
                  <a:schemeClr val="dk1"/>
                </a:solidFill>
                <a:latin typeface="Calibri"/>
                <a:ea typeface="Calibri"/>
                <a:cs typeface="Calibri"/>
                <a:sym typeface="Calibri"/>
              </a:rPr>
              <a:t>	0	[0 00 0</a:t>
            </a:r>
            <a:r>
              <a:rPr baseline="-25000" lang="en" sz="2000">
                <a:solidFill>
                  <a:schemeClr val="dk1"/>
                </a:solidFill>
                <a:latin typeface="Calibri"/>
                <a:ea typeface="Calibri"/>
                <a:cs typeface="Calibri"/>
                <a:sym typeface="Calibri"/>
              </a:rPr>
              <a:t>2</a:t>
            </a:r>
            <a:r>
              <a:rPr lang="en" sz="2000">
                <a:solidFill>
                  <a:schemeClr val="dk1"/>
                </a:solidFill>
                <a:latin typeface="Calibri"/>
                <a:ea typeface="Calibri"/>
                <a:cs typeface="Calibri"/>
                <a:sym typeface="Calibri"/>
              </a:rPr>
              <a:t>], </a:t>
            </a:r>
            <a:endParaRPr/>
          </a:p>
          <a:p>
            <a:pPr indent="0" lvl="0" marL="0" marR="0" rtl="0" algn="l">
              <a:lnSpc>
                <a:spcPct val="100000"/>
              </a:lnSpc>
              <a:spcBef>
                <a:spcPts val="0"/>
              </a:spcBef>
              <a:spcAft>
                <a:spcPts val="0"/>
              </a:spcAft>
              <a:buNone/>
            </a:pPr>
            <a:r>
              <a:rPr lang="en" sz="2000">
                <a:solidFill>
                  <a:schemeClr val="dk1"/>
                </a:solidFill>
                <a:latin typeface="Calibri"/>
                <a:ea typeface="Calibri"/>
                <a:cs typeface="Calibri"/>
                <a:sym typeface="Calibri"/>
              </a:rPr>
              <a:t>	1	[0 00 1</a:t>
            </a:r>
            <a:r>
              <a:rPr baseline="-25000" lang="en" sz="2000">
                <a:solidFill>
                  <a:schemeClr val="dk1"/>
                </a:solidFill>
                <a:latin typeface="Calibri"/>
                <a:ea typeface="Calibri"/>
                <a:cs typeface="Calibri"/>
                <a:sym typeface="Calibri"/>
              </a:rPr>
              <a:t>2</a:t>
            </a:r>
            <a:r>
              <a:rPr lang="en" sz="2000">
                <a:solidFill>
                  <a:schemeClr val="dk1"/>
                </a:solidFill>
                <a:latin typeface="Calibri"/>
                <a:ea typeface="Calibri"/>
                <a:cs typeface="Calibri"/>
                <a:sym typeface="Calibri"/>
              </a:rPr>
              <a:t>],  </a:t>
            </a:r>
            <a:endParaRPr/>
          </a:p>
          <a:p>
            <a:pPr indent="0" lvl="0" marL="0" marR="0" rtl="0" algn="l">
              <a:lnSpc>
                <a:spcPct val="100000"/>
              </a:lnSpc>
              <a:spcBef>
                <a:spcPts val="0"/>
              </a:spcBef>
              <a:spcAft>
                <a:spcPts val="0"/>
              </a:spcAft>
              <a:buNone/>
            </a:pPr>
            <a:r>
              <a:rPr lang="en" sz="2000">
                <a:solidFill>
                  <a:schemeClr val="dk1"/>
                </a:solidFill>
                <a:latin typeface="Calibri"/>
                <a:ea typeface="Calibri"/>
                <a:cs typeface="Calibri"/>
                <a:sym typeface="Calibri"/>
              </a:rPr>
              <a:t>	7	[0 11 1</a:t>
            </a:r>
            <a:r>
              <a:rPr baseline="-25000" lang="en" sz="2000">
                <a:solidFill>
                  <a:schemeClr val="dk1"/>
                </a:solidFill>
                <a:latin typeface="Calibri"/>
                <a:ea typeface="Calibri"/>
                <a:cs typeface="Calibri"/>
                <a:sym typeface="Calibri"/>
              </a:rPr>
              <a:t>2</a:t>
            </a:r>
            <a:r>
              <a:rPr lang="en" sz="2000">
                <a:solidFill>
                  <a:schemeClr val="dk1"/>
                </a:solidFill>
                <a:latin typeface="Calibri"/>
                <a:ea typeface="Calibri"/>
                <a:cs typeface="Calibri"/>
                <a:sym typeface="Calibri"/>
              </a:rPr>
              <a:t>],  </a:t>
            </a:r>
            <a:endParaRPr/>
          </a:p>
          <a:p>
            <a:pPr indent="0" lvl="0" marL="0" marR="0" rtl="0" algn="l">
              <a:lnSpc>
                <a:spcPct val="100000"/>
              </a:lnSpc>
              <a:spcBef>
                <a:spcPts val="0"/>
              </a:spcBef>
              <a:spcAft>
                <a:spcPts val="0"/>
              </a:spcAft>
              <a:buNone/>
            </a:pPr>
            <a:r>
              <a:rPr lang="en" sz="2000">
                <a:solidFill>
                  <a:schemeClr val="dk1"/>
                </a:solidFill>
                <a:latin typeface="Calibri"/>
                <a:ea typeface="Calibri"/>
                <a:cs typeface="Calibri"/>
                <a:sym typeface="Calibri"/>
              </a:rPr>
              <a:t>	8	[1 00 0</a:t>
            </a:r>
            <a:r>
              <a:rPr baseline="-25000" lang="en" sz="2000">
                <a:solidFill>
                  <a:schemeClr val="dk1"/>
                </a:solidFill>
                <a:latin typeface="Calibri"/>
                <a:ea typeface="Calibri"/>
                <a:cs typeface="Calibri"/>
                <a:sym typeface="Calibri"/>
              </a:rPr>
              <a:t>2</a:t>
            </a:r>
            <a:r>
              <a:rPr lang="en" sz="2000">
                <a:solidFill>
                  <a:schemeClr val="dk1"/>
                </a:solidFill>
                <a:latin typeface="Calibri"/>
                <a:ea typeface="Calibri"/>
                <a:cs typeface="Calibri"/>
                <a:sym typeface="Calibri"/>
              </a:rPr>
              <a:t>],  </a:t>
            </a:r>
            <a:endParaRPr/>
          </a:p>
          <a:p>
            <a:pPr indent="0" lvl="0" marL="0" marR="0" rtl="0" algn="l">
              <a:lnSpc>
                <a:spcPct val="100000"/>
              </a:lnSpc>
              <a:spcBef>
                <a:spcPts val="0"/>
              </a:spcBef>
              <a:spcAft>
                <a:spcPts val="0"/>
              </a:spcAft>
              <a:buNone/>
            </a:pPr>
            <a:r>
              <a:rPr lang="en" sz="2000">
                <a:solidFill>
                  <a:schemeClr val="dk1"/>
                </a:solidFill>
                <a:latin typeface="Calibri"/>
                <a:ea typeface="Calibri"/>
                <a:cs typeface="Calibri"/>
                <a:sym typeface="Calibri"/>
              </a:rPr>
              <a:t>	0	[0 00 0</a:t>
            </a:r>
            <a:r>
              <a:rPr baseline="-25000" lang="en" sz="2000">
                <a:solidFill>
                  <a:schemeClr val="dk1"/>
                </a:solidFill>
                <a:latin typeface="Calibri"/>
                <a:ea typeface="Calibri"/>
                <a:cs typeface="Calibri"/>
                <a:sym typeface="Calibri"/>
              </a:rPr>
              <a:t>2</a:t>
            </a:r>
            <a:r>
              <a:rPr lang="en" sz="2000">
                <a:solidFill>
                  <a:schemeClr val="dk1"/>
                </a:solidFill>
                <a:latin typeface="Calibri"/>
                <a:ea typeface="Calibri"/>
                <a:cs typeface="Calibri"/>
                <a:sym typeface="Calibri"/>
              </a:rPr>
              <a:t>]</a:t>
            </a:r>
            <a:endParaRPr/>
          </a:p>
        </p:txBody>
      </p:sp>
      <p:pic>
        <p:nvPicPr>
          <p:cNvPr descr="Address structure, cache contents" id="183" name="Google Shape;183;p27"/>
          <p:cNvPicPr preferRelativeResize="0"/>
          <p:nvPr/>
        </p:nvPicPr>
        <p:blipFill>
          <a:blip r:embed="rId3">
            <a:alphaModFix/>
          </a:blip>
          <a:stretch>
            <a:fillRect/>
          </a:stretch>
        </p:blipFill>
        <p:spPr>
          <a:xfrm>
            <a:off x="152400" y="1064779"/>
            <a:ext cx="3913424" cy="262161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pic>
        <p:nvPicPr>
          <p:cNvPr descr="Structure of a 2-way set associative cache" id="189" name="Google Shape;189;p28"/>
          <p:cNvPicPr preferRelativeResize="0"/>
          <p:nvPr/>
        </p:nvPicPr>
        <p:blipFill>
          <a:blip r:embed="rId3">
            <a:alphaModFix/>
          </a:blip>
          <a:stretch>
            <a:fillRect/>
          </a:stretch>
        </p:blipFill>
        <p:spPr>
          <a:xfrm>
            <a:off x="591800" y="1282426"/>
            <a:ext cx="8160833" cy="3110200"/>
          </a:xfrm>
          <a:prstGeom prst="rect">
            <a:avLst/>
          </a:prstGeom>
          <a:noFill/>
          <a:ln>
            <a:noFill/>
          </a:ln>
        </p:spPr>
      </p:pic>
      <p:sp>
        <p:nvSpPr>
          <p:cNvPr id="190" name="Google Shape;190;p28"/>
          <p:cNvSpPr txBox="1"/>
          <p:nvPr>
            <p:ph type="title"/>
          </p:nvPr>
        </p:nvSpPr>
        <p:spPr>
          <a:xfrm>
            <a:off x="311700" y="293300"/>
            <a:ext cx="8520600" cy="5727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E-way Set Associative Cache (Here: E = 2)</a:t>
            </a:r>
            <a:endParaRPr/>
          </a:p>
        </p:txBody>
      </p:sp>
      <p:sp>
        <p:nvSpPr>
          <p:cNvPr id="191" name="Google Shape;191;p28"/>
          <p:cNvSpPr txBox="1"/>
          <p:nvPr/>
        </p:nvSpPr>
        <p:spPr>
          <a:xfrm>
            <a:off x="699175" y="1082001"/>
            <a:ext cx="32988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800">
                <a:solidFill>
                  <a:schemeClr val="dk1"/>
                </a:solidFill>
                <a:latin typeface="Calibri"/>
                <a:ea typeface="Calibri"/>
                <a:cs typeface="Calibri"/>
                <a:sym typeface="Calibri"/>
              </a:rPr>
              <a:t>E = 2: Two lines per set</a:t>
            </a:r>
            <a:endParaRPr/>
          </a:p>
          <a:p>
            <a:pPr indent="0" lvl="0" marL="0" marR="0" rtl="0" algn="l">
              <a:spcBef>
                <a:spcPts val="0"/>
              </a:spcBef>
              <a:spcAft>
                <a:spcPts val="0"/>
              </a:spcAft>
              <a:buNone/>
            </a:pPr>
            <a:r>
              <a:rPr b="1" lang="en" sz="1800">
                <a:solidFill>
                  <a:schemeClr val="dk1"/>
                </a:solidFill>
                <a:latin typeface="Calibri"/>
                <a:ea typeface="Calibri"/>
                <a:cs typeface="Calibri"/>
                <a:sym typeface="Calibri"/>
              </a:rPr>
              <a:t>Assume: cache block size 8 bytes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9"/>
          <p:cNvSpPr txBox="1"/>
          <p:nvPr>
            <p:ph type="title"/>
          </p:nvPr>
        </p:nvSpPr>
        <p:spPr>
          <a:xfrm>
            <a:off x="311700" y="304175"/>
            <a:ext cx="8520600" cy="5727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E-way Set Associative Cache (Here: E = 2) Access</a:t>
            </a:r>
            <a:endParaRPr/>
          </a:p>
        </p:txBody>
      </p:sp>
      <p:sp>
        <p:nvSpPr>
          <p:cNvPr id="198" name="Google Shape;198;p29"/>
          <p:cNvSpPr txBox="1"/>
          <p:nvPr/>
        </p:nvSpPr>
        <p:spPr>
          <a:xfrm>
            <a:off x="457200" y="3978500"/>
            <a:ext cx="7978500" cy="923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800">
                <a:solidFill>
                  <a:srgbClr val="C00000"/>
                </a:solidFill>
                <a:latin typeface="Calibri"/>
                <a:ea typeface="Calibri"/>
                <a:cs typeface="Calibri"/>
                <a:sym typeface="Calibri"/>
              </a:rPr>
              <a:t>No match: </a:t>
            </a:r>
            <a:endParaRPr sz="1800"/>
          </a:p>
          <a:p>
            <a:pPr indent="-190500" lvl="0" marL="228600" marR="0" rtl="0" algn="l">
              <a:spcBef>
                <a:spcPts val="0"/>
              </a:spcBef>
              <a:spcAft>
                <a:spcPts val="0"/>
              </a:spcAft>
              <a:buClr>
                <a:schemeClr val="dk1"/>
              </a:buClr>
              <a:buSzPts val="1800"/>
              <a:buFont typeface="Arial"/>
              <a:buChar char="•"/>
            </a:pPr>
            <a:r>
              <a:rPr b="1" lang="en" sz="1800">
                <a:solidFill>
                  <a:schemeClr val="dk1"/>
                </a:solidFill>
                <a:latin typeface="Calibri"/>
                <a:ea typeface="Calibri"/>
                <a:cs typeface="Calibri"/>
                <a:sym typeface="Calibri"/>
              </a:rPr>
              <a:t>One line in set is selected for eviction and replacement</a:t>
            </a:r>
            <a:endParaRPr sz="1800"/>
          </a:p>
          <a:p>
            <a:pPr indent="-190500" lvl="0" marL="228600" marR="0" rtl="0" algn="l">
              <a:spcBef>
                <a:spcPts val="0"/>
              </a:spcBef>
              <a:spcAft>
                <a:spcPts val="0"/>
              </a:spcAft>
              <a:buClr>
                <a:schemeClr val="dk1"/>
              </a:buClr>
              <a:buSzPts val="1800"/>
              <a:buFont typeface="Arial"/>
              <a:buChar char="•"/>
            </a:pPr>
            <a:r>
              <a:rPr b="1" lang="en" sz="1800">
                <a:solidFill>
                  <a:schemeClr val="dk1"/>
                </a:solidFill>
                <a:latin typeface="Calibri"/>
                <a:ea typeface="Calibri"/>
                <a:cs typeface="Calibri"/>
                <a:sym typeface="Calibri"/>
              </a:rPr>
              <a:t>Replacement policies: random, least recently used (LRU), …</a:t>
            </a:r>
            <a:endParaRPr sz="1800"/>
          </a:p>
        </p:txBody>
      </p:sp>
      <p:pic>
        <p:nvPicPr>
          <p:cNvPr descr="Accessing a 2-way set associative cache" id="199" name="Google Shape;199;p29"/>
          <p:cNvPicPr preferRelativeResize="0"/>
          <p:nvPr/>
        </p:nvPicPr>
        <p:blipFill>
          <a:blip r:embed="rId3">
            <a:alphaModFix/>
          </a:blip>
          <a:stretch>
            <a:fillRect/>
          </a:stretch>
        </p:blipFill>
        <p:spPr>
          <a:xfrm>
            <a:off x="311700" y="1204625"/>
            <a:ext cx="8362851" cy="2796825"/>
          </a:xfrm>
          <a:prstGeom prst="rect">
            <a:avLst/>
          </a:prstGeom>
          <a:noFill/>
          <a:ln>
            <a:noFill/>
          </a:ln>
        </p:spPr>
      </p:pic>
      <p:sp>
        <p:nvSpPr>
          <p:cNvPr id="200" name="Google Shape;200;p29"/>
          <p:cNvSpPr txBox="1"/>
          <p:nvPr/>
        </p:nvSpPr>
        <p:spPr>
          <a:xfrm>
            <a:off x="777000" y="822801"/>
            <a:ext cx="32988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800">
                <a:solidFill>
                  <a:schemeClr val="dk1"/>
                </a:solidFill>
                <a:latin typeface="Calibri"/>
                <a:ea typeface="Calibri"/>
                <a:cs typeface="Calibri"/>
                <a:sym typeface="Calibri"/>
              </a:rPr>
              <a:t>E = 2: Two lines per set</a:t>
            </a:r>
            <a:endParaRPr/>
          </a:p>
          <a:p>
            <a:pPr indent="0" lvl="0" marL="0" marR="0" rtl="0" algn="l">
              <a:spcBef>
                <a:spcPts val="0"/>
              </a:spcBef>
              <a:spcAft>
                <a:spcPts val="0"/>
              </a:spcAft>
              <a:buNone/>
            </a:pPr>
            <a:r>
              <a:rPr b="1" lang="en" sz="1800">
                <a:solidFill>
                  <a:schemeClr val="dk1"/>
                </a:solidFill>
                <a:latin typeface="Calibri"/>
                <a:ea typeface="Calibri"/>
                <a:cs typeface="Calibri"/>
                <a:sym typeface="Calibri"/>
              </a:rPr>
              <a:t>Assume: cache block size 8 bytes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0"/>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2-Way Set Associative Cache Simulation</a:t>
            </a:r>
            <a:endParaRPr/>
          </a:p>
        </p:txBody>
      </p:sp>
      <p:sp>
        <p:nvSpPr>
          <p:cNvPr id="206" name="Google Shape;206;p30"/>
          <p:cNvSpPr/>
          <p:nvPr/>
        </p:nvSpPr>
        <p:spPr>
          <a:xfrm>
            <a:off x="4369450" y="1115600"/>
            <a:ext cx="4303200" cy="3588000"/>
          </a:xfrm>
          <a:prstGeom prst="rect">
            <a:avLst/>
          </a:prstGeom>
          <a:noFill/>
          <a:ln>
            <a:noFill/>
          </a:ln>
        </p:spPr>
        <p:txBody>
          <a:bodyPr anchorCtr="0" anchor="t" bIns="44450" lIns="90475" spcFirstLastPara="1" rIns="90475" wrap="square" tIns="44450">
            <a:noAutofit/>
          </a:bodyPr>
          <a:lstStyle/>
          <a:p>
            <a:pPr indent="0" lvl="0" marL="0" marR="0" rtl="0" algn="l">
              <a:lnSpc>
                <a:spcPct val="100000"/>
              </a:lnSpc>
              <a:spcBef>
                <a:spcPts val="0"/>
              </a:spcBef>
              <a:spcAft>
                <a:spcPts val="0"/>
              </a:spcAft>
              <a:buNone/>
            </a:pPr>
            <a:r>
              <a:rPr b="0" lang="en" sz="2000">
                <a:solidFill>
                  <a:schemeClr val="dk1"/>
                </a:solidFill>
                <a:latin typeface="Calibri"/>
                <a:ea typeface="Calibri"/>
                <a:cs typeface="Calibri"/>
                <a:sym typeface="Calibri"/>
              </a:rPr>
              <a:t>M=16 byte addresses </a:t>
            </a:r>
            <a:endParaRPr b="0" sz="20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b="0" lang="en" sz="2000">
                <a:solidFill>
                  <a:schemeClr val="dk1"/>
                </a:solidFill>
                <a:latin typeface="Calibri"/>
                <a:ea typeface="Calibri"/>
                <a:cs typeface="Calibri"/>
                <a:sym typeface="Calibri"/>
              </a:rPr>
              <a:t>B=2 bytes/block</a:t>
            </a:r>
            <a:endParaRPr sz="20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b="0" lang="en" sz="2000">
                <a:solidFill>
                  <a:schemeClr val="dk1"/>
                </a:solidFill>
                <a:latin typeface="Calibri"/>
                <a:ea typeface="Calibri"/>
                <a:cs typeface="Calibri"/>
                <a:sym typeface="Calibri"/>
              </a:rPr>
              <a:t>S=2 sets</a:t>
            </a:r>
            <a:endParaRPr b="0" sz="20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b="0" lang="en" sz="2000">
                <a:solidFill>
                  <a:schemeClr val="dk1"/>
                </a:solidFill>
                <a:latin typeface="Calibri"/>
                <a:ea typeface="Calibri"/>
                <a:cs typeface="Calibri"/>
                <a:sym typeface="Calibri"/>
              </a:rPr>
              <a:t>E=2 blocks/set</a:t>
            </a:r>
            <a:endParaRPr b="0" sz="20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b="0" lang="en" sz="2000">
                <a:solidFill>
                  <a:schemeClr val="dk1"/>
                </a:solidFill>
                <a:latin typeface="Calibri"/>
                <a:ea typeface="Calibri"/>
                <a:cs typeface="Calibri"/>
                <a:sym typeface="Calibri"/>
              </a:rPr>
              <a:t>Address trace (one byte per read):</a:t>
            </a:r>
            <a:endParaRPr/>
          </a:p>
          <a:p>
            <a:pPr indent="0" lvl="0" marL="0" marR="0" rtl="0" algn="l">
              <a:lnSpc>
                <a:spcPct val="100000"/>
              </a:lnSpc>
              <a:spcBef>
                <a:spcPts val="0"/>
              </a:spcBef>
              <a:spcAft>
                <a:spcPts val="0"/>
              </a:spcAft>
              <a:buNone/>
            </a:pPr>
            <a:r>
              <a:rPr lang="en" sz="2000">
                <a:solidFill>
                  <a:schemeClr val="dk1"/>
                </a:solidFill>
                <a:latin typeface="Calibri"/>
                <a:ea typeface="Calibri"/>
                <a:cs typeface="Calibri"/>
                <a:sym typeface="Calibri"/>
              </a:rPr>
              <a:t>	0	[00 0 0</a:t>
            </a:r>
            <a:r>
              <a:rPr baseline="-25000" lang="en" sz="2000">
                <a:solidFill>
                  <a:schemeClr val="dk1"/>
                </a:solidFill>
                <a:latin typeface="Calibri"/>
                <a:ea typeface="Calibri"/>
                <a:cs typeface="Calibri"/>
                <a:sym typeface="Calibri"/>
              </a:rPr>
              <a:t>2</a:t>
            </a:r>
            <a:r>
              <a:rPr lang="en" sz="2000">
                <a:solidFill>
                  <a:schemeClr val="dk1"/>
                </a:solidFill>
                <a:latin typeface="Calibri"/>
                <a:ea typeface="Calibri"/>
                <a:cs typeface="Calibri"/>
                <a:sym typeface="Calibri"/>
              </a:rPr>
              <a:t>], </a:t>
            </a:r>
            <a:endParaRPr/>
          </a:p>
          <a:p>
            <a:pPr indent="0" lvl="0" marL="0" marR="0" rtl="0" algn="l">
              <a:lnSpc>
                <a:spcPct val="100000"/>
              </a:lnSpc>
              <a:spcBef>
                <a:spcPts val="0"/>
              </a:spcBef>
              <a:spcAft>
                <a:spcPts val="0"/>
              </a:spcAft>
              <a:buNone/>
            </a:pPr>
            <a:r>
              <a:rPr lang="en" sz="2000">
                <a:solidFill>
                  <a:schemeClr val="dk1"/>
                </a:solidFill>
                <a:latin typeface="Calibri"/>
                <a:ea typeface="Calibri"/>
                <a:cs typeface="Calibri"/>
                <a:sym typeface="Calibri"/>
              </a:rPr>
              <a:t>	1	[00 0 1</a:t>
            </a:r>
            <a:r>
              <a:rPr baseline="-25000" lang="en" sz="2000">
                <a:solidFill>
                  <a:schemeClr val="dk1"/>
                </a:solidFill>
                <a:latin typeface="Calibri"/>
                <a:ea typeface="Calibri"/>
                <a:cs typeface="Calibri"/>
                <a:sym typeface="Calibri"/>
              </a:rPr>
              <a:t>2</a:t>
            </a:r>
            <a:r>
              <a:rPr lang="en" sz="2000">
                <a:solidFill>
                  <a:schemeClr val="dk1"/>
                </a:solidFill>
                <a:latin typeface="Calibri"/>
                <a:ea typeface="Calibri"/>
                <a:cs typeface="Calibri"/>
                <a:sym typeface="Calibri"/>
              </a:rPr>
              <a:t>],  </a:t>
            </a:r>
            <a:endParaRPr/>
          </a:p>
          <a:p>
            <a:pPr indent="0" lvl="0" marL="0" marR="0" rtl="0" algn="l">
              <a:lnSpc>
                <a:spcPct val="100000"/>
              </a:lnSpc>
              <a:spcBef>
                <a:spcPts val="0"/>
              </a:spcBef>
              <a:spcAft>
                <a:spcPts val="0"/>
              </a:spcAft>
              <a:buNone/>
            </a:pPr>
            <a:r>
              <a:rPr lang="en" sz="2000">
                <a:solidFill>
                  <a:schemeClr val="dk1"/>
                </a:solidFill>
                <a:latin typeface="Calibri"/>
                <a:ea typeface="Calibri"/>
                <a:cs typeface="Calibri"/>
                <a:sym typeface="Calibri"/>
              </a:rPr>
              <a:t>	7	[01 1 1</a:t>
            </a:r>
            <a:r>
              <a:rPr baseline="-25000" lang="en" sz="2000">
                <a:solidFill>
                  <a:schemeClr val="dk1"/>
                </a:solidFill>
                <a:latin typeface="Calibri"/>
                <a:ea typeface="Calibri"/>
                <a:cs typeface="Calibri"/>
                <a:sym typeface="Calibri"/>
              </a:rPr>
              <a:t>2</a:t>
            </a:r>
            <a:r>
              <a:rPr lang="en" sz="2000">
                <a:solidFill>
                  <a:schemeClr val="dk1"/>
                </a:solidFill>
                <a:latin typeface="Calibri"/>
                <a:ea typeface="Calibri"/>
                <a:cs typeface="Calibri"/>
                <a:sym typeface="Calibri"/>
              </a:rPr>
              <a:t>],  </a:t>
            </a:r>
            <a:endParaRPr/>
          </a:p>
          <a:p>
            <a:pPr indent="0" lvl="0" marL="0" marR="0" rtl="0" algn="l">
              <a:lnSpc>
                <a:spcPct val="100000"/>
              </a:lnSpc>
              <a:spcBef>
                <a:spcPts val="0"/>
              </a:spcBef>
              <a:spcAft>
                <a:spcPts val="0"/>
              </a:spcAft>
              <a:buNone/>
            </a:pPr>
            <a:r>
              <a:rPr lang="en" sz="2000">
                <a:solidFill>
                  <a:schemeClr val="dk1"/>
                </a:solidFill>
                <a:latin typeface="Calibri"/>
                <a:ea typeface="Calibri"/>
                <a:cs typeface="Calibri"/>
                <a:sym typeface="Calibri"/>
              </a:rPr>
              <a:t>	8	[10 0 0</a:t>
            </a:r>
            <a:r>
              <a:rPr baseline="-25000" lang="en" sz="2000">
                <a:solidFill>
                  <a:schemeClr val="dk1"/>
                </a:solidFill>
                <a:latin typeface="Calibri"/>
                <a:ea typeface="Calibri"/>
                <a:cs typeface="Calibri"/>
                <a:sym typeface="Calibri"/>
              </a:rPr>
              <a:t>2</a:t>
            </a:r>
            <a:r>
              <a:rPr lang="en" sz="2000">
                <a:solidFill>
                  <a:schemeClr val="dk1"/>
                </a:solidFill>
                <a:latin typeface="Calibri"/>
                <a:ea typeface="Calibri"/>
                <a:cs typeface="Calibri"/>
                <a:sym typeface="Calibri"/>
              </a:rPr>
              <a:t>],  </a:t>
            </a:r>
            <a:endParaRPr/>
          </a:p>
          <a:p>
            <a:pPr indent="0" lvl="0" marL="0" marR="0" rtl="0" algn="l">
              <a:lnSpc>
                <a:spcPct val="100000"/>
              </a:lnSpc>
              <a:spcBef>
                <a:spcPts val="0"/>
              </a:spcBef>
              <a:spcAft>
                <a:spcPts val="0"/>
              </a:spcAft>
              <a:buNone/>
            </a:pPr>
            <a:r>
              <a:rPr lang="en" sz="2000">
                <a:solidFill>
                  <a:schemeClr val="dk1"/>
                </a:solidFill>
                <a:latin typeface="Calibri"/>
                <a:ea typeface="Calibri"/>
                <a:cs typeface="Calibri"/>
                <a:sym typeface="Calibri"/>
              </a:rPr>
              <a:t>	0	[00 0 0</a:t>
            </a:r>
            <a:r>
              <a:rPr baseline="-25000" lang="en" sz="2000">
                <a:solidFill>
                  <a:schemeClr val="dk1"/>
                </a:solidFill>
                <a:latin typeface="Calibri"/>
                <a:ea typeface="Calibri"/>
                <a:cs typeface="Calibri"/>
                <a:sym typeface="Calibri"/>
              </a:rPr>
              <a:t>2</a:t>
            </a:r>
            <a:r>
              <a:rPr lang="en" sz="2000">
                <a:solidFill>
                  <a:schemeClr val="dk1"/>
                </a:solidFill>
                <a:latin typeface="Calibri"/>
                <a:ea typeface="Calibri"/>
                <a:cs typeface="Calibri"/>
                <a:sym typeface="Calibri"/>
              </a:rPr>
              <a:t>]</a:t>
            </a:r>
            <a:endParaRPr/>
          </a:p>
        </p:txBody>
      </p:sp>
      <p:pic>
        <p:nvPicPr>
          <p:cNvPr descr="Address structure, cache contents" id="207" name="Google Shape;207;p30"/>
          <p:cNvPicPr preferRelativeResize="0"/>
          <p:nvPr/>
        </p:nvPicPr>
        <p:blipFill>
          <a:blip r:embed="rId3">
            <a:alphaModFix/>
          </a:blip>
          <a:stretch>
            <a:fillRect/>
          </a:stretch>
        </p:blipFill>
        <p:spPr>
          <a:xfrm>
            <a:off x="152400" y="1170125"/>
            <a:ext cx="4078700" cy="307277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1"/>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What about writes?</a:t>
            </a:r>
            <a:endParaRPr/>
          </a:p>
        </p:txBody>
      </p:sp>
      <p:sp>
        <p:nvSpPr>
          <p:cNvPr id="214" name="Google Shape;214;p31"/>
          <p:cNvSpPr txBox="1"/>
          <p:nvPr>
            <p:ph idx="1" type="body"/>
          </p:nvPr>
        </p:nvSpPr>
        <p:spPr>
          <a:xfrm>
            <a:off x="311700" y="1152475"/>
            <a:ext cx="8520600" cy="3808200"/>
          </a:xfrm>
          <a:prstGeom prst="rect">
            <a:avLst/>
          </a:prstGeom>
          <a:noFill/>
          <a:ln>
            <a:noFill/>
          </a:ln>
        </p:spPr>
        <p:txBody>
          <a:bodyPr anchorCtr="0" anchor="t" bIns="44275" lIns="90350" spcFirstLastPara="1" rIns="90350" wrap="square" tIns="44275">
            <a:noAutofit/>
          </a:bodyPr>
          <a:lstStyle/>
          <a:p>
            <a:pPr indent="-335026" lvl="0" marL="342900" rtl="0" algn="l">
              <a:lnSpc>
                <a:spcPct val="95000"/>
              </a:lnSpc>
              <a:spcBef>
                <a:spcPts val="0"/>
              </a:spcBef>
              <a:spcAft>
                <a:spcPts val="0"/>
              </a:spcAft>
              <a:buSzPts val="1316"/>
              <a:buChar char="●"/>
            </a:pPr>
            <a:r>
              <a:rPr lang="en" sz="1595"/>
              <a:t>Multiple copies of data exist: L1, L2, L3, Main Memory, Disk</a:t>
            </a:r>
            <a:endParaRPr sz="1595"/>
          </a:p>
          <a:p>
            <a:pPr indent="-335026" lvl="0" marL="342900" rtl="0" algn="l">
              <a:lnSpc>
                <a:spcPct val="95000"/>
              </a:lnSpc>
              <a:spcBef>
                <a:spcPts val="480"/>
              </a:spcBef>
              <a:spcAft>
                <a:spcPts val="0"/>
              </a:spcAft>
              <a:buSzPts val="1316"/>
              <a:buChar char="●"/>
            </a:pPr>
            <a:r>
              <a:rPr lang="en" sz="1595"/>
              <a:t>What to do on a write-hit?</a:t>
            </a:r>
            <a:endParaRPr sz="1595"/>
          </a:p>
          <a:p>
            <a:pPr indent="-267018" lvl="1" marL="742950" rtl="0" algn="l">
              <a:lnSpc>
                <a:spcPct val="95000"/>
              </a:lnSpc>
              <a:spcBef>
                <a:spcPts val="400"/>
              </a:spcBef>
              <a:spcAft>
                <a:spcPts val="0"/>
              </a:spcAft>
              <a:buSzPts val="1905"/>
              <a:buChar char="○"/>
            </a:pPr>
            <a:r>
              <a:rPr lang="en" sz="1285"/>
              <a:t>Write-through (write immediately to memory)</a:t>
            </a:r>
            <a:endParaRPr sz="1285"/>
          </a:p>
          <a:p>
            <a:pPr indent="-267018" lvl="1" marL="742950" rtl="0" algn="l">
              <a:lnSpc>
                <a:spcPct val="95000"/>
              </a:lnSpc>
              <a:spcBef>
                <a:spcPts val="400"/>
              </a:spcBef>
              <a:spcAft>
                <a:spcPts val="0"/>
              </a:spcAft>
              <a:buSzPts val="1905"/>
              <a:buChar char="○"/>
            </a:pPr>
            <a:r>
              <a:rPr lang="en" sz="1285"/>
              <a:t>Write-back (defer write to memory until replacement of line)</a:t>
            </a:r>
            <a:endParaRPr sz="1285"/>
          </a:p>
          <a:p>
            <a:pPr indent="-218440" lvl="2" marL="1143000" rtl="0" algn="l">
              <a:lnSpc>
                <a:spcPct val="95000"/>
              </a:lnSpc>
              <a:spcBef>
                <a:spcPts val="400"/>
              </a:spcBef>
              <a:spcAft>
                <a:spcPts val="0"/>
              </a:spcAft>
              <a:buSzPts val="1440"/>
              <a:buChar char="■"/>
            </a:pPr>
            <a:r>
              <a:rPr lang="en" sz="1285"/>
              <a:t>Need a dirty bit (line different from memory or not)</a:t>
            </a:r>
            <a:endParaRPr sz="1285"/>
          </a:p>
          <a:p>
            <a:pPr indent="-335026" lvl="0" marL="342900" rtl="0" algn="l">
              <a:lnSpc>
                <a:spcPct val="95000"/>
              </a:lnSpc>
              <a:spcBef>
                <a:spcPts val="480"/>
              </a:spcBef>
              <a:spcAft>
                <a:spcPts val="0"/>
              </a:spcAft>
              <a:buSzPts val="1316"/>
              <a:buChar char="●"/>
            </a:pPr>
            <a:r>
              <a:rPr lang="en" sz="1595"/>
              <a:t>What to do on a write-miss?</a:t>
            </a:r>
            <a:endParaRPr sz="1595"/>
          </a:p>
          <a:p>
            <a:pPr indent="-267018" lvl="1" marL="742950" rtl="0" algn="l">
              <a:lnSpc>
                <a:spcPct val="95000"/>
              </a:lnSpc>
              <a:spcBef>
                <a:spcPts val="400"/>
              </a:spcBef>
              <a:spcAft>
                <a:spcPts val="0"/>
              </a:spcAft>
              <a:buSzPts val="1905"/>
              <a:buChar char="○"/>
            </a:pPr>
            <a:r>
              <a:rPr lang="en" sz="1285"/>
              <a:t>Write-allocate (load into cache, update line in cache)</a:t>
            </a:r>
            <a:endParaRPr sz="1285"/>
          </a:p>
          <a:p>
            <a:pPr indent="-218440" lvl="2" marL="1143000" rtl="0" algn="l">
              <a:lnSpc>
                <a:spcPct val="95000"/>
              </a:lnSpc>
              <a:spcBef>
                <a:spcPts val="400"/>
              </a:spcBef>
              <a:spcAft>
                <a:spcPts val="0"/>
              </a:spcAft>
              <a:buSzPts val="1440"/>
              <a:buChar char="■"/>
            </a:pPr>
            <a:r>
              <a:rPr lang="en" sz="1285"/>
              <a:t>Good if more writes to the location follow</a:t>
            </a:r>
            <a:endParaRPr sz="1285"/>
          </a:p>
          <a:p>
            <a:pPr indent="-267018" lvl="1" marL="742950" rtl="0" algn="l">
              <a:lnSpc>
                <a:spcPct val="95000"/>
              </a:lnSpc>
              <a:spcBef>
                <a:spcPts val="400"/>
              </a:spcBef>
              <a:spcAft>
                <a:spcPts val="0"/>
              </a:spcAft>
              <a:buSzPts val="1905"/>
              <a:buChar char="○"/>
            </a:pPr>
            <a:r>
              <a:rPr lang="en" sz="1285"/>
              <a:t>No-write-allocate (writes straight to memory, does not load into cache)</a:t>
            </a:r>
            <a:endParaRPr sz="1285"/>
          </a:p>
          <a:p>
            <a:pPr indent="-335026" lvl="0" marL="342900" rtl="0" algn="l">
              <a:lnSpc>
                <a:spcPct val="95000"/>
              </a:lnSpc>
              <a:spcBef>
                <a:spcPts val="480"/>
              </a:spcBef>
              <a:spcAft>
                <a:spcPts val="0"/>
              </a:spcAft>
              <a:buSzPts val="1316"/>
              <a:buChar char="●"/>
            </a:pPr>
            <a:r>
              <a:rPr lang="en" sz="1595"/>
              <a:t>Typical</a:t>
            </a:r>
            <a:endParaRPr sz="1595"/>
          </a:p>
          <a:p>
            <a:pPr indent="-267018" lvl="1" marL="742950" rtl="0" algn="l">
              <a:lnSpc>
                <a:spcPct val="95000"/>
              </a:lnSpc>
              <a:spcBef>
                <a:spcPts val="400"/>
              </a:spcBef>
              <a:spcAft>
                <a:spcPts val="0"/>
              </a:spcAft>
              <a:buSzPts val="1905"/>
              <a:buChar char="○"/>
            </a:pPr>
            <a:r>
              <a:rPr lang="en" sz="1285"/>
              <a:t>Write-through + No-write-allocate</a:t>
            </a:r>
            <a:endParaRPr sz="1285"/>
          </a:p>
          <a:p>
            <a:pPr indent="-267018" lvl="1" marL="742950" rtl="0" algn="l">
              <a:lnSpc>
                <a:spcPct val="95000"/>
              </a:lnSpc>
              <a:spcBef>
                <a:spcPts val="400"/>
              </a:spcBef>
              <a:spcAft>
                <a:spcPts val="0"/>
              </a:spcAft>
              <a:buSzPts val="1905"/>
              <a:buChar char="○"/>
            </a:pPr>
            <a:r>
              <a:rPr b="1" lang="en" sz="1285"/>
              <a:t>Write-back + Write-allocate</a:t>
            </a:r>
            <a:endParaRPr sz="1285"/>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Cache Eviction</a:t>
            </a:r>
            <a:endParaRPr/>
          </a:p>
        </p:txBody>
      </p:sp>
      <p:sp>
        <p:nvSpPr>
          <p:cNvPr id="220" name="Google Shape;220;p32"/>
          <p:cNvSpPr txBox="1"/>
          <p:nvPr>
            <p:ph idx="1" type="body"/>
          </p:nvPr>
        </p:nvSpPr>
        <p:spPr>
          <a:xfrm>
            <a:off x="311700" y="1152475"/>
            <a:ext cx="52632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Cache Eviction: </a:t>
            </a:r>
            <a:endParaRPr/>
          </a:p>
          <a:p>
            <a:pPr indent="-317500" lvl="1" marL="914400" rtl="0" algn="l">
              <a:spcBef>
                <a:spcPts val="0"/>
              </a:spcBef>
              <a:spcAft>
                <a:spcPts val="0"/>
              </a:spcAft>
              <a:buSzPts val="1400"/>
              <a:buChar char="○"/>
            </a:pPr>
            <a:r>
              <a:rPr lang="en"/>
              <a:t>removing cache data to make space for new data</a:t>
            </a:r>
            <a:endParaRPr/>
          </a:p>
          <a:p>
            <a:pPr indent="-342900" lvl="0" marL="457200" rtl="0" algn="l">
              <a:spcBef>
                <a:spcPts val="0"/>
              </a:spcBef>
              <a:spcAft>
                <a:spcPts val="0"/>
              </a:spcAft>
              <a:buSzPts val="1800"/>
              <a:buChar char="●"/>
            </a:pPr>
            <a:r>
              <a:rPr lang="en"/>
              <a:t>No decision for direct mapped cache</a:t>
            </a:r>
            <a:endParaRPr/>
          </a:p>
          <a:p>
            <a:pPr indent="-342900" lvl="0" marL="457200" rtl="0" algn="l">
              <a:spcBef>
                <a:spcPts val="0"/>
              </a:spcBef>
              <a:spcAft>
                <a:spcPts val="0"/>
              </a:spcAft>
              <a:buSzPts val="1800"/>
              <a:buChar char="●"/>
            </a:pPr>
            <a:r>
              <a:rPr lang="en"/>
              <a:t>Need to decide for set-associative cache</a:t>
            </a:r>
            <a:endParaRPr/>
          </a:p>
          <a:p>
            <a:pPr indent="-342900" lvl="0" marL="457200" rtl="0" algn="l">
              <a:spcBef>
                <a:spcPts val="0"/>
              </a:spcBef>
              <a:spcAft>
                <a:spcPts val="0"/>
              </a:spcAft>
              <a:buSzPts val="1800"/>
              <a:buChar char="●"/>
            </a:pPr>
            <a:r>
              <a:rPr lang="en"/>
              <a:t>A number of different policies exist:</a:t>
            </a:r>
            <a:endParaRPr/>
          </a:p>
          <a:p>
            <a:pPr indent="-317500" lvl="1" marL="914400" rtl="0" algn="l">
              <a:spcBef>
                <a:spcPts val="0"/>
              </a:spcBef>
              <a:spcAft>
                <a:spcPts val="0"/>
              </a:spcAft>
              <a:buSzPts val="1400"/>
              <a:buChar char="○"/>
            </a:pPr>
            <a:r>
              <a:rPr lang="en"/>
              <a:t>Optimal/</a:t>
            </a:r>
            <a:r>
              <a:rPr lang="en"/>
              <a:t>Clairvoyant</a:t>
            </a:r>
            <a:endParaRPr/>
          </a:p>
          <a:p>
            <a:pPr indent="-317500" lvl="1" marL="914400" rtl="0" algn="l">
              <a:spcBef>
                <a:spcPts val="0"/>
              </a:spcBef>
              <a:spcAft>
                <a:spcPts val="0"/>
              </a:spcAft>
              <a:buSzPts val="1400"/>
              <a:buChar char="○"/>
            </a:pPr>
            <a:r>
              <a:rPr lang="en"/>
              <a:t>Random</a:t>
            </a:r>
            <a:endParaRPr/>
          </a:p>
          <a:p>
            <a:pPr indent="-317500" lvl="1" marL="914400" rtl="0" algn="l">
              <a:spcBef>
                <a:spcPts val="0"/>
              </a:spcBef>
              <a:spcAft>
                <a:spcPts val="0"/>
              </a:spcAft>
              <a:buSzPts val="1400"/>
              <a:buChar char="○"/>
            </a:pPr>
            <a:r>
              <a:rPr lang="en"/>
              <a:t>First-in First-out (FIFO)</a:t>
            </a:r>
            <a:endParaRPr/>
          </a:p>
          <a:p>
            <a:pPr indent="-317500" lvl="1" marL="914400" rtl="0" algn="l">
              <a:spcBef>
                <a:spcPts val="0"/>
              </a:spcBef>
              <a:spcAft>
                <a:spcPts val="0"/>
              </a:spcAft>
              <a:buSzPts val="1400"/>
              <a:buChar char="○"/>
            </a:pPr>
            <a:r>
              <a:rPr lang="en"/>
              <a:t>Least Recently Used (LRU)</a:t>
            </a:r>
            <a:endParaRPr/>
          </a:p>
          <a:p>
            <a:pPr indent="-317500" lvl="1" marL="914400" rtl="0" algn="l">
              <a:spcBef>
                <a:spcPts val="0"/>
              </a:spcBef>
              <a:spcAft>
                <a:spcPts val="0"/>
              </a:spcAft>
              <a:buSzPts val="1400"/>
              <a:buChar char="○"/>
            </a:pPr>
            <a:r>
              <a:rPr lang="en"/>
              <a:t>Least Frequently Used (LFU)</a:t>
            </a:r>
            <a:endParaRPr/>
          </a:p>
        </p:txBody>
      </p:sp>
      <p:pic>
        <p:nvPicPr>
          <p:cNvPr descr="Decorative image of someone being evicted from a house." id="221" name="Google Shape;221;p32"/>
          <p:cNvPicPr preferRelativeResize="0"/>
          <p:nvPr/>
        </p:nvPicPr>
        <p:blipFill>
          <a:blip r:embed="rId3">
            <a:alphaModFix/>
          </a:blip>
          <a:stretch>
            <a:fillRect/>
          </a:stretch>
        </p:blipFill>
        <p:spPr>
          <a:xfrm>
            <a:off x="5574750" y="1146175"/>
            <a:ext cx="3257550" cy="34290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Best Policy?</a:t>
            </a:r>
            <a:endParaRPr/>
          </a:p>
        </p:txBody>
      </p:sp>
      <p:sp>
        <p:nvSpPr>
          <p:cNvPr id="227" name="Google Shape;227;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Optimal/Clairvoyant:</a:t>
            </a:r>
            <a:endParaRPr/>
          </a:p>
          <a:p>
            <a:pPr indent="-317500" lvl="1" marL="914400" rtl="0" algn="l">
              <a:spcBef>
                <a:spcPts val="0"/>
              </a:spcBef>
              <a:spcAft>
                <a:spcPts val="0"/>
              </a:spcAft>
              <a:buSzPts val="1400"/>
              <a:buChar char="○"/>
            </a:pPr>
            <a:r>
              <a:rPr lang="en"/>
              <a:t>Look forward and pick the block used last/never. Why is this not used in practice?</a:t>
            </a:r>
            <a:endParaRPr/>
          </a:p>
          <a:p>
            <a:pPr indent="-342900" lvl="0" marL="457200" rtl="0" algn="l">
              <a:spcBef>
                <a:spcPts val="0"/>
              </a:spcBef>
              <a:spcAft>
                <a:spcPts val="0"/>
              </a:spcAft>
              <a:buSzPts val="1800"/>
              <a:buChar char="●"/>
            </a:pPr>
            <a:r>
              <a:rPr lang="en"/>
              <a:t>Random</a:t>
            </a:r>
            <a:endParaRPr/>
          </a:p>
          <a:p>
            <a:pPr indent="-317500" lvl="1" marL="914400" rtl="0" algn="l">
              <a:spcBef>
                <a:spcPts val="0"/>
              </a:spcBef>
              <a:spcAft>
                <a:spcPts val="0"/>
              </a:spcAft>
              <a:buSzPts val="1400"/>
              <a:buChar char="○"/>
            </a:pPr>
            <a:r>
              <a:rPr lang="en"/>
              <a:t>Pick randomly. Why would you pick this option?</a:t>
            </a:r>
            <a:endParaRPr/>
          </a:p>
          <a:p>
            <a:pPr indent="-342900" lvl="0" marL="457200" rtl="0" algn="l">
              <a:spcBef>
                <a:spcPts val="0"/>
              </a:spcBef>
              <a:spcAft>
                <a:spcPts val="0"/>
              </a:spcAft>
              <a:buSzPts val="1800"/>
              <a:buChar char="●"/>
            </a:pPr>
            <a:r>
              <a:rPr lang="en"/>
              <a:t>FIFO</a:t>
            </a:r>
            <a:endParaRPr/>
          </a:p>
          <a:p>
            <a:pPr indent="-317500" lvl="1" marL="914400" rtl="0" algn="l">
              <a:spcBef>
                <a:spcPts val="0"/>
              </a:spcBef>
              <a:spcAft>
                <a:spcPts val="0"/>
              </a:spcAft>
              <a:buSzPts val="1400"/>
              <a:buChar char="○"/>
            </a:pPr>
            <a:r>
              <a:rPr lang="en"/>
              <a:t>Timestamp the block loading, pick the oldest. Why might this be bad?</a:t>
            </a:r>
            <a:endParaRPr/>
          </a:p>
          <a:p>
            <a:pPr indent="-342900" lvl="0" marL="457200" rtl="0" algn="l">
              <a:spcBef>
                <a:spcPts val="0"/>
              </a:spcBef>
              <a:spcAft>
                <a:spcPts val="0"/>
              </a:spcAft>
              <a:buSzPts val="1800"/>
              <a:buChar char="●"/>
            </a:pPr>
            <a:r>
              <a:rPr lang="en"/>
              <a:t>LRU</a:t>
            </a:r>
            <a:endParaRPr/>
          </a:p>
          <a:p>
            <a:pPr indent="-317500" lvl="1" marL="914400" rtl="0" algn="l">
              <a:spcBef>
                <a:spcPts val="0"/>
              </a:spcBef>
              <a:spcAft>
                <a:spcPts val="0"/>
              </a:spcAft>
              <a:buSzPts val="1400"/>
              <a:buChar char="○"/>
            </a:pPr>
            <a:r>
              <a:rPr lang="en"/>
              <a:t>Timestamp the block access, pick the oldest. Is this harder than FIFO?</a:t>
            </a:r>
            <a:endParaRPr/>
          </a:p>
          <a:p>
            <a:pPr indent="-342900" lvl="0" marL="457200" rtl="0" algn="l">
              <a:spcBef>
                <a:spcPts val="0"/>
              </a:spcBef>
              <a:spcAft>
                <a:spcPts val="0"/>
              </a:spcAft>
              <a:buSzPts val="1800"/>
              <a:buChar char="●"/>
            </a:pPr>
            <a:r>
              <a:rPr lang="en"/>
              <a:t>LFU</a:t>
            </a:r>
            <a:endParaRPr/>
          </a:p>
          <a:p>
            <a:pPr indent="-317500" lvl="1" marL="914400" rtl="0" algn="l">
              <a:spcBef>
                <a:spcPts val="0"/>
              </a:spcBef>
              <a:spcAft>
                <a:spcPts val="0"/>
              </a:spcAft>
              <a:buSzPts val="1400"/>
              <a:buChar char="○"/>
            </a:pPr>
            <a:r>
              <a:rPr lang="en"/>
              <a:t>Count the number of accesses to a line. What access </a:t>
            </a:r>
            <a:r>
              <a:rPr lang="en"/>
              <a:t>pattern</a:t>
            </a:r>
            <a:r>
              <a:rPr lang="en"/>
              <a:t> does this assume?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4"/>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Intel Core i7 Cache Hierarchy</a:t>
            </a:r>
            <a:endParaRPr/>
          </a:p>
        </p:txBody>
      </p:sp>
      <p:sp>
        <p:nvSpPr>
          <p:cNvPr id="233" name="Google Shape;233;p34"/>
          <p:cNvSpPr txBox="1"/>
          <p:nvPr/>
        </p:nvSpPr>
        <p:spPr>
          <a:xfrm>
            <a:off x="6105600" y="1130175"/>
            <a:ext cx="2980800" cy="3140100"/>
          </a:xfrm>
          <a:prstGeom prst="rect">
            <a:avLst/>
          </a:prstGeom>
          <a:noFill/>
          <a:ln>
            <a:noFill/>
          </a:ln>
        </p:spPr>
        <p:txBody>
          <a:bodyPr anchorCtr="0" anchor="t" bIns="45700" lIns="91425" spcFirstLastPara="1" rIns="91425" wrap="square" tIns="45700">
            <a:spAutoFit/>
          </a:bodyPr>
          <a:lstStyle/>
          <a:p>
            <a:pPr indent="-342900" lvl="0" marL="457200" marR="0" rtl="0" algn="l">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L1 i-cache &amp; d-cache:</a:t>
            </a:r>
            <a:endParaRPr/>
          </a:p>
          <a:p>
            <a:pPr indent="-342900" lvl="1" marL="914400" marR="0" rtl="0" algn="l">
              <a:spcBef>
                <a:spcPts val="0"/>
              </a:spcBef>
              <a:spcAft>
                <a:spcPts val="0"/>
              </a:spcAft>
              <a:buClr>
                <a:schemeClr val="dk1"/>
              </a:buClr>
              <a:buSzPts val="1800"/>
              <a:buFont typeface="Calibri"/>
              <a:buChar char="○"/>
            </a:pPr>
            <a:r>
              <a:rPr i="0" lang="en" sz="1800" u="none" cap="none" strike="noStrike">
                <a:solidFill>
                  <a:schemeClr val="dk1"/>
                </a:solidFill>
                <a:latin typeface="Calibri"/>
                <a:ea typeface="Calibri"/>
                <a:cs typeface="Calibri"/>
                <a:sym typeface="Calibri"/>
              </a:rPr>
              <a:t>32 KB,  8-way, </a:t>
            </a:r>
            <a:endParaRPr/>
          </a:p>
          <a:p>
            <a:pPr indent="-342900" lvl="1" marL="914400" marR="0" rtl="0" algn="l">
              <a:spcBef>
                <a:spcPts val="0"/>
              </a:spcBef>
              <a:spcAft>
                <a:spcPts val="0"/>
              </a:spcAft>
              <a:buClr>
                <a:schemeClr val="dk1"/>
              </a:buClr>
              <a:buSzPts val="1800"/>
              <a:buFont typeface="Calibri"/>
              <a:buChar char="○"/>
            </a:pPr>
            <a:r>
              <a:rPr i="0" lang="en" sz="1800" u="none" cap="none" strike="noStrike">
                <a:solidFill>
                  <a:schemeClr val="dk1"/>
                </a:solidFill>
                <a:latin typeface="Calibri"/>
                <a:ea typeface="Calibri"/>
                <a:cs typeface="Calibri"/>
                <a:sym typeface="Calibri"/>
              </a:rPr>
              <a:t>Access: 4 cycles</a:t>
            </a:r>
            <a:endParaRPr sz="1800">
              <a:solidFill>
                <a:schemeClr val="dk1"/>
              </a:solidFill>
              <a:latin typeface="Calibri"/>
              <a:ea typeface="Calibri"/>
              <a:cs typeface="Calibri"/>
              <a:sym typeface="Calibri"/>
            </a:endParaRPr>
          </a:p>
          <a:p>
            <a:pPr indent="-342900" lvl="0" marL="457200" marR="0" rtl="0" algn="l">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L2 unified cache:</a:t>
            </a:r>
            <a:endParaRPr/>
          </a:p>
          <a:p>
            <a:pPr indent="-342900" lvl="1" marL="914400" marR="0" rtl="0" algn="l">
              <a:spcBef>
                <a:spcPts val="0"/>
              </a:spcBef>
              <a:spcAft>
                <a:spcPts val="0"/>
              </a:spcAft>
              <a:buClr>
                <a:schemeClr val="dk1"/>
              </a:buClr>
              <a:buSzPts val="1800"/>
              <a:buFont typeface="Calibri"/>
              <a:buChar char="○"/>
            </a:pPr>
            <a:r>
              <a:rPr i="0" lang="en" sz="1800" u="none" cap="none" strike="noStrike">
                <a:solidFill>
                  <a:schemeClr val="dk1"/>
                </a:solidFill>
                <a:latin typeface="Calibri"/>
                <a:ea typeface="Calibri"/>
                <a:cs typeface="Calibri"/>
                <a:sym typeface="Calibri"/>
              </a:rPr>
              <a:t> 256 KB, 8-way, </a:t>
            </a:r>
            <a:endParaRPr/>
          </a:p>
          <a:p>
            <a:pPr indent="-342900" lvl="1" marL="914400" marR="0" rtl="0" algn="l">
              <a:spcBef>
                <a:spcPts val="0"/>
              </a:spcBef>
              <a:spcAft>
                <a:spcPts val="0"/>
              </a:spcAft>
              <a:buClr>
                <a:schemeClr val="dk1"/>
              </a:buClr>
              <a:buSzPts val="1800"/>
              <a:buFont typeface="Calibri"/>
              <a:buChar char="○"/>
            </a:pPr>
            <a:r>
              <a:rPr i="0" lang="en" sz="1800" u="none" cap="none" strike="noStrike">
                <a:solidFill>
                  <a:schemeClr val="dk1"/>
                </a:solidFill>
                <a:latin typeface="Calibri"/>
                <a:ea typeface="Calibri"/>
                <a:cs typeface="Calibri"/>
                <a:sym typeface="Calibri"/>
              </a:rPr>
              <a:t>Access: 10 cycles</a:t>
            </a:r>
            <a:endParaRPr i="0" sz="1800" u="none" cap="none" strike="noStrike">
              <a:solidFill>
                <a:schemeClr val="dk1"/>
              </a:solidFill>
              <a:latin typeface="Calibri"/>
              <a:ea typeface="Calibri"/>
              <a:cs typeface="Calibri"/>
              <a:sym typeface="Calibri"/>
            </a:endParaRPr>
          </a:p>
          <a:p>
            <a:pPr indent="-342900" lvl="0" marL="457200" marR="0" rtl="0" algn="l">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L3 unified cache:</a:t>
            </a:r>
            <a:endParaRPr/>
          </a:p>
          <a:p>
            <a:pPr indent="-342900" lvl="1" marL="914400" marR="0" rtl="0" algn="l">
              <a:spcBef>
                <a:spcPts val="0"/>
              </a:spcBef>
              <a:spcAft>
                <a:spcPts val="0"/>
              </a:spcAft>
              <a:buClr>
                <a:schemeClr val="dk1"/>
              </a:buClr>
              <a:buSzPts val="1800"/>
              <a:buFont typeface="Calibri"/>
              <a:buChar char="○"/>
            </a:pPr>
            <a:r>
              <a:rPr i="0" lang="en" sz="1800" u="none" cap="none" strike="noStrike">
                <a:solidFill>
                  <a:schemeClr val="dk1"/>
                </a:solidFill>
                <a:latin typeface="Calibri"/>
                <a:ea typeface="Calibri"/>
                <a:cs typeface="Calibri"/>
                <a:sym typeface="Calibri"/>
              </a:rPr>
              <a:t>8 MB, 16-way,</a:t>
            </a:r>
            <a:endParaRPr/>
          </a:p>
          <a:p>
            <a:pPr indent="-342900" lvl="1" marL="914400" marR="0" rtl="0" algn="l">
              <a:spcBef>
                <a:spcPts val="0"/>
              </a:spcBef>
              <a:spcAft>
                <a:spcPts val="0"/>
              </a:spcAft>
              <a:buClr>
                <a:schemeClr val="dk1"/>
              </a:buClr>
              <a:buSzPts val="1800"/>
              <a:buFont typeface="Calibri"/>
              <a:buChar char="○"/>
            </a:pPr>
            <a:r>
              <a:rPr i="0" lang="en" sz="1800" u="none" cap="none" strike="noStrike">
                <a:solidFill>
                  <a:schemeClr val="dk1"/>
                </a:solidFill>
                <a:latin typeface="Calibri"/>
                <a:ea typeface="Calibri"/>
                <a:cs typeface="Calibri"/>
                <a:sym typeface="Calibri"/>
              </a:rPr>
              <a:t>Access: 40-75 </a:t>
            </a:r>
            <a:r>
              <a:rPr lang="en" sz="1800">
                <a:solidFill>
                  <a:schemeClr val="dk1"/>
                </a:solidFill>
                <a:latin typeface="Calibri"/>
                <a:ea typeface="Calibri"/>
                <a:cs typeface="Calibri"/>
                <a:sym typeface="Calibri"/>
              </a:rPr>
              <a:t>c</a:t>
            </a:r>
            <a:r>
              <a:rPr i="0" lang="en" sz="1800" u="none" cap="none" strike="noStrike">
                <a:solidFill>
                  <a:schemeClr val="dk1"/>
                </a:solidFill>
                <a:latin typeface="Calibri"/>
                <a:ea typeface="Calibri"/>
                <a:cs typeface="Calibri"/>
                <a:sym typeface="Calibri"/>
              </a:rPr>
              <a:t>ycles</a:t>
            </a:r>
            <a:endParaRPr i="0" sz="1800" u="none" cap="none" strike="noStrike">
              <a:solidFill>
                <a:schemeClr val="dk1"/>
              </a:solidFill>
              <a:latin typeface="Calibri"/>
              <a:ea typeface="Calibri"/>
              <a:cs typeface="Calibri"/>
              <a:sym typeface="Calibri"/>
            </a:endParaRPr>
          </a:p>
          <a:p>
            <a:pPr indent="-342900" lvl="0" marL="457200" marR="0" rtl="0" algn="l">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Block size: </a:t>
            </a:r>
            <a:endParaRPr sz="1800">
              <a:solidFill>
                <a:schemeClr val="dk1"/>
              </a:solidFill>
              <a:latin typeface="Calibri"/>
              <a:ea typeface="Calibri"/>
              <a:cs typeface="Calibri"/>
              <a:sym typeface="Calibri"/>
            </a:endParaRPr>
          </a:p>
          <a:p>
            <a:pPr indent="-342900" lvl="1" marL="914400" marR="0" rtl="0" algn="l">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Always 64 bytes</a:t>
            </a:r>
            <a:endParaRPr/>
          </a:p>
        </p:txBody>
      </p:sp>
      <p:pic>
        <p:nvPicPr>
          <p:cNvPr descr="Cache + CPU block diagram" id="234" name="Google Shape;234;p34"/>
          <p:cNvPicPr preferRelativeResize="0"/>
          <p:nvPr/>
        </p:nvPicPr>
        <p:blipFill>
          <a:blip r:embed="rId3">
            <a:alphaModFix/>
          </a:blip>
          <a:stretch>
            <a:fillRect/>
          </a:stretch>
        </p:blipFill>
        <p:spPr>
          <a:xfrm>
            <a:off x="58800" y="982038"/>
            <a:ext cx="6200208" cy="382097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5"/>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Cache Performance Metrics</a:t>
            </a:r>
            <a:endParaRPr/>
          </a:p>
        </p:txBody>
      </p:sp>
      <p:sp>
        <p:nvSpPr>
          <p:cNvPr id="241" name="Google Shape;241;p35"/>
          <p:cNvSpPr txBox="1"/>
          <p:nvPr>
            <p:ph idx="1" type="body"/>
          </p:nvPr>
        </p:nvSpPr>
        <p:spPr>
          <a:xfrm>
            <a:off x="311700" y="1152475"/>
            <a:ext cx="8520600" cy="3750600"/>
          </a:xfrm>
          <a:prstGeom prst="rect">
            <a:avLst/>
          </a:prstGeom>
          <a:noFill/>
          <a:ln>
            <a:noFill/>
          </a:ln>
        </p:spPr>
        <p:txBody>
          <a:bodyPr anchorCtr="0" anchor="t" bIns="45700" lIns="91425" spcFirstLastPara="1" rIns="91425" wrap="square" tIns="45700">
            <a:normAutofit fontScale="77500" lnSpcReduction="20000"/>
          </a:bodyPr>
          <a:lstStyle/>
          <a:p>
            <a:pPr indent="-329184" lvl="0" marL="342900" rtl="0" algn="l">
              <a:spcBef>
                <a:spcPts val="0"/>
              </a:spcBef>
              <a:spcAft>
                <a:spcPts val="0"/>
              </a:spcAft>
              <a:buSzPct val="80000"/>
              <a:buChar char="●"/>
            </a:pPr>
            <a:r>
              <a:rPr lang="en"/>
              <a:t>Miss Rate</a:t>
            </a:r>
            <a:endParaRPr/>
          </a:p>
          <a:p>
            <a:pPr indent="-264795" lvl="1" marL="742950" rtl="0" algn="l">
              <a:spcBef>
                <a:spcPts val="370"/>
              </a:spcBef>
              <a:spcAft>
                <a:spcPts val="0"/>
              </a:spcAft>
              <a:buSzPct val="157143"/>
              <a:buChar char="○"/>
            </a:pPr>
            <a:r>
              <a:rPr lang="en"/>
              <a:t>Fraction of memory references not found in cache (misses / accesses) = 1 – hit rate</a:t>
            </a:r>
            <a:endParaRPr/>
          </a:p>
          <a:p>
            <a:pPr indent="-264795" lvl="1" marL="742950" rtl="0" algn="l">
              <a:spcBef>
                <a:spcPts val="370"/>
              </a:spcBef>
              <a:spcAft>
                <a:spcPts val="0"/>
              </a:spcAft>
              <a:buSzPct val="157143"/>
              <a:buChar char="○"/>
            </a:pPr>
            <a:r>
              <a:rPr lang="en"/>
              <a:t>Typical numbers (in percentages):</a:t>
            </a:r>
            <a:endParaRPr/>
          </a:p>
          <a:p>
            <a:pPr indent="-213360" lvl="2" marL="1143000" rtl="0" algn="l">
              <a:spcBef>
                <a:spcPts val="370"/>
              </a:spcBef>
              <a:spcAft>
                <a:spcPts val="0"/>
              </a:spcAft>
              <a:buClr>
                <a:schemeClr val="dk1"/>
              </a:buClr>
              <a:buSzPct val="114286"/>
              <a:buChar char="■"/>
            </a:pPr>
            <a:r>
              <a:rPr lang="en"/>
              <a:t>3-10% for L1</a:t>
            </a:r>
            <a:endParaRPr/>
          </a:p>
          <a:p>
            <a:pPr indent="-213360" lvl="2" marL="1143000" rtl="0" algn="l">
              <a:spcBef>
                <a:spcPts val="370"/>
              </a:spcBef>
              <a:spcAft>
                <a:spcPts val="0"/>
              </a:spcAft>
              <a:buClr>
                <a:schemeClr val="dk1"/>
              </a:buClr>
              <a:buSzPct val="114286"/>
              <a:buChar char="■"/>
            </a:pPr>
            <a:r>
              <a:rPr lang="en"/>
              <a:t>can be quite small (e.g., &lt; 1%) for L2, depending on size, etc.</a:t>
            </a:r>
            <a:endParaRPr/>
          </a:p>
          <a:p>
            <a:pPr indent="-329184" lvl="0" marL="342900" rtl="0" algn="l">
              <a:spcBef>
                <a:spcPts val="444"/>
              </a:spcBef>
              <a:spcAft>
                <a:spcPts val="0"/>
              </a:spcAft>
              <a:buSzPct val="80000"/>
              <a:buChar char="●"/>
            </a:pPr>
            <a:r>
              <a:rPr lang="en"/>
              <a:t>Hit Time</a:t>
            </a:r>
            <a:endParaRPr/>
          </a:p>
          <a:p>
            <a:pPr indent="-264795" lvl="1" marL="742950" rtl="0" algn="l">
              <a:spcBef>
                <a:spcPts val="370"/>
              </a:spcBef>
              <a:spcAft>
                <a:spcPts val="0"/>
              </a:spcAft>
              <a:buSzPct val="157143"/>
              <a:buChar char="○"/>
            </a:pPr>
            <a:r>
              <a:rPr lang="en"/>
              <a:t>Time to deliver a line in the cache to the processor</a:t>
            </a:r>
            <a:endParaRPr/>
          </a:p>
          <a:p>
            <a:pPr indent="-213360" lvl="2" marL="1143000" rtl="0" algn="l">
              <a:spcBef>
                <a:spcPts val="370"/>
              </a:spcBef>
              <a:spcAft>
                <a:spcPts val="0"/>
              </a:spcAft>
              <a:buClr>
                <a:schemeClr val="dk1"/>
              </a:buClr>
              <a:buSzPct val="114286"/>
              <a:buChar char="■"/>
            </a:pPr>
            <a:r>
              <a:rPr lang="en"/>
              <a:t>includes time to determine whether the line is in the cache</a:t>
            </a:r>
            <a:endParaRPr/>
          </a:p>
          <a:p>
            <a:pPr indent="-264795" lvl="1" marL="742950" rtl="0" algn="l">
              <a:spcBef>
                <a:spcPts val="370"/>
              </a:spcBef>
              <a:spcAft>
                <a:spcPts val="0"/>
              </a:spcAft>
              <a:buSzPct val="157143"/>
              <a:buChar char="○"/>
            </a:pPr>
            <a:r>
              <a:rPr lang="en"/>
              <a:t>Typical numbers:</a:t>
            </a:r>
            <a:endParaRPr/>
          </a:p>
          <a:p>
            <a:pPr indent="-213360" lvl="2" marL="1143000" rtl="0" algn="l">
              <a:spcBef>
                <a:spcPts val="370"/>
              </a:spcBef>
              <a:spcAft>
                <a:spcPts val="0"/>
              </a:spcAft>
              <a:buClr>
                <a:schemeClr val="dk1"/>
              </a:buClr>
              <a:buSzPct val="114286"/>
              <a:buChar char="■"/>
            </a:pPr>
            <a:r>
              <a:rPr lang="en"/>
              <a:t>4 clock cycle for L1</a:t>
            </a:r>
            <a:endParaRPr/>
          </a:p>
          <a:p>
            <a:pPr indent="-213360" lvl="2" marL="1143000" rtl="0" algn="l">
              <a:spcBef>
                <a:spcPts val="370"/>
              </a:spcBef>
              <a:spcAft>
                <a:spcPts val="0"/>
              </a:spcAft>
              <a:buClr>
                <a:schemeClr val="dk1"/>
              </a:buClr>
              <a:buSzPct val="114286"/>
              <a:buChar char="■"/>
            </a:pPr>
            <a:r>
              <a:rPr lang="en"/>
              <a:t>10 clock cycles for L2</a:t>
            </a:r>
            <a:endParaRPr/>
          </a:p>
          <a:p>
            <a:pPr indent="-329184" lvl="0" marL="342900" rtl="0" algn="l">
              <a:spcBef>
                <a:spcPts val="444"/>
              </a:spcBef>
              <a:spcAft>
                <a:spcPts val="0"/>
              </a:spcAft>
              <a:buSzPct val="80000"/>
              <a:buChar char="●"/>
            </a:pPr>
            <a:r>
              <a:rPr lang="en"/>
              <a:t>Miss Penalty</a:t>
            </a:r>
            <a:endParaRPr/>
          </a:p>
          <a:p>
            <a:pPr indent="-264795" lvl="1" marL="742950" rtl="0" algn="l">
              <a:spcBef>
                <a:spcPts val="370"/>
              </a:spcBef>
              <a:spcAft>
                <a:spcPts val="0"/>
              </a:spcAft>
              <a:buSzPct val="157143"/>
              <a:buChar char="○"/>
            </a:pPr>
            <a:r>
              <a:rPr lang="en"/>
              <a:t>Additional time required because of a miss</a:t>
            </a:r>
            <a:endParaRPr/>
          </a:p>
          <a:p>
            <a:pPr indent="-213360" lvl="2" marL="1143000" rtl="0" algn="l">
              <a:spcBef>
                <a:spcPts val="370"/>
              </a:spcBef>
              <a:spcAft>
                <a:spcPts val="0"/>
              </a:spcAft>
              <a:buClr>
                <a:schemeClr val="dk1"/>
              </a:buClr>
              <a:buSzPct val="114286"/>
              <a:buChar char="■"/>
            </a:pPr>
            <a:r>
              <a:rPr lang="en"/>
              <a:t>typically 50-200 cycles for main memory (Trend: increasing!)</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6"/>
          <p:cNvSpPr txBox="1"/>
          <p:nvPr>
            <p:ph type="title"/>
          </p:nvPr>
        </p:nvSpPr>
        <p:spPr>
          <a:xfrm>
            <a:off x="311700" y="445025"/>
            <a:ext cx="8520600" cy="572700"/>
          </a:xfrm>
          <a:prstGeom prst="rect">
            <a:avLst/>
          </a:prstGeom>
          <a:noFill/>
          <a:ln>
            <a:noFill/>
          </a:ln>
        </p:spPr>
        <p:txBody>
          <a:bodyPr anchorCtr="0" anchor="b" bIns="44450" lIns="90475" spcFirstLastPara="1" rIns="90475" wrap="square" tIns="44450">
            <a:normAutofit/>
          </a:bodyPr>
          <a:lstStyle/>
          <a:p>
            <a:pPr indent="-119063" lvl="0" marL="119063" rtl="0" algn="l">
              <a:spcBef>
                <a:spcPts val="0"/>
              </a:spcBef>
              <a:spcAft>
                <a:spcPts val="0"/>
              </a:spcAft>
              <a:buNone/>
            </a:pPr>
            <a:r>
              <a:rPr lang="en"/>
              <a:t>Let’s think about those numbers</a:t>
            </a:r>
            <a:endParaRPr/>
          </a:p>
        </p:txBody>
      </p:sp>
      <p:sp>
        <p:nvSpPr>
          <p:cNvPr id="247" name="Google Shape;247;p36"/>
          <p:cNvSpPr txBox="1"/>
          <p:nvPr>
            <p:ph idx="1" type="body"/>
          </p:nvPr>
        </p:nvSpPr>
        <p:spPr>
          <a:xfrm>
            <a:off x="311700" y="1152475"/>
            <a:ext cx="8520600" cy="3416400"/>
          </a:xfrm>
          <a:prstGeom prst="rect">
            <a:avLst/>
          </a:prstGeom>
          <a:noFill/>
          <a:ln>
            <a:noFill/>
          </a:ln>
        </p:spPr>
        <p:txBody>
          <a:bodyPr anchorCtr="0" anchor="t" bIns="44450" lIns="90475" spcFirstLastPara="1" rIns="90475" wrap="square" tIns="44450">
            <a:normAutofit lnSpcReduction="20000"/>
          </a:bodyPr>
          <a:lstStyle/>
          <a:p>
            <a:pPr indent="-342900" lvl="0" marL="342900" rtl="0" algn="l">
              <a:spcBef>
                <a:spcPts val="0"/>
              </a:spcBef>
              <a:spcAft>
                <a:spcPts val="0"/>
              </a:spcAft>
              <a:buSzPts val="1440"/>
              <a:buChar char="●"/>
            </a:pPr>
            <a:r>
              <a:rPr lang="en"/>
              <a:t>Huge difference between a hit and a miss</a:t>
            </a:r>
            <a:endParaRPr/>
          </a:p>
          <a:p>
            <a:pPr indent="-285750" lvl="1" marL="742950" rtl="0" algn="l">
              <a:lnSpc>
                <a:spcPct val="100000"/>
              </a:lnSpc>
              <a:spcBef>
                <a:spcPts val="360"/>
              </a:spcBef>
              <a:spcAft>
                <a:spcPts val="0"/>
              </a:spcAft>
              <a:buSzPts val="1980"/>
              <a:buChar char="○"/>
            </a:pPr>
            <a:r>
              <a:rPr lang="en" sz="1800"/>
              <a:t>Could be 100x, if just L1 and main memory</a:t>
            </a:r>
            <a:endParaRPr/>
          </a:p>
          <a:p>
            <a:pPr indent="-342900" lvl="0" marL="342900" rtl="0" algn="l">
              <a:spcBef>
                <a:spcPts val="480"/>
              </a:spcBef>
              <a:spcAft>
                <a:spcPts val="0"/>
              </a:spcAft>
              <a:buSzPts val="1440"/>
              <a:buChar char="●"/>
            </a:pPr>
            <a:r>
              <a:rPr lang="en"/>
              <a:t>Would you believe 99% hits is twice as good as 97%?</a:t>
            </a:r>
            <a:endParaRPr/>
          </a:p>
          <a:p>
            <a:pPr indent="-285750" lvl="1" marL="742950" rtl="0" algn="l">
              <a:lnSpc>
                <a:spcPct val="100000"/>
              </a:lnSpc>
              <a:spcBef>
                <a:spcPts val="360"/>
              </a:spcBef>
              <a:spcAft>
                <a:spcPts val="0"/>
              </a:spcAft>
              <a:buSzPts val="1980"/>
              <a:buChar char="○"/>
            </a:pPr>
            <a:r>
              <a:rPr lang="en" sz="1800"/>
              <a:t>Consider: </a:t>
            </a:r>
            <a:endParaRPr sz="1800"/>
          </a:p>
          <a:p>
            <a:pPr indent="-354330" lvl="2" marL="1371600" rtl="0" algn="l">
              <a:lnSpc>
                <a:spcPct val="100000"/>
              </a:lnSpc>
              <a:spcBef>
                <a:spcPts val="360"/>
              </a:spcBef>
              <a:spcAft>
                <a:spcPts val="0"/>
              </a:spcAft>
              <a:buSzPts val="1980"/>
              <a:buChar char="■"/>
            </a:pPr>
            <a:r>
              <a:rPr lang="en" sz="1800"/>
              <a:t>cache hit time of 1 cycle</a:t>
            </a:r>
            <a:endParaRPr sz="1800"/>
          </a:p>
          <a:p>
            <a:pPr indent="-354330" lvl="2" marL="1371600" rtl="0" algn="l">
              <a:lnSpc>
                <a:spcPct val="100000"/>
              </a:lnSpc>
              <a:spcBef>
                <a:spcPts val="360"/>
              </a:spcBef>
              <a:spcAft>
                <a:spcPts val="0"/>
              </a:spcAft>
              <a:buSzPts val="1980"/>
              <a:buChar char="■"/>
            </a:pPr>
            <a:r>
              <a:rPr lang="en" sz="1800"/>
              <a:t>miss penalty of 100 cycles</a:t>
            </a:r>
            <a:endParaRPr sz="1800"/>
          </a:p>
          <a:p>
            <a:pPr indent="-285750" lvl="1" marL="742950" rtl="0" algn="l">
              <a:spcBef>
                <a:spcPts val="360"/>
              </a:spcBef>
              <a:spcAft>
                <a:spcPts val="0"/>
              </a:spcAft>
              <a:buSzPts val="1980"/>
              <a:buChar char="○"/>
            </a:pPr>
            <a:r>
              <a:rPr lang="en" sz="1800"/>
              <a:t>Average access time:</a:t>
            </a:r>
            <a:endParaRPr/>
          </a:p>
          <a:p>
            <a:pPr indent="-354330" lvl="2" marL="1371600" rtl="0" algn="l">
              <a:spcBef>
                <a:spcPts val="360"/>
              </a:spcBef>
              <a:spcAft>
                <a:spcPts val="0"/>
              </a:spcAft>
              <a:buSzPts val="1980"/>
              <a:buChar char="■"/>
            </a:pPr>
            <a:r>
              <a:rPr lang="en" sz="1800"/>
              <a:t>97% hits:  1 cycle + 0.03 * 100 cycles =</a:t>
            </a:r>
            <a:r>
              <a:rPr lang="en" sz="1800">
                <a:solidFill>
                  <a:srgbClr val="FF0000"/>
                </a:solidFill>
              </a:rPr>
              <a:t> </a:t>
            </a:r>
            <a:r>
              <a:rPr lang="en" sz="1800">
                <a:solidFill>
                  <a:srgbClr val="C00000"/>
                </a:solidFill>
              </a:rPr>
              <a:t>4 cycles</a:t>
            </a:r>
            <a:endParaRPr/>
          </a:p>
          <a:p>
            <a:pPr indent="-354330" lvl="2" marL="1371600" rtl="0" algn="l">
              <a:spcBef>
                <a:spcPts val="360"/>
              </a:spcBef>
              <a:spcAft>
                <a:spcPts val="0"/>
              </a:spcAft>
              <a:buSzPts val="1980"/>
              <a:buChar char="■"/>
            </a:pPr>
            <a:r>
              <a:rPr lang="en" sz="1800"/>
              <a:t>99% hits:  1 cycle + 0.01 * 100 cycles = </a:t>
            </a:r>
            <a:r>
              <a:rPr lang="en" sz="1800">
                <a:solidFill>
                  <a:srgbClr val="C00000"/>
                </a:solidFill>
              </a:rPr>
              <a:t>2 cycles</a:t>
            </a:r>
            <a:endParaRPr sz="1600">
              <a:solidFill>
                <a:srgbClr val="C00000"/>
              </a:solidFill>
            </a:endParaRPr>
          </a:p>
          <a:p>
            <a:pPr indent="-342900" lvl="0" marL="342900" rtl="0" algn="l">
              <a:spcBef>
                <a:spcPts val="480"/>
              </a:spcBef>
              <a:spcAft>
                <a:spcPts val="0"/>
              </a:spcAft>
              <a:buSzPts val="1440"/>
              <a:buChar char="●"/>
            </a:pPr>
            <a:r>
              <a:rPr lang="en">
                <a:solidFill>
                  <a:srgbClr val="C00000"/>
                </a:solidFill>
              </a:rPr>
              <a:t>This is why “miss rate” is used instead of “hit rate”</a:t>
            </a:r>
            <a:endParaRPr sz="1800">
              <a:solidFill>
                <a:srgbClr val="C00000"/>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37"/>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Writing Cache Friendly Code</a:t>
            </a:r>
            <a:endParaRPr/>
          </a:p>
        </p:txBody>
      </p:sp>
      <p:sp>
        <p:nvSpPr>
          <p:cNvPr id="253" name="Google Shape;253;p37"/>
          <p:cNvSpPr txBox="1"/>
          <p:nvPr>
            <p:ph idx="1" type="body"/>
          </p:nvPr>
        </p:nvSpPr>
        <p:spPr>
          <a:xfrm>
            <a:off x="311700" y="1152475"/>
            <a:ext cx="8520600" cy="23379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
              <a:t>Make the common case go fast</a:t>
            </a:r>
            <a:endParaRPr/>
          </a:p>
          <a:p>
            <a:pPr indent="-285750" lvl="1" marL="742950" rtl="0" algn="l">
              <a:spcBef>
                <a:spcPts val="400"/>
              </a:spcBef>
              <a:spcAft>
                <a:spcPts val="0"/>
              </a:spcAft>
              <a:buSzPts val="2200"/>
              <a:buChar char="○"/>
            </a:pPr>
            <a:r>
              <a:rPr lang="en"/>
              <a:t>Focus on the inner loops of the core functions</a:t>
            </a:r>
            <a:endParaRPr/>
          </a:p>
          <a:p>
            <a:pPr indent="-342900" lvl="0" marL="342900" rtl="0" algn="l">
              <a:spcBef>
                <a:spcPts val="480"/>
              </a:spcBef>
              <a:spcAft>
                <a:spcPts val="0"/>
              </a:spcAft>
              <a:buSzPts val="1440"/>
              <a:buChar char="●"/>
            </a:pPr>
            <a:r>
              <a:rPr lang="en"/>
              <a:t>Minimize the misses in the inner loops</a:t>
            </a:r>
            <a:endParaRPr/>
          </a:p>
          <a:p>
            <a:pPr indent="-285750" lvl="1" marL="742950" rtl="0" algn="l">
              <a:spcBef>
                <a:spcPts val="400"/>
              </a:spcBef>
              <a:spcAft>
                <a:spcPts val="0"/>
              </a:spcAft>
              <a:buSzPts val="2200"/>
              <a:buChar char="○"/>
            </a:pPr>
            <a:r>
              <a:rPr lang="en"/>
              <a:t>Repeated references to variables are good (temporal locality)</a:t>
            </a:r>
            <a:endParaRPr/>
          </a:p>
          <a:p>
            <a:pPr indent="-285750" lvl="1" marL="742950" rtl="0" algn="l">
              <a:spcBef>
                <a:spcPts val="400"/>
              </a:spcBef>
              <a:spcAft>
                <a:spcPts val="0"/>
              </a:spcAft>
              <a:buSzPts val="2200"/>
              <a:buChar char="○"/>
            </a:pPr>
            <a:r>
              <a:rPr lang="en"/>
              <a:t>Stride-1 reference patterns are good (spatial locality)</a:t>
            </a:r>
            <a:endParaRPr/>
          </a:p>
        </p:txBody>
      </p:sp>
      <p:sp>
        <p:nvSpPr>
          <p:cNvPr id="254" name="Google Shape;254;p37"/>
          <p:cNvSpPr txBox="1"/>
          <p:nvPr/>
        </p:nvSpPr>
        <p:spPr>
          <a:xfrm>
            <a:off x="396876" y="3600450"/>
            <a:ext cx="8518500" cy="954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2800">
                <a:solidFill>
                  <a:schemeClr val="dk1"/>
                </a:solidFill>
                <a:latin typeface="Calibri"/>
                <a:ea typeface="Calibri"/>
                <a:cs typeface="Calibri"/>
                <a:sym typeface="Calibri"/>
              </a:rPr>
              <a:t>Key idea: Our qualitative notion of locality is quantified through our understanding of cache memories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8"/>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The Memory Mountain</a:t>
            </a:r>
            <a:endParaRPr/>
          </a:p>
        </p:txBody>
      </p:sp>
      <p:sp>
        <p:nvSpPr>
          <p:cNvPr id="260" name="Google Shape;260;p38"/>
          <p:cNvSpPr txBox="1"/>
          <p:nvPr>
            <p:ph idx="1" type="body"/>
          </p:nvPr>
        </p:nvSpPr>
        <p:spPr>
          <a:xfrm>
            <a:off x="311700" y="1152475"/>
            <a:ext cx="8520600" cy="2245800"/>
          </a:xfrm>
          <a:prstGeom prst="rect">
            <a:avLst/>
          </a:prstGeom>
          <a:noFill/>
          <a:ln>
            <a:noFill/>
          </a:ln>
        </p:spPr>
        <p:txBody>
          <a:bodyPr anchorCtr="0" anchor="t" bIns="45700" lIns="91425" spcFirstLastPara="1" rIns="91425" wrap="square" tIns="45700">
            <a:normAutofit/>
          </a:bodyPr>
          <a:lstStyle/>
          <a:p>
            <a:pPr indent="-368300" lvl="0" marL="457200" rtl="0" algn="l">
              <a:spcBef>
                <a:spcPts val="0"/>
              </a:spcBef>
              <a:spcAft>
                <a:spcPts val="0"/>
              </a:spcAft>
              <a:buSzPts val="2200"/>
              <a:buChar char="●"/>
            </a:pPr>
            <a:r>
              <a:rPr lang="en" sz="2200"/>
              <a:t>Read throughput (read bandwidth)</a:t>
            </a:r>
            <a:endParaRPr sz="2200"/>
          </a:p>
          <a:p>
            <a:pPr indent="-342900" lvl="1" marL="914400" rtl="0" algn="l">
              <a:spcBef>
                <a:spcPts val="0"/>
              </a:spcBef>
              <a:spcAft>
                <a:spcPts val="0"/>
              </a:spcAft>
              <a:buSzPts val="1800"/>
              <a:buChar char="○"/>
            </a:pPr>
            <a:r>
              <a:rPr lang="en" sz="1800"/>
              <a:t>Number of bytes read from memory per second (MB/s)</a:t>
            </a:r>
            <a:endParaRPr sz="1800"/>
          </a:p>
          <a:p>
            <a:pPr indent="-368300" lvl="0" marL="457200" rtl="0" algn="l">
              <a:spcBef>
                <a:spcPts val="0"/>
              </a:spcBef>
              <a:spcAft>
                <a:spcPts val="0"/>
              </a:spcAft>
              <a:buSzPts val="2200"/>
              <a:buChar char="●"/>
            </a:pPr>
            <a:r>
              <a:rPr lang="en" sz="2200"/>
              <a:t>Memory mountain: </a:t>
            </a:r>
            <a:endParaRPr sz="2200"/>
          </a:p>
          <a:p>
            <a:pPr indent="-342900" lvl="1" marL="914400" rtl="0" algn="l">
              <a:spcBef>
                <a:spcPts val="0"/>
              </a:spcBef>
              <a:spcAft>
                <a:spcPts val="0"/>
              </a:spcAft>
              <a:buSzPts val="1800"/>
              <a:buChar char="○"/>
            </a:pPr>
            <a:r>
              <a:rPr lang="en" sz="1800"/>
              <a:t>Measured read throughput as a function of spatial and temporal locality.</a:t>
            </a:r>
            <a:endParaRPr sz="1800"/>
          </a:p>
          <a:p>
            <a:pPr indent="-342900" lvl="1" marL="914400" rtl="0" algn="l">
              <a:spcBef>
                <a:spcPts val="0"/>
              </a:spcBef>
              <a:spcAft>
                <a:spcPts val="0"/>
              </a:spcAft>
              <a:buSzPts val="1800"/>
              <a:buChar char="○"/>
            </a:pPr>
            <a:r>
              <a:rPr lang="en" sz="1800"/>
              <a:t>Compact way to characterize memory system performance. </a:t>
            </a:r>
            <a:endParaRPr sz="18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39"/>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Memory Mountain Test Function</a:t>
            </a:r>
            <a:endParaRPr/>
          </a:p>
        </p:txBody>
      </p:sp>
      <p:sp>
        <p:nvSpPr>
          <p:cNvPr id="266" name="Google Shape;266;p39"/>
          <p:cNvSpPr txBox="1"/>
          <p:nvPr/>
        </p:nvSpPr>
        <p:spPr>
          <a:xfrm>
            <a:off x="311707" y="995625"/>
            <a:ext cx="4667100" cy="3817200"/>
          </a:xfrm>
          <a:prstGeom prst="rect">
            <a:avLst/>
          </a:prstGeom>
          <a:solidFill>
            <a:srgbClr val="F6F5BD"/>
          </a:solidFill>
          <a:ln cap="flat" cmpd="sng" w="254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100">
                <a:solidFill>
                  <a:schemeClr val="dk1"/>
                </a:solidFill>
                <a:latin typeface="Arial"/>
                <a:ea typeface="Arial"/>
                <a:cs typeface="Arial"/>
                <a:sym typeface="Arial"/>
              </a:rPr>
              <a:t>long data[MAXELEMS]; </a:t>
            </a:r>
            <a:r>
              <a:rPr b="1" lang="en" sz="1100">
                <a:solidFill>
                  <a:srgbClr val="CB2418"/>
                </a:solidFill>
                <a:latin typeface="Arial"/>
                <a:ea typeface="Arial"/>
                <a:cs typeface="Arial"/>
                <a:sym typeface="Arial"/>
              </a:rPr>
              <a:t> /* Global array to traverse */</a:t>
            </a:r>
            <a:endParaRPr b="1" sz="1100">
              <a:solidFill>
                <a:srgbClr val="CB2418"/>
              </a:solidFill>
              <a:latin typeface="Arial"/>
              <a:ea typeface="Arial"/>
              <a:cs typeface="Arial"/>
              <a:sym typeface="Arial"/>
            </a:endParaRPr>
          </a:p>
          <a:p>
            <a:pPr indent="0" lvl="0" marL="0" marR="0" rtl="0" algn="l">
              <a:spcBef>
                <a:spcPts val="0"/>
              </a:spcBef>
              <a:spcAft>
                <a:spcPts val="0"/>
              </a:spcAft>
              <a:buNone/>
            </a:pPr>
            <a:r>
              <a:rPr b="1" lang="en" sz="1100">
                <a:solidFill>
                  <a:srgbClr val="CB2418"/>
                </a:solidFill>
                <a:latin typeface="Arial"/>
                <a:ea typeface="Arial"/>
                <a:cs typeface="Arial"/>
                <a:sym typeface="Arial"/>
              </a:rPr>
              <a:t>/* test - Iterate over first "elems" elements of</a:t>
            </a:r>
            <a:endParaRPr b="1" sz="1100">
              <a:solidFill>
                <a:srgbClr val="CB2418"/>
              </a:solidFill>
              <a:latin typeface="Arial"/>
              <a:ea typeface="Arial"/>
              <a:cs typeface="Arial"/>
              <a:sym typeface="Arial"/>
            </a:endParaRPr>
          </a:p>
          <a:p>
            <a:pPr indent="0" lvl="0" marL="0" marR="0" rtl="0" algn="l">
              <a:spcBef>
                <a:spcPts val="0"/>
              </a:spcBef>
              <a:spcAft>
                <a:spcPts val="0"/>
              </a:spcAft>
              <a:buNone/>
            </a:pPr>
            <a:r>
              <a:rPr b="1" lang="en" sz="1100">
                <a:solidFill>
                  <a:srgbClr val="CB2418"/>
                </a:solidFill>
                <a:latin typeface="Arial"/>
                <a:ea typeface="Arial"/>
                <a:cs typeface="Arial"/>
                <a:sym typeface="Arial"/>
              </a:rPr>
              <a:t> *        array “data” with stride of "stride", using </a:t>
            </a:r>
            <a:endParaRPr b="1" sz="1100">
              <a:solidFill>
                <a:srgbClr val="CB2418"/>
              </a:solidFill>
              <a:latin typeface="Arial"/>
              <a:ea typeface="Arial"/>
              <a:cs typeface="Arial"/>
              <a:sym typeface="Arial"/>
            </a:endParaRPr>
          </a:p>
          <a:p>
            <a:pPr indent="0" lvl="0" marL="0" marR="0" rtl="0" algn="l">
              <a:spcBef>
                <a:spcPts val="0"/>
              </a:spcBef>
              <a:spcAft>
                <a:spcPts val="0"/>
              </a:spcAft>
              <a:buNone/>
            </a:pPr>
            <a:r>
              <a:rPr b="1" lang="en" sz="1100">
                <a:solidFill>
                  <a:srgbClr val="CB2418"/>
                </a:solidFill>
                <a:latin typeface="Arial"/>
                <a:ea typeface="Arial"/>
                <a:cs typeface="Arial"/>
                <a:sym typeface="Arial"/>
              </a:rPr>
              <a:t> *        using 4x4 loop unrolling.                                                            </a:t>
            </a:r>
            <a:endParaRPr b="1" sz="1100">
              <a:solidFill>
                <a:srgbClr val="CB2418"/>
              </a:solidFill>
              <a:latin typeface="Arial"/>
              <a:ea typeface="Arial"/>
              <a:cs typeface="Arial"/>
              <a:sym typeface="Arial"/>
            </a:endParaRPr>
          </a:p>
          <a:p>
            <a:pPr indent="0" lvl="0" marL="0" marR="0" rtl="0" algn="l">
              <a:spcBef>
                <a:spcPts val="0"/>
              </a:spcBef>
              <a:spcAft>
                <a:spcPts val="0"/>
              </a:spcAft>
              <a:buNone/>
            </a:pPr>
            <a:r>
              <a:rPr b="1" lang="en" sz="1100">
                <a:solidFill>
                  <a:srgbClr val="CB2418"/>
                </a:solidFill>
                <a:latin typeface="Arial"/>
                <a:ea typeface="Arial"/>
                <a:cs typeface="Arial"/>
                <a:sym typeface="Arial"/>
              </a:rPr>
              <a:t> */ </a:t>
            </a:r>
            <a:endParaRPr b="1" sz="1100">
              <a:solidFill>
                <a:srgbClr val="CB2418"/>
              </a:solidFill>
              <a:latin typeface="Arial"/>
              <a:ea typeface="Arial"/>
              <a:cs typeface="Arial"/>
              <a:sym typeface="Arial"/>
            </a:endParaRPr>
          </a:p>
          <a:p>
            <a:pPr indent="0" lvl="0" marL="0" marR="0" rtl="0" algn="l">
              <a:spcBef>
                <a:spcPts val="0"/>
              </a:spcBef>
              <a:spcAft>
                <a:spcPts val="0"/>
              </a:spcAft>
              <a:buNone/>
            </a:pPr>
            <a:r>
              <a:rPr b="1" lang="en" sz="1100">
                <a:solidFill>
                  <a:schemeClr val="dk1"/>
                </a:solidFill>
                <a:latin typeface="Arial"/>
                <a:ea typeface="Arial"/>
                <a:cs typeface="Arial"/>
                <a:sym typeface="Arial"/>
              </a:rPr>
              <a:t>int test(int elems, int stride) {</a:t>
            </a:r>
            <a:endParaRPr b="1" sz="1100">
              <a:solidFill>
                <a:schemeClr val="dk1"/>
              </a:solidFill>
              <a:latin typeface="Arial"/>
              <a:ea typeface="Arial"/>
              <a:cs typeface="Arial"/>
              <a:sym typeface="Arial"/>
            </a:endParaRPr>
          </a:p>
          <a:p>
            <a:pPr indent="0" lvl="0" marL="0" marR="0" rtl="0" algn="l">
              <a:spcBef>
                <a:spcPts val="0"/>
              </a:spcBef>
              <a:spcAft>
                <a:spcPts val="0"/>
              </a:spcAft>
              <a:buNone/>
            </a:pPr>
            <a:r>
              <a:rPr b="1" lang="en" sz="1100">
                <a:solidFill>
                  <a:schemeClr val="dk1"/>
                </a:solidFill>
                <a:latin typeface="Arial"/>
                <a:ea typeface="Arial"/>
                <a:cs typeface="Arial"/>
                <a:sym typeface="Arial"/>
              </a:rPr>
              <a:t>    long i, sx2=stride*2, sx3=stride*3, sx4=stride*4;</a:t>
            </a:r>
            <a:endParaRPr sz="1000">
              <a:solidFill>
                <a:schemeClr val="dk1"/>
              </a:solidFill>
            </a:endParaRPr>
          </a:p>
          <a:p>
            <a:pPr indent="0" lvl="0" marL="0" marR="0" rtl="0" algn="l">
              <a:spcBef>
                <a:spcPts val="0"/>
              </a:spcBef>
              <a:spcAft>
                <a:spcPts val="0"/>
              </a:spcAft>
              <a:buNone/>
            </a:pPr>
            <a:r>
              <a:rPr b="1" lang="en" sz="1100">
                <a:solidFill>
                  <a:schemeClr val="dk1"/>
                </a:solidFill>
                <a:latin typeface="Arial"/>
                <a:ea typeface="Arial"/>
                <a:cs typeface="Arial"/>
                <a:sym typeface="Arial"/>
              </a:rPr>
              <a:t>    long acc0 = 0, acc1 = 0, acc2 = 0, acc3 = 0;</a:t>
            </a:r>
            <a:endParaRPr sz="1000">
              <a:solidFill>
                <a:schemeClr val="dk1"/>
              </a:solidFill>
            </a:endParaRPr>
          </a:p>
          <a:p>
            <a:pPr indent="0" lvl="0" marL="0" marR="0" rtl="0" algn="l">
              <a:spcBef>
                <a:spcPts val="0"/>
              </a:spcBef>
              <a:spcAft>
                <a:spcPts val="0"/>
              </a:spcAft>
              <a:buNone/>
            </a:pPr>
            <a:r>
              <a:rPr b="1" lang="en" sz="1100">
                <a:solidFill>
                  <a:schemeClr val="dk1"/>
                </a:solidFill>
                <a:latin typeface="Arial"/>
                <a:ea typeface="Arial"/>
                <a:cs typeface="Arial"/>
                <a:sym typeface="Arial"/>
              </a:rPr>
              <a:t>    long length = elems, limit = length - sx4;</a:t>
            </a:r>
            <a:endParaRPr sz="1000">
              <a:solidFill>
                <a:schemeClr val="dk1"/>
              </a:solidFill>
            </a:endParaRPr>
          </a:p>
          <a:p>
            <a:pPr indent="0" lvl="0" marL="0" marR="0" rtl="0" algn="l">
              <a:spcBef>
                <a:spcPts val="0"/>
              </a:spcBef>
              <a:spcAft>
                <a:spcPts val="0"/>
              </a:spcAft>
              <a:buNone/>
            </a:pPr>
            <a:r>
              <a:rPr b="1" lang="en" sz="1100">
                <a:solidFill>
                  <a:schemeClr val="dk1"/>
                </a:solidFill>
                <a:latin typeface="Arial"/>
                <a:ea typeface="Arial"/>
                <a:cs typeface="Arial"/>
                <a:sym typeface="Arial"/>
              </a:rPr>
              <a:t>   </a:t>
            </a:r>
            <a:r>
              <a:rPr b="1" lang="en" sz="1100">
                <a:solidFill>
                  <a:srgbClr val="CB2418"/>
                </a:solidFill>
                <a:latin typeface="Arial"/>
                <a:ea typeface="Arial"/>
                <a:cs typeface="Arial"/>
                <a:sym typeface="Arial"/>
              </a:rPr>
              <a:t> /* Combine 4 elements at a time */</a:t>
            </a:r>
            <a:endParaRPr b="1" sz="1100">
              <a:solidFill>
                <a:srgbClr val="CB2418"/>
              </a:solidFill>
              <a:latin typeface="Arial"/>
              <a:ea typeface="Arial"/>
              <a:cs typeface="Arial"/>
              <a:sym typeface="Arial"/>
            </a:endParaRPr>
          </a:p>
          <a:p>
            <a:pPr indent="0" lvl="0" marL="0" marR="0" rtl="0" algn="l">
              <a:spcBef>
                <a:spcPts val="0"/>
              </a:spcBef>
              <a:spcAft>
                <a:spcPts val="0"/>
              </a:spcAft>
              <a:buNone/>
            </a:pPr>
            <a:r>
              <a:rPr b="1" lang="en" sz="1100">
                <a:solidFill>
                  <a:schemeClr val="dk1"/>
                </a:solidFill>
                <a:latin typeface="Arial"/>
                <a:ea typeface="Arial"/>
                <a:cs typeface="Arial"/>
                <a:sym typeface="Arial"/>
              </a:rPr>
              <a:t>    for (i = 0; i &lt; limit; i += sx4) {</a:t>
            </a:r>
            <a:endParaRPr sz="1000">
              <a:solidFill>
                <a:schemeClr val="dk1"/>
              </a:solidFill>
            </a:endParaRPr>
          </a:p>
          <a:p>
            <a:pPr indent="0" lvl="0" marL="0" marR="0" rtl="0" algn="l">
              <a:spcBef>
                <a:spcPts val="0"/>
              </a:spcBef>
              <a:spcAft>
                <a:spcPts val="0"/>
              </a:spcAft>
              <a:buNone/>
            </a:pPr>
            <a:r>
              <a:rPr b="1" lang="en" sz="1100">
                <a:solidFill>
                  <a:schemeClr val="dk1"/>
                </a:solidFill>
                <a:latin typeface="Arial"/>
                <a:ea typeface="Arial"/>
                <a:cs typeface="Arial"/>
                <a:sym typeface="Arial"/>
              </a:rPr>
              <a:t>        acc0 = acc0 + data[i];</a:t>
            </a:r>
            <a:endParaRPr sz="1000">
              <a:solidFill>
                <a:schemeClr val="dk1"/>
              </a:solidFill>
            </a:endParaRPr>
          </a:p>
          <a:p>
            <a:pPr indent="0" lvl="0" marL="0" marR="0" rtl="0" algn="l">
              <a:spcBef>
                <a:spcPts val="0"/>
              </a:spcBef>
              <a:spcAft>
                <a:spcPts val="0"/>
              </a:spcAft>
              <a:buNone/>
            </a:pPr>
            <a:r>
              <a:rPr b="1" lang="en" sz="1100">
                <a:solidFill>
                  <a:schemeClr val="dk1"/>
                </a:solidFill>
                <a:latin typeface="Arial"/>
                <a:ea typeface="Arial"/>
                <a:cs typeface="Arial"/>
                <a:sym typeface="Arial"/>
              </a:rPr>
              <a:t>        acc1 = acc1 + data[i+stride];</a:t>
            </a:r>
            <a:endParaRPr sz="1000">
              <a:solidFill>
                <a:schemeClr val="dk1"/>
              </a:solidFill>
            </a:endParaRPr>
          </a:p>
          <a:p>
            <a:pPr indent="0" lvl="0" marL="0" marR="0" rtl="0" algn="l">
              <a:spcBef>
                <a:spcPts val="0"/>
              </a:spcBef>
              <a:spcAft>
                <a:spcPts val="0"/>
              </a:spcAft>
              <a:buNone/>
            </a:pPr>
            <a:r>
              <a:rPr b="1" lang="en" sz="1100">
                <a:solidFill>
                  <a:schemeClr val="dk1"/>
                </a:solidFill>
                <a:latin typeface="Arial"/>
                <a:ea typeface="Arial"/>
                <a:cs typeface="Arial"/>
                <a:sym typeface="Arial"/>
              </a:rPr>
              <a:t>        acc2 = acc2 + data[i+sx2];</a:t>
            </a:r>
            <a:endParaRPr sz="1000">
              <a:solidFill>
                <a:schemeClr val="dk1"/>
              </a:solidFill>
            </a:endParaRPr>
          </a:p>
          <a:p>
            <a:pPr indent="0" lvl="0" marL="0" marR="0" rtl="0" algn="l">
              <a:spcBef>
                <a:spcPts val="0"/>
              </a:spcBef>
              <a:spcAft>
                <a:spcPts val="0"/>
              </a:spcAft>
              <a:buNone/>
            </a:pPr>
            <a:r>
              <a:rPr b="1" lang="en" sz="1100">
                <a:solidFill>
                  <a:schemeClr val="dk1"/>
                </a:solidFill>
                <a:latin typeface="Arial"/>
                <a:ea typeface="Arial"/>
                <a:cs typeface="Arial"/>
                <a:sym typeface="Arial"/>
              </a:rPr>
              <a:t>        acc3 = acc3 + data[i+sx3];</a:t>
            </a:r>
            <a:endParaRPr sz="1000">
              <a:solidFill>
                <a:schemeClr val="dk1"/>
              </a:solidFill>
            </a:endParaRPr>
          </a:p>
          <a:p>
            <a:pPr indent="0" lvl="0" marL="0" marR="0" rtl="0" algn="l">
              <a:spcBef>
                <a:spcPts val="0"/>
              </a:spcBef>
              <a:spcAft>
                <a:spcPts val="0"/>
              </a:spcAft>
              <a:buNone/>
            </a:pPr>
            <a:r>
              <a:rPr b="1" lang="en" sz="1100">
                <a:solidFill>
                  <a:schemeClr val="dk1"/>
                </a:solidFill>
                <a:latin typeface="Arial"/>
                <a:ea typeface="Arial"/>
                <a:cs typeface="Arial"/>
                <a:sym typeface="Arial"/>
              </a:rPr>
              <a:t>    }</a:t>
            </a:r>
            <a:endParaRPr sz="1000">
              <a:solidFill>
                <a:schemeClr val="dk1"/>
              </a:solidFill>
            </a:endParaRPr>
          </a:p>
          <a:p>
            <a:pPr indent="0" lvl="0" marL="0" marR="0" rtl="0" algn="l">
              <a:spcBef>
                <a:spcPts val="0"/>
              </a:spcBef>
              <a:spcAft>
                <a:spcPts val="0"/>
              </a:spcAft>
              <a:buNone/>
            </a:pPr>
            <a:r>
              <a:rPr b="1" lang="en" sz="1100">
                <a:solidFill>
                  <a:schemeClr val="dk1"/>
                </a:solidFill>
                <a:latin typeface="Arial"/>
                <a:ea typeface="Arial"/>
                <a:cs typeface="Arial"/>
                <a:sym typeface="Arial"/>
              </a:rPr>
              <a:t>   </a:t>
            </a:r>
            <a:r>
              <a:rPr b="1" lang="en" sz="1100">
                <a:solidFill>
                  <a:srgbClr val="CB2418"/>
                </a:solidFill>
                <a:latin typeface="Arial"/>
                <a:ea typeface="Arial"/>
                <a:cs typeface="Arial"/>
                <a:sym typeface="Arial"/>
              </a:rPr>
              <a:t> /* Finish any remaining elements */</a:t>
            </a:r>
            <a:endParaRPr b="1" sz="1100">
              <a:solidFill>
                <a:srgbClr val="CB2418"/>
              </a:solidFill>
              <a:latin typeface="Arial"/>
              <a:ea typeface="Arial"/>
              <a:cs typeface="Arial"/>
              <a:sym typeface="Arial"/>
            </a:endParaRPr>
          </a:p>
          <a:p>
            <a:pPr indent="0" lvl="0" marL="0" marR="0" rtl="0" algn="l">
              <a:spcBef>
                <a:spcPts val="0"/>
              </a:spcBef>
              <a:spcAft>
                <a:spcPts val="0"/>
              </a:spcAft>
              <a:buNone/>
            </a:pPr>
            <a:r>
              <a:rPr b="1" lang="en" sz="1100">
                <a:solidFill>
                  <a:schemeClr val="dk1"/>
                </a:solidFill>
                <a:latin typeface="Arial"/>
                <a:ea typeface="Arial"/>
                <a:cs typeface="Arial"/>
                <a:sym typeface="Arial"/>
              </a:rPr>
              <a:t>    for (; i &lt; length; i++) {</a:t>
            </a:r>
            <a:endParaRPr sz="1000">
              <a:solidFill>
                <a:schemeClr val="dk1"/>
              </a:solidFill>
            </a:endParaRPr>
          </a:p>
          <a:p>
            <a:pPr indent="0" lvl="0" marL="0" marR="0" rtl="0" algn="l">
              <a:spcBef>
                <a:spcPts val="0"/>
              </a:spcBef>
              <a:spcAft>
                <a:spcPts val="0"/>
              </a:spcAft>
              <a:buNone/>
            </a:pPr>
            <a:r>
              <a:rPr b="1" lang="en" sz="1100">
                <a:solidFill>
                  <a:schemeClr val="dk1"/>
                </a:solidFill>
                <a:latin typeface="Arial"/>
                <a:ea typeface="Arial"/>
                <a:cs typeface="Arial"/>
                <a:sym typeface="Arial"/>
              </a:rPr>
              <a:t>        acc0 = acc0 + data[i];</a:t>
            </a:r>
            <a:endParaRPr sz="1000">
              <a:solidFill>
                <a:schemeClr val="dk1"/>
              </a:solidFill>
            </a:endParaRPr>
          </a:p>
          <a:p>
            <a:pPr indent="0" lvl="0" marL="0" marR="0" rtl="0" algn="l">
              <a:spcBef>
                <a:spcPts val="0"/>
              </a:spcBef>
              <a:spcAft>
                <a:spcPts val="0"/>
              </a:spcAft>
              <a:buNone/>
            </a:pPr>
            <a:r>
              <a:rPr b="1" lang="en" sz="1100">
                <a:solidFill>
                  <a:schemeClr val="dk1"/>
                </a:solidFill>
                <a:latin typeface="Arial"/>
                <a:ea typeface="Arial"/>
                <a:cs typeface="Arial"/>
                <a:sym typeface="Arial"/>
              </a:rPr>
              <a:t>    }</a:t>
            </a:r>
            <a:endParaRPr sz="1000">
              <a:solidFill>
                <a:schemeClr val="dk1"/>
              </a:solidFill>
            </a:endParaRPr>
          </a:p>
          <a:p>
            <a:pPr indent="0" lvl="0" marL="0" marR="0" rtl="0" algn="l">
              <a:spcBef>
                <a:spcPts val="0"/>
              </a:spcBef>
              <a:spcAft>
                <a:spcPts val="0"/>
              </a:spcAft>
              <a:buNone/>
            </a:pPr>
            <a:r>
              <a:rPr b="1" lang="en" sz="1100">
                <a:solidFill>
                  <a:schemeClr val="dk1"/>
                </a:solidFill>
                <a:latin typeface="Arial"/>
                <a:ea typeface="Arial"/>
                <a:cs typeface="Arial"/>
                <a:sym typeface="Arial"/>
              </a:rPr>
              <a:t>    return ((acc0 + acc1) + (acc2 + acc3));</a:t>
            </a:r>
            <a:endParaRPr sz="1000">
              <a:solidFill>
                <a:schemeClr val="dk1"/>
              </a:solidFill>
            </a:endParaRPr>
          </a:p>
          <a:p>
            <a:pPr indent="0" lvl="0" marL="0" marR="0" rtl="0" algn="l">
              <a:spcBef>
                <a:spcPts val="0"/>
              </a:spcBef>
              <a:spcAft>
                <a:spcPts val="0"/>
              </a:spcAft>
              <a:buNone/>
            </a:pPr>
            <a:r>
              <a:rPr b="1" lang="en" sz="1100">
                <a:solidFill>
                  <a:schemeClr val="dk1"/>
                </a:solidFill>
                <a:latin typeface="Arial"/>
                <a:ea typeface="Arial"/>
                <a:cs typeface="Arial"/>
                <a:sym typeface="Arial"/>
              </a:rPr>
              <a:t>}</a:t>
            </a:r>
            <a:endParaRPr sz="1000">
              <a:solidFill>
                <a:schemeClr val="dk1"/>
              </a:solidFill>
            </a:endParaRPr>
          </a:p>
        </p:txBody>
      </p:sp>
      <p:sp>
        <p:nvSpPr>
          <p:cNvPr id="267" name="Google Shape;267;p39"/>
          <p:cNvSpPr txBox="1"/>
          <p:nvPr/>
        </p:nvSpPr>
        <p:spPr>
          <a:xfrm>
            <a:off x="4978800" y="1418325"/>
            <a:ext cx="4071600" cy="1879200"/>
          </a:xfrm>
          <a:prstGeom prst="rect">
            <a:avLst/>
          </a:prstGeom>
          <a:noFill/>
          <a:ln>
            <a:noFill/>
          </a:ln>
        </p:spPr>
        <p:txBody>
          <a:bodyPr anchorCtr="0" anchor="t" bIns="45700" lIns="91425" spcFirstLastPara="1" rIns="91425" wrap="square" tIns="45700">
            <a:normAutofit/>
          </a:bodyPr>
          <a:lstStyle/>
          <a:p>
            <a:pPr indent="-336550" lvl="0" marL="457200" marR="0" rtl="0" algn="l">
              <a:lnSpc>
                <a:spcPct val="80000"/>
              </a:lnSpc>
              <a:spcBef>
                <a:spcPts val="0"/>
              </a:spcBef>
              <a:spcAft>
                <a:spcPts val="0"/>
              </a:spcAft>
              <a:buClr>
                <a:schemeClr val="dk1"/>
              </a:buClr>
              <a:buSzPts val="1700"/>
              <a:buFont typeface="Proxima Nova"/>
              <a:buChar char="●"/>
            </a:pPr>
            <a:r>
              <a:rPr lang="en" sz="1700">
                <a:solidFill>
                  <a:schemeClr val="dk1"/>
                </a:solidFill>
                <a:latin typeface="Proxima Nova"/>
                <a:ea typeface="Proxima Nova"/>
                <a:cs typeface="Proxima Nova"/>
                <a:sym typeface="Proxima Nova"/>
              </a:rPr>
              <a:t>Call test() with many combinations of elems and stride.</a:t>
            </a:r>
            <a:endParaRPr sz="1700">
              <a:solidFill>
                <a:schemeClr val="dk1"/>
              </a:solidFill>
              <a:latin typeface="Proxima Nova"/>
              <a:ea typeface="Proxima Nova"/>
              <a:cs typeface="Proxima Nova"/>
              <a:sym typeface="Proxima Nova"/>
            </a:endParaRPr>
          </a:p>
          <a:p>
            <a:pPr indent="-336550" lvl="1" marL="914400" marR="0" rtl="0" algn="l">
              <a:lnSpc>
                <a:spcPct val="80000"/>
              </a:lnSpc>
              <a:spcBef>
                <a:spcPts val="0"/>
              </a:spcBef>
              <a:spcAft>
                <a:spcPts val="0"/>
              </a:spcAft>
              <a:buClr>
                <a:schemeClr val="dk1"/>
              </a:buClr>
              <a:buSzPts val="1700"/>
              <a:buFont typeface="Proxima Nova"/>
              <a:buChar char="○"/>
            </a:pPr>
            <a:r>
              <a:rPr lang="en" sz="1700">
                <a:solidFill>
                  <a:schemeClr val="dk1"/>
                </a:solidFill>
                <a:latin typeface="Proxima Nova"/>
                <a:ea typeface="Proxima Nova"/>
                <a:cs typeface="Proxima Nova"/>
                <a:sym typeface="Proxima Nova"/>
              </a:rPr>
              <a:t>For each elems and stride:</a:t>
            </a:r>
            <a:endParaRPr sz="1700">
              <a:solidFill>
                <a:schemeClr val="dk1"/>
              </a:solidFill>
              <a:latin typeface="Proxima Nova"/>
              <a:ea typeface="Proxima Nova"/>
              <a:cs typeface="Proxima Nova"/>
              <a:sym typeface="Proxima Nova"/>
            </a:endParaRPr>
          </a:p>
          <a:p>
            <a:pPr indent="-336550" lvl="2" marL="1371600" marR="0" rtl="0" algn="l">
              <a:lnSpc>
                <a:spcPct val="80000"/>
              </a:lnSpc>
              <a:spcBef>
                <a:spcPts val="0"/>
              </a:spcBef>
              <a:spcAft>
                <a:spcPts val="0"/>
              </a:spcAft>
              <a:buClr>
                <a:schemeClr val="dk1"/>
              </a:buClr>
              <a:buSzPts val="1700"/>
              <a:buFont typeface="Proxima Nova"/>
              <a:buChar char="■"/>
            </a:pPr>
            <a:r>
              <a:rPr lang="en" sz="1700">
                <a:solidFill>
                  <a:schemeClr val="dk1"/>
                </a:solidFill>
                <a:latin typeface="Proxima Nova"/>
                <a:ea typeface="Proxima Nova"/>
                <a:cs typeface="Proxima Nova"/>
                <a:sym typeface="Proxima Nova"/>
              </a:rPr>
              <a:t>Call test() once to warm up the caches.</a:t>
            </a:r>
            <a:endParaRPr sz="1700">
              <a:solidFill>
                <a:schemeClr val="dk1"/>
              </a:solidFill>
              <a:latin typeface="Proxima Nova"/>
              <a:ea typeface="Proxima Nova"/>
              <a:cs typeface="Proxima Nova"/>
              <a:sym typeface="Proxima Nova"/>
            </a:endParaRPr>
          </a:p>
          <a:p>
            <a:pPr indent="-336550" lvl="2" marL="1371600" marR="0" rtl="0" algn="l">
              <a:lnSpc>
                <a:spcPct val="80000"/>
              </a:lnSpc>
              <a:spcBef>
                <a:spcPts val="0"/>
              </a:spcBef>
              <a:spcAft>
                <a:spcPts val="0"/>
              </a:spcAft>
              <a:buClr>
                <a:schemeClr val="dk1"/>
              </a:buClr>
              <a:buSzPts val="1700"/>
              <a:buFont typeface="Proxima Nova"/>
              <a:buChar char="■"/>
            </a:pPr>
            <a:r>
              <a:rPr lang="en" sz="1700">
                <a:solidFill>
                  <a:schemeClr val="dk1"/>
                </a:solidFill>
                <a:latin typeface="Proxima Nova"/>
                <a:ea typeface="Proxima Nova"/>
                <a:cs typeface="Proxima Nova"/>
                <a:sym typeface="Proxima Nova"/>
              </a:rPr>
              <a:t>Call test() again and measure the read throughput(MB/s)</a:t>
            </a:r>
            <a:endParaRPr sz="1700">
              <a:solidFill>
                <a:schemeClr val="dk1"/>
              </a:solidFill>
              <a:latin typeface="Proxima Nova"/>
              <a:ea typeface="Proxima Nova"/>
              <a:cs typeface="Proxima Nova"/>
              <a:sym typeface="Proxima Nova"/>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pic>
        <p:nvPicPr>
          <p:cNvPr descr="Read throughput of a vector operation. The sizes and strides of the vectors reveal size and latency of caches." id="272" name="Google Shape;272;p40"/>
          <p:cNvPicPr preferRelativeResize="0"/>
          <p:nvPr/>
        </p:nvPicPr>
        <p:blipFill>
          <a:blip r:embed="rId3">
            <a:alphaModFix/>
          </a:blip>
          <a:stretch>
            <a:fillRect/>
          </a:stretch>
        </p:blipFill>
        <p:spPr>
          <a:xfrm>
            <a:off x="2261300" y="201400"/>
            <a:ext cx="6882712" cy="4838701"/>
          </a:xfrm>
          <a:prstGeom prst="rect">
            <a:avLst/>
          </a:prstGeom>
          <a:noFill/>
          <a:ln>
            <a:noFill/>
          </a:ln>
        </p:spPr>
      </p:pic>
      <p:sp>
        <p:nvSpPr>
          <p:cNvPr id="273" name="Google Shape;273;p40"/>
          <p:cNvSpPr txBox="1"/>
          <p:nvPr>
            <p:ph type="title"/>
          </p:nvPr>
        </p:nvSpPr>
        <p:spPr>
          <a:xfrm>
            <a:off x="671700" y="309600"/>
            <a:ext cx="6161100" cy="583200"/>
          </a:xfrm>
          <a:prstGeom prst="rect">
            <a:avLst/>
          </a:prstGeom>
          <a:solidFill>
            <a:schemeClr val="lt1"/>
          </a:solid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The Memory Mountain:</a:t>
            </a:r>
            <a:endParaRPr>
              <a:highlight>
                <a:schemeClr val="lt1"/>
              </a:highlight>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41"/>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Matrix Multiplication Example</a:t>
            </a:r>
            <a:endParaRPr/>
          </a:p>
        </p:txBody>
      </p:sp>
      <p:sp>
        <p:nvSpPr>
          <p:cNvPr id="279" name="Google Shape;279;p41"/>
          <p:cNvSpPr txBox="1"/>
          <p:nvPr>
            <p:ph idx="1" type="body"/>
          </p:nvPr>
        </p:nvSpPr>
        <p:spPr>
          <a:xfrm>
            <a:off x="311700" y="1152475"/>
            <a:ext cx="4128300" cy="34164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
              <a:t>Description:</a:t>
            </a:r>
            <a:endParaRPr/>
          </a:p>
          <a:p>
            <a:pPr indent="-285750" lvl="1" marL="742950" rtl="0" algn="l">
              <a:spcBef>
                <a:spcPts val="400"/>
              </a:spcBef>
              <a:spcAft>
                <a:spcPts val="0"/>
              </a:spcAft>
              <a:buSzPts val="2200"/>
              <a:buChar char="○"/>
            </a:pPr>
            <a:r>
              <a:rPr lang="en"/>
              <a:t>Multiply N x N matrices</a:t>
            </a:r>
            <a:endParaRPr/>
          </a:p>
          <a:p>
            <a:pPr indent="-285750" lvl="1" marL="742950" rtl="0" algn="l">
              <a:spcBef>
                <a:spcPts val="400"/>
              </a:spcBef>
              <a:spcAft>
                <a:spcPts val="0"/>
              </a:spcAft>
              <a:buSzPts val="2200"/>
              <a:buChar char="○"/>
            </a:pPr>
            <a:r>
              <a:rPr lang="en"/>
              <a:t>Matrix elements are </a:t>
            </a:r>
            <a:r>
              <a:rPr lang="en">
                <a:latin typeface="Calibri"/>
                <a:ea typeface="Calibri"/>
                <a:cs typeface="Calibri"/>
                <a:sym typeface="Calibri"/>
              </a:rPr>
              <a:t>double</a:t>
            </a:r>
            <a:r>
              <a:rPr lang="en">
                <a:latin typeface="Arial Narrow"/>
                <a:ea typeface="Arial Narrow"/>
                <a:cs typeface="Arial Narrow"/>
                <a:sym typeface="Arial Narrow"/>
              </a:rPr>
              <a:t>s</a:t>
            </a:r>
            <a:r>
              <a:rPr lang="en"/>
              <a:t> (8 bytes)</a:t>
            </a:r>
            <a:endParaRPr/>
          </a:p>
          <a:p>
            <a:pPr indent="-285750" lvl="1" marL="742950" rtl="0" algn="l">
              <a:spcBef>
                <a:spcPts val="400"/>
              </a:spcBef>
              <a:spcAft>
                <a:spcPts val="0"/>
              </a:spcAft>
              <a:buSzPts val="2200"/>
              <a:buChar char="○"/>
            </a:pPr>
            <a:r>
              <a:rPr lang="en"/>
              <a:t>O(N</a:t>
            </a:r>
            <a:r>
              <a:rPr baseline="30000" lang="en"/>
              <a:t>3</a:t>
            </a:r>
            <a:r>
              <a:rPr lang="en"/>
              <a:t>) total operations</a:t>
            </a:r>
            <a:endParaRPr/>
          </a:p>
          <a:p>
            <a:pPr indent="-285750" lvl="1" marL="742950" rtl="0" algn="l">
              <a:spcBef>
                <a:spcPts val="400"/>
              </a:spcBef>
              <a:spcAft>
                <a:spcPts val="0"/>
              </a:spcAft>
              <a:buSzPts val="2200"/>
              <a:buChar char="○"/>
            </a:pPr>
            <a:r>
              <a:rPr lang="en"/>
              <a:t>N reads per source element</a:t>
            </a:r>
            <a:endParaRPr/>
          </a:p>
          <a:p>
            <a:pPr indent="-285750" lvl="1" marL="742950" rtl="0" algn="l">
              <a:spcBef>
                <a:spcPts val="400"/>
              </a:spcBef>
              <a:spcAft>
                <a:spcPts val="0"/>
              </a:spcAft>
              <a:buSzPts val="2200"/>
              <a:buChar char="○"/>
            </a:pPr>
            <a:r>
              <a:rPr lang="en"/>
              <a:t>N values summed per destination</a:t>
            </a:r>
            <a:endParaRPr/>
          </a:p>
          <a:p>
            <a:pPr indent="-228600" lvl="2" marL="1143000" rtl="0" algn="l">
              <a:spcBef>
                <a:spcPts val="400"/>
              </a:spcBef>
              <a:spcAft>
                <a:spcPts val="0"/>
              </a:spcAft>
              <a:buClr>
                <a:schemeClr val="dk1"/>
              </a:buClr>
              <a:buSzPts val="1600"/>
              <a:buChar char="■"/>
            </a:pPr>
            <a:r>
              <a:rPr lang="en"/>
              <a:t>but may be able to hold in register</a:t>
            </a:r>
            <a:endParaRPr/>
          </a:p>
        </p:txBody>
      </p:sp>
      <p:sp>
        <p:nvSpPr>
          <p:cNvPr id="280" name="Google Shape;280;p41"/>
          <p:cNvSpPr/>
          <p:nvPr/>
        </p:nvSpPr>
        <p:spPr>
          <a:xfrm>
            <a:off x="4440025" y="1664950"/>
            <a:ext cx="4492500" cy="2684700"/>
          </a:xfrm>
          <a:prstGeom prst="rect">
            <a:avLst/>
          </a:prstGeom>
          <a:solidFill>
            <a:srgbClr val="F6F5BD"/>
          </a:solidFill>
          <a:ln cap="flat" cmpd="sng" w="12700">
            <a:solidFill>
              <a:schemeClr val="dk1"/>
            </a:solidFill>
            <a:prstDash val="solid"/>
            <a:miter lim="800000"/>
            <a:headEnd len="sm" w="sm" type="none"/>
            <a:tailEnd len="sm" w="sm" type="none"/>
          </a:ln>
          <a:effectLst>
            <a:outerShdw blurRad="63500" rotWithShape="0" algn="ctr" dir="2700000" dist="107763">
              <a:schemeClr val="dk1">
                <a:alpha val="74900"/>
              </a:schemeClr>
            </a:outerShdw>
          </a:effectLst>
        </p:spPr>
        <p:txBody>
          <a:bodyPr anchorCtr="0" anchor="t" bIns="44450" lIns="90475" spcFirstLastPara="1" rIns="90475" wrap="square" tIns="44450">
            <a:noAutofit/>
          </a:bodyPr>
          <a:lstStyle/>
          <a:p>
            <a:pPr indent="0" lvl="0" marL="0" marR="0" rtl="0" algn="l">
              <a:lnSpc>
                <a:spcPct val="65000"/>
              </a:lnSpc>
              <a:spcBef>
                <a:spcPts val="0"/>
              </a:spcBef>
              <a:spcAft>
                <a:spcPts val="0"/>
              </a:spcAft>
              <a:buNone/>
            </a:pPr>
            <a:r>
              <a:rPr b="1" lang="en" sz="1800">
                <a:solidFill>
                  <a:schemeClr val="dk1"/>
                </a:solidFill>
                <a:latin typeface="Courier New"/>
                <a:ea typeface="Courier New"/>
                <a:cs typeface="Courier New"/>
                <a:sym typeface="Courier New"/>
              </a:rPr>
              <a:t>/* ijk */</a:t>
            </a:r>
            <a:endParaRPr/>
          </a:p>
          <a:p>
            <a:pPr indent="0" lvl="0" marL="0" marR="0" rtl="0" algn="l">
              <a:lnSpc>
                <a:spcPct val="65000"/>
              </a:lnSpc>
              <a:spcBef>
                <a:spcPts val="900"/>
              </a:spcBef>
              <a:spcAft>
                <a:spcPts val="0"/>
              </a:spcAft>
              <a:buNone/>
            </a:pPr>
            <a:r>
              <a:rPr b="1" lang="en" sz="1800">
                <a:solidFill>
                  <a:schemeClr val="dk1"/>
                </a:solidFill>
                <a:latin typeface="Courier New"/>
                <a:ea typeface="Courier New"/>
                <a:cs typeface="Courier New"/>
                <a:sym typeface="Courier New"/>
              </a:rPr>
              <a:t>for (i=0; i&lt;n; i++)  {</a:t>
            </a:r>
            <a:endParaRPr/>
          </a:p>
          <a:p>
            <a:pPr indent="0" lvl="0" marL="0" marR="0" rtl="0" algn="l">
              <a:lnSpc>
                <a:spcPct val="65000"/>
              </a:lnSpc>
              <a:spcBef>
                <a:spcPts val="900"/>
              </a:spcBef>
              <a:spcAft>
                <a:spcPts val="0"/>
              </a:spcAft>
              <a:buNone/>
            </a:pPr>
            <a:r>
              <a:rPr b="1" lang="en" sz="1800">
                <a:solidFill>
                  <a:schemeClr val="dk1"/>
                </a:solidFill>
                <a:latin typeface="Courier New"/>
                <a:ea typeface="Courier New"/>
                <a:cs typeface="Courier New"/>
                <a:sym typeface="Courier New"/>
              </a:rPr>
              <a:t>  for (j=0; j&lt;n; j++) {</a:t>
            </a:r>
            <a:endParaRPr/>
          </a:p>
          <a:p>
            <a:pPr indent="0" lvl="0" marL="0" marR="0" rtl="0" algn="l">
              <a:lnSpc>
                <a:spcPct val="65000"/>
              </a:lnSpc>
              <a:spcBef>
                <a:spcPts val="900"/>
              </a:spcBef>
              <a:spcAft>
                <a:spcPts val="0"/>
              </a:spcAft>
              <a:buNone/>
            </a:pPr>
            <a:r>
              <a:rPr b="1" lang="en" sz="1800">
                <a:solidFill>
                  <a:schemeClr val="dk1"/>
                </a:solidFill>
                <a:latin typeface="Courier New"/>
                <a:ea typeface="Courier New"/>
                <a:cs typeface="Courier New"/>
                <a:sym typeface="Courier New"/>
              </a:rPr>
              <a:t>    sum = 0.0;</a:t>
            </a:r>
            <a:endParaRPr/>
          </a:p>
          <a:p>
            <a:pPr indent="0" lvl="0" marL="0" marR="0" rtl="0" algn="l">
              <a:lnSpc>
                <a:spcPct val="65000"/>
              </a:lnSpc>
              <a:spcBef>
                <a:spcPts val="900"/>
              </a:spcBef>
              <a:spcAft>
                <a:spcPts val="0"/>
              </a:spcAft>
              <a:buNone/>
            </a:pPr>
            <a:r>
              <a:rPr b="1" lang="en" sz="1800">
                <a:solidFill>
                  <a:schemeClr val="dk1"/>
                </a:solidFill>
                <a:latin typeface="Courier New"/>
                <a:ea typeface="Courier New"/>
                <a:cs typeface="Courier New"/>
                <a:sym typeface="Courier New"/>
              </a:rPr>
              <a:t>    for (k=0; k&lt;n; k++) </a:t>
            </a:r>
            <a:endParaRPr/>
          </a:p>
          <a:p>
            <a:pPr indent="0" lvl="0" marL="0" marR="0" rtl="0" algn="l">
              <a:lnSpc>
                <a:spcPct val="65000"/>
              </a:lnSpc>
              <a:spcBef>
                <a:spcPts val="900"/>
              </a:spcBef>
              <a:spcAft>
                <a:spcPts val="0"/>
              </a:spcAft>
              <a:buNone/>
            </a:pPr>
            <a:r>
              <a:rPr b="1" lang="en" sz="1800">
                <a:solidFill>
                  <a:schemeClr val="dk1"/>
                </a:solidFill>
                <a:latin typeface="Courier New"/>
                <a:ea typeface="Courier New"/>
                <a:cs typeface="Courier New"/>
                <a:sym typeface="Courier New"/>
              </a:rPr>
              <a:t>      sum += a[i][k] * b[k][j];</a:t>
            </a:r>
            <a:endParaRPr/>
          </a:p>
          <a:p>
            <a:pPr indent="0" lvl="0" marL="0" marR="0" rtl="0" algn="l">
              <a:lnSpc>
                <a:spcPct val="65000"/>
              </a:lnSpc>
              <a:spcBef>
                <a:spcPts val="900"/>
              </a:spcBef>
              <a:spcAft>
                <a:spcPts val="0"/>
              </a:spcAft>
              <a:buNone/>
            </a:pPr>
            <a:r>
              <a:rPr b="1" lang="en" sz="1800">
                <a:solidFill>
                  <a:schemeClr val="dk1"/>
                </a:solidFill>
                <a:latin typeface="Courier New"/>
                <a:ea typeface="Courier New"/>
                <a:cs typeface="Courier New"/>
                <a:sym typeface="Courier New"/>
              </a:rPr>
              <a:t>    c[i][j] = sum;</a:t>
            </a:r>
            <a:endParaRPr/>
          </a:p>
          <a:p>
            <a:pPr indent="0" lvl="0" marL="0" marR="0" rtl="0" algn="l">
              <a:lnSpc>
                <a:spcPct val="65000"/>
              </a:lnSpc>
              <a:spcBef>
                <a:spcPts val="900"/>
              </a:spcBef>
              <a:spcAft>
                <a:spcPts val="0"/>
              </a:spcAft>
              <a:buNone/>
            </a:pPr>
            <a:r>
              <a:rPr b="1" lang="en" sz="1800">
                <a:solidFill>
                  <a:schemeClr val="dk1"/>
                </a:solidFill>
                <a:latin typeface="Courier New"/>
                <a:ea typeface="Courier New"/>
                <a:cs typeface="Courier New"/>
                <a:sym typeface="Courier New"/>
              </a:rPr>
              <a:t>  }</a:t>
            </a:r>
            <a:endParaRPr/>
          </a:p>
          <a:p>
            <a:pPr indent="0" lvl="0" marL="0" marR="0" rtl="0" algn="l">
              <a:lnSpc>
                <a:spcPct val="65000"/>
              </a:lnSpc>
              <a:spcBef>
                <a:spcPts val="900"/>
              </a:spcBef>
              <a:spcAft>
                <a:spcPts val="0"/>
              </a:spcAft>
              <a:buNone/>
            </a:pPr>
            <a:r>
              <a:rPr b="1" lang="en" sz="1800">
                <a:solidFill>
                  <a:schemeClr val="dk1"/>
                </a:solidFill>
                <a:latin typeface="Courier New"/>
                <a:ea typeface="Courier New"/>
                <a:cs typeface="Courier New"/>
                <a:sym typeface="Courier New"/>
              </a:rPr>
              <a:t>}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42"/>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Miss Rate Analysis for Matrix Multiply</a:t>
            </a:r>
            <a:endParaRPr/>
          </a:p>
        </p:txBody>
      </p:sp>
      <p:sp>
        <p:nvSpPr>
          <p:cNvPr id="286" name="Google Shape;286;p42"/>
          <p:cNvSpPr txBox="1"/>
          <p:nvPr>
            <p:ph idx="1" type="body"/>
          </p:nvPr>
        </p:nvSpPr>
        <p:spPr>
          <a:xfrm>
            <a:off x="311700" y="1152475"/>
            <a:ext cx="8520600" cy="2202600"/>
          </a:xfrm>
          <a:prstGeom prst="rect">
            <a:avLst/>
          </a:prstGeom>
          <a:noFill/>
          <a:ln>
            <a:noFill/>
          </a:ln>
        </p:spPr>
        <p:txBody>
          <a:bodyPr anchorCtr="0" anchor="t" bIns="45700" lIns="91425" spcFirstLastPara="1" rIns="91425" wrap="square" tIns="45700">
            <a:normAutofit fontScale="85000" lnSpcReduction="20000"/>
          </a:bodyPr>
          <a:lstStyle/>
          <a:p>
            <a:pPr indent="-329184" lvl="0" marL="342900" rtl="0" algn="l">
              <a:spcBef>
                <a:spcPts val="0"/>
              </a:spcBef>
              <a:spcAft>
                <a:spcPts val="0"/>
              </a:spcAft>
              <a:buSzPct val="80000"/>
              <a:buChar char="●"/>
            </a:pPr>
            <a:r>
              <a:rPr lang="en"/>
              <a:t>Assume:</a:t>
            </a:r>
            <a:endParaRPr/>
          </a:p>
          <a:p>
            <a:pPr indent="-264795" lvl="1" marL="742950" rtl="0" algn="l">
              <a:spcBef>
                <a:spcPts val="400"/>
              </a:spcBef>
              <a:spcAft>
                <a:spcPts val="0"/>
              </a:spcAft>
              <a:buSzPct val="157143"/>
              <a:buChar char="○"/>
            </a:pPr>
            <a:r>
              <a:rPr lang="en"/>
              <a:t>Block size = 32B (big enough for four </a:t>
            </a:r>
            <a:r>
              <a:rPr lang="en">
                <a:latin typeface="Calibri"/>
                <a:ea typeface="Calibri"/>
                <a:cs typeface="Calibri"/>
                <a:sym typeface="Calibri"/>
              </a:rPr>
              <a:t>doubles</a:t>
            </a:r>
            <a:r>
              <a:rPr lang="en"/>
              <a:t>)</a:t>
            </a:r>
            <a:endParaRPr/>
          </a:p>
          <a:p>
            <a:pPr indent="-264795" lvl="1" marL="742950" rtl="0" algn="l">
              <a:spcBef>
                <a:spcPts val="400"/>
              </a:spcBef>
              <a:spcAft>
                <a:spcPts val="0"/>
              </a:spcAft>
              <a:buSzPct val="157143"/>
              <a:buChar char="○"/>
            </a:pPr>
            <a:r>
              <a:rPr lang="en"/>
              <a:t>Matrix dimension (N) is very large</a:t>
            </a:r>
            <a:endParaRPr/>
          </a:p>
          <a:p>
            <a:pPr indent="-213360" lvl="2" marL="1143000" rtl="0" algn="l">
              <a:spcBef>
                <a:spcPts val="400"/>
              </a:spcBef>
              <a:spcAft>
                <a:spcPts val="0"/>
              </a:spcAft>
              <a:buClr>
                <a:schemeClr val="dk1"/>
              </a:buClr>
              <a:buSzPct val="114286"/>
              <a:buChar char="■"/>
            </a:pPr>
            <a:r>
              <a:rPr lang="en"/>
              <a:t>Approximate 1/N as 0.0</a:t>
            </a:r>
            <a:endParaRPr/>
          </a:p>
          <a:p>
            <a:pPr indent="-264795" lvl="1" marL="742950" rtl="0" algn="l">
              <a:spcBef>
                <a:spcPts val="400"/>
              </a:spcBef>
              <a:spcAft>
                <a:spcPts val="0"/>
              </a:spcAft>
              <a:buSzPct val="157143"/>
              <a:buChar char="○"/>
            </a:pPr>
            <a:r>
              <a:rPr lang="en"/>
              <a:t>Cache is not even big enough to hold multiple rows</a:t>
            </a:r>
            <a:endParaRPr/>
          </a:p>
          <a:p>
            <a:pPr indent="-329184" lvl="0" marL="342900" rtl="0" algn="l">
              <a:spcBef>
                <a:spcPts val="480"/>
              </a:spcBef>
              <a:spcAft>
                <a:spcPts val="0"/>
              </a:spcAft>
              <a:buSzPct val="80000"/>
              <a:buChar char="●"/>
            </a:pPr>
            <a:r>
              <a:rPr lang="en"/>
              <a:t>Analysis Method:</a:t>
            </a:r>
            <a:endParaRPr/>
          </a:p>
          <a:p>
            <a:pPr indent="-264795" lvl="1" marL="742950" rtl="0" algn="l">
              <a:spcBef>
                <a:spcPts val="400"/>
              </a:spcBef>
              <a:spcAft>
                <a:spcPts val="0"/>
              </a:spcAft>
              <a:buSzPct val="157143"/>
              <a:buChar char="○"/>
            </a:pPr>
            <a:r>
              <a:rPr lang="en"/>
              <a:t>Look at access pattern of inner loop</a:t>
            </a:r>
            <a:endParaRPr/>
          </a:p>
        </p:txBody>
      </p:sp>
      <p:pic>
        <p:nvPicPr>
          <p:cNvPr descr="Matrix Multiplication loops visualized" id="287" name="Google Shape;287;p42"/>
          <p:cNvPicPr preferRelativeResize="0"/>
          <p:nvPr/>
        </p:nvPicPr>
        <p:blipFill>
          <a:blip r:embed="rId3">
            <a:alphaModFix/>
          </a:blip>
          <a:stretch>
            <a:fillRect/>
          </a:stretch>
        </p:blipFill>
        <p:spPr>
          <a:xfrm>
            <a:off x="517013" y="3309398"/>
            <a:ext cx="8090549" cy="16305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3"/>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Layout of C Arrays in Memory (review)</a:t>
            </a:r>
            <a:endParaRPr/>
          </a:p>
        </p:txBody>
      </p:sp>
      <p:sp>
        <p:nvSpPr>
          <p:cNvPr id="293" name="Google Shape;293;p43"/>
          <p:cNvSpPr txBox="1"/>
          <p:nvPr>
            <p:ph idx="1" type="body"/>
          </p:nvPr>
        </p:nvSpPr>
        <p:spPr>
          <a:xfrm>
            <a:off x="311700" y="1053450"/>
            <a:ext cx="8520600" cy="3757200"/>
          </a:xfrm>
          <a:prstGeom prst="rect">
            <a:avLst/>
          </a:prstGeom>
          <a:noFill/>
          <a:ln>
            <a:noFill/>
          </a:ln>
        </p:spPr>
        <p:txBody>
          <a:bodyPr anchorCtr="0" anchor="t" bIns="45700" lIns="91425" spcFirstLastPara="1" rIns="91425" wrap="square" tIns="45700">
            <a:normAutofit lnSpcReduction="10000"/>
          </a:bodyPr>
          <a:lstStyle/>
          <a:p>
            <a:pPr indent="-349250" lvl="0" marL="457200" rtl="0" algn="l">
              <a:lnSpc>
                <a:spcPct val="115000"/>
              </a:lnSpc>
              <a:spcBef>
                <a:spcPts val="0"/>
              </a:spcBef>
              <a:spcAft>
                <a:spcPts val="0"/>
              </a:spcAft>
              <a:buSzPts val="1900"/>
              <a:buChar char="●"/>
            </a:pPr>
            <a:r>
              <a:rPr lang="en" sz="1900"/>
              <a:t>C arrays allocated in row-major order</a:t>
            </a:r>
            <a:endParaRPr sz="1900"/>
          </a:p>
          <a:p>
            <a:pPr indent="-323850" lvl="1" marL="914400" rtl="0" algn="l">
              <a:lnSpc>
                <a:spcPct val="115000"/>
              </a:lnSpc>
              <a:spcBef>
                <a:spcPts val="0"/>
              </a:spcBef>
              <a:spcAft>
                <a:spcPts val="0"/>
              </a:spcAft>
              <a:buSzPts val="1500"/>
              <a:buChar char="○"/>
            </a:pPr>
            <a:r>
              <a:rPr lang="en" sz="1500"/>
              <a:t>each row in contiguous memory locations</a:t>
            </a:r>
            <a:endParaRPr sz="1500"/>
          </a:p>
          <a:p>
            <a:pPr indent="-349250" lvl="0" marL="457200" rtl="0" algn="l">
              <a:lnSpc>
                <a:spcPct val="115000"/>
              </a:lnSpc>
              <a:spcBef>
                <a:spcPts val="0"/>
              </a:spcBef>
              <a:spcAft>
                <a:spcPts val="0"/>
              </a:spcAft>
              <a:buSzPts val="1900"/>
              <a:buChar char="●"/>
            </a:pPr>
            <a:r>
              <a:rPr lang="en" sz="1900"/>
              <a:t>Stepping through columns in one row:</a:t>
            </a:r>
            <a:endParaRPr sz="1900"/>
          </a:p>
          <a:p>
            <a:pPr indent="-316612" lvl="1" marL="914400" rtl="0" algn="l">
              <a:lnSpc>
                <a:spcPct val="115000"/>
              </a:lnSpc>
              <a:spcBef>
                <a:spcPts val="0"/>
              </a:spcBef>
              <a:spcAft>
                <a:spcPts val="0"/>
              </a:spcAft>
              <a:buSzPts val="1386"/>
              <a:buChar char="○"/>
            </a:pPr>
            <a:r>
              <a:rPr lang="en" sz="1386"/>
              <a:t>for (i = 0; i &lt; N; i++)</a:t>
            </a:r>
            <a:endParaRPr sz="1386"/>
          </a:p>
          <a:p>
            <a:pPr indent="-316612" lvl="2" marL="1371600" rtl="0" algn="l">
              <a:lnSpc>
                <a:spcPct val="115000"/>
              </a:lnSpc>
              <a:spcBef>
                <a:spcPts val="0"/>
              </a:spcBef>
              <a:spcAft>
                <a:spcPts val="0"/>
              </a:spcAft>
              <a:buSzPts val="1386"/>
              <a:buChar char="■"/>
            </a:pPr>
            <a:r>
              <a:rPr lang="en" sz="1386"/>
              <a:t>sum += a[0][i];</a:t>
            </a:r>
            <a:endParaRPr sz="1386"/>
          </a:p>
          <a:p>
            <a:pPr indent="-323850" lvl="1" marL="914400" rtl="0" algn="l">
              <a:lnSpc>
                <a:spcPct val="115000"/>
              </a:lnSpc>
              <a:spcBef>
                <a:spcPts val="0"/>
              </a:spcBef>
              <a:spcAft>
                <a:spcPts val="0"/>
              </a:spcAft>
              <a:buSzPts val="1500"/>
              <a:buChar char="○"/>
            </a:pPr>
            <a:r>
              <a:rPr lang="en" sz="1500"/>
              <a:t>accesses successive elements</a:t>
            </a:r>
            <a:endParaRPr sz="1500"/>
          </a:p>
          <a:p>
            <a:pPr indent="-323850" lvl="1" marL="914400" rtl="0" algn="l">
              <a:lnSpc>
                <a:spcPct val="115000"/>
              </a:lnSpc>
              <a:spcBef>
                <a:spcPts val="0"/>
              </a:spcBef>
              <a:spcAft>
                <a:spcPts val="0"/>
              </a:spcAft>
              <a:buSzPts val="1500"/>
              <a:buChar char="○"/>
            </a:pPr>
            <a:r>
              <a:rPr lang="en" sz="1500"/>
              <a:t>if block size (B) &gt; sizeof(a</a:t>
            </a:r>
            <a:r>
              <a:rPr baseline="-25000" lang="en" sz="1500"/>
              <a:t>ij</a:t>
            </a:r>
            <a:r>
              <a:rPr lang="en" sz="1500"/>
              <a:t>) bytes, exploit spatial locality</a:t>
            </a:r>
            <a:endParaRPr sz="1500"/>
          </a:p>
          <a:p>
            <a:pPr indent="-323850" lvl="2" marL="1371600" rtl="0" algn="l">
              <a:lnSpc>
                <a:spcPct val="115000"/>
              </a:lnSpc>
              <a:spcBef>
                <a:spcPts val="0"/>
              </a:spcBef>
              <a:spcAft>
                <a:spcPts val="0"/>
              </a:spcAft>
              <a:buSzPts val="1500"/>
              <a:buChar char="■"/>
            </a:pPr>
            <a:r>
              <a:rPr lang="en" sz="1500"/>
              <a:t>miss rate = sizeof(a</a:t>
            </a:r>
            <a:r>
              <a:rPr baseline="-25000" lang="en" sz="1500"/>
              <a:t>ij</a:t>
            </a:r>
            <a:r>
              <a:rPr lang="en" sz="1500"/>
              <a:t>) / B</a:t>
            </a:r>
            <a:endParaRPr sz="1500"/>
          </a:p>
          <a:p>
            <a:pPr indent="-349250" lvl="0" marL="457200" rtl="0" algn="l">
              <a:lnSpc>
                <a:spcPct val="115000"/>
              </a:lnSpc>
              <a:spcBef>
                <a:spcPts val="0"/>
              </a:spcBef>
              <a:spcAft>
                <a:spcPts val="0"/>
              </a:spcAft>
              <a:buSzPts val="1900"/>
              <a:buChar char="●"/>
            </a:pPr>
            <a:r>
              <a:rPr lang="en" sz="1900"/>
              <a:t>Stepping through rows in one column:</a:t>
            </a:r>
            <a:endParaRPr sz="1900"/>
          </a:p>
          <a:p>
            <a:pPr indent="-323850" lvl="1" marL="914400" rtl="0" algn="l">
              <a:lnSpc>
                <a:spcPct val="115000"/>
              </a:lnSpc>
              <a:spcBef>
                <a:spcPts val="0"/>
              </a:spcBef>
              <a:spcAft>
                <a:spcPts val="0"/>
              </a:spcAft>
              <a:buSzPts val="1500"/>
              <a:buChar char="○"/>
            </a:pPr>
            <a:r>
              <a:rPr lang="en" sz="1500"/>
              <a:t>for (i = 0; i &lt; n; i++)</a:t>
            </a:r>
            <a:endParaRPr sz="1500"/>
          </a:p>
          <a:p>
            <a:pPr indent="-361950" lvl="2" marL="1371600" rtl="0" algn="l">
              <a:lnSpc>
                <a:spcPct val="115000"/>
              </a:lnSpc>
              <a:spcBef>
                <a:spcPts val="0"/>
              </a:spcBef>
              <a:spcAft>
                <a:spcPts val="0"/>
              </a:spcAft>
              <a:buSzPts val="2100"/>
              <a:buChar char="■"/>
            </a:pPr>
            <a:r>
              <a:rPr lang="en" sz="2100"/>
              <a:t>sum += a[i][0];</a:t>
            </a:r>
            <a:endParaRPr sz="1500"/>
          </a:p>
          <a:p>
            <a:pPr indent="-323850" lvl="1" marL="914400" rtl="0" algn="l">
              <a:lnSpc>
                <a:spcPct val="115000"/>
              </a:lnSpc>
              <a:spcBef>
                <a:spcPts val="0"/>
              </a:spcBef>
              <a:spcAft>
                <a:spcPts val="0"/>
              </a:spcAft>
              <a:buSzPts val="1500"/>
              <a:buChar char="○"/>
            </a:pPr>
            <a:r>
              <a:rPr lang="en" sz="1500"/>
              <a:t>accesses distant elements</a:t>
            </a:r>
            <a:endParaRPr sz="1500"/>
          </a:p>
          <a:p>
            <a:pPr indent="-323850" lvl="1" marL="914400" rtl="0" algn="l">
              <a:lnSpc>
                <a:spcPct val="115000"/>
              </a:lnSpc>
              <a:spcBef>
                <a:spcPts val="0"/>
              </a:spcBef>
              <a:spcAft>
                <a:spcPts val="0"/>
              </a:spcAft>
              <a:buSzPts val="1500"/>
              <a:buChar char="○"/>
            </a:pPr>
            <a:r>
              <a:rPr lang="en" sz="1500"/>
              <a:t>no spatial locality!</a:t>
            </a:r>
            <a:endParaRPr sz="1500"/>
          </a:p>
          <a:p>
            <a:pPr indent="-323850" lvl="2" marL="1371600" rtl="0" algn="l">
              <a:lnSpc>
                <a:spcPct val="115000"/>
              </a:lnSpc>
              <a:spcBef>
                <a:spcPts val="0"/>
              </a:spcBef>
              <a:spcAft>
                <a:spcPts val="0"/>
              </a:spcAft>
              <a:buSzPts val="1500"/>
              <a:buChar char="■"/>
            </a:pPr>
            <a:r>
              <a:rPr lang="en" sz="1500"/>
              <a:t>miss rate = 1 (i.e. 100%)</a:t>
            </a:r>
            <a:endParaRPr sz="15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4"/>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Matrix Multiplication (ijk) == (jik)</a:t>
            </a:r>
            <a:endParaRPr/>
          </a:p>
        </p:txBody>
      </p:sp>
      <p:sp>
        <p:nvSpPr>
          <p:cNvPr id="299" name="Google Shape;299;p44"/>
          <p:cNvSpPr/>
          <p:nvPr/>
        </p:nvSpPr>
        <p:spPr>
          <a:xfrm>
            <a:off x="540625" y="1140775"/>
            <a:ext cx="4492500" cy="2672700"/>
          </a:xfrm>
          <a:prstGeom prst="rect">
            <a:avLst/>
          </a:prstGeom>
          <a:solidFill>
            <a:srgbClr val="F6F5BD"/>
          </a:solidFill>
          <a:ln cap="flat" cmpd="sng" w="12700">
            <a:solidFill>
              <a:schemeClr val="dk1"/>
            </a:solidFill>
            <a:prstDash val="solid"/>
            <a:miter lim="800000"/>
            <a:headEnd len="sm" w="sm" type="none"/>
            <a:tailEnd len="sm" w="sm" type="none"/>
          </a:ln>
          <a:effectLst>
            <a:outerShdw blurRad="63500" rotWithShape="0" algn="ctr" dir="2700000" dist="107763">
              <a:schemeClr val="dk1">
                <a:alpha val="74900"/>
              </a:schemeClr>
            </a:outerShdw>
          </a:effectLst>
        </p:spPr>
        <p:txBody>
          <a:bodyPr anchorCtr="0" anchor="t" bIns="44450" lIns="90475" spcFirstLastPara="1" rIns="90475" wrap="square" tIns="44450">
            <a:noAutofit/>
          </a:bodyPr>
          <a:lstStyle/>
          <a:p>
            <a:pPr indent="0" lvl="0" marL="0" marR="0" rtl="0" algn="l">
              <a:lnSpc>
                <a:spcPct val="65000"/>
              </a:lnSpc>
              <a:spcBef>
                <a:spcPts val="0"/>
              </a:spcBef>
              <a:spcAft>
                <a:spcPts val="0"/>
              </a:spcAft>
              <a:buNone/>
            </a:pPr>
            <a:r>
              <a:rPr b="1" lang="en" sz="1800">
                <a:solidFill>
                  <a:schemeClr val="dk1"/>
                </a:solidFill>
                <a:latin typeface="Courier New"/>
                <a:ea typeface="Courier New"/>
                <a:cs typeface="Courier New"/>
                <a:sym typeface="Courier New"/>
              </a:rPr>
              <a:t>/* ijk */</a:t>
            </a:r>
            <a:endParaRPr/>
          </a:p>
          <a:p>
            <a:pPr indent="0" lvl="0" marL="0" marR="0" rtl="0" algn="l">
              <a:lnSpc>
                <a:spcPct val="65000"/>
              </a:lnSpc>
              <a:spcBef>
                <a:spcPts val="900"/>
              </a:spcBef>
              <a:spcAft>
                <a:spcPts val="0"/>
              </a:spcAft>
              <a:buNone/>
            </a:pPr>
            <a:r>
              <a:rPr b="1" lang="en" sz="1800">
                <a:solidFill>
                  <a:schemeClr val="dk1"/>
                </a:solidFill>
                <a:latin typeface="Courier New"/>
                <a:ea typeface="Courier New"/>
                <a:cs typeface="Courier New"/>
                <a:sym typeface="Courier New"/>
              </a:rPr>
              <a:t>for (i=0; i&lt;n; i++)  {</a:t>
            </a:r>
            <a:endParaRPr/>
          </a:p>
          <a:p>
            <a:pPr indent="0" lvl="0" marL="0" marR="0" rtl="0" algn="l">
              <a:lnSpc>
                <a:spcPct val="65000"/>
              </a:lnSpc>
              <a:spcBef>
                <a:spcPts val="900"/>
              </a:spcBef>
              <a:spcAft>
                <a:spcPts val="0"/>
              </a:spcAft>
              <a:buNone/>
            </a:pPr>
            <a:r>
              <a:rPr b="1" lang="en" sz="1800">
                <a:solidFill>
                  <a:schemeClr val="dk1"/>
                </a:solidFill>
                <a:latin typeface="Courier New"/>
                <a:ea typeface="Courier New"/>
                <a:cs typeface="Courier New"/>
                <a:sym typeface="Courier New"/>
              </a:rPr>
              <a:t>  for (j=0; j&lt;n; j++) {</a:t>
            </a:r>
            <a:endParaRPr/>
          </a:p>
          <a:p>
            <a:pPr indent="0" lvl="0" marL="0" marR="0" rtl="0" algn="l">
              <a:lnSpc>
                <a:spcPct val="65000"/>
              </a:lnSpc>
              <a:spcBef>
                <a:spcPts val="900"/>
              </a:spcBef>
              <a:spcAft>
                <a:spcPts val="0"/>
              </a:spcAft>
              <a:buNone/>
            </a:pPr>
            <a:r>
              <a:rPr b="1" lang="en" sz="1800">
                <a:solidFill>
                  <a:schemeClr val="dk1"/>
                </a:solidFill>
                <a:latin typeface="Courier New"/>
                <a:ea typeface="Courier New"/>
                <a:cs typeface="Courier New"/>
                <a:sym typeface="Courier New"/>
              </a:rPr>
              <a:t>    sum = 0.0;</a:t>
            </a:r>
            <a:endParaRPr/>
          </a:p>
          <a:p>
            <a:pPr indent="0" lvl="0" marL="0" marR="0" rtl="0" algn="l">
              <a:lnSpc>
                <a:spcPct val="65000"/>
              </a:lnSpc>
              <a:spcBef>
                <a:spcPts val="900"/>
              </a:spcBef>
              <a:spcAft>
                <a:spcPts val="0"/>
              </a:spcAft>
              <a:buNone/>
            </a:pPr>
            <a:r>
              <a:rPr b="1" lang="en" sz="1800">
                <a:solidFill>
                  <a:schemeClr val="dk1"/>
                </a:solidFill>
                <a:latin typeface="Courier New"/>
                <a:ea typeface="Courier New"/>
                <a:cs typeface="Courier New"/>
                <a:sym typeface="Courier New"/>
              </a:rPr>
              <a:t>    for (k=0; k&lt;n; k++) </a:t>
            </a:r>
            <a:endParaRPr/>
          </a:p>
          <a:p>
            <a:pPr indent="0" lvl="0" marL="0" marR="0" rtl="0" algn="l">
              <a:lnSpc>
                <a:spcPct val="65000"/>
              </a:lnSpc>
              <a:spcBef>
                <a:spcPts val="900"/>
              </a:spcBef>
              <a:spcAft>
                <a:spcPts val="0"/>
              </a:spcAft>
              <a:buNone/>
            </a:pPr>
            <a:r>
              <a:rPr b="1" lang="en" sz="1800">
                <a:solidFill>
                  <a:schemeClr val="dk1"/>
                </a:solidFill>
                <a:latin typeface="Courier New"/>
                <a:ea typeface="Courier New"/>
                <a:cs typeface="Courier New"/>
                <a:sym typeface="Courier New"/>
              </a:rPr>
              <a:t>      </a:t>
            </a:r>
            <a:r>
              <a:rPr b="1" lang="en" sz="1800">
                <a:solidFill>
                  <a:srgbClr val="FF0000"/>
                </a:solidFill>
                <a:latin typeface="Courier New"/>
                <a:ea typeface="Courier New"/>
                <a:cs typeface="Courier New"/>
                <a:sym typeface="Courier New"/>
              </a:rPr>
              <a:t>sum += a[i][k] * b[k][j];</a:t>
            </a:r>
            <a:endParaRPr/>
          </a:p>
          <a:p>
            <a:pPr indent="0" lvl="0" marL="0" marR="0" rtl="0" algn="l">
              <a:lnSpc>
                <a:spcPct val="65000"/>
              </a:lnSpc>
              <a:spcBef>
                <a:spcPts val="900"/>
              </a:spcBef>
              <a:spcAft>
                <a:spcPts val="0"/>
              </a:spcAft>
              <a:buNone/>
            </a:pPr>
            <a:r>
              <a:rPr b="1" lang="en" sz="1800">
                <a:solidFill>
                  <a:schemeClr val="dk1"/>
                </a:solidFill>
                <a:latin typeface="Courier New"/>
                <a:ea typeface="Courier New"/>
                <a:cs typeface="Courier New"/>
                <a:sym typeface="Courier New"/>
              </a:rPr>
              <a:t>    c[i][j] = sum;</a:t>
            </a:r>
            <a:endParaRPr/>
          </a:p>
          <a:p>
            <a:pPr indent="0" lvl="0" marL="0" marR="0" rtl="0" algn="l">
              <a:lnSpc>
                <a:spcPct val="65000"/>
              </a:lnSpc>
              <a:spcBef>
                <a:spcPts val="900"/>
              </a:spcBef>
              <a:spcAft>
                <a:spcPts val="0"/>
              </a:spcAft>
              <a:buNone/>
            </a:pPr>
            <a:r>
              <a:rPr b="1" lang="en" sz="1800">
                <a:solidFill>
                  <a:schemeClr val="dk1"/>
                </a:solidFill>
                <a:latin typeface="Courier New"/>
                <a:ea typeface="Courier New"/>
                <a:cs typeface="Courier New"/>
                <a:sym typeface="Courier New"/>
              </a:rPr>
              <a:t>  }</a:t>
            </a:r>
            <a:endParaRPr/>
          </a:p>
          <a:p>
            <a:pPr indent="0" lvl="0" marL="0" marR="0" rtl="0" algn="l">
              <a:lnSpc>
                <a:spcPct val="65000"/>
              </a:lnSpc>
              <a:spcBef>
                <a:spcPts val="900"/>
              </a:spcBef>
              <a:spcAft>
                <a:spcPts val="0"/>
              </a:spcAft>
              <a:buNone/>
            </a:pPr>
            <a:r>
              <a:rPr b="1" lang="en" sz="1800">
                <a:solidFill>
                  <a:schemeClr val="dk1"/>
                </a:solidFill>
                <a:latin typeface="Courier New"/>
                <a:ea typeface="Courier New"/>
                <a:cs typeface="Courier New"/>
                <a:sym typeface="Courier New"/>
              </a:rPr>
              <a:t>} </a:t>
            </a:r>
            <a:endParaRPr/>
          </a:p>
        </p:txBody>
      </p:sp>
      <p:pic>
        <p:nvPicPr>
          <p:cNvPr descr="Matrix multiplication with innermost loop elements highlighted" id="300" name="Google Shape;300;p44"/>
          <p:cNvPicPr preferRelativeResize="0"/>
          <p:nvPr/>
        </p:nvPicPr>
        <p:blipFill>
          <a:blip r:embed="rId3">
            <a:alphaModFix/>
          </a:blip>
          <a:stretch>
            <a:fillRect/>
          </a:stretch>
        </p:blipFill>
        <p:spPr>
          <a:xfrm>
            <a:off x="5185525" y="1227725"/>
            <a:ext cx="3806076" cy="2216565"/>
          </a:xfrm>
          <a:prstGeom prst="rect">
            <a:avLst/>
          </a:prstGeom>
          <a:noFill/>
          <a:ln>
            <a:noFill/>
          </a:ln>
        </p:spPr>
      </p:pic>
      <p:sp>
        <p:nvSpPr>
          <p:cNvPr id="301" name="Google Shape;301;p44"/>
          <p:cNvSpPr/>
          <p:nvPr/>
        </p:nvSpPr>
        <p:spPr>
          <a:xfrm>
            <a:off x="3461200" y="3936525"/>
            <a:ext cx="5492700" cy="964800"/>
          </a:xfrm>
          <a:prstGeom prst="rect">
            <a:avLst/>
          </a:prstGeom>
          <a:noFill/>
          <a:ln>
            <a:noFill/>
          </a:ln>
        </p:spPr>
        <p:txBody>
          <a:bodyPr anchorCtr="0" anchor="t" bIns="44450" lIns="90475" spcFirstLastPara="1" rIns="90475" wrap="square" tIns="44450">
            <a:noAutofit/>
          </a:bodyPr>
          <a:lstStyle/>
          <a:p>
            <a:pPr indent="-223838" lvl="0" marL="223838" marR="0" rtl="0" algn="l">
              <a:lnSpc>
                <a:spcPct val="100000"/>
              </a:lnSpc>
              <a:spcBef>
                <a:spcPts val="0"/>
              </a:spcBef>
              <a:spcAft>
                <a:spcPts val="0"/>
              </a:spcAft>
              <a:buNone/>
            </a:pPr>
            <a:r>
              <a:rPr lang="en" sz="2400">
                <a:solidFill>
                  <a:schemeClr val="dk1"/>
                </a:solidFill>
                <a:latin typeface="Proxima Nova"/>
                <a:ea typeface="Proxima Nova"/>
                <a:cs typeface="Proxima Nova"/>
                <a:sym typeface="Proxima Nova"/>
              </a:rPr>
              <a:t>Misses per inner loop iteration:</a:t>
            </a:r>
            <a:endParaRPr>
              <a:latin typeface="Proxima Nova"/>
              <a:ea typeface="Proxima Nova"/>
              <a:cs typeface="Proxima Nova"/>
              <a:sym typeface="Proxima Nova"/>
            </a:endParaRPr>
          </a:p>
          <a:p>
            <a:pPr indent="-222250" lvl="1" marL="560388" marR="0" rtl="0" algn="l">
              <a:lnSpc>
                <a:spcPct val="100000"/>
              </a:lnSpc>
              <a:spcBef>
                <a:spcPts val="0"/>
              </a:spcBef>
              <a:spcAft>
                <a:spcPts val="0"/>
              </a:spcAft>
              <a:buNone/>
            </a:pPr>
            <a:r>
              <a:rPr i="0" lang="en" sz="2400" cap="none" strike="noStrike">
                <a:solidFill>
                  <a:schemeClr val="dk1"/>
                </a:solidFill>
                <a:latin typeface="Proxima Nova"/>
                <a:ea typeface="Proxima Nova"/>
                <a:cs typeface="Proxima Nova"/>
                <a:sym typeface="Proxima Nova"/>
              </a:rPr>
              <a:t>		A: </a:t>
            </a:r>
            <a:r>
              <a:rPr lang="en" sz="2400">
                <a:solidFill>
                  <a:schemeClr val="dk1"/>
                </a:solidFill>
                <a:latin typeface="Proxima Nova"/>
                <a:ea typeface="Proxima Nova"/>
                <a:cs typeface="Proxima Nova"/>
                <a:sym typeface="Proxima Nova"/>
              </a:rPr>
              <a:t>0.25</a:t>
            </a:r>
            <a:r>
              <a:rPr i="0" lang="en" sz="2400" cap="none" strike="noStrike">
                <a:solidFill>
                  <a:schemeClr val="dk1"/>
                </a:solidFill>
                <a:latin typeface="Proxima Nova"/>
                <a:ea typeface="Proxima Nova"/>
                <a:cs typeface="Proxima Nova"/>
                <a:sym typeface="Proxima Nova"/>
              </a:rPr>
              <a:t>	B: </a:t>
            </a:r>
            <a:r>
              <a:rPr lang="en" sz="2400">
                <a:solidFill>
                  <a:schemeClr val="dk1"/>
                </a:solidFill>
                <a:latin typeface="Proxima Nova"/>
                <a:ea typeface="Proxima Nova"/>
                <a:cs typeface="Proxima Nova"/>
                <a:sym typeface="Proxima Nova"/>
              </a:rPr>
              <a:t>1</a:t>
            </a:r>
            <a:r>
              <a:rPr i="0" lang="en" sz="2400" cap="none" strike="noStrike">
                <a:solidFill>
                  <a:schemeClr val="dk1"/>
                </a:solidFill>
                <a:latin typeface="Proxima Nova"/>
                <a:ea typeface="Proxima Nova"/>
                <a:cs typeface="Proxima Nova"/>
                <a:sym typeface="Proxima Nova"/>
              </a:rPr>
              <a:t>.0	</a:t>
            </a:r>
            <a:r>
              <a:rPr lang="en" sz="2400">
                <a:solidFill>
                  <a:schemeClr val="dk1"/>
                </a:solidFill>
                <a:latin typeface="Proxima Nova"/>
                <a:ea typeface="Proxima Nova"/>
                <a:cs typeface="Proxima Nova"/>
                <a:sym typeface="Proxima Nova"/>
              </a:rPr>
              <a:t> 	</a:t>
            </a:r>
            <a:r>
              <a:rPr i="0" lang="en" sz="2400" cap="none" strike="noStrike">
                <a:solidFill>
                  <a:schemeClr val="dk1"/>
                </a:solidFill>
                <a:latin typeface="Proxima Nova"/>
                <a:ea typeface="Proxima Nova"/>
                <a:cs typeface="Proxima Nova"/>
                <a:sym typeface="Proxima Nova"/>
              </a:rPr>
              <a:t>C: </a:t>
            </a:r>
            <a:r>
              <a:rPr lang="en" sz="2400">
                <a:solidFill>
                  <a:schemeClr val="dk1"/>
                </a:solidFill>
                <a:latin typeface="Proxima Nova"/>
                <a:ea typeface="Proxima Nova"/>
                <a:cs typeface="Proxima Nova"/>
                <a:sym typeface="Proxima Nova"/>
              </a:rPr>
              <a:t>0</a:t>
            </a:r>
            <a:r>
              <a:rPr i="0" lang="en" sz="2400" cap="none" strike="noStrike">
                <a:solidFill>
                  <a:schemeClr val="dk1"/>
                </a:solidFill>
                <a:latin typeface="Proxima Nova"/>
                <a:ea typeface="Proxima Nova"/>
                <a:cs typeface="Proxima Nova"/>
                <a:sym typeface="Proxima Nova"/>
              </a:rPr>
              <a:t>.0</a:t>
            </a:r>
            <a:endParaRPr>
              <a:latin typeface="Proxima Nova"/>
              <a:ea typeface="Proxima Nova"/>
              <a:cs typeface="Proxima Nova"/>
              <a:sym typeface="Proxima Nova"/>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45"/>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Matrix Multiplication (kij) == </a:t>
            </a:r>
            <a:r>
              <a:rPr lang="en"/>
              <a:t>(ikj)</a:t>
            </a:r>
            <a:endParaRPr/>
          </a:p>
        </p:txBody>
      </p:sp>
      <p:sp>
        <p:nvSpPr>
          <p:cNvPr id="307" name="Google Shape;307;p45"/>
          <p:cNvSpPr/>
          <p:nvPr/>
        </p:nvSpPr>
        <p:spPr>
          <a:xfrm>
            <a:off x="452450" y="1191838"/>
            <a:ext cx="4263900" cy="2384100"/>
          </a:xfrm>
          <a:prstGeom prst="rect">
            <a:avLst/>
          </a:prstGeom>
          <a:solidFill>
            <a:srgbClr val="F6F5BD"/>
          </a:solidFill>
          <a:ln cap="flat" cmpd="sng" w="12700">
            <a:solidFill>
              <a:schemeClr val="dk1"/>
            </a:solidFill>
            <a:prstDash val="solid"/>
            <a:miter lim="800000"/>
            <a:headEnd len="sm" w="sm" type="none"/>
            <a:tailEnd len="sm" w="sm" type="none"/>
          </a:ln>
          <a:effectLst>
            <a:outerShdw blurRad="63500" rotWithShape="0" algn="ctr" dir="2700000" dist="107763">
              <a:srgbClr val="000000">
                <a:alpha val="74900"/>
              </a:srgbClr>
            </a:outerShdw>
          </a:effectLst>
        </p:spPr>
        <p:txBody>
          <a:bodyPr anchorCtr="0" anchor="t" bIns="44450" lIns="90475" spcFirstLastPara="1" rIns="90475" wrap="square" tIns="44450">
            <a:noAutofit/>
          </a:bodyPr>
          <a:lstStyle/>
          <a:p>
            <a:pPr indent="0" lvl="0" marL="0" marR="0" rtl="0" algn="l">
              <a:lnSpc>
                <a:spcPct val="65000"/>
              </a:lnSpc>
              <a:spcBef>
                <a:spcPts val="0"/>
              </a:spcBef>
              <a:spcAft>
                <a:spcPts val="0"/>
              </a:spcAft>
              <a:buNone/>
            </a:pPr>
            <a:r>
              <a:rPr b="1" lang="en" sz="1800">
                <a:solidFill>
                  <a:schemeClr val="dk1"/>
                </a:solidFill>
                <a:latin typeface="Courier New"/>
                <a:ea typeface="Courier New"/>
                <a:cs typeface="Courier New"/>
                <a:sym typeface="Courier New"/>
              </a:rPr>
              <a:t>/* kij */</a:t>
            </a:r>
            <a:endParaRPr/>
          </a:p>
          <a:p>
            <a:pPr indent="0" lvl="0" marL="0" marR="0" rtl="0" algn="l">
              <a:lnSpc>
                <a:spcPct val="65000"/>
              </a:lnSpc>
              <a:spcBef>
                <a:spcPts val="900"/>
              </a:spcBef>
              <a:spcAft>
                <a:spcPts val="0"/>
              </a:spcAft>
              <a:buNone/>
            </a:pPr>
            <a:r>
              <a:rPr b="1" lang="en" sz="1800">
                <a:solidFill>
                  <a:schemeClr val="dk1"/>
                </a:solidFill>
                <a:latin typeface="Courier New"/>
                <a:ea typeface="Courier New"/>
                <a:cs typeface="Courier New"/>
                <a:sym typeface="Courier New"/>
              </a:rPr>
              <a:t>for (k=0; k&lt;n; k++) {</a:t>
            </a:r>
            <a:endParaRPr/>
          </a:p>
          <a:p>
            <a:pPr indent="0" lvl="0" marL="0" marR="0" rtl="0" algn="l">
              <a:lnSpc>
                <a:spcPct val="65000"/>
              </a:lnSpc>
              <a:spcBef>
                <a:spcPts val="900"/>
              </a:spcBef>
              <a:spcAft>
                <a:spcPts val="0"/>
              </a:spcAft>
              <a:buNone/>
            </a:pPr>
            <a:r>
              <a:rPr b="1" lang="en" sz="1800">
                <a:solidFill>
                  <a:schemeClr val="dk1"/>
                </a:solidFill>
                <a:latin typeface="Courier New"/>
                <a:ea typeface="Courier New"/>
                <a:cs typeface="Courier New"/>
                <a:sym typeface="Courier New"/>
              </a:rPr>
              <a:t>  for (i=0; i&lt;n; i++) {</a:t>
            </a:r>
            <a:endParaRPr/>
          </a:p>
          <a:p>
            <a:pPr indent="0" lvl="0" marL="0" marR="0" rtl="0" algn="l">
              <a:lnSpc>
                <a:spcPct val="65000"/>
              </a:lnSpc>
              <a:spcBef>
                <a:spcPts val="900"/>
              </a:spcBef>
              <a:spcAft>
                <a:spcPts val="0"/>
              </a:spcAft>
              <a:buNone/>
            </a:pPr>
            <a:r>
              <a:rPr b="1" lang="en" sz="1800">
                <a:solidFill>
                  <a:schemeClr val="dk1"/>
                </a:solidFill>
                <a:latin typeface="Courier New"/>
                <a:ea typeface="Courier New"/>
                <a:cs typeface="Courier New"/>
                <a:sym typeface="Courier New"/>
              </a:rPr>
              <a:t>    r = a[i][k];</a:t>
            </a:r>
            <a:endParaRPr/>
          </a:p>
          <a:p>
            <a:pPr indent="0" lvl="0" marL="0" marR="0" rtl="0" algn="l">
              <a:lnSpc>
                <a:spcPct val="65000"/>
              </a:lnSpc>
              <a:spcBef>
                <a:spcPts val="900"/>
              </a:spcBef>
              <a:spcAft>
                <a:spcPts val="0"/>
              </a:spcAft>
              <a:buNone/>
            </a:pPr>
            <a:r>
              <a:rPr b="1" lang="en" sz="1800">
                <a:solidFill>
                  <a:schemeClr val="dk1"/>
                </a:solidFill>
                <a:latin typeface="Courier New"/>
                <a:ea typeface="Courier New"/>
                <a:cs typeface="Courier New"/>
                <a:sym typeface="Courier New"/>
              </a:rPr>
              <a:t>    for (j=0; j&lt;n; j++)</a:t>
            </a:r>
            <a:endParaRPr/>
          </a:p>
          <a:p>
            <a:pPr indent="0" lvl="0" marL="0" marR="0" rtl="0" algn="l">
              <a:lnSpc>
                <a:spcPct val="65000"/>
              </a:lnSpc>
              <a:spcBef>
                <a:spcPts val="900"/>
              </a:spcBef>
              <a:spcAft>
                <a:spcPts val="0"/>
              </a:spcAft>
              <a:buNone/>
            </a:pPr>
            <a:r>
              <a:rPr b="1" lang="en" sz="1800">
                <a:solidFill>
                  <a:schemeClr val="dk1"/>
                </a:solidFill>
                <a:latin typeface="Courier New"/>
                <a:ea typeface="Courier New"/>
                <a:cs typeface="Courier New"/>
                <a:sym typeface="Courier New"/>
              </a:rPr>
              <a:t>      </a:t>
            </a:r>
            <a:r>
              <a:rPr b="1" lang="en" sz="1800">
                <a:solidFill>
                  <a:srgbClr val="FF0000"/>
                </a:solidFill>
                <a:latin typeface="Courier New"/>
                <a:ea typeface="Courier New"/>
                <a:cs typeface="Courier New"/>
                <a:sym typeface="Courier New"/>
              </a:rPr>
              <a:t>c[i][j] += r * b[k][j];</a:t>
            </a:r>
            <a:r>
              <a:rPr b="1" lang="en" sz="1800">
                <a:solidFill>
                  <a:schemeClr val="dk1"/>
                </a:solidFill>
                <a:latin typeface="Courier New"/>
                <a:ea typeface="Courier New"/>
                <a:cs typeface="Courier New"/>
                <a:sym typeface="Courier New"/>
              </a:rPr>
              <a:t>   </a:t>
            </a:r>
            <a:endParaRPr/>
          </a:p>
          <a:p>
            <a:pPr indent="0" lvl="0" marL="0" marR="0" rtl="0" algn="l">
              <a:lnSpc>
                <a:spcPct val="65000"/>
              </a:lnSpc>
              <a:spcBef>
                <a:spcPts val="900"/>
              </a:spcBef>
              <a:spcAft>
                <a:spcPts val="0"/>
              </a:spcAft>
              <a:buNone/>
            </a:pPr>
            <a:r>
              <a:rPr b="1" lang="en" sz="1800">
                <a:solidFill>
                  <a:schemeClr val="dk1"/>
                </a:solidFill>
                <a:latin typeface="Courier New"/>
                <a:ea typeface="Courier New"/>
                <a:cs typeface="Courier New"/>
                <a:sym typeface="Courier New"/>
              </a:rPr>
              <a:t>  }</a:t>
            </a:r>
            <a:endParaRPr/>
          </a:p>
          <a:p>
            <a:pPr indent="0" lvl="0" marL="0" marR="0" rtl="0" algn="l">
              <a:lnSpc>
                <a:spcPct val="65000"/>
              </a:lnSpc>
              <a:spcBef>
                <a:spcPts val="900"/>
              </a:spcBef>
              <a:spcAft>
                <a:spcPts val="0"/>
              </a:spcAft>
              <a:buNone/>
            </a:pPr>
            <a:r>
              <a:rPr b="1" lang="en" sz="1800">
                <a:solidFill>
                  <a:schemeClr val="dk1"/>
                </a:solidFill>
                <a:latin typeface="Courier New"/>
                <a:ea typeface="Courier New"/>
                <a:cs typeface="Courier New"/>
                <a:sym typeface="Courier New"/>
              </a:rPr>
              <a:t>}</a:t>
            </a:r>
            <a:endParaRPr b="1" sz="1800">
              <a:solidFill>
                <a:schemeClr val="dk1"/>
              </a:solidFill>
              <a:latin typeface="Courier New"/>
              <a:ea typeface="Courier New"/>
              <a:cs typeface="Courier New"/>
              <a:sym typeface="Courier New"/>
            </a:endParaRPr>
          </a:p>
        </p:txBody>
      </p:sp>
      <p:pic>
        <p:nvPicPr>
          <p:cNvPr descr="Matrix multiplication with innermost loop elements highlighted" id="308" name="Google Shape;308;p45"/>
          <p:cNvPicPr preferRelativeResize="0"/>
          <p:nvPr/>
        </p:nvPicPr>
        <p:blipFill>
          <a:blip r:embed="rId3">
            <a:alphaModFix/>
          </a:blip>
          <a:stretch>
            <a:fillRect/>
          </a:stretch>
        </p:blipFill>
        <p:spPr>
          <a:xfrm>
            <a:off x="4868750" y="1170125"/>
            <a:ext cx="4122850" cy="2159588"/>
          </a:xfrm>
          <a:prstGeom prst="rect">
            <a:avLst/>
          </a:prstGeom>
          <a:noFill/>
          <a:ln>
            <a:noFill/>
          </a:ln>
        </p:spPr>
      </p:pic>
      <p:sp>
        <p:nvSpPr>
          <p:cNvPr id="309" name="Google Shape;309;p45"/>
          <p:cNvSpPr/>
          <p:nvPr/>
        </p:nvSpPr>
        <p:spPr>
          <a:xfrm>
            <a:off x="3194800" y="3816025"/>
            <a:ext cx="5492700" cy="964800"/>
          </a:xfrm>
          <a:prstGeom prst="rect">
            <a:avLst/>
          </a:prstGeom>
          <a:noFill/>
          <a:ln>
            <a:noFill/>
          </a:ln>
        </p:spPr>
        <p:txBody>
          <a:bodyPr anchorCtr="0" anchor="t" bIns="44450" lIns="90475" spcFirstLastPara="1" rIns="90475" wrap="square" tIns="44450">
            <a:noAutofit/>
          </a:bodyPr>
          <a:lstStyle/>
          <a:p>
            <a:pPr indent="-223838" lvl="0" marL="223838" marR="0" rtl="0" algn="l">
              <a:lnSpc>
                <a:spcPct val="100000"/>
              </a:lnSpc>
              <a:spcBef>
                <a:spcPts val="0"/>
              </a:spcBef>
              <a:spcAft>
                <a:spcPts val="0"/>
              </a:spcAft>
              <a:buNone/>
            </a:pPr>
            <a:r>
              <a:rPr lang="en" sz="2400">
                <a:solidFill>
                  <a:schemeClr val="dk1"/>
                </a:solidFill>
                <a:latin typeface="Proxima Nova"/>
                <a:ea typeface="Proxima Nova"/>
                <a:cs typeface="Proxima Nova"/>
                <a:sym typeface="Proxima Nova"/>
              </a:rPr>
              <a:t>Misses per inner loop iteration:</a:t>
            </a:r>
            <a:endParaRPr>
              <a:latin typeface="Proxima Nova"/>
              <a:ea typeface="Proxima Nova"/>
              <a:cs typeface="Proxima Nova"/>
              <a:sym typeface="Proxima Nova"/>
            </a:endParaRPr>
          </a:p>
          <a:p>
            <a:pPr indent="-222250" lvl="1" marL="560388" marR="0" rtl="0" algn="l">
              <a:lnSpc>
                <a:spcPct val="100000"/>
              </a:lnSpc>
              <a:spcBef>
                <a:spcPts val="0"/>
              </a:spcBef>
              <a:spcAft>
                <a:spcPts val="0"/>
              </a:spcAft>
              <a:buNone/>
            </a:pPr>
            <a:r>
              <a:rPr i="0" lang="en" sz="2400" cap="none" strike="noStrike">
                <a:solidFill>
                  <a:schemeClr val="dk1"/>
                </a:solidFill>
                <a:latin typeface="Proxima Nova"/>
                <a:ea typeface="Proxima Nova"/>
                <a:cs typeface="Proxima Nova"/>
                <a:sym typeface="Proxima Nova"/>
              </a:rPr>
              <a:t>		A: </a:t>
            </a:r>
            <a:r>
              <a:rPr lang="en" sz="2400">
                <a:solidFill>
                  <a:schemeClr val="dk1"/>
                </a:solidFill>
                <a:latin typeface="Proxima Nova"/>
                <a:ea typeface="Proxima Nova"/>
                <a:cs typeface="Proxima Nova"/>
                <a:sym typeface="Proxima Nova"/>
              </a:rPr>
              <a:t>0</a:t>
            </a:r>
            <a:r>
              <a:rPr i="0" lang="en" sz="2400" cap="none" strike="noStrike">
                <a:solidFill>
                  <a:schemeClr val="dk1"/>
                </a:solidFill>
                <a:latin typeface="Proxima Nova"/>
                <a:ea typeface="Proxima Nova"/>
                <a:cs typeface="Proxima Nova"/>
                <a:sym typeface="Proxima Nova"/>
              </a:rPr>
              <a:t>.0		B: 0.</a:t>
            </a:r>
            <a:r>
              <a:rPr lang="en" sz="2400">
                <a:solidFill>
                  <a:schemeClr val="dk1"/>
                </a:solidFill>
                <a:latin typeface="Proxima Nova"/>
                <a:ea typeface="Proxima Nova"/>
                <a:cs typeface="Proxima Nova"/>
                <a:sym typeface="Proxima Nova"/>
              </a:rPr>
              <a:t>25</a:t>
            </a:r>
            <a:r>
              <a:rPr i="0" lang="en" sz="2400" cap="none" strike="noStrike">
                <a:solidFill>
                  <a:schemeClr val="dk1"/>
                </a:solidFill>
                <a:latin typeface="Proxima Nova"/>
                <a:ea typeface="Proxima Nova"/>
                <a:cs typeface="Proxima Nova"/>
                <a:sym typeface="Proxima Nova"/>
              </a:rPr>
              <a:t>	C: </a:t>
            </a:r>
            <a:r>
              <a:rPr lang="en" sz="2400">
                <a:solidFill>
                  <a:schemeClr val="dk1"/>
                </a:solidFill>
                <a:latin typeface="Proxima Nova"/>
                <a:ea typeface="Proxima Nova"/>
                <a:cs typeface="Proxima Nova"/>
                <a:sym typeface="Proxima Nova"/>
              </a:rPr>
              <a:t>0</a:t>
            </a:r>
            <a:r>
              <a:rPr i="0" lang="en" sz="2400" cap="none" strike="noStrike">
                <a:solidFill>
                  <a:schemeClr val="dk1"/>
                </a:solidFill>
                <a:latin typeface="Proxima Nova"/>
                <a:ea typeface="Proxima Nova"/>
                <a:cs typeface="Proxima Nova"/>
                <a:sym typeface="Proxima Nova"/>
              </a:rPr>
              <a:t>.</a:t>
            </a:r>
            <a:r>
              <a:rPr lang="en" sz="2400">
                <a:solidFill>
                  <a:schemeClr val="dk1"/>
                </a:solidFill>
                <a:latin typeface="Proxima Nova"/>
                <a:ea typeface="Proxima Nova"/>
                <a:cs typeface="Proxima Nova"/>
                <a:sym typeface="Proxima Nova"/>
              </a:rPr>
              <a:t>25</a:t>
            </a:r>
            <a:endParaRPr>
              <a:latin typeface="Proxima Nova"/>
              <a:ea typeface="Proxima Nova"/>
              <a:cs typeface="Proxima Nova"/>
              <a:sym typeface="Proxima Nova"/>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46"/>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Matrix Multiplication (jki) == </a:t>
            </a:r>
            <a:r>
              <a:rPr lang="en"/>
              <a:t>(kji)</a:t>
            </a:r>
            <a:endParaRPr/>
          </a:p>
        </p:txBody>
      </p:sp>
      <p:sp>
        <p:nvSpPr>
          <p:cNvPr id="315" name="Google Shape;315;p46"/>
          <p:cNvSpPr/>
          <p:nvPr/>
        </p:nvSpPr>
        <p:spPr>
          <a:xfrm>
            <a:off x="566750" y="1325175"/>
            <a:ext cx="4353000" cy="2346900"/>
          </a:xfrm>
          <a:prstGeom prst="rect">
            <a:avLst/>
          </a:prstGeom>
          <a:solidFill>
            <a:srgbClr val="F6F5BD"/>
          </a:solidFill>
          <a:ln cap="flat" cmpd="sng" w="12700">
            <a:solidFill>
              <a:srgbClr val="000000"/>
            </a:solidFill>
            <a:prstDash val="solid"/>
            <a:miter lim="800000"/>
            <a:headEnd len="sm" w="sm" type="none"/>
            <a:tailEnd len="sm" w="sm" type="none"/>
          </a:ln>
          <a:effectLst>
            <a:outerShdw blurRad="63500" rotWithShape="0" algn="ctr" dir="2700000" dist="107763">
              <a:srgbClr val="000000">
                <a:alpha val="74900"/>
              </a:srgbClr>
            </a:outerShdw>
          </a:effectLst>
        </p:spPr>
        <p:txBody>
          <a:bodyPr anchorCtr="0" anchor="t" bIns="44450" lIns="90475" spcFirstLastPara="1" rIns="90475" wrap="square" tIns="44450">
            <a:noAutofit/>
          </a:bodyPr>
          <a:lstStyle/>
          <a:p>
            <a:pPr indent="0" lvl="0" marL="0" marR="0" rtl="0" algn="l">
              <a:lnSpc>
                <a:spcPct val="65000"/>
              </a:lnSpc>
              <a:spcBef>
                <a:spcPts val="0"/>
              </a:spcBef>
              <a:spcAft>
                <a:spcPts val="0"/>
              </a:spcAft>
              <a:buNone/>
            </a:pPr>
            <a:r>
              <a:rPr b="1" lang="en" sz="1800">
                <a:solidFill>
                  <a:schemeClr val="dk1"/>
                </a:solidFill>
                <a:latin typeface="Courier New"/>
                <a:ea typeface="Courier New"/>
                <a:cs typeface="Courier New"/>
                <a:sym typeface="Courier New"/>
              </a:rPr>
              <a:t>/* jki */</a:t>
            </a:r>
            <a:endParaRPr/>
          </a:p>
          <a:p>
            <a:pPr indent="0" lvl="0" marL="0" marR="0" rtl="0" algn="l">
              <a:lnSpc>
                <a:spcPct val="65000"/>
              </a:lnSpc>
              <a:spcBef>
                <a:spcPts val="900"/>
              </a:spcBef>
              <a:spcAft>
                <a:spcPts val="0"/>
              </a:spcAft>
              <a:buNone/>
            </a:pPr>
            <a:r>
              <a:rPr b="1" lang="en" sz="1800">
                <a:solidFill>
                  <a:schemeClr val="dk1"/>
                </a:solidFill>
                <a:latin typeface="Courier New"/>
                <a:ea typeface="Courier New"/>
                <a:cs typeface="Courier New"/>
                <a:sym typeface="Courier New"/>
              </a:rPr>
              <a:t>for (j=0; j&lt;n; j++) {</a:t>
            </a:r>
            <a:endParaRPr/>
          </a:p>
          <a:p>
            <a:pPr indent="0" lvl="0" marL="0" marR="0" rtl="0" algn="l">
              <a:lnSpc>
                <a:spcPct val="65000"/>
              </a:lnSpc>
              <a:spcBef>
                <a:spcPts val="900"/>
              </a:spcBef>
              <a:spcAft>
                <a:spcPts val="0"/>
              </a:spcAft>
              <a:buNone/>
            </a:pPr>
            <a:r>
              <a:rPr b="1" lang="en" sz="1800">
                <a:solidFill>
                  <a:schemeClr val="dk1"/>
                </a:solidFill>
                <a:latin typeface="Courier New"/>
                <a:ea typeface="Courier New"/>
                <a:cs typeface="Courier New"/>
                <a:sym typeface="Courier New"/>
              </a:rPr>
              <a:t>  for (k=0; k&lt;n; k++) {</a:t>
            </a:r>
            <a:endParaRPr/>
          </a:p>
          <a:p>
            <a:pPr indent="0" lvl="0" marL="0" marR="0" rtl="0" algn="l">
              <a:lnSpc>
                <a:spcPct val="65000"/>
              </a:lnSpc>
              <a:spcBef>
                <a:spcPts val="900"/>
              </a:spcBef>
              <a:spcAft>
                <a:spcPts val="0"/>
              </a:spcAft>
              <a:buNone/>
            </a:pPr>
            <a:r>
              <a:rPr b="1" lang="en" sz="1800">
                <a:solidFill>
                  <a:schemeClr val="dk1"/>
                </a:solidFill>
                <a:latin typeface="Courier New"/>
                <a:ea typeface="Courier New"/>
                <a:cs typeface="Courier New"/>
                <a:sym typeface="Courier New"/>
              </a:rPr>
              <a:t>    r = b[k][j];</a:t>
            </a:r>
            <a:endParaRPr/>
          </a:p>
          <a:p>
            <a:pPr indent="0" lvl="0" marL="0" marR="0" rtl="0" algn="l">
              <a:lnSpc>
                <a:spcPct val="65000"/>
              </a:lnSpc>
              <a:spcBef>
                <a:spcPts val="900"/>
              </a:spcBef>
              <a:spcAft>
                <a:spcPts val="0"/>
              </a:spcAft>
              <a:buNone/>
            </a:pPr>
            <a:r>
              <a:rPr b="1" lang="en" sz="1800">
                <a:solidFill>
                  <a:schemeClr val="dk1"/>
                </a:solidFill>
                <a:latin typeface="Courier New"/>
                <a:ea typeface="Courier New"/>
                <a:cs typeface="Courier New"/>
                <a:sym typeface="Courier New"/>
              </a:rPr>
              <a:t>    for (i=0; i&lt;n; i++)</a:t>
            </a:r>
            <a:endParaRPr/>
          </a:p>
          <a:p>
            <a:pPr indent="0" lvl="0" marL="0" marR="0" rtl="0" algn="l">
              <a:lnSpc>
                <a:spcPct val="65000"/>
              </a:lnSpc>
              <a:spcBef>
                <a:spcPts val="900"/>
              </a:spcBef>
              <a:spcAft>
                <a:spcPts val="0"/>
              </a:spcAft>
              <a:buNone/>
            </a:pPr>
            <a:r>
              <a:rPr b="1" lang="en" sz="1800">
                <a:solidFill>
                  <a:schemeClr val="dk1"/>
                </a:solidFill>
                <a:latin typeface="Courier New"/>
                <a:ea typeface="Courier New"/>
                <a:cs typeface="Courier New"/>
                <a:sym typeface="Courier New"/>
              </a:rPr>
              <a:t>      </a:t>
            </a:r>
            <a:r>
              <a:rPr b="1" lang="en" sz="1800">
                <a:solidFill>
                  <a:srgbClr val="FF0000"/>
                </a:solidFill>
                <a:latin typeface="Courier New"/>
                <a:ea typeface="Courier New"/>
                <a:cs typeface="Courier New"/>
                <a:sym typeface="Courier New"/>
              </a:rPr>
              <a:t>c[i][j] += a[i][k] * r;</a:t>
            </a:r>
            <a:endParaRPr/>
          </a:p>
          <a:p>
            <a:pPr indent="0" lvl="0" marL="0" marR="0" rtl="0" algn="l">
              <a:lnSpc>
                <a:spcPct val="65000"/>
              </a:lnSpc>
              <a:spcBef>
                <a:spcPts val="900"/>
              </a:spcBef>
              <a:spcAft>
                <a:spcPts val="0"/>
              </a:spcAft>
              <a:buNone/>
            </a:pPr>
            <a:r>
              <a:rPr b="1" lang="en" sz="1800">
                <a:solidFill>
                  <a:schemeClr val="dk1"/>
                </a:solidFill>
                <a:latin typeface="Courier New"/>
                <a:ea typeface="Courier New"/>
                <a:cs typeface="Courier New"/>
                <a:sym typeface="Courier New"/>
              </a:rPr>
              <a:t>  }</a:t>
            </a:r>
            <a:endParaRPr/>
          </a:p>
          <a:p>
            <a:pPr indent="0" lvl="0" marL="0" marR="0" rtl="0" algn="l">
              <a:lnSpc>
                <a:spcPct val="65000"/>
              </a:lnSpc>
              <a:spcBef>
                <a:spcPts val="900"/>
              </a:spcBef>
              <a:spcAft>
                <a:spcPts val="0"/>
              </a:spcAft>
              <a:buNone/>
            </a:pPr>
            <a:r>
              <a:rPr b="1" lang="en" sz="1800">
                <a:solidFill>
                  <a:schemeClr val="dk1"/>
                </a:solidFill>
                <a:latin typeface="Courier New"/>
                <a:ea typeface="Courier New"/>
                <a:cs typeface="Courier New"/>
                <a:sym typeface="Courier New"/>
              </a:rPr>
              <a:t>}	</a:t>
            </a:r>
            <a:endParaRPr/>
          </a:p>
        </p:txBody>
      </p:sp>
      <p:sp>
        <p:nvSpPr>
          <p:cNvPr id="316" name="Google Shape;316;p46"/>
          <p:cNvSpPr/>
          <p:nvPr/>
        </p:nvSpPr>
        <p:spPr>
          <a:xfrm>
            <a:off x="3216400" y="3823225"/>
            <a:ext cx="5492700" cy="964800"/>
          </a:xfrm>
          <a:prstGeom prst="rect">
            <a:avLst/>
          </a:prstGeom>
          <a:noFill/>
          <a:ln>
            <a:noFill/>
          </a:ln>
        </p:spPr>
        <p:txBody>
          <a:bodyPr anchorCtr="0" anchor="t" bIns="44450" lIns="90475" spcFirstLastPara="1" rIns="90475" wrap="square" tIns="44450">
            <a:noAutofit/>
          </a:bodyPr>
          <a:lstStyle/>
          <a:p>
            <a:pPr indent="-223838" lvl="0" marL="223838" marR="0" rtl="0" algn="l">
              <a:lnSpc>
                <a:spcPct val="100000"/>
              </a:lnSpc>
              <a:spcBef>
                <a:spcPts val="0"/>
              </a:spcBef>
              <a:spcAft>
                <a:spcPts val="0"/>
              </a:spcAft>
              <a:buNone/>
            </a:pPr>
            <a:r>
              <a:rPr lang="en" sz="2400">
                <a:solidFill>
                  <a:schemeClr val="dk1"/>
                </a:solidFill>
                <a:latin typeface="Proxima Nova"/>
                <a:ea typeface="Proxima Nova"/>
                <a:cs typeface="Proxima Nova"/>
                <a:sym typeface="Proxima Nova"/>
              </a:rPr>
              <a:t>Misses per inner loop iteration:</a:t>
            </a:r>
            <a:endParaRPr>
              <a:latin typeface="Proxima Nova"/>
              <a:ea typeface="Proxima Nova"/>
              <a:cs typeface="Proxima Nova"/>
              <a:sym typeface="Proxima Nova"/>
            </a:endParaRPr>
          </a:p>
          <a:p>
            <a:pPr indent="-222250" lvl="1" marL="560388" marR="0" rtl="0" algn="l">
              <a:lnSpc>
                <a:spcPct val="100000"/>
              </a:lnSpc>
              <a:spcBef>
                <a:spcPts val="0"/>
              </a:spcBef>
              <a:spcAft>
                <a:spcPts val="0"/>
              </a:spcAft>
              <a:buNone/>
            </a:pPr>
            <a:r>
              <a:rPr i="0" lang="en" sz="2400" cap="none" strike="noStrike">
                <a:solidFill>
                  <a:schemeClr val="dk1"/>
                </a:solidFill>
                <a:latin typeface="Proxima Nova"/>
                <a:ea typeface="Proxima Nova"/>
                <a:cs typeface="Proxima Nova"/>
                <a:sym typeface="Proxima Nova"/>
              </a:rPr>
              <a:t>		A: 1.0		B: 0.0		C: 1.0</a:t>
            </a:r>
            <a:endParaRPr>
              <a:latin typeface="Proxima Nova"/>
              <a:ea typeface="Proxima Nova"/>
              <a:cs typeface="Proxima Nova"/>
              <a:sym typeface="Proxima Nova"/>
            </a:endParaRPr>
          </a:p>
        </p:txBody>
      </p:sp>
      <p:pic>
        <p:nvPicPr>
          <p:cNvPr descr="Matrix multiplication with innermost loop elements highlighted" id="317" name="Google Shape;317;p46"/>
          <p:cNvPicPr preferRelativeResize="0"/>
          <p:nvPr/>
        </p:nvPicPr>
        <p:blipFill>
          <a:blip r:embed="rId3">
            <a:alphaModFix/>
          </a:blip>
          <a:stretch>
            <a:fillRect/>
          </a:stretch>
        </p:blipFill>
        <p:spPr>
          <a:xfrm>
            <a:off x="5072150" y="1170125"/>
            <a:ext cx="3919450" cy="204493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47"/>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Summary of Matrix Multiplication</a:t>
            </a:r>
            <a:endParaRPr/>
          </a:p>
        </p:txBody>
      </p:sp>
      <p:sp>
        <p:nvSpPr>
          <p:cNvPr id="323" name="Google Shape;323;p47"/>
          <p:cNvSpPr/>
          <p:nvPr/>
        </p:nvSpPr>
        <p:spPr>
          <a:xfrm>
            <a:off x="5342400" y="1395900"/>
            <a:ext cx="3137100" cy="3010500"/>
          </a:xfrm>
          <a:prstGeom prst="rect">
            <a:avLst/>
          </a:prstGeom>
          <a:noFill/>
          <a:ln>
            <a:noFill/>
          </a:ln>
        </p:spPr>
        <p:txBody>
          <a:bodyPr anchorCtr="0" anchor="t" bIns="44450" lIns="90475" spcFirstLastPara="1" rIns="90475" wrap="square" tIns="44450">
            <a:noAutofit/>
          </a:bodyPr>
          <a:lstStyle/>
          <a:p>
            <a:pPr indent="-355600" lvl="0" marL="457200" marR="0" rtl="0" algn="l">
              <a:lnSpc>
                <a:spcPct val="100000"/>
              </a:lnSpc>
              <a:spcBef>
                <a:spcPts val="0"/>
              </a:spcBef>
              <a:spcAft>
                <a:spcPts val="0"/>
              </a:spcAft>
              <a:buClr>
                <a:schemeClr val="dk1"/>
              </a:buClr>
              <a:buSzPts val="2000"/>
              <a:buFont typeface="Calibri"/>
              <a:buChar char="●"/>
            </a:pPr>
            <a:r>
              <a:rPr lang="en" sz="2000">
                <a:solidFill>
                  <a:schemeClr val="dk1"/>
                </a:solidFill>
                <a:latin typeface="Calibri"/>
                <a:ea typeface="Calibri"/>
                <a:cs typeface="Calibri"/>
                <a:sym typeface="Calibri"/>
              </a:rPr>
              <a:t>ijk (&amp; jik): </a:t>
            </a:r>
            <a:endParaRPr/>
          </a:p>
          <a:p>
            <a:pPr indent="-355600" lvl="1" marL="914400" marR="0" rtl="0" algn="l">
              <a:lnSpc>
                <a:spcPct val="100000"/>
              </a:lnSpc>
              <a:spcBef>
                <a:spcPts val="0"/>
              </a:spcBef>
              <a:spcAft>
                <a:spcPts val="0"/>
              </a:spcAft>
              <a:buClr>
                <a:schemeClr val="dk1"/>
              </a:buClr>
              <a:buSzPts val="2000"/>
              <a:buFont typeface="Calibri"/>
              <a:buChar char="○"/>
            </a:pPr>
            <a:r>
              <a:rPr i="0" lang="en" sz="2000" u="none" cap="none" strike="noStrike">
                <a:solidFill>
                  <a:schemeClr val="dk1"/>
                </a:solidFill>
                <a:latin typeface="Calibri"/>
                <a:ea typeface="Calibri"/>
                <a:cs typeface="Calibri"/>
                <a:sym typeface="Calibri"/>
              </a:rPr>
              <a:t>2 loads, 0 stores</a:t>
            </a:r>
            <a:endParaRPr/>
          </a:p>
          <a:p>
            <a:pPr indent="-355600" lvl="1" marL="914400" marR="0" rtl="0" algn="l">
              <a:lnSpc>
                <a:spcPct val="100000"/>
              </a:lnSpc>
              <a:spcBef>
                <a:spcPts val="0"/>
              </a:spcBef>
              <a:spcAft>
                <a:spcPts val="0"/>
              </a:spcAft>
              <a:buClr>
                <a:schemeClr val="dk1"/>
              </a:buClr>
              <a:buSzPts val="2000"/>
              <a:buFont typeface="Calibri"/>
              <a:buChar char="○"/>
            </a:pPr>
            <a:r>
              <a:rPr i="0" lang="en" sz="2000" u="none" cap="none" strike="noStrike">
                <a:solidFill>
                  <a:schemeClr val="dk1"/>
                </a:solidFill>
                <a:latin typeface="Calibri"/>
                <a:ea typeface="Calibri"/>
                <a:cs typeface="Calibri"/>
                <a:sym typeface="Calibri"/>
              </a:rPr>
              <a:t>misses/iter = 1.25</a:t>
            </a:r>
            <a:endParaRPr i="0" sz="2000" u="none" cap="none" strike="noStrike">
              <a:solidFill>
                <a:schemeClr val="dk1"/>
              </a:solidFill>
              <a:latin typeface="Calibri"/>
              <a:ea typeface="Calibri"/>
              <a:cs typeface="Calibri"/>
              <a:sym typeface="Calibri"/>
            </a:endParaRPr>
          </a:p>
          <a:p>
            <a:pPr indent="-355600" lvl="0" marL="457200" rtl="0" algn="l">
              <a:spcBef>
                <a:spcPts val="0"/>
              </a:spcBef>
              <a:spcAft>
                <a:spcPts val="0"/>
              </a:spcAft>
              <a:buClr>
                <a:schemeClr val="dk1"/>
              </a:buClr>
              <a:buSzPts val="2000"/>
              <a:buFont typeface="Calibri"/>
              <a:buChar char="●"/>
            </a:pPr>
            <a:r>
              <a:rPr lang="en" sz="2000">
                <a:solidFill>
                  <a:schemeClr val="dk1"/>
                </a:solidFill>
                <a:latin typeface="Calibri"/>
                <a:ea typeface="Calibri"/>
                <a:cs typeface="Calibri"/>
                <a:sym typeface="Calibri"/>
              </a:rPr>
              <a:t>kij (&amp; ikj): </a:t>
            </a:r>
            <a:endParaRPr/>
          </a:p>
          <a:p>
            <a:pPr indent="-355600" lvl="1" marL="914400" rtl="0" algn="l">
              <a:spcBef>
                <a:spcPts val="0"/>
              </a:spcBef>
              <a:spcAft>
                <a:spcPts val="0"/>
              </a:spcAft>
              <a:buClr>
                <a:schemeClr val="dk1"/>
              </a:buClr>
              <a:buSzPts val="2000"/>
              <a:buFont typeface="Calibri"/>
              <a:buChar char="○"/>
            </a:pPr>
            <a:r>
              <a:rPr lang="en" sz="2000">
                <a:solidFill>
                  <a:schemeClr val="dk1"/>
                </a:solidFill>
                <a:latin typeface="Calibri"/>
                <a:ea typeface="Calibri"/>
                <a:cs typeface="Calibri"/>
                <a:sym typeface="Calibri"/>
              </a:rPr>
              <a:t>2 loads, 1 store</a:t>
            </a:r>
            <a:endParaRPr/>
          </a:p>
          <a:p>
            <a:pPr indent="-355600" lvl="1" marL="914400" rtl="0" algn="l">
              <a:spcBef>
                <a:spcPts val="0"/>
              </a:spcBef>
              <a:spcAft>
                <a:spcPts val="0"/>
              </a:spcAft>
              <a:buClr>
                <a:schemeClr val="dk1"/>
              </a:buClr>
              <a:buSzPts val="2000"/>
              <a:buFont typeface="Calibri"/>
              <a:buChar char="○"/>
            </a:pPr>
            <a:r>
              <a:rPr lang="en" sz="2000">
                <a:solidFill>
                  <a:schemeClr val="dk1"/>
                </a:solidFill>
                <a:latin typeface="Calibri"/>
                <a:ea typeface="Calibri"/>
                <a:cs typeface="Calibri"/>
                <a:sym typeface="Calibri"/>
              </a:rPr>
              <a:t>misses/iter = 0.5</a:t>
            </a:r>
            <a:endParaRPr sz="2000">
              <a:solidFill>
                <a:schemeClr val="dk1"/>
              </a:solidFill>
              <a:latin typeface="Calibri"/>
              <a:ea typeface="Calibri"/>
              <a:cs typeface="Calibri"/>
              <a:sym typeface="Calibri"/>
            </a:endParaRPr>
          </a:p>
          <a:p>
            <a:pPr indent="-355600" lvl="0" marL="457200" rtl="0" algn="l">
              <a:spcBef>
                <a:spcPts val="0"/>
              </a:spcBef>
              <a:spcAft>
                <a:spcPts val="0"/>
              </a:spcAft>
              <a:buClr>
                <a:schemeClr val="dk1"/>
              </a:buClr>
              <a:buSzPts val="2000"/>
              <a:buFont typeface="Calibri"/>
              <a:buChar char="●"/>
            </a:pPr>
            <a:r>
              <a:rPr lang="en" sz="2000">
                <a:solidFill>
                  <a:schemeClr val="dk1"/>
                </a:solidFill>
                <a:latin typeface="Calibri"/>
                <a:ea typeface="Calibri"/>
                <a:cs typeface="Calibri"/>
                <a:sym typeface="Calibri"/>
              </a:rPr>
              <a:t>jki (&amp; kji): </a:t>
            </a:r>
            <a:endParaRPr/>
          </a:p>
          <a:p>
            <a:pPr indent="-355600" lvl="1" marL="914400" rtl="0" algn="l">
              <a:spcBef>
                <a:spcPts val="0"/>
              </a:spcBef>
              <a:spcAft>
                <a:spcPts val="0"/>
              </a:spcAft>
              <a:buClr>
                <a:schemeClr val="dk1"/>
              </a:buClr>
              <a:buSzPts val="2000"/>
              <a:buFont typeface="Calibri"/>
              <a:buChar char="○"/>
            </a:pPr>
            <a:r>
              <a:rPr lang="en" sz="2000">
                <a:solidFill>
                  <a:schemeClr val="dk1"/>
                </a:solidFill>
                <a:latin typeface="Calibri"/>
                <a:ea typeface="Calibri"/>
                <a:cs typeface="Calibri"/>
                <a:sym typeface="Calibri"/>
              </a:rPr>
              <a:t>2 loads, 1 store</a:t>
            </a:r>
            <a:endParaRPr/>
          </a:p>
          <a:p>
            <a:pPr indent="-355600" lvl="1" marL="914400" rtl="0" algn="l">
              <a:spcBef>
                <a:spcPts val="0"/>
              </a:spcBef>
              <a:spcAft>
                <a:spcPts val="0"/>
              </a:spcAft>
              <a:buClr>
                <a:schemeClr val="dk1"/>
              </a:buClr>
              <a:buSzPts val="2000"/>
              <a:buFont typeface="Calibri"/>
              <a:buChar char="○"/>
            </a:pPr>
            <a:r>
              <a:rPr lang="en" sz="2000">
                <a:solidFill>
                  <a:schemeClr val="dk1"/>
                </a:solidFill>
                <a:latin typeface="Calibri"/>
                <a:ea typeface="Calibri"/>
                <a:cs typeface="Calibri"/>
                <a:sym typeface="Calibri"/>
              </a:rPr>
              <a:t>misses/iter = 2.0</a:t>
            </a:r>
            <a:endParaRPr sz="2000">
              <a:solidFill>
                <a:schemeClr val="dk1"/>
              </a:solidFill>
              <a:latin typeface="Calibri"/>
              <a:ea typeface="Calibri"/>
              <a:cs typeface="Calibri"/>
              <a:sym typeface="Calibri"/>
            </a:endParaRPr>
          </a:p>
        </p:txBody>
      </p:sp>
      <p:sp>
        <p:nvSpPr>
          <p:cNvPr id="324" name="Google Shape;324;p47"/>
          <p:cNvSpPr/>
          <p:nvPr/>
        </p:nvSpPr>
        <p:spPr>
          <a:xfrm>
            <a:off x="1295400" y="977361"/>
            <a:ext cx="3481500" cy="1282200"/>
          </a:xfrm>
          <a:prstGeom prst="rect">
            <a:avLst/>
          </a:prstGeom>
          <a:solidFill>
            <a:srgbClr val="F6F5BD"/>
          </a:solidFill>
          <a:ln cap="flat" cmpd="sng" w="12700">
            <a:solidFill>
              <a:schemeClr val="dk1"/>
            </a:solidFill>
            <a:prstDash val="solid"/>
            <a:miter lim="800000"/>
            <a:headEnd len="sm" w="sm" type="none"/>
            <a:tailEnd len="sm" w="sm" type="none"/>
          </a:ln>
        </p:spPr>
        <p:txBody>
          <a:bodyPr anchorCtr="0" anchor="t" bIns="44450" lIns="90475" spcFirstLastPara="1" rIns="90475" wrap="square" tIns="44450">
            <a:noAutofit/>
          </a:bodyPr>
          <a:lstStyle/>
          <a:p>
            <a:pPr indent="0" lvl="0" marL="0" marR="0" rtl="0" algn="l">
              <a:lnSpc>
                <a:spcPct val="70000"/>
              </a:lnSpc>
              <a:spcBef>
                <a:spcPts val="0"/>
              </a:spcBef>
              <a:spcAft>
                <a:spcPts val="0"/>
              </a:spcAft>
              <a:buNone/>
            </a:pPr>
            <a:r>
              <a:rPr b="1" lang="en" sz="1100">
                <a:solidFill>
                  <a:schemeClr val="dk1"/>
                </a:solidFill>
                <a:latin typeface="Courier New"/>
                <a:ea typeface="Courier New"/>
                <a:cs typeface="Courier New"/>
                <a:sym typeface="Courier New"/>
              </a:rPr>
              <a:t>for (i=0; i&lt;n; i++) {</a:t>
            </a:r>
            <a:endParaRPr sz="1100"/>
          </a:p>
          <a:p>
            <a:pPr indent="0" lvl="0" marL="0" marR="0" rtl="0" algn="l">
              <a:lnSpc>
                <a:spcPct val="70000"/>
              </a:lnSpc>
              <a:spcBef>
                <a:spcPts val="700"/>
              </a:spcBef>
              <a:spcAft>
                <a:spcPts val="0"/>
              </a:spcAft>
              <a:buNone/>
            </a:pPr>
            <a:r>
              <a:rPr b="1" lang="en" sz="1100">
                <a:solidFill>
                  <a:schemeClr val="dk1"/>
                </a:solidFill>
                <a:latin typeface="Courier New"/>
                <a:ea typeface="Courier New"/>
                <a:cs typeface="Courier New"/>
                <a:sym typeface="Courier New"/>
              </a:rPr>
              <a:t>  for (j=0; j&lt;n; j++) {</a:t>
            </a:r>
            <a:endParaRPr sz="1100"/>
          </a:p>
          <a:p>
            <a:pPr indent="0" lvl="0" marL="0" marR="0" rtl="0" algn="l">
              <a:lnSpc>
                <a:spcPct val="70000"/>
              </a:lnSpc>
              <a:spcBef>
                <a:spcPts val="700"/>
              </a:spcBef>
              <a:spcAft>
                <a:spcPts val="0"/>
              </a:spcAft>
              <a:buNone/>
            </a:pPr>
            <a:r>
              <a:rPr b="1" lang="en" sz="1100">
                <a:solidFill>
                  <a:schemeClr val="dk1"/>
                </a:solidFill>
                <a:latin typeface="Courier New"/>
                <a:ea typeface="Courier New"/>
                <a:cs typeface="Courier New"/>
                <a:sym typeface="Courier New"/>
              </a:rPr>
              <a:t>   sum = 0.0;</a:t>
            </a:r>
            <a:endParaRPr sz="1100"/>
          </a:p>
          <a:p>
            <a:pPr indent="0" lvl="0" marL="0" marR="0" rtl="0" algn="l">
              <a:lnSpc>
                <a:spcPct val="70000"/>
              </a:lnSpc>
              <a:spcBef>
                <a:spcPts val="700"/>
              </a:spcBef>
              <a:spcAft>
                <a:spcPts val="0"/>
              </a:spcAft>
              <a:buNone/>
            </a:pPr>
            <a:r>
              <a:rPr b="1" lang="en" sz="1100">
                <a:solidFill>
                  <a:schemeClr val="dk1"/>
                </a:solidFill>
                <a:latin typeface="Courier New"/>
                <a:ea typeface="Courier New"/>
                <a:cs typeface="Courier New"/>
                <a:sym typeface="Courier New"/>
              </a:rPr>
              <a:t>   for (k=0; k&lt;n; k++) </a:t>
            </a:r>
            <a:endParaRPr sz="1100"/>
          </a:p>
          <a:p>
            <a:pPr indent="0" lvl="0" marL="0" marR="0" rtl="0" algn="l">
              <a:lnSpc>
                <a:spcPct val="70000"/>
              </a:lnSpc>
              <a:spcBef>
                <a:spcPts val="700"/>
              </a:spcBef>
              <a:spcAft>
                <a:spcPts val="0"/>
              </a:spcAft>
              <a:buNone/>
            </a:pPr>
            <a:r>
              <a:rPr b="1" lang="en" sz="1100">
                <a:solidFill>
                  <a:schemeClr val="dk1"/>
                </a:solidFill>
                <a:latin typeface="Courier New"/>
                <a:ea typeface="Courier New"/>
                <a:cs typeface="Courier New"/>
                <a:sym typeface="Courier New"/>
              </a:rPr>
              <a:t>     sum += a[i][k] * b[k][j];</a:t>
            </a:r>
            <a:endParaRPr sz="1100"/>
          </a:p>
          <a:p>
            <a:pPr indent="0" lvl="0" marL="0" marR="0" rtl="0" algn="l">
              <a:lnSpc>
                <a:spcPct val="70000"/>
              </a:lnSpc>
              <a:spcBef>
                <a:spcPts val="700"/>
              </a:spcBef>
              <a:spcAft>
                <a:spcPts val="0"/>
              </a:spcAft>
              <a:buNone/>
            </a:pPr>
            <a:r>
              <a:rPr b="1" lang="en" sz="1100">
                <a:solidFill>
                  <a:schemeClr val="dk1"/>
                </a:solidFill>
                <a:latin typeface="Courier New"/>
                <a:ea typeface="Courier New"/>
                <a:cs typeface="Courier New"/>
                <a:sym typeface="Courier New"/>
              </a:rPr>
              <a:t>   c[i][j] = sum; }} </a:t>
            </a:r>
            <a:endParaRPr sz="1100"/>
          </a:p>
        </p:txBody>
      </p:sp>
      <p:sp>
        <p:nvSpPr>
          <p:cNvPr id="325" name="Google Shape;325;p47"/>
          <p:cNvSpPr/>
          <p:nvPr/>
        </p:nvSpPr>
        <p:spPr>
          <a:xfrm>
            <a:off x="1295400" y="2483632"/>
            <a:ext cx="3481500" cy="1085700"/>
          </a:xfrm>
          <a:prstGeom prst="rect">
            <a:avLst/>
          </a:prstGeom>
          <a:solidFill>
            <a:srgbClr val="F6F5BD"/>
          </a:solidFill>
          <a:ln cap="flat" cmpd="sng" w="12700">
            <a:solidFill>
              <a:schemeClr val="dk1"/>
            </a:solidFill>
            <a:prstDash val="solid"/>
            <a:miter lim="800000"/>
            <a:headEnd len="sm" w="sm" type="none"/>
            <a:tailEnd len="sm" w="sm" type="none"/>
          </a:ln>
        </p:spPr>
        <p:txBody>
          <a:bodyPr anchorCtr="0" anchor="t" bIns="44450" lIns="90475" spcFirstLastPara="1" rIns="90475" wrap="square" tIns="44450">
            <a:noAutofit/>
          </a:bodyPr>
          <a:lstStyle/>
          <a:p>
            <a:pPr indent="0" lvl="0" marL="0" marR="0" rtl="0" algn="l">
              <a:lnSpc>
                <a:spcPct val="70000"/>
              </a:lnSpc>
              <a:spcBef>
                <a:spcPts val="0"/>
              </a:spcBef>
              <a:spcAft>
                <a:spcPts val="0"/>
              </a:spcAft>
              <a:buNone/>
            </a:pPr>
            <a:r>
              <a:rPr b="1" lang="en" sz="1100">
                <a:solidFill>
                  <a:schemeClr val="dk1"/>
                </a:solidFill>
                <a:latin typeface="Courier New"/>
                <a:ea typeface="Courier New"/>
                <a:cs typeface="Courier New"/>
                <a:sym typeface="Courier New"/>
              </a:rPr>
              <a:t>for (k=0; k&lt;n; k++) {</a:t>
            </a:r>
            <a:endParaRPr sz="1100"/>
          </a:p>
          <a:p>
            <a:pPr indent="0" lvl="0" marL="0" marR="0" rtl="0" algn="l">
              <a:lnSpc>
                <a:spcPct val="70000"/>
              </a:lnSpc>
              <a:spcBef>
                <a:spcPts val="700"/>
              </a:spcBef>
              <a:spcAft>
                <a:spcPts val="0"/>
              </a:spcAft>
              <a:buNone/>
            </a:pPr>
            <a:r>
              <a:rPr b="1" lang="en" sz="1100">
                <a:solidFill>
                  <a:schemeClr val="dk1"/>
                </a:solidFill>
                <a:latin typeface="Courier New"/>
                <a:ea typeface="Courier New"/>
                <a:cs typeface="Courier New"/>
                <a:sym typeface="Courier New"/>
              </a:rPr>
              <a:t> for (i=0; i&lt;n; i++) {</a:t>
            </a:r>
            <a:endParaRPr sz="1100"/>
          </a:p>
          <a:p>
            <a:pPr indent="0" lvl="0" marL="0" marR="0" rtl="0" algn="l">
              <a:lnSpc>
                <a:spcPct val="70000"/>
              </a:lnSpc>
              <a:spcBef>
                <a:spcPts val="700"/>
              </a:spcBef>
              <a:spcAft>
                <a:spcPts val="0"/>
              </a:spcAft>
              <a:buNone/>
            </a:pPr>
            <a:r>
              <a:rPr b="1" lang="en" sz="1100">
                <a:solidFill>
                  <a:schemeClr val="dk1"/>
                </a:solidFill>
                <a:latin typeface="Courier New"/>
                <a:ea typeface="Courier New"/>
                <a:cs typeface="Courier New"/>
                <a:sym typeface="Courier New"/>
              </a:rPr>
              <a:t>  r = a[i][k];</a:t>
            </a:r>
            <a:endParaRPr sz="1100"/>
          </a:p>
          <a:p>
            <a:pPr indent="0" lvl="0" marL="0" marR="0" rtl="0" algn="l">
              <a:lnSpc>
                <a:spcPct val="70000"/>
              </a:lnSpc>
              <a:spcBef>
                <a:spcPts val="700"/>
              </a:spcBef>
              <a:spcAft>
                <a:spcPts val="0"/>
              </a:spcAft>
              <a:buNone/>
            </a:pPr>
            <a:r>
              <a:rPr b="1" lang="en" sz="1100">
                <a:solidFill>
                  <a:schemeClr val="dk1"/>
                </a:solidFill>
                <a:latin typeface="Courier New"/>
                <a:ea typeface="Courier New"/>
                <a:cs typeface="Courier New"/>
                <a:sym typeface="Courier New"/>
              </a:rPr>
              <a:t>  for (j=0; j&lt;n; j++)</a:t>
            </a:r>
            <a:endParaRPr sz="1100"/>
          </a:p>
          <a:p>
            <a:pPr indent="0" lvl="0" marL="0" marR="0" rtl="0" algn="l">
              <a:lnSpc>
                <a:spcPct val="70000"/>
              </a:lnSpc>
              <a:spcBef>
                <a:spcPts val="700"/>
              </a:spcBef>
              <a:spcAft>
                <a:spcPts val="0"/>
              </a:spcAft>
              <a:buNone/>
            </a:pPr>
            <a:r>
              <a:rPr b="1" lang="en" sz="1100">
                <a:solidFill>
                  <a:schemeClr val="dk1"/>
                </a:solidFill>
                <a:latin typeface="Courier New"/>
                <a:ea typeface="Courier New"/>
                <a:cs typeface="Courier New"/>
                <a:sym typeface="Courier New"/>
              </a:rPr>
              <a:t>   c[i][j] += r * b[k][j];}}</a:t>
            </a:r>
            <a:endParaRPr sz="1100"/>
          </a:p>
        </p:txBody>
      </p:sp>
      <p:sp>
        <p:nvSpPr>
          <p:cNvPr id="326" name="Google Shape;326;p47"/>
          <p:cNvSpPr/>
          <p:nvPr/>
        </p:nvSpPr>
        <p:spPr>
          <a:xfrm>
            <a:off x="1295400" y="3832390"/>
            <a:ext cx="3481500" cy="1085700"/>
          </a:xfrm>
          <a:prstGeom prst="rect">
            <a:avLst/>
          </a:prstGeom>
          <a:solidFill>
            <a:srgbClr val="F6F5BD"/>
          </a:solidFill>
          <a:ln cap="flat" cmpd="sng" w="12700">
            <a:solidFill>
              <a:schemeClr val="dk1"/>
            </a:solidFill>
            <a:prstDash val="solid"/>
            <a:miter lim="800000"/>
            <a:headEnd len="sm" w="sm" type="none"/>
            <a:tailEnd len="sm" w="sm" type="none"/>
          </a:ln>
        </p:spPr>
        <p:txBody>
          <a:bodyPr anchorCtr="0" anchor="t" bIns="44450" lIns="90475" spcFirstLastPara="1" rIns="90475" wrap="square" tIns="44450">
            <a:noAutofit/>
          </a:bodyPr>
          <a:lstStyle/>
          <a:p>
            <a:pPr indent="0" lvl="0" marL="0" marR="0" rtl="0" algn="l">
              <a:lnSpc>
                <a:spcPct val="70000"/>
              </a:lnSpc>
              <a:spcBef>
                <a:spcPts val="0"/>
              </a:spcBef>
              <a:spcAft>
                <a:spcPts val="0"/>
              </a:spcAft>
              <a:buNone/>
            </a:pPr>
            <a:r>
              <a:rPr b="1" lang="en" sz="1100">
                <a:solidFill>
                  <a:schemeClr val="dk1"/>
                </a:solidFill>
                <a:latin typeface="Courier New"/>
                <a:ea typeface="Courier New"/>
                <a:cs typeface="Courier New"/>
                <a:sym typeface="Courier New"/>
              </a:rPr>
              <a:t>for (j=0; j&lt;n; j++) {</a:t>
            </a:r>
            <a:endParaRPr sz="1100"/>
          </a:p>
          <a:p>
            <a:pPr indent="0" lvl="0" marL="0" marR="0" rtl="0" algn="l">
              <a:lnSpc>
                <a:spcPct val="70000"/>
              </a:lnSpc>
              <a:spcBef>
                <a:spcPts val="700"/>
              </a:spcBef>
              <a:spcAft>
                <a:spcPts val="0"/>
              </a:spcAft>
              <a:buNone/>
            </a:pPr>
            <a:r>
              <a:rPr b="1" lang="en" sz="1100">
                <a:solidFill>
                  <a:schemeClr val="dk1"/>
                </a:solidFill>
                <a:latin typeface="Courier New"/>
                <a:ea typeface="Courier New"/>
                <a:cs typeface="Courier New"/>
                <a:sym typeface="Courier New"/>
              </a:rPr>
              <a:t> for (k=0; k&lt;n; k++) {</a:t>
            </a:r>
            <a:endParaRPr sz="1100"/>
          </a:p>
          <a:p>
            <a:pPr indent="0" lvl="0" marL="0" marR="0" rtl="0" algn="l">
              <a:lnSpc>
                <a:spcPct val="70000"/>
              </a:lnSpc>
              <a:spcBef>
                <a:spcPts val="700"/>
              </a:spcBef>
              <a:spcAft>
                <a:spcPts val="0"/>
              </a:spcAft>
              <a:buNone/>
            </a:pPr>
            <a:r>
              <a:rPr b="1" lang="en" sz="1100">
                <a:solidFill>
                  <a:schemeClr val="dk1"/>
                </a:solidFill>
                <a:latin typeface="Courier New"/>
                <a:ea typeface="Courier New"/>
                <a:cs typeface="Courier New"/>
                <a:sym typeface="Courier New"/>
              </a:rPr>
              <a:t>   r = b[k][j];</a:t>
            </a:r>
            <a:endParaRPr sz="1100"/>
          </a:p>
          <a:p>
            <a:pPr indent="0" lvl="0" marL="0" marR="0" rtl="0" algn="l">
              <a:lnSpc>
                <a:spcPct val="70000"/>
              </a:lnSpc>
              <a:spcBef>
                <a:spcPts val="700"/>
              </a:spcBef>
              <a:spcAft>
                <a:spcPts val="0"/>
              </a:spcAft>
              <a:buNone/>
            </a:pPr>
            <a:r>
              <a:rPr b="1" lang="en" sz="1100">
                <a:solidFill>
                  <a:schemeClr val="dk1"/>
                </a:solidFill>
                <a:latin typeface="Courier New"/>
                <a:ea typeface="Courier New"/>
                <a:cs typeface="Courier New"/>
                <a:sym typeface="Courier New"/>
              </a:rPr>
              <a:t>   for (i=0; i&lt;n; i++)</a:t>
            </a:r>
            <a:endParaRPr sz="1100"/>
          </a:p>
          <a:p>
            <a:pPr indent="0" lvl="0" marL="0" marR="0" rtl="0" algn="l">
              <a:lnSpc>
                <a:spcPct val="70000"/>
              </a:lnSpc>
              <a:spcBef>
                <a:spcPts val="700"/>
              </a:spcBef>
              <a:spcAft>
                <a:spcPts val="0"/>
              </a:spcAft>
              <a:buNone/>
            </a:pPr>
            <a:r>
              <a:rPr b="1" lang="en" sz="1100">
                <a:solidFill>
                  <a:schemeClr val="dk1"/>
                </a:solidFill>
                <a:latin typeface="Courier New"/>
                <a:ea typeface="Courier New"/>
                <a:cs typeface="Courier New"/>
                <a:sym typeface="Courier New"/>
              </a:rPr>
              <a:t>    c[i][j] += a[i][k] * r;}}</a:t>
            </a:r>
            <a:endParaRPr sz="11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48"/>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Core i7 Matrix Multiply Performance</a:t>
            </a:r>
            <a:endParaRPr/>
          </a:p>
        </p:txBody>
      </p:sp>
      <p:pic>
        <p:nvPicPr>
          <p:cNvPr descr="Graph showing the cycles per element for the three different matrix multiply arrangements." id="332" name="Google Shape;332;p48"/>
          <p:cNvPicPr preferRelativeResize="0"/>
          <p:nvPr/>
        </p:nvPicPr>
        <p:blipFill rotWithShape="1">
          <a:blip r:embed="rId3">
            <a:alphaModFix/>
          </a:blip>
          <a:srcRect b="0" l="0" r="0" t="0"/>
          <a:stretch/>
        </p:blipFill>
        <p:spPr>
          <a:xfrm>
            <a:off x="228600" y="1085850"/>
            <a:ext cx="8686800" cy="3938100"/>
          </a:xfrm>
          <a:prstGeom prst="rect">
            <a:avLst/>
          </a:prstGeom>
          <a:noFill/>
          <a:ln>
            <a:noFill/>
          </a:ln>
        </p:spPr>
      </p:pic>
      <p:sp>
        <p:nvSpPr>
          <p:cNvPr id="333" name="Google Shape;333;p48"/>
          <p:cNvSpPr txBox="1"/>
          <p:nvPr/>
        </p:nvSpPr>
        <p:spPr>
          <a:xfrm>
            <a:off x="6413501" y="2343150"/>
            <a:ext cx="9141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2000">
                <a:solidFill>
                  <a:srgbClr val="FF0000"/>
                </a:solidFill>
                <a:latin typeface="Calibri"/>
                <a:ea typeface="Calibri"/>
                <a:cs typeface="Calibri"/>
                <a:sym typeface="Calibri"/>
              </a:rPr>
              <a:t>ijk / jik</a:t>
            </a:r>
            <a:endParaRPr b="1" sz="2000">
              <a:solidFill>
                <a:srgbClr val="FF0000"/>
              </a:solidFill>
              <a:latin typeface="Calibri"/>
              <a:ea typeface="Calibri"/>
              <a:cs typeface="Calibri"/>
              <a:sym typeface="Calibri"/>
            </a:endParaRPr>
          </a:p>
        </p:txBody>
      </p:sp>
      <p:sp>
        <p:nvSpPr>
          <p:cNvPr id="334" name="Google Shape;334;p48"/>
          <p:cNvSpPr txBox="1"/>
          <p:nvPr/>
        </p:nvSpPr>
        <p:spPr>
          <a:xfrm>
            <a:off x="5562600" y="1162450"/>
            <a:ext cx="9270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2000">
                <a:solidFill>
                  <a:srgbClr val="FF0000"/>
                </a:solidFill>
                <a:latin typeface="Calibri"/>
                <a:ea typeface="Calibri"/>
                <a:cs typeface="Calibri"/>
                <a:sym typeface="Calibri"/>
              </a:rPr>
              <a:t>jki / kji</a:t>
            </a:r>
            <a:endParaRPr b="1" sz="2000">
              <a:solidFill>
                <a:srgbClr val="FF0000"/>
              </a:solidFill>
              <a:latin typeface="Calibri"/>
              <a:ea typeface="Calibri"/>
              <a:cs typeface="Calibri"/>
              <a:sym typeface="Calibri"/>
            </a:endParaRPr>
          </a:p>
        </p:txBody>
      </p:sp>
      <p:sp>
        <p:nvSpPr>
          <p:cNvPr id="335" name="Google Shape;335;p48"/>
          <p:cNvSpPr txBox="1"/>
          <p:nvPr/>
        </p:nvSpPr>
        <p:spPr>
          <a:xfrm>
            <a:off x="7028628" y="4057650"/>
            <a:ext cx="9141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2000">
                <a:solidFill>
                  <a:srgbClr val="FF0000"/>
                </a:solidFill>
                <a:latin typeface="Calibri"/>
                <a:ea typeface="Calibri"/>
                <a:cs typeface="Calibri"/>
                <a:sym typeface="Calibri"/>
              </a:rPr>
              <a:t>kij / ikj</a:t>
            </a:r>
            <a:endParaRPr b="1" sz="2000">
              <a:solidFill>
                <a:srgbClr val="FF0000"/>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49"/>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Example: Matrix Multiplication</a:t>
            </a:r>
            <a:endParaRPr/>
          </a:p>
        </p:txBody>
      </p:sp>
      <p:sp>
        <p:nvSpPr>
          <p:cNvPr id="341" name="Google Shape;341;p49"/>
          <p:cNvSpPr txBox="1"/>
          <p:nvPr/>
        </p:nvSpPr>
        <p:spPr>
          <a:xfrm>
            <a:off x="4470399" y="2952749"/>
            <a:ext cx="2439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800">
                <a:solidFill>
                  <a:schemeClr val="dk1"/>
                </a:solidFill>
                <a:latin typeface="Calibri"/>
                <a:ea typeface="Calibri"/>
                <a:cs typeface="Calibri"/>
                <a:sym typeface="Calibri"/>
              </a:rPr>
              <a:t>j</a:t>
            </a:r>
            <a:endParaRPr/>
          </a:p>
        </p:txBody>
      </p:sp>
      <p:sp>
        <p:nvSpPr>
          <p:cNvPr id="342" name="Google Shape;342;p49"/>
          <p:cNvSpPr/>
          <p:nvPr/>
        </p:nvSpPr>
        <p:spPr>
          <a:xfrm>
            <a:off x="499525" y="1060050"/>
            <a:ext cx="6893100" cy="2324100"/>
          </a:xfrm>
          <a:prstGeom prst="rect">
            <a:avLst/>
          </a:prstGeom>
          <a:solidFill>
            <a:srgbClr val="F6F5BD"/>
          </a:solidFill>
          <a:ln cap="flat" cmpd="thickThin" w="12700">
            <a:solidFill>
              <a:schemeClr val="dk1"/>
            </a:solidFill>
            <a:prstDash val="solid"/>
            <a:miter lim="800000"/>
            <a:headEnd len="sm" w="sm" type="none"/>
            <a:tailEnd len="sm" w="sm" type="none"/>
          </a:ln>
        </p:spPr>
        <p:txBody>
          <a:bodyPr anchorCtr="0" anchor="t" bIns="44450" lIns="90475" spcFirstLastPara="1" rIns="90475" wrap="square" tIns="44450">
            <a:noAutofit/>
          </a:bodyPr>
          <a:lstStyle/>
          <a:p>
            <a:pPr indent="0" lvl="0" marL="0" marR="0" rtl="0" algn="l">
              <a:lnSpc>
                <a:spcPct val="100000"/>
              </a:lnSpc>
              <a:spcBef>
                <a:spcPts val="0"/>
              </a:spcBef>
              <a:spcAft>
                <a:spcPts val="0"/>
              </a:spcAft>
              <a:buNone/>
            </a:pPr>
            <a:r>
              <a:rPr b="1" lang="en" sz="1600">
                <a:solidFill>
                  <a:schemeClr val="dk1"/>
                </a:solidFill>
                <a:latin typeface="Courier New"/>
                <a:ea typeface="Courier New"/>
                <a:cs typeface="Courier New"/>
                <a:sym typeface="Courier New"/>
              </a:rPr>
              <a:t>c = (double *) calloc(sizeof(double), n*n);</a:t>
            </a:r>
            <a:endParaRPr b="1" sz="1600">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None/>
            </a:pPr>
            <a:r>
              <a:rPr b="1" lang="en" sz="1600">
                <a:solidFill>
                  <a:srgbClr val="990000"/>
                </a:solidFill>
                <a:latin typeface="Courier New"/>
                <a:ea typeface="Courier New"/>
                <a:cs typeface="Courier New"/>
                <a:sym typeface="Courier New"/>
              </a:rPr>
              <a:t>/* Multiply n x n matrices a and b  */</a:t>
            </a:r>
            <a:endParaRPr/>
          </a:p>
          <a:p>
            <a:pPr indent="0" lvl="0" marL="0" marR="0" rtl="0" algn="l">
              <a:lnSpc>
                <a:spcPct val="100000"/>
              </a:lnSpc>
              <a:spcBef>
                <a:spcPts val="0"/>
              </a:spcBef>
              <a:spcAft>
                <a:spcPts val="0"/>
              </a:spcAft>
              <a:buNone/>
            </a:pPr>
            <a:r>
              <a:rPr b="1" lang="en" sz="1600">
                <a:solidFill>
                  <a:schemeClr val="dk1"/>
                </a:solidFill>
                <a:latin typeface="Courier New"/>
                <a:ea typeface="Courier New"/>
                <a:cs typeface="Courier New"/>
                <a:sym typeface="Courier New"/>
              </a:rPr>
              <a:t>void mmm(double *a, double *b, double *c, int n) {</a:t>
            </a:r>
            <a:endParaRPr/>
          </a:p>
          <a:p>
            <a:pPr indent="0" lvl="0" marL="0" marR="0" rtl="0" algn="l">
              <a:lnSpc>
                <a:spcPct val="100000"/>
              </a:lnSpc>
              <a:spcBef>
                <a:spcPts val="0"/>
              </a:spcBef>
              <a:spcAft>
                <a:spcPts val="0"/>
              </a:spcAft>
              <a:buNone/>
            </a:pPr>
            <a:r>
              <a:rPr b="1" lang="en" sz="1600">
                <a:solidFill>
                  <a:schemeClr val="dk1"/>
                </a:solidFill>
                <a:latin typeface="Courier New"/>
                <a:ea typeface="Courier New"/>
                <a:cs typeface="Courier New"/>
                <a:sym typeface="Courier New"/>
              </a:rPr>
              <a:t>    int i, j, k;</a:t>
            </a:r>
            <a:endParaRPr b="1" sz="1600">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None/>
            </a:pPr>
            <a:r>
              <a:rPr b="1" lang="en" sz="1600">
                <a:solidFill>
                  <a:schemeClr val="dk1"/>
                </a:solidFill>
                <a:latin typeface="Courier New"/>
                <a:ea typeface="Courier New"/>
                <a:cs typeface="Courier New"/>
                <a:sym typeface="Courier New"/>
              </a:rPr>
              <a:t>    for (i = 0; i &lt; n; i++)</a:t>
            </a:r>
            <a:endParaRPr b="1" sz="1600">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None/>
            </a:pPr>
            <a:r>
              <a:rPr b="1" lang="en" sz="1600">
                <a:solidFill>
                  <a:schemeClr val="dk1"/>
                </a:solidFill>
                <a:latin typeface="Courier New"/>
                <a:ea typeface="Courier New"/>
                <a:cs typeface="Courier New"/>
                <a:sym typeface="Courier New"/>
              </a:rPr>
              <a:t>	for (j = 0; j &lt; n; j++)</a:t>
            </a:r>
            <a:endParaRPr/>
          </a:p>
          <a:p>
            <a:pPr indent="0" lvl="0" marL="0" marR="0" rtl="0" algn="l">
              <a:lnSpc>
                <a:spcPct val="100000"/>
              </a:lnSpc>
              <a:spcBef>
                <a:spcPts val="0"/>
              </a:spcBef>
              <a:spcAft>
                <a:spcPts val="0"/>
              </a:spcAft>
              <a:buNone/>
            </a:pPr>
            <a:r>
              <a:rPr b="1" lang="en" sz="1600">
                <a:solidFill>
                  <a:schemeClr val="dk1"/>
                </a:solidFill>
                <a:latin typeface="Courier New"/>
                <a:ea typeface="Courier New"/>
                <a:cs typeface="Courier New"/>
                <a:sym typeface="Courier New"/>
              </a:rPr>
              <a:t>             for (k = 0; k &lt; n; k++)</a:t>
            </a:r>
            <a:endParaRPr b="1" sz="1600">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None/>
            </a:pPr>
            <a:r>
              <a:rPr b="1" lang="en" sz="1600">
                <a:solidFill>
                  <a:schemeClr val="dk1"/>
                </a:solidFill>
                <a:latin typeface="Courier New"/>
                <a:ea typeface="Courier New"/>
                <a:cs typeface="Courier New"/>
                <a:sym typeface="Courier New"/>
              </a:rPr>
              <a:t>	         c[i*n + j] += a[i*n + k] * b[k*n + j];</a:t>
            </a:r>
            <a:endParaRPr b="1" sz="1600">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None/>
            </a:pPr>
            <a:r>
              <a:rPr b="1" lang="en" sz="1600">
                <a:solidFill>
                  <a:schemeClr val="dk1"/>
                </a:solidFill>
                <a:latin typeface="Courier New"/>
                <a:ea typeface="Courier New"/>
                <a:cs typeface="Courier New"/>
                <a:sym typeface="Courier New"/>
              </a:rPr>
              <a:t>}</a:t>
            </a:r>
            <a:endParaRPr b="1" sz="1600">
              <a:solidFill>
                <a:schemeClr val="dk1"/>
              </a:solidFill>
              <a:latin typeface="Courier New"/>
              <a:ea typeface="Courier New"/>
              <a:cs typeface="Courier New"/>
              <a:sym typeface="Courier New"/>
            </a:endParaRPr>
          </a:p>
        </p:txBody>
      </p:sp>
      <p:pic>
        <p:nvPicPr>
          <p:cNvPr descr="Matrix Multiplication" id="343" name="Google Shape;343;p49"/>
          <p:cNvPicPr preferRelativeResize="0"/>
          <p:nvPr/>
        </p:nvPicPr>
        <p:blipFill>
          <a:blip r:embed="rId3">
            <a:alphaModFix/>
          </a:blip>
          <a:stretch>
            <a:fillRect/>
          </a:stretch>
        </p:blipFill>
        <p:spPr>
          <a:xfrm>
            <a:off x="1089449" y="3686275"/>
            <a:ext cx="5573475" cy="128432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50"/>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Cache Miss Analysis (unblocked)</a:t>
            </a:r>
            <a:endParaRPr/>
          </a:p>
        </p:txBody>
      </p:sp>
      <p:sp>
        <p:nvSpPr>
          <p:cNvPr id="349" name="Google Shape;349;p50"/>
          <p:cNvSpPr txBox="1"/>
          <p:nvPr>
            <p:ph idx="1" type="body"/>
          </p:nvPr>
        </p:nvSpPr>
        <p:spPr>
          <a:xfrm>
            <a:off x="311700" y="1101600"/>
            <a:ext cx="3490200" cy="3751200"/>
          </a:xfrm>
          <a:prstGeom prst="rect">
            <a:avLst/>
          </a:prstGeom>
          <a:noFill/>
          <a:ln>
            <a:noFill/>
          </a:ln>
        </p:spPr>
        <p:txBody>
          <a:bodyPr anchorCtr="0" anchor="t" bIns="45700" lIns="91425" spcFirstLastPara="1" rIns="91425" wrap="square" tIns="45700">
            <a:normAutofit/>
          </a:bodyPr>
          <a:lstStyle/>
          <a:p>
            <a:pPr indent="-361950" lvl="0" marL="457200" rtl="0" algn="l">
              <a:spcBef>
                <a:spcPts val="0"/>
              </a:spcBef>
              <a:spcAft>
                <a:spcPts val="0"/>
              </a:spcAft>
              <a:buSzPts val="2100"/>
              <a:buChar char="●"/>
            </a:pPr>
            <a:r>
              <a:rPr lang="en" sz="2100"/>
              <a:t>Assume: </a:t>
            </a:r>
            <a:endParaRPr sz="2100"/>
          </a:p>
          <a:p>
            <a:pPr indent="-336550" lvl="1" marL="914400" rtl="0" algn="l">
              <a:spcBef>
                <a:spcPts val="0"/>
              </a:spcBef>
              <a:spcAft>
                <a:spcPts val="0"/>
              </a:spcAft>
              <a:buSzPts val="1700"/>
              <a:buChar char="○"/>
            </a:pPr>
            <a:r>
              <a:rPr lang="en" sz="1700"/>
              <a:t>elements are doubles</a:t>
            </a:r>
            <a:endParaRPr sz="1700"/>
          </a:p>
          <a:p>
            <a:pPr indent="-336550" lvl="1" marL="914400" rtl="0" algn="l">
              <a:spcBef>
                <a:spcPts val="0"/>
              </a:spcBef>
              <a:spcAft>
                <a:spcPts val="0"/>
              </a:spcAft>
              <a:buSzPts val="1700"/>
              <a:buChar char="○"/>
            </a:pPr>
            <a:r>
              <a:rPr lang="en" sz="1700"/>
              <a:t>Cache block = 8 doubles</a:t>
            </a:r>
            <a:endParaRPr sz="1700"/>
          </a:p>
          <a:p>
            <a:pPr indent="-336550" lvl="1" marL="914400" rtl="0" algn="l">
              <a:spcBef>
                <a:spcPts val="0"/>
              </a:spcBef>
              <a:spcAft>
                <a:spcPts val="0"/>
              </a:spcAft>
              <a:buSzPts val="1700"/>
              <a:buChar char="○"/>
            </a:pPr>
            <a:r>
              <a:rPr lang="en" sz="1700"/>
              <a:t>Cache size C &lt;&lt; n</a:t>
            </a:r>
            <a:endParaRPr sz="1700"/>
          </a:p>
          <a:p>
            <a:pPr indent="-361950" lvl="0" marL="457200" rtl="0" algn="l">
              <a:spcBef>
                <a:spcPts val="0"/>
              </a:spcBef>
              <a:spcAft>
                <a:spcPts val="0"/>
              </a:spcAft>
              <a:buSzPts val="2100"/>
              <a:buChar char="●"/>
            </a:pPr>
            <a:r>
              <a:rPr lang="en" sz="2100"/>
              <a:t>Each Loop:</a:t>
            </a:r>
            <a:endParaRPr sz="2100"/>
          </a:p>
          <a:p>
            <a:pPr indent="-336550" lvl="1" marL="914400" rtl="0" algn="l">
              <a:spcBef>
                <a:spcPts val="0"/>
              </a:spcBef>
              <a:spcAft>
                <a:spcPts val="0"/>
              </a:spcAft>
              <a:buSzPts val="1700"/>
              <a:buChar char="○"/>
            </a:pPr>
            <a:r>
              <a:rPr lang="en" sz="1700"/>
              <a:t>n/8 (input) + n (weights) = 9n/8 misses</a:t>
            </a:r>
            <a:endParaRPr sz="1700"/>
          </a:p>
          <a:p>
            <a:pPr indent="-361950" lvl="0" marL="457200" rtl="0" algn="l">
              <a:spcBef>
                <a:spcPts val="0"/>
              </a:spcBef>
              <a:spcAft>
                <a:spcPts val="0"/>
              </a:spcAft>
              <a:buSzPts val="2100"/>
              <a:buChar char="●"/>
            </a:pPr>
            <a:r>
              <a:rPr lang="en" sz="1700"/>
              <a:t>N</a:t>
            </a:r>
            <a:r>
              <a:rPr baseline="30000" lang="en" sz="1700"/>
              <a:t>2 </a:t>
            </a:r>
            <a:r>
              <a:rPr lang="en"/>
              <a:t>total loops for all outputs</a:t>
            </a:r>
            <a:endParaRPr/>
          </a:p>
          <a:p>
            <a:pPr indent="-361950" lvl="0" marL="457200" rtl="0" algn="l">
              <a:spcBef>
                <a:spcPts val="0"/>
              </a:spcBef>
              <a:spcAft>
                <a:spcPts val="0"/>
              </a:spcAft>
              <a:buSzPts val="2100"/>
              <a:buChar char="●"/>
            </a:pPr>
            <a:r>
              <a:rPr lang="en" sz="2100"/>
              <a:t>Total misses:</a:t>
            </a:r>
            <a:endParaRPr sz="2100"/>
          </a:p>
          <a:p>
            <a:pPr indent="-336550" lvl="1" marL="914400" rtl="0" algn="l">
              <a:spcBef>
                <a:spcPts val="0"/>
              </a:spcBef>
              <a:spcAft>
                <a:spcPts val="0"/>
              </a:spcAft>
              <a:buSzPts val="1700"/>
              <a:buChar char="○"/>
            </a:pPr>
            <a:r>
              <a:rPr lang="en" sz="1700"/>
              <a:t>9n/8 * n</a:t>
            </a:r>
            <a:r>
              <a:rPr baseline="30000" lang="en" sz="1700"/>
              <a:t>2</a:t>
            </a:r>
            <a:r>
              <a:rPr lang="en" sz="1700"/>
              <a:t> = (9/8) * n</a:t>
            </a:r>
            <a:r>
              <a:rPr baseline="30000" lang="en" sz="1700"/>
              <a:t>3</a:t>
            </a:r>
            <a:r>
              <a:rPr lang="en" sz="1700"/>
              <a:t> </a:t>
            </a:r>
            <a:endParaRPr sz="1700"/>
          </a:p>
        </p:txBody>
      </p:sp>
      <p:pic>
        <p:nvPicPr>
          <p:cNvPr descr="Matrix Multiplication with cache misses highlighted" id="350" name="Google Shape;350;p50"/>
          <p:cNvPicPr preferRelativeResize="0"/>
          <p:nvPr/>
        </p:nvPicPr>
        <p:blipFill>
          <a:blip r:embed="rId3">
            <a:alphaModFix/>
          </a:blip>
          <a:stretch>
            <a:fillRect/>
          </a:stretch>
        </p:blipFill>
        <p:spPr>
          <a:xfrm>
            <a:off x="3932700" y="961325"/>
            <a:ext cx="5037300" cy="2762861"/>
          </a:xfrm>
          <a:prstGeom prst="rect">
            <a:avLst/>
          </a:prstGeom>
          <a:noFill/>
          <a:ln>
            <a:noFill/>
          </a:ln>
        </p:spPr>
      </p:pic>
      <p:pic>
        <p:nvPicPr>
          <p:cNvPr descr="Matrix Multiplication with cache misses highlighted" id="351" name="Google Shape;351;p50"/>
          <p:cNvPicPr preferRelativeResize="0"/>
          <p:nvPr/>
        </p:nvPicPr>
        <p:blipFill>
          <a:blip r:embed="rId4">
            <a:alphaModFix/>
          </a:blip>
          <a:stretch>
            <a:fillRect/>
          </a:stretch>
        </p:blipFill>
        <p:spPr>
          <a:xfrm>
            <a:off x="3932700" y="3752488"/>
            <a:ext cx="4998051" cy="1157912"/>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51"/>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Cache Miss Analysis (unblocked)</a:t>
            </a:r>
            <a:endParaRPr/>
          </a:p>
        </p:txBody>
      </p:sp>
      <p:sp>
        <p:nvSpPr>
          <p:cNvPr id="357" name="Google Shape;357;p51"/>
          <p:cNvSpPr txBox="1"/>
          <p:nvPr>
            <p:ph idx="1" type="body"/>
          </p:nvPr>
        </p:nvSpPr>
        <p:spPr>
          <a:xfrm>
            <a:off x="311700" y="1101600"/>
            <a:ext cx="3490200" cy="3751200"/>
          </a:xfrm>
          <a:prstGeom prst="rect">
            <a:avLst/>
          </a:prstGeom>
          <a:noFill/>
          <a:ln>
            <a:noFill/>
          </a:ln>
        </p:spPr>
        <p:txBody>
          <a:bodyPr anchorCtr="0" anchor="t" bIns="45700" lIns="91425" spcFirstLastPara="1" rIns="91425" wrap="square" tIns="45700">
            <a:normAutofit/>
          </a:bodyPr>
          <a:lstStyle/>
          <a:p>
            <a:pPr indent="-361950" lvl="0" marL="457200" rtl="0" algn="l">
              <a:spcBef>
                <a:spcPts val="0"/>
              </a:spcBef>
              <a:spcAft>
                <a:spcPts val="0"/>
              </a:spcAft>
              <a:buSzPts val="2100"/>
              <a:buChar char="●"/>
            </a:pPr>
            <a:r>
              <a:rPr lang="en" sz="2100"/>
              <a:t>Assume: </a:t>
            </a:r>
            <a:endParaRPr sz="2100"/>
          </a:p>
          <a:p>
            <a:pPr indent="-336550" lvl="1" marL="914400" rtl="0" algn="l">
              <a:spcBef>
                <a:spcPts val="0"/>
              </a:spcBef>
              <a:spcAft>
                <a:spcPts val="0"/>
              </a:spcAft>
              <a:buSzPts val="1700"/>
              <a:buChar char="○"/>
            </a:pPr>
            <a:r>
              <a:rPr lang="en" sz="1700"/>
              <a:t>elements are doubles</a:t>
            </a:r>
            <a:endParaRPr sz="1700"/>
          </a:p>
          <a:p>
            <a:pPr indent="-336550" lvl="1" marL="914400" rtl="0" algn="l">
              <a:spcBef>
                <a:spcPts val="0"/>
              </a:spcBef>
              <a:spcAft>
                <a:spcPts val="0"/>
              </a:spcAft>
              <a:buSzPts val="1700"/>
              <a:buChar char="○"/>
            </a:pPr>
            <a:r>
              <a:rPr lang="en" sz="1700"/>
              <a:t>Cache block = 8 doubles</a:t>
            </a:r>
            <a:endParaRPr sz="1700"/>
          </a:p>
          <a:p>
            <a:pPr indent="-336550" lvl="1" marL="914400" rtl="0" algn="l">
              <a:spcBef>
                <a:spcPts val="0"/>
              </a:spcBef>
              <a:spcAft>
                <a:spcPts val="0"/>
              </a:spcAft>
              <a:buSzPts val="1700"/>
              <a:buChar char="○"/>
            </a:pPr>
            <a:r>
              <a:rPr lang="en" sz="1700"/>
              <a:t>Cache size C &lt;&lt; n</a:t>
            </a:r>
            <a:endParaRPr sz="1700"/>
          </a:p>
          <a:p>
            <a:pPr indent="-361950" lvl="0" marL="457200" rtl="0" algn="l">
              <a:spcBef>
                <a:spcPts val="0"/>
              </a:spcBef>
              <a:spcAft>
                <a:spcPts val="0"/>
              </a:spcAft>
              <a:buSzPts val="2100"/>
              <a:buChar char="●"/>
            </a:pPr>
            <a:r>
              <a:rPr lang="en" sz="2100"/>
              <a:t>Each Loop:</a:t>
            </a:r>
            <a:endParaRPr sz="2100"/>
          </a:p>
          <a:p>
            <a:pPr indent="-336550" lvl="1" marL="914400" rtl="0" algn="l">
              <a:spcBef>
                <a:spcPts val="0"/>
              </a:spcBef>
              <a:spcAft>
                <a:spcPts val="0"/>
              </a:spcAft>
              <a:buSzPts val="1700"/>
              <a:buChar char="○"/>
            </a:pPr>
            <a:r>
              <a:rPr lang="en" sz="1700"/>
              <a:t>n/8 (output) + n/8 (weights) = n/4 misses</a:t>
            </a:r>
            <a:endParaRPr sz="1700"/>
          </a:p>
          <a:p>
            <a:pPr indent="-361950" lvl="0" marL="457200" rtl="0" algn="l">
              <a:spcBef>
                <a:spcPts val="0"/>
              </a:spcBef>
              <a:spcAft>
                <a:spcPts val="0"/>
              </a:spcAft>
              <a:buSzPts val="2100"/>
              <a:buChar char="●"/>
            </a:pPr>
            <a:r>
              <a:rPr lang="en" sz="1700"/>
              <a:t>N</a:t>
            </a:r>
            <a:r>
              <a:rPr baseline="30000" lang="en" sz="1700"/>
              <a:t>2 </a:t>
            </a:r>
            <a:r>
              <a:rPr lang="en"/>
              <a:t>total loops for all outputs</a:t>
            </a:r>
            <a:endParaRPr sz="2100"/>
          </a:p>
          <a:p>
            <a:pPr indent="-361950" lvl="0" marL="457200" rtl="0" algn="l">
              <a:spcBef>
                <a:spcPts val="0"/>
              </a:spcBef>
              <a:spcAft>
                <a:spcPts val="0"/>
              </a:spcAft>
              <a:buSzPts val="2100"/>
              <a:buChar char="●"/>
            </a:pPr>
            <a:r>
              <a:rPr lang="en" sz="2100"/>
              <a:t>Total misses:</a:t>
            </a:r>
            <a:endParaRPr sz="2100"/>
          </a:p>
          <a:p>
            <a:pPr indent="-336550" lvl="1" marL="914400" rtl="0" algn="l">
              <a:spcBef>
                <a:spcPts val="0"/>
              </a:spcBef>
              <a:spcAft>
                <a:spcPts val="0"/>
              </a:spcAft>
              <a:buSzPts val="1700"/>
              <a:buChar char="○"/>
            </a:pPr>
            <a:r>
              <a:rPr lang="en" sz="1700"/>
              <a:t>n/4 * n</a:t>
            </a:r>
            <a:r>
              <a:rPr baseline="30000" lang="en" sz="1700"/>
              <a:t>2</a:t>
            </a:r>
            <a:r>
              <a:rPr lang="en" sz="1700"/>
              <a:t> = (1/4) * n</a:t>
            </a:r>
            <a:r>
              <a:rPr baseline="30000" lang="en" sz="1700"/>
              <a:t>3</a:t>
            </a:r>
            <a:r>
              <a:rPr lang="en" sz="1700"/>
              <a:t> </a:t>
            </a:r>
            <a:endParaRPr sz="1700"/>
          </a:p>
        </p:txBody>
      </p:sp>
      <p:pic>
        <p:nvPicPr>
          <p:cNvPr descr="Matrix multiplication with innermost loop elements highlighted" id="358" name="Google Shape;358;p51"/>
          <p:cNvPicPr preferRelativeResize="0"/>
          <p:nvPr/>
        </p:nvPicPr>
        <p:blipFill>
          <a:blip r:embed="rId3">
            <a:alphaModFix/>
          </a:blip>
          <a:stretch>
            <a:fillRect/>
          </a:stretch>
        </p:blipFill>
        <p:spPr>
          <a:xfrm>
            <a:off x="4600800" y="1491950"/>
            <a:ext cx="4122850" cy="2159588"/>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52"/>
          <p:cNvSpPr txBox="1"/>
          <p:nvPr>
            <p:ph type="title"/>
          </p:nvPr>
        </p:nvSpPr>
        <p:spPr>
          <a:xfrm>
            <a:off x="311700" y="99125"/>
            <a:ext cx="8520600" cy="5727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Blocked Matrix Multiplication</a:t>
            </a:r>
            <a:endParaRPr/>
          </a:p>
        </p:txBody>
      </p:sp>
      <p:sp>
        <p:nvSpPr>
          <p:cNvPr id="364" name="Google Shape;364;p52"/>
          <p:cNvSpPr/>
          <p:nvPr/>
        </p:nvSpPr>
        <p:spPr>
          <a:xfrm>
            <a:off x="152400" y="670050"/>
            <a:ext cx="8839200" cy="2652900"/>
          </a:xfrm>
          <a:prstGeom prst="rect">
            <a:avLst/>
          </a:prstGeom>
          <a:solidFill>
            <a:srgbClr val="F6F5BD"/>
          </a:solidFill>
          <a:ln cap="flat" cmpd="thickThin" w="12700">
            <a:solidFill>
              <a:schemeClr val="dk1"/>
            </a:solidFill>
            <a:prstDash val="solid"/>
            <a:miter lim="800000"/>
            <a:headEnd len="sm" w="sm" type="none"/>
            <a:tailEnd len="sm" w="sm" type="none"/>
          </a:ln>
        </p:spPr>
        <p:txBody>
          <a:bodyPr anchorCtr="0" anchor="t" bIns="44450" lIns="90475" spcFirstLastPara="1" rIns="90475" wrap="square" tIns="44450">
            <a:noAutofit/>
          </a:bodyPr>
          <a:lstStyle/>
          <a:p>
            <a:pPr indent="0" lvl="0" marL="0" marR="0" rtl="0" algn="l">
              <a:lnSpc>
                <a:spcPct val="100000"/>
              </a:lnSpc>
              <a:spcBef>
                <a:spcPts val="0"/>
              </a:spcBef>
              <a:spcAft>
                <a:spcPts val="0"/>
              </a:spcAft>
              <a:buNone/>
            </a:pPr>
            <a:r>
              <a:rPr b="1" lang="en" sz="1300">
                <a:solidFill>
                  <a:schemeClr val="dk1"/>
                </a:solidFill>
                <a:latin typeface="Courier New"/>
                <a:ea typeface="Courier New"/>
                <a:cs typeface="Courier New"/>
                <a:sym typeface="Courier New"/>
              </a:rPr>
              <a:t>c = (double *) calloc(sizeof(double), n*n);</a:t>
            </a:r>
            <a:endParaRPr sz="1100"/>
          </a:p>
          <a:p>
            <a:pPr indent="0" lvl="0" marL="0" marR="0" rtl="0" algn="l">
              <a:lnSpc>
                <a:spcPct val="100000"/>
              </a:lnSpc>
              <a:spcBef>
                <a:spcPts val="0"/>
              </a:spcBef>
              <a:spcAft>
                <a:spcPts val="0"/>
              </a:spcAft>
              <a:buNone/>
            </a:pPr>
            <a:r>
              <a:rPr b="1" lang="en" sz="1300">
                <a:solidFill>
                  <a:srgbClr val="990000"/>
                </a:solidFill>
                <a:latin typeface="Courier New"/>
                <a:ea typeface="Courier New"/>
                <a:cs typeface="Courier New"/>
                <a:sym typeface="Courier New"/>
              </a:rPr>
              <a:t>/* Multiply n x n matrices a and b  */</a:t>
            </a:r>
            <a:endParaRPr sz="1100"/>
          </a:p>
          <a:p>
            <a:pPr indent="0" lvl="0" marL="0" marR="0" rtl="0" algn="l">
              <a:lnSpc>
                <a:spcPct val="100000"/>
              </a:lnSpc>
              <a:spcBef>
                <a:spcPts val="0"/>
              </a:spcBef>
              <a:spcAft>
                <a:spcPts val="0"/>
              </a:spcAft>
              <a:buNone/>
            </a:pPr>
            <a:r>
              <a:rPr b="1" lang="en" sz="1300">
                <a:solidFill>
                  <a:schemeClr val="dk1"/>
                </a:solidFill>
                <a:latin typeface="Courier New"/>
                <a:ea typeface="Courier New"/>
                <a:cs typeface="Courier New"/>
                <a:sym typeface="Courier New"/>
              </a:rPr>
              <a:t>void mmm(double *a, double *b, double *c, int n) {</a:t>
            </a:r>
            <a:endParaRPr sz="1100"/>
          </a:p>
          <a:p>
            <a:pPr indent="0" lvl="0" marL="0" marR="0" rtl="0" algn="l">
              <a:lnSpc>
                <a:spcPct val="100000"/>
              </a:lnSpc>
              <a:spcBef>
                <a:spcPts val="0"/>
              </a:spcBef>
              <a:spcAft>
                <a:spcPts val="0"/>
              </a:spcAft>
              <a:buNone/>
            </a:pPr>
            <a:r>
              <a:rPr b="1" lang="en" sz="1300">
                <a:solidFill>
                  <a:schemeClr val="dk1"/>
                </a:solidFill>
                <a:latin typeface="Courier New"/>
                <a:ea typeface="Courier New"/>
                <a:cs typeface="Courier New"/>
                <a:sym typeface="Courier New"/>
              </a:rPr>
              <a:t>    int i, j, k;</a:t>
            </a:r>
            <a:endParaRPr b="1" sz="1300">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None/>
            </a:pPr>
            <a:r>
              <a:rPr b="1" lang="en" sz="1300">
                <a:solidFill>
                  <a:schemeClr val="dk1"/>
                </a:solidFill>
                <a:latin typeface="Courier New"/>
                <a:ea typeface="Courier New"/>
                <a:cs typeface="Courier New"/>
                <a:sym typeface="Courier New"/>
              </a:rPr>
              <a:t>    for (i = 0; i &lt; n; i+=B)</a:t>
            </a:r>
            <a:endParaRPr b="1" sz="1300">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None/>
            </a:pPr>
            <a:r>
              <a:rPr b="1" lang="en" sz="1300">
                <a:solidFill>
                  <a:schemeClr val="dk1"/>
                </a:solidFill>
                <a:latin typeface="Courier New"/>
                <a:ea typeface="Courier New"/>
                <a:cs typeface="Courier New"/>
                <a:sym typeface="Courier New"/>
              </a:rPr>
              <a:t>	for (j = 0; j &lt; n; j+=B)</a:t>
            </a:r>
            <a:endParaRPr sz="1100"/>
          </a:p>
          <a:p>
            <a:pPr indent="0" lvl="0" marL="0" marR="0" rtl="0" algn="l">
              <a:lnSpc>
                <a:spcPct val="100000"/>
              </a:lnSpc>
              <a:spcBef>
                <a:spcPts val="0"/>
              </a:spcBef>
              <a:spcAft>
                <a:spcPts val="0"/>
              </a:spcAft>
              <a:buNone/>
            </a:pPr>
            <a:r>
              <a:rPr b="1" lang="en" sz="1300">
                <a:solidFill>
                  <a:schemeClr val="dk1"/>
                </a:solidFill>
                <a:latin typeface="Courier New"/>
                <a:ea typeface="Courier New"/>
                <a:cs typeface="Courier New"/>
                <a:sym typeface="Courier New"/>
              </a:rPr>
              <a:t>             for (k = 0; k &lt; n; k+=B)</a:t>
            </a:r>
            <a:endParaRPr sz="1100"/>
          </a:p>
          <a:p>
            <a:pPr indent="0" lvl="0" marL="0" marR="0" rtl="0" algn="l">
              <a:lnSpc>
                <a:spcPct val="100000"/>
              </a:lnSpc>
              <a:spcBef>
                <a:spcPts val="0"/>
              </a:spcBef>
              <a:spcAft>
                <a:spcPts val="0"/>
              </a:spcAft>
              <a:buNone/>
            </a:pPr>
            <a:r>
              <a:rPr b="1" lang="en" sz="1300">
                <a:solidFill>
                  <a:schemeClr val="dk1"/>
                </a:solidFill>
                <a:latin typeface="Courier New"/>
                <a:ea typeface="Courier New"/>
                <a:cs typeface="Courier New"/>
                <a:sym typeface="Courier New"/>
              </a:rPr>
              <a:t>		 </a:t>
            </a:r>
            <a:r>
              <a:rPr b="1" lang="en" sz="1300">
                <a:solidFill>
                  <a:srgbClr val="990000"/>
                </a:solidFill>
                <a:latin typeface="Courier New"/>
                <a:ea typeface="Courier New"/>
                <a:cs typeface="Courier New"/>
                <a:sym typeface="Courier New"/>
              </a:rPr>
              <a:t>/* B x B mini matrix multiplications */</a:t>
            </a:r>
            <a:endParaRPr sz="1100"/>
          </a:p>
          <a:p>
            <a:pPr indent="0" lvl="0" marL="0" marR="0" rtl="0" algn="l">
              <a:lnSpc>
                <a:spcPct val="100000"/>
              </a:lnSpc>
              <a:spcBef>
                <a:spcPts val="0"/>
              </a:spcBef>
              <a:spcAft>
                <a:spcPts val="0"/>
              </a:spcAft>
              <a:buNone/>
            </a:pPr>
            <a:r>
              <a:rPr b="1" lang="en" sz="1300">
                <a:solidFill>
                  <a:schemeClr val="dk1"/>
                </a:solidFill>
                <a:latin typeface="Courier New"/>
                <a:ea typeface="Courier New"/>
                <a:cs typeface="Courier New"/>
                <a:sym typeface="Courier New"/>
              </a:rPr>
              <a:t>                  for (i1 = i; i1 &lt; i+B; i1++)</a:t>
            </a:r>
            <a:endParaRPr sz="1100"/>
          </a:p>
          <a:p>
            <a:pPr indent="0" lvl="0" marL="0" marR="0" rtl="0" algn="l">
              <a:spcBef>
                <a:spcPts val="0"/>
              </a:spcBef>
              <a:spcAft>
                <a:spcPts val="0"/>
              </a:spcAft>
              <a:buNone/>
            </a:pPr>
            <a:r>
              <a:rPr b="1" lang="en" sz="1300">
                <a:solidFill>
                  <a:schemeClr val="dk1"/>
                </a:solidFill>
                <a:latin typeface="Courier New"/>
                <a:ea typeface="Courier New"/>
                <a:cs typeface="Courier New"/>
                <a:sym typeface="Courier New"/>
              </a:rPr>
              <a:t>                      for (j1 = j; j1 &lt; j+B; j1++)</a:t>
            </a:r>
            <a:endParaRPr sz="1100"/>
          </a:p>
          <a:p>
            <a:pPr indent="0" lvl="0" marL="0" marR="0" rtl="0" algn="l">
              <a:spcBef>
                <a:spcPts val="0"/>
              </a:spcBef>
              <a:spcAft>
                <a:spcPts val="0"/>
              </a:spcAft>
              <a:buNone/>
            </a:pPr>
            <a:r>
              <a:rPr b="1" lang="en" sz="1300">
                <a:solidFill>
                  <a:schemeClr val="dk1"/>
                </a:solidFill>
                <a:latin typeface="Courier New"/>
                <a:ea typeface="Courier New"/>
                <a:cs typeface="Courier New"/>
                <a:sym typeface="Courier New"/>
              </a:rPr>
              <a:t>                          for (k1 = k; k1 &lt; k+B; k1++)</a:t>
            </a:r>
            <a:endParaRPr b="1" sz="1300">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None/>
            </a:pPr>
            <a:r>
              <a:rPr b="1" lang="en" sz="1300">
                <a:solidFill>
                  <a:schemeClr val="dk1"/>
                </a:solidFill>
                <a:latin typeface="Courier New"/>
                <a:ea typeface="Courier New"/>
                <a:cs typeface="Courier New"/>
                <a:sym typeface="Courier New"/>
              </a:rPr>
              <a:t>	                      c[i1*n+j1] += a[i1*n + k1]*b[k1*n + j1];</a:t>
            </a:r>
            <a:endParaRPr b="1" sz="1300">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None/>
            </a:pPr>
            <a:r>
              <a:rPr b="1" lang="en" sz="1300">
                <a:solidFill>
                  <a:schemeClr val="dk1"/>
                </a:solidFill>
                <a:latin typeface="Courier New"/>
                <a:ea typeface="Courier New"/>
                <a:cs typeface="Courier New"/>
                <a:sym typeface="Courier New"/>
              </a:rPr>
              <a:t>}</a:t>
            </a:r>
            <a:endParaRPr sz="1100"/>
          </a:p>
        </p:txBody>
      </p:sp>
      <p:pic>
        <p:nvPicPr>
          <p:cNvPr descr="Blocked Matrix Multiplication" id="365" name="Google Shape;365;p52"/>
          <p:cNvPicPr preferRelativeResize="0"/>
          <p:nvPr/>
        </p:nvPicPr>
        <p:blipFill>
          <a:blip r:embed="rId3">
            <a:alphaModFix/>
          </a:blip>
          <a:stretch>
            <a:fillRect/>
          </a:stretch>
        </p:blipFill>
        <p:spPr>
          <a:xfrm>
            <a:off x="1599600" y="3344400"/>
            <a:ext cx="6788400" cy="16971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53"/>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Cache Miss Analysis (blocked)</a:t>
            </a:r>
            <a:endParaRPr/>
          </a:p>
        </p:txBody>
      </p:sp>
      <p:sp>
        <p:nvSpPr>
          <p:cNvPr id="371" name="Google Shape;371;p53"/>
          <p:cNvSpPr txBox="1"/>
          <p:nvPr>
            <p:ph idx="1" type="body"/>
          </p:nvPr>
        </p:nvSpPr>
        <p:spPr>
          <a:xfrm>
            <a:off x="311700" y="1152475"/>
            <a:ext cx="3579000" cy="3416400"/>
          </a:xfrm>
          <a:prstGeom prst="rect">
            <a:avLst/>
          </a:prstGeom>
          <a:noFill/>
          <a:ln>
            <a:noFill/>
          </a:ln>
        </p:spPr>
        <p:txBody>
          <a:bodyPr anchorCtr="0" anchor="t" bIns="45700" lIns="91425" spcFirstLastPara="1" rIns="91425" wrap="square" tIns="45700">
            <a:normAutofit lnSpcReduction="20000"/>
          </a:bodyPr>
          <a:lstStyle/>
          <a:p>
            <a:pPr indent="-342900" lvl="0" marL="457200" rtl="0" algn="l">
              <a:spcBef>
                <a:spcPts val="0"/>
              </a:spcBef>
              <a:spcAft>
                <a:spcPts val="0"/>
              </a:spcAft>
              <a:buSzPts val="1800"/>
              <a:buChar char="●"/>
            </a:pPr>
            <a:r>
              <a:rPr lang="en"/>
              <a:t>Assume: </a:t>
            </a:r>
            <a:endParaRPr/>
          </a:p>
          <a:p>
            <a:pPr indent="-317500" lvl="1" marL="914400" rtl="0" algn="l">
              <a:spcBef>
                <a:spcPts val="0"/>
              </a:spcBef>
              <a:spcAft>
                <a:spcPts val="0"/>
              </a:spcAft>
              <a:buSzPts val="1400"/>
              <a:buChar char="○"/>
            </a:pPr>
            <a:r>
              <a:rPr lang="en"/>
              <a:t>Cache block = 8 doubles</a:t>
            </a:r>
            <a:endParaRPr/>
          </a:p>
          <a:p>
            <a:pPr indent="-317500" lvl="1" marL="914400" rtl="0" algn="l">
              <a:spcBef>
                <a:spcPts val="0"/>
              </a:spcBef>
              <a:spcAft>
                <a:spcPts val="0"/>
              </a:spcAft>
              <a:buSzPts val="1400"/>
              <a:buChar char="○"/>
            </a:pPr>
            <a:r>
              <a:rPr lang="en"/>
              <a:t>Cache size C &lt;&lt; n</a:t>
            </a:r>
            <a:endParaRPr/>
          </a:p>
          <a:p>
            <a:pPr indent="-317500" lvl="1" marL="914400" rtl="0" algn="l">
              <a:spcBef>
                <a:spcPts val="0"/>
              </a:spcBef>
              <a:spcAft>
                <a:spcPts val="0"/>
              </a:spcAft>
              <a:buSzPts val="1400"/>
              <a:buChar char="○"/>
            </a:pPr>
            <a:r>
              <a:rPr lang="en"/>
              <a:t>3 blocks fit into cache: 3B</a:t>
            </a:r>
            <a:r>
              <a:rPr baseline="30000" lang="en"/>
              <a:t>2</a:t>
            </a:r>
            <a:r>
              <a:rPr lang="en"/>
              <a:t> &lt; C</a:t>
            </a:r>
            <a:endParaRPr/>
          </a:p>
          <a:p>
            <a:pPr indent="-342900" lvl="0" marL="457200" rtl="0" algn="l">
              <a:spcBef>
                <a:spcPts val="0"/>
              </a:spcBef>
              <a:spcAft>
                <a:spcPts val="0"/>
              </a:spcAft>
              <a:buSzPts val="1800"/>
              <a:buChar char="●"/>
            </a:pPr>
            <a:r>
              <a:rPr lang="en" sz="2100"/>
              <a:t>Each Loop:</a:t>
            </a:r>
            <a:endParaRPr/>
          </a:p>
          <a:p>
            <a:pPr indent="-317500" lvl="1" marL="914400" rtl="0" algn="l">
              <a:spcBef>
                <a:spcPts val="0"/>
              </a:spcBef>
              <a:spcAft>
                <a:spcPts val="0"/>
              </a:spcAft>
              <a:buSzPts val="1400"/>
              <a:buChar char="○"/>
            </a:pPr>
            <a:r>
              <a:rPr lang="en"/>
              <a:t>B</a:t>
            </a:r>
            <a:r>
              <a:rPr baseline="30000" lang="en"/>
              <a:t>2</a:t>
            </a:r>
            <a:r>
              <a:rPr lang="en"/>
              <a:t>/8 misses for each block</a:t>
            </a:r>
            <a:endParaRPr/>
          </a:p>
          <a:p>
            <a:pPr indent="-317500" lvl="2" marL="1371600" rtl="0" algn="l">
              <a:spcBef>
                <a:spcPts val="0"/>
              </a:spcBef>
              <a:spcAft>
                <a:spcPts val="0"/>
              </a:spcAft>
              <a:buSzPts val="1400"/>
              <a:buChar char="■"/>
            </a:pPr>
            <a:r>
              <a:rPr lang="en"/>
              <a:t>B/8 per row, B rows</a:t>
            </a:r>
            <a:endParaRPr/>
          </a:p>
          <a:p>
            <a:pPr indent="-317500" lvl="1" marL="914400" rtl="0" algn="l">
              <a:spcBef>
                <a:spcPts val="0"/>
              </a:spcBef>
              <a:spcAft>
                <a:spcPts val="0"/>
              </a:spcAft>
              <a:buSzPts val="1400"/>
              <a:buChar char="○"/>
            </a:pPr>
            <a:r>
              <a:rPr lang="en"/>
              <a:t>n/B blocks for each matrix (x2)</a:t>
            </a:r>
            <a:endParaRPr/>
          </a:p>
          <a:p>
            <a:pPr indent="-317500" lvl="1" marL="914400" rtl="0" algn="l">
              <a:spcBef>
                <a:spcPts val="0"/>
              </a:spcBef>
              <a:spcAft>
                <a:spcPts val="0"/>
              </a:spcAft>
              <a:buSzPts val="1400"/>
              <a:buChar char="○"/>
            </a:pPr>
            <a:r>
              <a:rPr lang="en"/>
              <a:t>2n/B * B</a:t>
            </a:r>
            <a:r>
              <a:rPr baseline="30000" lang="en"/>
              <a:t>2</a:t>
            </a:r>
            <a:r>
              <a:rPr lang="en"/>
              <a:t>/8 = nB/4 </a:t>
            </a:r>
            <a:endParaRPr/>
          </a:p>
          <a:p>
            <a:pPr indent="-317500" lvl="2" marL="1371600" rtl="0" algn="l">
              <a:spcBef>
                <a:spcPts val="0"/>
              </a:spcBef>
              <a:spcAft>
                <a:spcPts val="0"/>
              </a:spcAft>
              <a:buSzPts val="1400"/>
              <a:buChar char="■"/>
            </a:pPr>
            <a:r>
              <a:rPr lang="en"/>
              <a:t>+matrix c</a:t>
            </a:r>
            <a:endParaRPr/>
          </a:p>
          <a:p>
            <a:pPr indent="-342900" lvl="0" marL="457200" rtl="0" algn="l">
              <a:spcBef>
                <a:spcPts val="0"/>
              </a:spcBef>
              <a:spcAft>
                <a:spcPts val="0"/>
              </a:spcAft>
              <a:buSzPts val="1800"/>
              <a:buChar char="●"/>
            </a:pPr>
            <a:r>
              <a:rPr lang="en" sz="1700"/>
              <a:t>(</a:t>
            </a:r>
            <a:r>
              <a:rPr lang="en" sz="1700"/>
              <a:t>N/B)</a:t>
            </a:r>
            <a:r>
              <a:rPr baseline="30000" lang="en" sz="1700"/>
              <a:t>2 </a:t>
            </a:r>
            <a:r>
              <a:rPr lang="en"/>
              <a:t>total loops for all outputs</a:t>
            </a:r>
            <a:endParaRPr/>
          </a:p>
          <a:p>
            <a:pPr indent="-342900" lvl="0" marL="457200" rtl="0" algn="l">
              <a:spcBef>
                <a:spcPts val="0"/>
              </a:spcBef>
              <a:spcAft>
                <a:spcPts val="0"/>
              </a:spcAft>
              <a:buSzPts val="1800"/>
              <a:buChar char="●"/>
            </a:pPr>
            <a:r>
              <a:rPr lang="en" sz="1800"/>
              <a:t>Total misses:</a:t>
            </a:r>
            <a:endParaRPr sz="1800"/>
          </a:p>
          <a:p>
            <a:pPr indent="-317500" lvl="1" marL="914400" rtl="0" algn="l">
              <a:spcBef>
                <a:spcPts val="0"/>
              </a:spcBef>
              <a:spcAft>
                <a:spcPts val="0"/>
              </a:spcAft>
              <a:buSzPts val="1400"/>
              <a:buChar char="○"/>
            </a:pPr>
            <a:r>
              <a:rPr lang="en"/>
              <a:t>nB/4 * (n/B)</a:t>
            </a:r>
            <a:r>
              <a:rPr baseline="30000" lang="en"/>
              <a:t>2</a:t>
            </a:r>
            <a:r>
              <a:rPr lang="en"/>
              <a:t> = n</a:t>
            </a:r>
            <a:r>
              <a:rPr baseline="30000" lang="en"/>
              <a:t>3</a:t>
            </a:r>
            <a:r>
              <a:rPr lang="en"/>
              <a:t>/(4B)</a:t>
            </a:r>
            <a:endParaRPr/>
          </a:p>
        </p:txBody>
      </p:sp>
      <p:pic>
        <p:nvPicPr>
          <p:cNvPr descr="Blocked Matrix Multiplication with caches highlighted" id="372" name="Google Shape;372;p53"/>
          <p:cNvPicPr preferRelativeResize="0"/>
          <p:nvPr/>
        </p:nvPicPr>
        <p:blipFill>
          <a:blip r:embed="rId3">
            <a:alphaModFix/>
          </a:blip>
          <a:stretch>
            <a:fillRect/>
          </a:stretch>
        </p:blipFill>
        <p:spPr>
          <a:xfrm>
            <a:off x="4015000" y="1017725"/>
            <a:ext cx="4948499" cy="2895788"/>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54"/>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Blocking Summary</a:t>
            </a:r>
            <a:endParaRPr/>
          </a:p>
        </p:txBody>
      </p:sp>
      <p:sp>
        <p:nvSpPr>
          <p:cNvPr id="378" name="Google Shape;378;p54"/>
          <p:cNvSpPr txBox="1"/>
          <p:nvPr>
            <p:ph idx="1" type="body"/>
          </p:nvPr>
        </p:nvSpPr>
        <p:spPr>
          <a:xfrm>
            <a:off x="311700" y="1152475"/>
            <a:ext cx="8520600" cy="34164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
              <a:t>No blocking: (1/4) * n</a:t>
            </a:r>
            <a:r>
              <a:rPr baseline="30000" lang="en"/>
              <a:t>3</a:t>
            </a:r>
            <a:endParaRPr/>
          </a:p>
          <a:p>
            <a:pPr indent="-342900" lvl="0" marL="342900" rtl="0" algn="l">
              <a:spcBef>
                <a:spcPts val="480"/>
              </a:spcBef>
              <a:spcAft>
                <a:spcPts val="0"/>
              </a:spcAft>
              <a:buSzPts val="1440"/>
              <a:buChar char="●"/>
            </a:pPr>
            <a:r>
              <a:rPr lang="en"/>
              <a:t>Blocking: 1/(4B) * n</a:t>
            </a:r>
            <a:r>
              <a:rPr baseline="30000" lang="en"/>
              <a:t>3</a:t>
            </a:r>
            <a:endParaRPr/>
          </a:p>
          <a:p>
            <a:pPr indent="-342900" lvl="0" marL="342900" rtl="0" algn="l">
              <a:spcBef>
                <a:spcPts val="480"/>
              </a:spcBef>
              <a:spcAft>
                <a:spcPts val="0"/>
              </a:spcAft>
              <a:buSzPts val="1440"/>
              <a:buChar char="●"/>
            </a:pPr>
            <a:r>
              <a:rPr lang="en"/>
              <a:t>Suggest largest possible block size B, but limit 3B</a:t>
            </a:r>
            <a:r>
              <a:rPr baseline="30000" lang="en"/>
              <a:t>2</a:t>
            </a:r>
            <a:r>
              <a:rPr lang="en"/>
              <a:t> &lt; C</a:t>
            </a:r>
            <a:endParaRPr/>
          </a:p>
          <a:p>
            <a:pPr indent="-342900" lvl="0" marL="342900" rtl="0" algn="l">
              <a:spcBef>
                <a:spcPts val="480"/>
              </a:spcBef>
              <a:spcAft>
                <a:spcPts val="0"/>
              </a:spcAft>
              <a:buSzPts val="1440"/>
              <a:buChar char="●"/>
            </a:pPr>
            <a:r>
              <a:rPr lang="en"/>
              <a:t>Reason for dramatic difference:</a:t>
            </a:r>
            <a:endParaRPr/>
          </a:p>
          <a:p>
            <a:pPr indent="-285750" lvl="1" marL="742950" rtl="0" algn="l">
              <a:spcBef>
                <a:spcPts val="400"/>
              </a:spcBef>
              <a:spcAft>
                <a:spcPts val="0"/>
              </a:spcAft>
              <a:buSzPts val="2200"/>
              <a:buChar char="○"/>
            </a:pPr>
            <a:r>
              <a:rPr lang="en"/>
              <a:t>Matrix multiplication has inherent temporal locality:</a:t>
            </a:r>
            <a:endParaRPr/>
          </a:p>
          <a:p>
            <a:pPr indent="-228600" lvl="2" marL="1143000" rtl="0" algn="l">
              <a:spcBef>
                <a:spcPts val="400"/>
              </a:spcBef>
              <a:spcAft>
                <a:spcPts val="0"/>
              </a:spcAft>
              <a:buClr>
                <a:schemeClr val="dk1"/>
              </a:buClr>
              <a:buSzPts val="1600"/>
              <a:buChar char="■"/>
            </a:pPr>
            <a:r>
              <a:rPr lang="en"/>
              <a:t>Input data: 3n</a:t>
            </a:r>
            <a:r>
              <a:rPr baseline="30000" lang="en"/>
              <a:t>2</a:t>
            </a:r>
            <a:r>
              <a:rPr lang="en"/>
              <a:t>, computation 2n</a:t>
            </a:r>
            <a:r>
              <a:rPr baseline="30000" lang="en"/>
              <a:t>3</a:t>
            </a:r>
            <a:endParaRPr/>
          </a:p>
          <a:p>
            <a:pPr indent="-228600" lvl="2" marL="1143000" rtl="0" algn="l">
              <a:spcBef>
                <a:spcPts val="400"/>
              </a:spcBef>
              <a:spcAft>
                <a:spcPts val="0"/>
              </a:spcAft>
              <a:buClr>
                <a:schemeClr val="dk1"/>
              </a:buClr>
              <a:buSzPts val="1600"/>
              <a:buChar char="■"/>
            </a:pPr>
            <a:r>
              <a:rPr lang="en"/>
              <a:t>Every array elements used O(n) times!</a:t>
            </a:r>
            <a:endParaRPr/>
          </a:p>
          <a:p>
            <a:pPr indent="-285750" lvl="1" marL="742950" rtl="0" algn="l">
              <a:spcBef>
                <a:spcPts val="400"/>
              </a:spcBef>
              <a:spcAft>
                <a:spcPts val="0"/>
              </a:spcAft>
              <a:buSzPts val="2200"/>
              <a:buChar char="○"/>
            </a:pPr>
            <a:r>
              <a:rPr lang="en"/>
              <a:t>But program has to be written properly</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55"/>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Cache Summary	</a:t>
            </a:r>
            <a:endParaRPr/>
          </a:p>
        </p:txBody>
      </p:sp>
      <p:sp>
        <p:nvSpPr>
          <p:cNvPr id="384" name="Google Shape;384;p55"/>
          <p:cNvSpPr txBox="1"/>
          <p:nvPr>
            <p:ph idx="1" type="body"/>
          </p:nvPr>
        </p:nvSpPr>
        <p:spPr>
          <a:xfrm>
            <a:off x="311700" y="1152475"/>
            <a:ext cx="8520600" cy="34164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
              <a:t>Cache memories can have significant performance impact</a:t>
            </a:r>
            <a:endParaRPr/>
          </a:p>
          <a:p>
            <a:pPr indent="-342900" lvl="0" marL="342900" rtl="0" algn="l">
              <a:spcBef>
                <a:spcPts val="480"/>
              </a:spcBef>
              <a:spcAft>
                <a:spcPts val="0"/>
              </a:spcAft>
              <a:buSzPts val="1440"/>
              <a:buChar char="●"/>
            </a:pPr>
            <a:r>
              <a:rPr lang="en"/>
              <a:t>You can write your programs to exploit this!</a:t>
            </a:r>
            <a:endParaRPr/>
          </a:p>
          <a:p>
            <a:pPr indent="-285750" lvl="1" marL="742950" rtl="0" algn="l">
              <a:spcBef>
                <a:spcPts val="400"/>
              </a:spcBef>
              <a:spcAft>
                <a:spcPts val="0"/>
              </a:spcAft>
              <a:buSzPts val="2200"/>
              <a:buChar char="○"/>
            </a:pPr>
            <a:r>
              <a:rPr lang="en"/>
              <a:t>Focus on the inner loops, where bulk of computations and memory accesses occur. </a:t>
            </a:r>
            <a:endParaRPr/>
          </a:p>
          <a:p>
            <a:pPr indent="-285750" lvl="1" marL="742950" rtl="0" algn="l">
              <a:spcBef>
                <a:spcPts val="400"/>
              </a:spcBef>
              <a:spcAft>
                <a:spcPts val="0"/>
              </a:spcAft>
              <a:buSzPts val="2200"/>
              <a:buChar char="○"/>
            </a:pPr>
            <a:r>
              <a:rPr lang="en"/>
              <a:t>Try to maximize spatial locality by reading data objects with sequentially with stride 1.</a:t>
            </a:r>
            <a:endParaRPr/>
          </a:p>
          <a:p>
            <a:pPr indent="-285750" lvl="1" marL="742950" rtl="0" algn="l">
              <a:spcBef>
                <a:spcPts val="400"/>
              </a:spcBef>
              <a:spcAft>
                <a:spcPts val="0"/>
              </a:spcAft>
              <a:buSzPts val="2200"/>
              <a:buChar char="○"/>
            </a:pPr>
            <a:r>
              <a:rPr lang="en"/>
              <a:t>Try to maximize temporal locality by using a data object as often as possible once it’s read from memory.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FF5252"/>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