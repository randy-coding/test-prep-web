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y="5143500" cx="9144000"/>
  <p:notesSz cx="6858000" cy="9144000"/>
  <p:embeddedFontLst>
    <p:embeddedFont>
      <p:font typeface="Proxima Nova"/>
      <p:regular r:id="rId77"/>
      <p:bold r:id="rId78"/>
      <p:italic r:id="rId79"/>
      <p:boldItalic r:id="rId80"/>
    </p:embeddedFont>
    <p:embeddedFont>
      <p:font typeface="Arial Narrow"/>
      <p:regular r:id="rId81"/>
      <p:bold r:id="rId82"/>
      <p:italic r:id="rId83"/>
      <p:boldItalic r:id="rId84"/>
    </p:embeddedFont>
    <p:embeddedFont>
      <p:font typeface="Helvetica Neue"/>
      <p:regular r:id="rId85"/>
      <p:bold r:id="rId86"/>
      <p:italic r:id="rId87"/>
      <p:boldItalic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0394B2-7CCA-48EE-AE11-504C56F26A59}">
  <a:tblStyle styleId="{4D0394B2-7CCA-48EE-AE11-504C56F26A5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0930FEF-B26C-4517-BD15-52C448FE5887}" styleName="Table_1">
    <a:wholeTbl>
      <a:tcTxStyle b="off" i="off">
        <a:font>
          <a:latin typeface="Arial Narrow"/>
          <a:ea typeface="Arial Narrow"/>
          <a:cs typeface="Arial Narrow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7F3"/>
          </a:solidFill>
        </a:fill>
      </a:tcStyle>
    </a:band1H>
    <a:band2H>
      <a:tcTxStyle/>
    </a:band2H>
    <a:band1V>
      <a:tcTxStyle/>
      <a:tcStyle>
        <a:fill>
          <a:solidFill>
            <a:srgbClr val="E7E7F3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  <a:tblStyle styleId="{9A341D53-FE34-46DE-AC20-877712C00531}" styleName="Table_2">
    <a:wholeTbl>
      <a:tcTxStyle b="off" i="off">
        <a:font>
          <a:latin typeface="Arial Narrow"/>
          <a:ea typeface="Arial Narrow"/>
          <a:cs typeface="Arial Narrow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fill>
          <a:solidFill>
            <a:srgbClr val="CAECDD"/>
          </a:solidFill>
        </a:fill>
      </a:tcStyle>
    </a:band1H>
    <a:band2H>
      <a:tcTxStyle/>
    </a:band2H>
    <a:band1V>
      <a:tcTxStyle/>
      <a:tcStyle>
        <a:fill>
          <a:solidFill>
            <a:srgbClr val="CAECDD"/>
          </a:solidFill>
        </a:fill>
      </a:tcStyle>
    </a:band1V>
    <a:band2V>
      <a:tcTxStyle/>
    </a:band2V>
    <a:lastCol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 Narrow"/>
          <a:ea typeface="Arial Narrow"/>
          <a:cs typeface="Arial Narrow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ArialNarrow-boldItalic.fntdata"/><Relationship Id="rId83" Type="http://schemas.openxmlformats.org/officeDocument/2006/relationships/font" Target="fonts/ArialNarrow-italic.fntdata"/><Relationship Id="rId42" Type="http://schemas.openxmlformats.org/officeDocument/2006/relationships/slide" Target="slides/slide36.xml"/><Relationship Id="rId86" Type="http://schemas.openxmlformats.org/officeDocument/2006/relationships/font" Target="fonts/HelveticaNeue-bold.fntdata"/><Relationship Id="rId41" Type="http://schemas.openxmlformats.org/officeDocument/2006/relationships/slide" Target="slides/slide35.xml"/><Relationship Id="rId85" Type="http://schemas.openxmlformats.org/officeDocument/2006/relationships/font" Target="fonts/HelveticaNeue-regular.fntdata"/><Relationship Id="rId44" Type="http://schemas.openxmlformats.org/officeDocument/2006/relationships/slide" Target="slides/slide38.xml"/><Relationship Id="rId88" Type="http://schemas.openxmlformats.org/officeDocument/2006/relationships/font" Target="fonts/HelveticaNeue-boldItalic.fntdata"/><Relationship Id="rId43" Type="http://schemas.openxmlformats.org/officeDocument/2006/relationships/slide" Target="slides/slide37.xml"/><Relationship Id="rId87" Type="http://schemas.openxmlformats.org/officeDocument/2006/relationships/font" Target="fonts/HelveticaNeue-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ProximaNova-boldItalic.fntdata"/><Relationship Id="rId82" Type="http://schemas.openxmlformats.org/officeDocument/2006/relationships/font" Target="fonts/ArialNarrow-bold.fntdata"/><Relationship Id="rId81" Type="http://schemas.openxmlformats.org/officeDocument/2006/relationships/font" Target="fonts/ArialNarrow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font" Target="fonts/ProximaNova-regular.fntdata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font" Target="fonts/ProximaNova-italic.fntdata"/><Relationship Id="rId34" Type="http://schemas.openxmlformats.org/officeDocument/2006/relationships/slide" Target="slides/slide28.xml"/><Relationship Id="rId78" Type="http://schemas.openxmlformats.org/officeDocument/2006/relationships/font" Target="fonts/ProximaNova-bold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c98f8ad87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c98f8ad87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c98f8ad87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c98f8ad87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c98f8ad87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c98f8ad87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c98f8ad87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c98f8ad87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c98f8ad87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c98f8ad87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c98f8ad87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c98f8ad87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c98f8ad87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c98f8ad87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98f8ad87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c98f8ad87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c98f8ad87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c98f8ad87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c98f8ad87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c98f8ad87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c98f8ad87_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c98f8ad87_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c98f8ad87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c98f8ad87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c98f8ad87_2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c98f8ad87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c98f8ad87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c98f8ad87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c98f8ad87_2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c98f8ad87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c98f8ad87_2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c98f8ad87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98f8ad87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bc98f8ad87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c98f8ad87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c98f8ad87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c98f8ad87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c98f8ad87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411fd3a32_0_1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b411fd3a32_0_1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411fd3a32_0_17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b411fd3a32_0_17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411fd3a32_0_2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g3b411fd3a32_0_2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411fd3a32_0_27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b411fd3a32_0_27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411fd3a32_0_35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g3b411fd3a32_0_35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411fd3a32_0_44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b411fd3a32_0_44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411fd3a32_0_5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g3b411fd3a32_0_5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411fd3a32_0_63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g3b411fd3a32_0_63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411fd3a32_0_69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b411fd3a32_0_69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411fd3a32_0_76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g3b411fd3a32_0_76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411fd3a32_0_8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g3b411fd3a32_0_8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411fd3a32_0_8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g3b411fd3a32_0_8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b411fd3a32_0_94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b411fd3a32_0_94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b411fd3a32_0_103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1" name="Google Shape;291;g3b411fd3a32_0_103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411fd3a32_0_109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8" name="Google Shape;298;g3b411fd3a32_0_109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411fd3a32_0_117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g3b411fd3a32_0_117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411fd3a32_0_130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b411fd3a32_0_130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b411fd3a32_0_13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g3b411fd3a32_0_13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411fd3a32_0_143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b411fd3a32_0_143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411fd3a32_0_14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b411fd3a32_0_14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b411fd3a32_0_166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g3b411fd3a32_0_166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411fd3a32_0_174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g3b411fd3a32_0_174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411fd3a32_0_18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g3b411fd3a32_0_18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b411fd3a32_0_189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g3b411fd3a32_0_189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411fd3a32_0_195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g3b411fd3a32_0_195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411fd3a32_0_20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g3b411fd3a32_0_20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b411fd3a32_0_25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b411fd3a32_0_25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411fd3a32_0_263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b411fd3a32_0_263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b411fd3a32_0_279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g3b411fd3a32_0_279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411fd3a32_0_284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g3b411fd3a32_0_284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b411fd3a32_0_291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g3b411fd3a32_0_291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411fd3a32_0_336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g3b411fd3a32_0_336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411fd3a32_0_34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g3b411fd3a32_0_34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411fd3a32_0_349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g3b411fd3a32_0_349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b411fd3a32_0_357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4" name="Google Shape;494;g3b411fd3a32_0_357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411fd3a32_0_36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g3b411fd3a32_0_36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411fd3a32_0_40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g3b411fd3a32_0_40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b411fd3a32_0_414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g3b411fd3a32_0_414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b411fd3a32_0_421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g3b411fd3a32_0_421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b411fd3a32_0_466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g3b411fd3a32_0_466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b411fd3a32_0_471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g3b411fd3a32_0_471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b411fd3a32_0_47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g3b411fd3a32_0_47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b411fd3a32_0_485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b411fd3a32_0_485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b411fd3a32_0_71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7" name="Google Shape;637;g3b411fd3a32_0_71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b411fd3a32_0_722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8" name="Google Shape;648;g3b411fd3a32_0_722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b411fd3a32_0_77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4" name="Google Shape;654;g3b411fd3a32_0_77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b411fd3a32_0_798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g3b411fd3a32_0_798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b411fd3a32_0_825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5" name="Google Shape;685;g3b411fd3a32_0_825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b411fd3a32_0_854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1" name="Google Shape;711;g3b411fd3a32_0_854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b411fd3a32_0_865:notes"/>
          <p:cNvSpPr/>
          <p:nvPr>
            <p:ph idx="2" type="sldImg"/>
          </p:nvPr>
        </p:nvSpPr>
        <p:spPr>
          <a:xfrm>
            <a:off x="381663" y="654117"/>
            <a:ext cx="6106500" cy="348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g3b411fd3a32_0_865:notes"/>
          <p:cNvSpPr txBox="1"/>
          <p:nvPr>
            <p:ph idx="1" type="body"/>
          </p:nvPr>
        </p:nvSpPr>
        <p:spPr>
          <a:xfrm>
            <a:off x="930303" y="4360781"/>
            <a:ext cx="50094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50" lIns="86300" spcFirstLastPara="1" rIns="86300" wrap="square" tIns="43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457200" y="205978"/>
            <a:ext cx="8229600" cy="5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mbria"/>
              <a:buNone/>
              <a:defRPr>
                <a:solidFill>
                  <a:srgbClr val="00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457200" y="8572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 sz="1800">
                <a:solidFill>
                  <a:srgbClr val="000000"/>
                </a:solidFill>
              </a:defRPr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04800" lvl="3" marL="182880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indent="-298450" lvl="4" marL="228600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74090" y="278387"/>
            <a:ext cx="759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638175" y="1021556"/>
            <a:ext cx="3871800" cy="3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spcBef>
                <a:spcPts val="480"/>
              </a:spcBef>
              <a:spcAft>
                <a:spcPts val="0"/>
              </a:spcAft>
              <a:buSzPts val="2640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662488" y="1021556"/>
            <a:ext cx="3871800" cy="3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●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spcBef>
                <a:spcPts val="480"/>
              </a:spcBef>
              <a:spcAft>
                <a:spcPts val="0"/>
              </a:spcAft>
              <a:buSzPts val="2640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ourceware.org/binutils/docs/gprof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CSE 320: Code Optimization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510450" y="3182331"/>
            <a:ext cx="8123100" cy="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Chapter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Professor Dan Benz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Code is: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Correct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bugs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Correctly implements its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Readable &amp; </a:t>
            </a:r>
            <a:r>
              <a:rPr lang="en"/>
              <a:t>Flexible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code can’t be maintained, it will be replaced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Run-time of a program matters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Excess Memory usage is bad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all optimization is created equal: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Big-O (</a:t>
            </a:r>
            <a:r>
              <a:rPr lang="en"/>
              <a:t>asymptotic</a:t>
            </a:r>
            <a:r>
              <a:rPr lang="en"/>
              <a:t> complexity) is easy to estimate with significant effects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should be considering your algorithms and data structures when writing any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optimization we discuss in this class is different: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“Premature optimization is the root of all evil” - Donald E. Knuth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techniques may decrease code portability and readability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may introduce bugs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difficult (for potentially little benefit)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should you do?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1) Enable compiler optimization (lots of benefit, no real drawback)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2) Run/Profile your code to determine if its performance is sufficient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3) </a:t>
            </a:r>
            <a:r>
              <a:rPr lang="en"/>
              <a:t>Rewrite the parts that need it (first algorithms &amp; data structures, this stuff as a last resort)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Monitoring: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</a:t>
            </a:r>
            <a:r>
              <a:rPr lang="en"/>
              <a:t>ime a.out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Runs your program with 3 outputs: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Real: how much real-world time passed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User: how much time your program spent running (not counting OS overhead)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System: how much time the OS spent running your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wall time &gt;&gt; cpu time then it might be an I/O problem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top or iotop (or Performance Monitor in Windows) to monitor performance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optimize something that isn’t a bottleneck!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Profiling: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profiler is a tool that can help you understand your program performance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Execution Profile: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much time spent in each function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Stack Trace to identify “hot spots”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Heap Allocation Profile: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times each site is executed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List of all sites (to identify heavily used ones)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Keep track of live objects and total memory usage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it 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 Timing: Add code to monitor behavior (accurate but slows down code)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Sampling: OS periodically checks in on your code (less </a:t>
            </a:r>
            <a:r>
              <a:rPr lang="en"/>
              <a:t>accurate</a:t>
            </a:r>
            <a:r>
              <a:rPr lang="en"/>
              <a:t>, less effect on speed)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Profiler Example: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</a:t>
            </a:r>
            <a:r>
              <a:rPr lang="en"/>
              <a:t>prof (GNU Profiler):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https://sourceware.org/binutils/docs/gprof/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</a:t>
            </a:r>
            <a:r>
              <a:rPr lang="en"/>
              <a:t>cc -pg main.c //To compile your program with the profiler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program normally (generates gmon.out)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gprof to produce a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Program: words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Reads input stream, parses into words, creates a histogram, lists most frequent words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Words.c (main); wordtab.c (histogram generator); word.c (word object)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Wordtab.c is likely to be the bottleneck so we isolated those functions for profiling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 Interfaces: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5272800" cy="3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// word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typedef struct word WORD;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WORD *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word_new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(char *text);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word_free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(WORD *wp);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word_get_count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(WORD *wp);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word_update_count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(WORD *wp, int incr);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char *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word_get_text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(WORD *wp);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word_compare_text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(const void *awpp1, const void *awpp2);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word_compare_count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(const void *awpp1, const void *awpp2);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// wordtab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wordtab_init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(void);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wordtab_tally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(char *text);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 sz="1055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wordtab_sort</a:t>
            </a:r>
            <a:r>
              <a:rPr lang="en" sz="1055">
                <a:latin typeface="Courier New"/>
                <a:ea typeface="Courier New"/>
                <a:cs typeface="Courier New"/>
                <a:sym typeface="Courier New"/>
              </a:rPr>
              <a:t>(WORD ***words);</a:t>
            </a:r>
            <a:endParaRPr sz="1055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Measurements: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7002750" y="1776750"/>
            <a:ext cx="1557900" cy="11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With -pg, timings are 80% slower</a:t>
            </a:r>
            <a:endParaRPr/>
          </a:p>
        </p:txBody>
      </p:sp>
      <p:pic>
        <p:nvPicPr>
          <p:cNvPr descr="time outputs for input sizes ranging from 1k to 5M along with a graph showing quadratic time complexity."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5850"/>
            <a:ext cx="6160974" cy="30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me output for words once the pg flag is enabled, times are 80% slower." id="111" name="Google Shape;11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325" y="2847250"/>
            <a:ext cx="3426674" cy="22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Flat Profile: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bin/words &lt; rsrc/restfile.1000k &gt; /dev/null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gprof bin/words</a:t>
            </a:r>
            <a:endParaRPr/>
          </a:p>
        </p:txBody>
      </p:sp>
      <p:pic>
        <p:nvPicPr>
          <p:cNvPr descr="gprof output of bin/words"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25" y="2110375"/>
            <a:ext cx="5628636" cy="27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taking wordtab_tally so long?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does a linear search when counting instances of a word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Let’s replace with Binary search and see what happens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fixing search:</a:t>
            </a:r>
            <a:endParaRPr/>
          </a:p>
        </p:txBody>
      </p:sp>
      <p:pic>
        <p:nvPicPr>
          <p:cNvPr descr="time output of bin/words for inputs 1k to 5M alongside a graph showing linear time complexity."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425" y="1017725"/>
            <a:ext cx="5211647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rof output of bin/words" id="131" name="Google Shape;13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7550" y="0"/>
            <a:ext cx="5296450" cy="29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optimize with a profiler: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Focus on the functions consuming the most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be a slow function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Could be a frequently used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to compare the results whenever you make a 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you make things worse!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Version control can help quite a bit with this!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Profiler Call Graphs: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86350" y="2136675"/>
            <a:ext cx="8520600" cy="27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call graph helps you understand the function calling behavior of the program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section focuses on one function and its chain of subfunctions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Cycles get their own section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can have multiple sections if it gets called from different contexts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Functions to dig into: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wordtab_tally (829927 calls for 80% of runtime)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Word_get_text (67105516 calls for 25% of runtime)</a:t>
            </a:r>
            <a:endParaRPr/>
          </a:p>
        </p:txBody>
      </p:sp>
      <p:pic>
        <p:nvPicPr>
          <p:cNvPr descr="gprof call graph output of bin/words"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0650" y="0"/>
            <a:ext cx="4733351" cy="21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Ideas:</a:t>
            </a:r>
            <a:endParaRPr/>
          </a:p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clear way to reduce calls to wordtab_tally (once per word)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Still a linear scan on each new word (marginal impact)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 number of calls to word_get_text (part of modularity)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Maybe we can inline it?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 ways to inline a function: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1) Delete the function and expose the field directly (terrible for maintainability)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2) Make it a Macro instead of a function (messy, but still maintainable)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3) Use the inline keyword (Yeah, let’s go with this)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Inline:</a:t>
            </a:r>
            <a:endParaRPr/>
          </a:p>
        </p:txBody>
      </p:sp>
      <p:pic>
        <p:nvPicPr>
          <p:cNvPr descr="gprof output of bin/words"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950" y="1231200"/>
            <a:ext cx="4701425" cy="25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ideas:</a:t>
            </a:r>
            <a:endParaRPr/>
          </a:p>
        </p:txBody>
      </p:sp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311700" y="1152475"/>
            <a:ext cx="8520600" cy="3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we want to avoid ALL linear operations we can store the words in a hash</a:t>
            </a: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try to optimize the “isletter” function (only 20% to be gained!)</a:t>
            </a:r>
            <a:endParaRPr/>
          </a:p>
        </p:txBody>
      </p:sp>
      <p:pic>
        <p:nvPicPr>
          <p:cNvPr descr="gprof output of bin/words" id="163" name="Google Shape;16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000" y="1590763"/>
            <a:ext cx="653415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Isletter optimizations:</a:t>
            </a:r>
            <a:endParaRPr/>
          </a:p>
        </p:txBody>
      </p:sp>
      <p:sp>
        <p:nvSpPr>
          <p:cNvPr id="169" name="Google Shape;169;p31"/>
          <p:cNvSpPr txBox="1"/>
          <p:nvPr>
            <p:ph idx="1" type="body"/>
          </p:nvPr>
        </p:nvSpPr>
        <p:spPr>
          <a:xfrm>
            <a:off x="364650" y="3418825"/>
            <a:ext cx="2827500" cy="7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Lookup Table:</a:t>
            </a:r>
            <a:endParaRPr/>
          </a:p>
        </p:txBody>
      </p:sp>
      <p:pic>
        <p:nvPicPr>
          <p:cNvPr descr="gprof output of bin/words"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398" y="972348"/>
            <a:ext cx="5215200" cy="1697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prof output of bin/words" id="171" name="Google Shape;17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6448" y="3155323"/>
            <a:ext cx="5079476" cy="123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/>
        </p:nvSpPr>
        <p:spPr>
          <a:xfrm>
            <a:off x="648000" y="1742400"/>
            <a:ext cx="21744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Try </a:t>
            </a: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inlining:</a:t>
            </a:r>
            <a:b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Compiler Optimizations:</a:t>
            </a:r>
            <a:endParaRPr/>
          </a:p>
        </p:txBody>
      </p:sp>
      <p:sp>
        <p:nvSpPr>
          <p:cNvPr id="178" name="Google Shape;178;p32"/>
          <p:cNvSpPr txBox="1"/>
          <p:nvPr>
            <p:ph idx="1" type="body"/>
          </p:nvPr>
        </p:nvSpPr>
        <p:spPr>
          <a:xfrm>
            <a:off x="311700" y="1152475"/>
            <a:ext cx="8520600" cy="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-O2:</a:t>
            </a:r>
            <a:endParaRPr/>
          </a:p>
        </p:txBody>
      </p:sp>
      <p:pic>
        <p:nvPicPr>
          <p:cNvPr descr="gprof output of bin/words" id="179" name="Google Shape;17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100" y="2269400"/>
            <a:ext cx="6457950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 on Compiler Optimizations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downside to readability, gives you most of the improvements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Declare functions as “inline”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Compiler can do this too, but it benefits some functions more than others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Replace functions with macros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 to inlining but requires more careful programming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Substitute algorithms and data structures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Great potential benefits, good motivation for writing modular/clean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 module encapsulation to expose internals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AVOID THIS!!! Minor performance boost at the cost of maintainability!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Optimizations:</a:t>
            </a:r>
            <a:endParaRPr/>
          </a:p>
        </p:txBody>
      </p:sp>
      <p:sp>
        <p:nvSpPr>
          <p:cNvPr id="191" name="Google Shape;19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Motion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Dead Code Elimination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Reduction in Strength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Sharing Common </a:t>
            </a:r>
            <a:r>
              <a:rPr lang="en"/>
              <a:t>Subexpressions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(removing) Memory Aliasing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Unrolling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 Inlining / Reducing Procedure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compiler will do most of these but you might need to help it and you should learn what they are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Realities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8409" lvl="0" marL="457200" rtl="0" algn="l">
              <a:spcBef>
                <a:spcPts val="0"/>
              </a:spcBef>
              <a:spcAft>
                <a:spcPts val="0"/>
              </a:spcAft>
              <a:buSzPts val="2044"/>
              <a:buChar char="●"/>
            </a:pPr>
            <a:r>
              <a:rPr lang="en" sz="2044"/>
              <a:t>There’s more to performance than asymptotic complexity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Constant factors matter too!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Easily see 10:1 performance range depending on how code is written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Must optimize at multiple levels: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algorithm, data representations, procedures, and loops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Must understand system to optimize performance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programs are compiled and executed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modern processors + memory systems operate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to measure program performance and identify bottlenecks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 to improve performance without destroying code modularity and generality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Optimizing Compilers</a:t>
            </a:r>
            <a:endParaRPr/>
          </a:p>
        </p:txBody>
      </p:sp>
      <p:sp>
        <p:nvSpPr>
          <p:cNvPr id="203" name="Google Shape;20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70000" lnSpcReduction="10000"/>
          </a:bodyPr>
          <a:lstStyle/>
          <a:p>
            <a:pPr indent="-315468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"/>
              <a:t>Provide efficient mapping of program to machine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register allocation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code selection and ordering (scheduling)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dead code elimination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eliminating minor inefficiencies</a:t>
            </a:r>
            <a:endParaRPr/>
          </a:p>
          <a:p>
            <a:pPr indent="-315468" lvl="0" marL="342900" rtl="0" algn="l">
              <a:spcBef>
                <a:spcPts val="480"/>
              </a:spcBef>
              <a:spcAft>
                <a:spcPts val="0"/>
              </a:spcAft>
              <a:buSzPct val="80000"/>
              <a:buChar char="●"/>
            </a:pPr>
            <a:r>
              <a:rPr lang="en"/>
              <a:t>Don’t (usually) improve asymptotic efficiency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up to programmer to select best overall algorithm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big-O savings are (often) more important than constant factors</a:t>
            </a:r>
            <a:endParaRPr/>
          </a:p>
          <a:p>
            <a:pPr indent="-19812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4286"/>
              <a:buChar char="■"/>
            </a:pPr>
            <a:r>
              <a:rPr lang="en"/>
              <a:t>but constant factors also matter</a:t>
            </a:r>
            <a:endParaRPr/>
          </a:p>
          <a:p>
            <a:pPr indent="-315468" lvl="0" marL="342900" rtl="0" algn="l">
              <a:spcBef>
                <a:spcPts val="480"/>
              </a:spcBef>
              <a:spcAft>
                <a:spcPts val="0"/>
              </a:spcAft>
              <a:buSzPct val="80000"/>
              <a:buChar char="●"/>
            </a:pPr>
            <a:r>
              <a:rPr lang="en"/>
              <a:t>Have difficulty overcoming “optimization blockers”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potential memory aliasing</a:t>
            </a:r>
            <a:endParaRPr/>
          </a:p>
          <a:p>
            <a:pPr indent="-243840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potential procedure side-effects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Optimizing Compilers</a:t>
            </a:r>
            <a:endParaRPr/>
          </a:p>
        </p:txBody>
      </p:sp>
      <p:sp>
        <p:nvSpPr>
          <p:cNvPr id="209" name="Google Shape;20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70000" lnSpcReduction="20000"/>
          </a:bodyPr>
          <a:lstStyle/>
          <a:p>
            <a:pPr indent="-320040" lvl="0" marL="34290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Operate under fundamental constraint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Must not cause any change in program behavior</a:t>
            </a:r>
            <a:endParaRPr/>
          </a:p>
          <a:p>
            <a:pPr indent="-201168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Char char="■"/>
            </a:pPr>
            <a:r>
              <a:rPr lang="en" sz="1800"/>
              <a:t>Except, possibly when program making use of nonstandard language features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Often prevents it from making optimizations that would only affect behavior under pathological conditions.</a:t>
            </a:r>
            <a:endParaRPr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Behavior that may be obvious to the programmer can be obfuscated by languages and coding styles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e.g., Data ranges may be more limited than variable types suggest</a:t>
            </a:r>
            <a:endParaRPr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Most analysis is performed only within procedures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Whole-program analysis is too expensive in most cases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Newer versions of GCC do interprocedural analysis within individual files</a:t>
            </a:r>
            <a:endParaRPr/>
          </a:p>
          <a:p>
            <a:pPr indent="-201168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Char char="■"/>
            </a:pPr>
            <a:r>
              <a:rPr lang="en" sz="1800"/>
              <a:t>But, not between code in different files</a:t>
            </a:r>
            <a:endParaRPr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Most analysis is based only on </a:t>
            </a:r>
            <a:r>
              <a:rPr lang="en" sz="2000"/>
              <a:t>static </a:t>
            </a:r>
            <a:r>
              <a:rPr lang="en" sz="2000"/>
              <a:t>information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Compiler has difficulty anticipating run-time inputs</a:t>
            </a:r>
            <a:endParaRPr sz="2000"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>
                <a:solidFill>
                  <a:srgbClr val="FF0000"/>
                </a:solidFill>
              </a:rPr>
              <a:t>When in doubt, the compiler must be conservative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Generally Useful Optimizations</a:t>
            </a:r>
            <a:endParaRPr/>
          </a:p>
        </p:txBody>
      </p:sp>
      <p:sp>
        <p:nvSpPr>
          <p:cNvPr id="215" name="Google Shape;215;p38"/>
          <p:cNvSpPr txBox="1"/>
          <p:nvPr>
            <p:ph idx="1" type="body"/>
          </p:nvPr>
        </p:nvSpPr>
        <p:spPr>
          <a:xfrm>
            <a:off x="311700" y="1152475"/>
            <a:ext cx="8520600" cy="23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Optimizations that you or the compiler should do regardless of processor / compiler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Code Motion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Reduce frequency with which computation performed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If it will always produce same result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Especially moving code out of loop</a:t>
            </a:r>
            <a:endParaRPr/>
          </a:p>
        </p:txBody>
      </p:sp>
      <p:sp>
        <p:nvSpPr>
          <p:cNvPr id="216" name="Google Shape;216;p38"/>
          <p:cNvSpPr/>
          <p:nvPr/>
        </p:nvSpPr>
        <p:spPr>
          <a:xfrm>
            <a:off x="5766725" y="3421350"/>
            <a:ext cx="3124200" cy="10626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ni</a:t>
            </a:r>
            <a:r>
              <a:rPr b="1" i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b="1" lang="en" sz="1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n*i</a:t>
            </a: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a[ni+j] = b[j];</a:t>
            </a:r>
            <a:endParaRPr/>
          </a:p>
        </p:txBody>
      </p:sp>
      <p:cxnSp>
        <p:nvCxnSpPr>
          <p:cNvPr id="217" name="Google Shape;217;p38"/>
          <p:cNvCxnSpPr/>
          <p:nvPr/>
        </p:nvCxnSpPr>
        <p:spPr>
          <a:xfrm>
            <a:off x="5086113" y="3829050"/>
            <a:ext cx="5841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8" name="Google Shape;218;p38"/>
          <p:cNvSpPr/>
          <p:nvPr/>
        </p:nvSpPr>
        <p:spPr>
          <a:xfrm>
            <a:off x="967650" y="3385900"/>
            <a:ext cx="3854400" cy="15942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set_row(double *a, double *b,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long i, long 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a[</a:t>
            </a:r>
            <a:r>
              <a:rPr b="1" lang="en" sz="1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n*i</a:t>
            </a: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+j] = b[j];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Compiler-Generated Code Motion (-O1)</a:t>
            </a:r>
            <a:endParaRPr/>
          </a:p>
        </p:txBody>
      </p:sp>
      <p:cxnSp>
        <p:nvCxnSpPr>
          <p:cNvPr id="224" name="Google Shape;224;p39"/>
          <p:cNvCxnSpPr/>
          <p:nvPr/>
        </p:nvCxnSpPr>
        <p:spPr>
          <a:xfrm>
            <a:off x="4342050" y="3231325"/>
            <a:ext cx="801600" cy="123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39"/>
          <p:cNvSpPr/>
          <p:nvPr/>
        </p:nvSpPr>
        <p:spPr>
          <a:xfrm>
            <a:off x="5400300" y="2841525"/>
            <a:ext cx="3124200" cy="11958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ni = n*i;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double *rowp = a+ni;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*rowp++ = b[j];	</a:t>
            </a:r>
            <a:endParaRPr/>
          </a:p>
        </p:txBody>
      </p:sp>
      <p:sp>
        <p:nvSpPr>
          <p:cNvPr id="226" name="Google Shape;226;p39"/>
          <p:cNvSpPr/>
          <p:nvPr/>
        </p:nvSpPr>
        <p:spPr>
          <a:xfrm>
            <a:off x="230150" y="2537225"/>
            <a:ext cx="3854400" cy="16002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set_row(double *a, double *b,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long i, long 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a[</a:t>
            </a:r>
            <a:r>
              <a:rPr b="1" lang="en" sz="1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n*i</a:t>
            </a: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+j] = b[j];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 in Strength</a:t>
            </a:r>
            <a:endParaRPr/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277775" y="1111771"/>
            <a:ext cx="8520600" cy="21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77500" lnSpcReduction="20000"/>
          </a:bodyPr>
          <a:lstStyle/>
          <a:p>
            <a:pPr indent="-254318" lvl="1" marL="742950" rtl="0" algn="l">
              <a:spcBef>
                <a:spcPts val="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Replace costly operation with simpler one</a:t>
            </a:r>
            <a:endParaRPr/>
          </a:p>
          <a:p>
            <a:pPr indent="-254318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Shift, add instead of multiply or divide</a:t>
            </a:r>
            <a:endParaRPr/>
          </a:p>
          <a:p>
            <a:pPr indent="-336868" lvl="2" marL="1371600" rtl="0" algn="l">
              <a:spcBef>
                <a:spcPts val="400"/>
              </a:spcBef>
              <a:spcAft>
                <a:spcPts val="0"/>
              </a:spcAft>
              <a:buSzPct val="157143"/>
              <a:buChar char="■"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16*x	--&gt;	x &lt;&lt; 4</a:t>
            </a:r>
            <a:endParaRPr/>
          </a:p>
          <a:p>
            <a:pPr indent="-336868" lvl="2" marL="1371600" rtl="0" algn="l">
              <a:spcBef>
                <a:spcPts val="400"/>
              </a:spcBef>
              <a:spcAft>
                <a:spcPts val="0"/>
              </a:spcAft>
              <a:buSzPct val="157143"/>
              <a:buChar char="■"/>
            </a:pPr>
            <a:r>
              <a:rPr lang="en"/>
              <a:t>Utility machine dependent</a:t>
            </a:r>
            <a:endParaRPr/>
          </a:p>
          <a:p>
            <a:pPr indent="-336868" lvl="2" marL="1371600" rtl="0" algn="l">
              <a:spcBef>
                <a:spcPts val="400"/>
              </a:spcBef>
              <a:spcAft>
                <a:spcPts val="0"/>
              </a:spcAft>
              <a:buSzPct val="157143"/>
              <a:buChar char="■"/>
            </a:pPr>
            <a:r>
              <a:rPr lang="en"/>
              <a:t>Depends on cost of multiply or divide instruction</a:t>
            </a:r>
            <a:endParaRPr/>
          </a:p>
          <a:p>
            <a:pPr indent="-336868" lvl="3" marL="1828800" rtl="0" algn="l">
              <a:spcBef>
                <a:spcPts val="400"/>
              </a:spcBef>
              <a:spcAft>
                <a:spcPts val="0"/>
              </a:spcAft>
              <a:buSzPct val="157143"/>
              <a:buChar char="●"/>
            </a:pPr>
            <a:r>
              <a:rPr lang="en"/>
              <a:t>On Intel Nehalem, integer multiply requires 3 CPU cycles</a:t>
            </a:r>
            <a:endParaRPr/>
          </a:p>
          <a:p>
            <a:pPr indent="-254318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Recognize sequence of products</a:t>
            </a:r>
            <a:endParaRPr/>
          </a:p>
        </p:txBody>
      </p:sp>
      <p:sp>
        <p:nvSpPr>
          <p:cNvPr id="233" name="Google Shape;233;p40"/>
          <p:cNvSpPr/>
          <p:nvPr/>
        </p:nvSpPr>
        <p:spPr>
          <a:xfrm>
            <a:off x="838200" y="3448050"/>
            <a:ext cx="2876100" cy="13425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 = 0; i &lt; n;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int ni = n*i;</a:t>
            </a:r>
            <a:endParaRPr b="1" sz="14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a[ni + j] = b[j];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" name="Google Shape;234;p40"/>
          <p:cNvSpPr/>
          <p:nvPr/>
        </p:nvSpPr>
        <p:spPr>
          <a:xfrm>
            <a:off x="4876800" y="3276600"/>
            <a:ext cx="2897100" cy="14325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ni = 0;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 = 0; i &lt; n;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a[ni + j] = b[j];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" sz="14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ni += n;</a:t>
            </a:r>
            <a:endParaRPr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235" name="Google Shape;235;p40"/>
          <p:cNvCxnSpPr/>
          <p:nvPr/>
        </p:nvCxnSpPr>
        <p:spPr>
          <a:xfrm>
            <a:off x="4017963" y="3680222"/>
            <a:ext cx="5841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 Common Subexpressions</a:t>
            </a:r>
            <a:endParaRPr/>
          </a:p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311700" y="1152475"/>
            <a:ext cx="8520600" cy="1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Reuse portions of expressions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GCC will do this with –O1</a:t>
            </a:r>
            <a:endParaRPr/>
          </a:p>
        </p:txBody>
      </p:sp>
      <p:sp>
        <p:nvSpPr>
          <p:cNvPr id="242" name="Google Shape;242;p41"/>
          <p:cNvSpPr/>
          <p:nvPr/>
        </p:nvSpPr>
        <p:spPr>
          <a:xfrm>
            <a:off x="533400" y="2220556"/>
            <a:ext cx="3516300" cy="15657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Sum neighbors of i,j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 =    val[(i-1)*n + j  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down =  val[(i+1)*n + j  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left =  val[i*n     + j-1];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right = val[i*n     + j+1];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 = up + down + left + right;</a:t>
            </a:r>
            <a:endParaRPr/>
          </a:p>
        </p:txBody>
      </p:sp>
      <p:sp>
        <p:nvSpPr>
          <p:cNvPr id="243" name="Google Shape;243;p41"/>
          <p:cNvSpPr/>
          <p:nvPr/>
        </p:nvSpPr>
        <p:spPr>
          <a:xfrm>
            <a:off x="4419600" y="2213771"/>
            <a:ext cx="3516300" cy="15657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inj = i*n +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up =    val[inj - n];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down =  val[inj + n];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left =  val[inj - 1];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right = val[inj + 1];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 = up + down + left + right;</a:t>
            </a:r>
            <a:endParaRPr/>
          </a:p>
        </p:txBody>
      </p:sp>
      <p:sp>
        <p:nvSpPr>
          <p:cNvPr id="244" name="Google Shape;244;p41"/>
          <p:cNvSpPr/>
          <p:nvPr/>
        </p:nvSpPr>
        <p:spPr>
          <a:xfrm>
            <a:off x="416050" y="3805104"/>
            <a:ext cx="3358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multiplications: i*n, (i–1)*n, (i+1)*n</a:t>
            </a:r>
            <a:endParaRPr/>
          </a:p>
        </p:txBody>
      </p:sp>
      <p:sp>
        <p:nvSpPr>
          <p:cNvPr id="245" name="Google Shape;245;p41"/>
          <p:cNvSpPr/>
          <p:nvPr/>
        </p:nvSpPr>
        <p:spPr>
          <a:xfrm>
            <a:off x="4715625" y="3852579"/>
            <a:ext cx="18849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multiplication: i*n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idx="1" type="body"/>
          </p:nvPr>
        </p:nvSpPr>
        <p:spPr>
          <a:xfrm>
            <a:off x="311700" y="1152475"/>
            <a:ext cx="85206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Procedure to Convert String to Lower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is wrong with this code?</a:t>
            </a:r>
            <a:endParaRPr/>
          </a:p>
        </p:txBody>
      </p:sp>
      <p:sp>
        <p:nvSpPr>
          <p:cNvPr id="251" name="Google Shape;251;p42"/>
          <p:cNvSpPr/>
          <p:nvPr/>
        </p:nvSpPr>
        <p:spPr>
          <a:xfrm>
            <a:off x="1896849" y="2053027"/>
            <a:ext cx="5007900" cy="21474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lower(char *s)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size_t 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 = 0; i &lt; strlen(s);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(s[i] &gt;= 'A' &amp;&amp; s[i] &lt;= 'Z')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s[i] -= ('A' - 'a');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252" name="Google Shape;25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Blocker #1: Procedure Calls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Case Conversion Performance</a:t>
            </a:r>
            <a:endParaRPr/>
          </a:p>
        </p:txBody>
      </p:sp>
      <p:sp>
        <p:nvSpPr>
          <p:cNvPr id="258" name="Google Shape;258;p43"/>
          <p:cNvSpPr txBox="1"/>
          <p:nvPr>
            <p:ph idx="1" type="body"/>
          </p:nvPr>
        </p:nvSpPr>
        <p:spPr>
          <a:xfrm>
            <a:off x="311700" y="1152475"/>
            <a:ext cx="85206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quadruples when double string length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Quadratic performance</a:t>
            </a:r>
            <a:endParaRPr/>
          </a:p>
        </p:txBody>
      </p:sp>
      <p:pic>
        <p:nvPicPr>
          <p:cNvPr descr="Asymptotic time complexity of toLower is shown to be quadratic." id="259" name="Google Shape;2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900" y="1965185"/>
            <a:ext cx="8127900" cy="25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3"/>
          <p:cNvSpPr txBox="1"/>
          <p:nvPr/>
        </p:nvSpPr>
        <p:spPr>
          <a:xfrm>
            <a:off x="5601160" y="2915471"/>
            <a:ext cx="5889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25" spcFirstLastPara="1" rIns="0" wrap="square" tIns="274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lower1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Convert Loop To Goto Form</a:t>
            </a:r>
            <a:endParaRPr/>
          </a:p>
        </p:txBody>
      </p:sp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311700" y="1152475"/>
            <a:ext cx="85206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80"/>
              <a:buChar char="○"/>
            </a:pPr>
            <a:r>
              <a:rPr lang="en" sz="1800"/>
              <a:t> </a:t>
            </a: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r>
              <a:rPr lang="en" sz="1800"/>
              <a:t> executed every iteration</a:t>
            </a:r>
            <a:endParaRPr/>
          </a:p>
        </p:txBody>
      </p:sp>
      <p:sp>
        <p:nvSpPr>
          <p:cNvPr id="267" name="Google Shape;267;p44"/>
          <p:cNvSpPr/>
          <p:nvPr/>
        </p:nvSpPr>
        <p:spPr>
          <a:xfrm>
            <a:off x="3437996" y="1662474"/>
            <a:ext cx="4962600" cy="31146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lower(char *s)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size_t i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if (i &gt;= strlen(s)) goto done;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loop: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if (s[i] &gt;= 'A' &amp;&amp; s[i] &lt;= 'Z')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s[i] -= ('A' - 'a');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i++;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if (i &lt; </a:t>
            </a:r>
            <a:r>
              <a:rPr b="1" lang="en" sz="1800">
                <a:solidFill>
                  <a:srgbClr val="A50021"/>
                </a:solidFill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(s)) goto loop;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done: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Calling Strlen</a:t>
            </a:r>
            <a:endParaRPr/>
          </a:p>
        </p:txBody>
      </p:sp>
      <p:sp>
        <p:nvSpPr>
          <p:cNvPr id="273" name="Google Shape;273;p45"/>
          <p:cNvSpPr txBox="1"/>
          <p:nvPr>
            <p:ph idx="1" type="body"/>
          </p:nvPr>
        </p:nvSpPr>
        <p:spPr>
          <a:xfrm>
            <a:off x="311700" y="1152475"/>
            <a:ext cx="8520600" cy="2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Strlen performance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980"/>
              <a:buChar char="○"/>
            </a:pPr>
            <a:r>
              <a:rPr lang="en" sz="1800"/>
              <a:t>Only way to determine length of string is to scan its entire length, looking for null character.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Char char="●"/>
            </a:pPr>
            <a:r>
              <a:rPr lang="en" sz="2000"/>
              <a:t>Overall performance, string of length 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980"/>
              <a:buChar char="○"/>
            </a:pPr>
            <a:r>
              <a:rPr lang="en" sz="1800"/>
              <a:t>N calls to strlen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980"/>
              <a:buChar char="○"/>
            </a:pPr>
            <a:r>
              <a:rPr lang="en" sz="1800"/>
              <a:t>Require times N, N-1, N-2, …, 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980"/>
              <a:buChar char="○"/>
            </a:pPr>
            <a:r>
              <a:rPr lang="en" sz="1800"/>
              <a:t>Overall O(N</a:t>
            </a:r>
            <a:r>
              <a:rPr baseline="30000" lang="en" sz="1800"/>
              <a:t>2</a:t>
            </a:r>
            <a:r>
              <a:rPr lang="en" sz="1800"/>
              <a:t>) performance</a:t>
            </a:r>
            <a:endParaRPr/>
          </a:p>
        </p:txBody>
      </p:sp>
      <p:sp>
        <p:nvSpPr>
          <p:cNvPr id="274" name="Google Shape;274;p45"/>
          <p:cNvSpPr/>
          <p:nvPr/>
        </p:nvSpPr>
        <p:spPr>
          <a:xfrm>
            <a:off x="4572000" y="2571750"/>
            <a:ext cx="4263600" cy="23310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My version of strlen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size_t strlen(const char *s)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size_t length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(*s != '\0') 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{s++; 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le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ngth++;}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length;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Performance</a:t>
            </a:r>
            <a:endParaRPr/>
          </a:p>
        </p:txBody>
      </p:sp>
      <p:sp>
        <p:nvSpPr>
          <p:cNvPr id="280" name="Google Shape;280;p46"/>
          <p:cNvSpPr txBox="1"/>
          <p:nvPr>
            <p:ph idx="1" type="body"/>
          </p:nvPr>
        </p:nvSpPr>
        <p:spPr>
          <a:xfrm>
            <a:off x="311700" y="1152475"/>
            <a:ext cx="8520600" cy="14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Move call to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r>
              <a:rPr lang="en"/>
              <a:t> outside of loop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Since result does not change from one iteration to another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Form of code motion</a:t>
            </a:r>
            <a:endParaRPr/>
          </a:p>
        </p:txBody>
      </p:sp>
      <p:sp>
        <p:nvSpPr>
          <p:cNvPr id="281" name="Google Shape;281;p46"/>
          <p:cNvSpPr/>
          <p:nvPr/>
        </p:nvSpPr>
        <p:spPr>
          <a:xfrm>
            <a:off x="3824400" y="2512925"/>
            <a:ext cx="5007900" cy="23862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lower(char *s)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size_t 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size_t </a:t>
            </a:r>
            <a:r>
              <a:rPr b="1" lang="en" sz="1800">
                <a:solidFill>
                  <a:srgbClr val="A50021"/>
                </a:solidFill>
                <a:latin typeface="Courier New"/>
                <a:ea typeface="Courier New"/>
                <a:cs typeface="Courier New"/>
                <a:sym typeface="Courier New"/>
              </a:rPr>
              <a:t>len = strlen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(s);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 = 0; i &lt;</a:t>
            </a:r>
            <a:r>
              <a:rPr b="1" lang="en" sz="1800">
                <a:solidFill>
                  <a:srgbClr val="A50021"/>
                </a:solidFill>
                <a:latin typeface="Courier New"/>
                <a:ea typeface="Courier New"/>
                <a:cs typeface="Courier New"/>
                <a:sym typeface="Courier New"/>
              </a:rPr>
              <a:t> len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(s[i] &gt;= 'A' &amp;&amp; s[i] &lt;= 'Z')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s[i] -= ('A' - 'a');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Lower Case Conversion Performance (Improved)</a:t>
            </a:r>
            <a:endParaRPr/>
          </a:p>
        </p:txBody>
      </p:sp>
      <p:sp>
        <p:nvSpPr>
          <p:cNvPr id="287" name="Google Shape;287;p47"/>
          <p:cNvSpPr txBox="1"/>
          <p:nvPr>
            <p:ph idx="1" type="body"/>
          </p:nvPr>
        </p:nvSpPr>
        <p:spPr>
          <a:xfrm>
            <a:off x="311700" y="1152475"/>
            <a:ext cx="85206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Time doubles when double string length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Linear performance of lower2</a:t>
            </a:r>
            <a:endParaRPr/>
          </a:p>
        </p:txBody>
      </p:sp>
      <p:pic>
        <p:nvPicPr>
          <p:cNvPr descr="Asymptotic time complexity of toLower is now linear." id="288" name="Google Shape;2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6300" y="2062975"/>
            <a:ext cx="6402900" cy="27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Blocker: Procedure Calls</a:t>
            </a:r>
            <a:endParaRPr/>
          </a:p>
        </p:txBody>
      </p:sp>
      <p:sp>
        <p:nvSpPr>
          <p:cNvPr id="294" name="Google Shape;294;p48"/>
          <p:cNvSpPr txBox="1"/>
          <p:nvPr>
            <p:ph idx="1" type="body"/>
          </p:nvPr>
        </p:nvSpPr>
        <p:spPr>
          <a:xfrm>
            <a:off x="311700" y="1152475"/>
            <a:ext cx="510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 fontScale="70000" lnSpcReduction="20000"/>
          </a:bodyPr>
          <a:lstStyle/>
          <a:p>
            <a:pPr indent="-320040" lvl="0" marL="34290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Why couldn’t compiler move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r>
              <a:rPr lang="en" sz="2000"/>
              <a:t> out of  inner loop?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Procedure may have side effects</a:t>
            </a:r>
            <a:endParaRPr/>
          </a:p>
          <a:p>
            <a:pPr indent="-204216" lvl="2" marL="1143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0000"/>
              <a:buChar char="■"/>
            </a:pPr>
            <a:r>
              <a:rPr lang="en" sz="1600"/>
              <a:t>Alters global state each time called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Function may not return same value for given arguments</a:t>
            </a:r>
            <a:endParaRPr/>
          </a:p>
          <a:p>
            <a:pPr indent="-204216" lvl="2" marL="1143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0000"/>
              <a:buChar char="■"/>
            </a:pPr>
            <a:r>
              <a:rPr lang="en" sz="1600"/>
              <a:t>Depends on other parts of global state</a:t>
            </a:r>
            <a:endParaRPr/>
          </a:p>
          <a:p>
            <a:pPr indent="-204216" lvl="2" marL="1143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80000"/>
              <a:buChar char="■"/>
            </a:pPr>
            <a:r>
              <a:rPr lang="en" sz="1600"/>
              <a:t>Procedure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lower</a:t>
            </a:r>
            <a:r>
              <a:rPr lang="en" sz="1600"/>
              <a:t> could interact with </a:t>
            </a: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strlen</a:t>
            </a:r>
            <a:endParaRPr sz="1600"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>
                <a:solidFill>
                  <a:srgbClr val="FF0000"/>
                </a:solidFill>
              </a:rPr>
              <a:t>Warning: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Compiler treats procedure call as a black box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Weak optimizations near them</a:t>
            </a:r>
            <a:endParaRPr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Remedies: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Use of inline functions</a:t>
            </a:r>
            <a:endParaRPr/>
          </a:p>
          <a:p>
            <a:pPr indent="-201168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80000"/>
              <a:buChar char="■"/>
            </a:pPr>
            <a:r>
              <a:rPr lang="en" sz="1800"/>
              <a:t>GCC does this with –O1</a:t>
            </a:r>
            <a:endParaRPr/>
          </a:p>
          <a:p>
            <a:pPr indent="-194310" lvl="3" marL="1600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Char char="●"/>
            </a:pPr>
            <a:r>
              <a:rPr lang="en" sz="1800"/>
              <a:t>Within single file</a:t>
            </a:r>
            <a:endParaRPr/>
          </a:p>
          <a:p>
            <a:pPr indent="-248031" lvl="1" marL="742950" rtl="0" algn="l">
              <a:spcBef>
                <a:spcPts val="360"/>
              </a:spcBef>
              <a:spcAft>
                <a:spcPts val="0"/>
              </a:spcAft>
              <a:buSzPct val="110000"/>
              <a:buChar char="○"/>
            </a:pPr>
            <a:r>
              <a:rPr lang="en" sz="1800"/>
              <a:t>Do your own code motion</a:t>
            </a:r>
            <a:endParaRPr/>
          </a:p>
        </p:txBody>
      </p:sp>
      <p:sp>
        <p:nvSpPr>
          <p:cNvPr id="295" name="Google Shape;295;p48"/>
          <p:cNvSpPr/>
          <p:nvPr/>
        </p:nvSpPr>
        <p:spPr>
          <a:xfrm>
            <a:off x="5023975" y="2196450"/>
            <a:ext cx="4038600" cy="2757000"/>
          </a:xfrm>
          <a:prstGeom prst="rect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size_t lencnt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size_t strlen(const char *s)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size_t length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(*s != '\0')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{ s++; length++;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lencnt += length;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length;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Matters</a:t>
            </a:r>
            <a:endParaRPr/>
          </a:p>
        </p:txBody>
      </p:sp>
      <p:sp>
        <p:nvSpPr>
          <p:cNvPr id="301" name="Google Shape;301;p49"/>
          <p:cNvSpPr txBox="1"/>
          <p:nvPr>
            <p:ph idx="1" type="body"/>
          </p:nvPr>
        </p:nvSpPr>
        <p:spPr>
          <a:xfrm>
            <a:off x="311700" y="1152475"/>
            <a:ext cx="44790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Code updates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b[i]</a:t>
            </a:r>
            <a:r>
              <a:rPr lang="en"/>
              <a:t> on every iteration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Why couldn’t compiler optimize this away?</a:t>
            </a:r>
            <a:endParaRPr/>
          </a:p>
        </p:txBody>
      </p:sp>
      <p:sp>
        <p:nvSpPr>
          <p:cNvPr id="302" name="Google Shape;302;p49"/>
          <p:cNvSpPr/>
          <p:nvPr/>
        </p:nvSpPr>
        <p:spPr>
          <a:xfrm>
            <a:off x="358800" y="2062675"/>
            <a:ext cx="5130900" cy="24000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Sum rows is of n X n matrix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and store in vector b 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sum_rows1(double *a, double *b, long n)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i,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n;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b[i]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b[i] += a[i*n + j];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03" name="Google Shape;303;p49"/>
          <p:cNvSpPr/>
          <p:nvPr/>
        </p:nvSpPr>
        <p:spPr>
          <a:xfrm>
            <a:off x="3724200" y="3075700"/>
            <a:ext cx="5419800" cy="1830300"/>
          </a:xfrm>
          <a:prstGeom prst="rect">
            <a:avLst/>
          </a:prstGeom>
          <a:solidFill>
            <a:srgbClr val="F1C7C7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sum_rows1 inner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.L4: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movsd   (%rsi,%rax,8), %xmm0	# FP load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addsd   (%rdi), %xmm0		# FP add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movsd   %xmm0, (%rsi,%rax,8)	# FP store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addq    $8, %rdi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cmpq    %rcx, %rdi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jne     .L4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Aliasing</a:t>
            </a:r>
            <a:endParaRPr/>
          </a:p>
        </p:txBody>
      </p:sp>
      <p:sp>
        <p:nvSpPr>
          <p:cNvPr id="309" name="Google Shape;309;p50"/>
          <p:cNvSpPr txBox="1"/>
          <p:nvPr>
            <p:ph idx="1" type="body"/>
          </p:nvPr>
        </p:nvSpPr>
        <p:spPr>
          <a:xfrm>
            <a:off x="311700" y="1152475"/>
            <a:ext cx="65208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Code updates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b[i]</a:t>
            </a:r>
            <a:r>
              <a:rPr lang="en"/>
              <a:t> on every iteration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Must consider possibility that these updates will affect program behavior</a:t>
            </a:r>
            <a:endParaRPr/>
          </a:p>
        </p:txBody>
      </p:sp>
      <p:sp>
        <p:nvSpPr>
          <p:cNvPr id="310" name="Google Shape;310;p50"/>
          <p:cNvSpPr/>
          <p:nvPr/>
        </p:nvSpPr>
        <p:spPr>
          <a:xfrm>
            <a:off x="119475" y="2656200"/>
            <a:ext cx="5130900" cy="20154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Sum rows is of n X n matrix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and store in vector b 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sum_rows1(double *a, double *b, long n)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i,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n;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b[i]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for(j = 0; j &lt; n; j++) b[i] += a[i*n + j];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11" name="Google Shape;311;p50"/>
          <p:cNvSpPr/>
          <p:nvPr/>
        </p:nvSpPr>
        <p:spPr>
          <a:xfrm>
            <a:off x="6832500" y="832500"/>
            <a:ext cx="2311500" cy="1413900"/>
          </a:xfrm>
          <a:prstGeom prst="rect">
            <a:avLst/>
          </a:prstGeom>
          <a:solidFill>
            <a:srgbClr val="D5F1CF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A[9] =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 0,   1,   2,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4,   8,  16},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32,  64, 128};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B[3] = A+3;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sum_rows1(A, B, 3);</a:t>
            </a:r>
            <a:endParaRPr/>
          </a:p>
        </p:txBody>
      </p:sp>
      <p:sp>
        <p:nvSpPr>
          <p:cNvPr id="312" name="Google Shape;312;p50"/>
          <p:cNvSpPr/>
          <p:nvPr/>
        </p:nvSpPr>
        <p:spPr>
          <a:xfrm>
            <a:off x="6556048" y="3960389"/>
            <a:ext cx="2311500" cy="269100"/>
          </a:xfrm>
          <a:prstGeom prst="rect">
            <a:avLst/>
          </a:prstGeom>
          <a:solidFill>
            <a:srgbClr val="D0D0F4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0: [3, 8, 16]</a:t>
            </a:r>
            <a:endParaRPr/>
          </a:p>
        </p:txBody>
      </p:sp>
      <p:sp>
        <p:nvSpPr>
          <p:cNvPr id="313" name="Google Shape;313;p50"/>
          <p:cNvSpPr/>
          <p:nvPr/>
        </p:nvSpPr>
        <p:spPr>
          <a:xfrm>
            <a:off x="6556048" y="3617489"/>
            <a:ext cx="2311500" cy="269100"/>
          </a:xfrm>
          <a:prstGeom prst="rect">
            <a:avLst/>
          </a:prstGeom>
          <a:solidFill>
            <a:srgbClr val="D0D0F4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init:  [4, 8, 16]</a:t>
            </a:r>
            <a:endParaRPr/>
          </a:p>
        </p:txBody>
      </p:sp>
      <p:sp>
        <p:nvSpPr>
          <p:cNvPr id="314" name="Google Shape;314;p50"/>
          <p:cNvSpPr/>
          <p:nvPr/>
        </p:nvSpPr>
        <p:spPr>
          <a:xfrm>
            <a:off x="6556048" y="4303289"/>
            <a:ext cx="2311500" cy="269100"/>
          </a:xfrm>
          <a:prstGeom prst="rect">
            <a:avLst/>
          </a:prstGeom>
          <a:solidFill>
            <a:srgbClr val="D0D0F4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1: [3, 22, 16]</a:t>
            </a:r>
            <a:endParaRPr/>
          </a:p>
        </p:txBody>
      </p:sp>
      <p:sp>
        <p:nvSpPr>
          <p:cNvPr id="315" name="Google Shape;315;p50"/>
          <p:cNvSpPr/>
          <p:nvPr/>
        </p:nvSpPr>
        <p:spPr>
          <a:xfrm>
            <a:off x="6556048" y="4662858"/>
            <a:ext cx="2311500" cy="269100"/>
          </a:xfrm>
          <a:prstGeom prst="rect">
            <a:avLst/>
          </a:prstGeom>
          <a:solidFill>
            <a:srgbClr val="D0D0F4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 = 2: [3, 22, 224]</a:t>
            </a:r>
            <a:endParaRPr/>
          </a:p>
        </p:txBody>
      </p:sp>
      <p:sp>
        <p:nvSpPr>
          <p:cNvPr id="316" name="Google Shape;316;p50"/>
          <p:cNvSpPr txBox="1"/>
          <p:nvPr/>
        </p:nvSpPr>
        <p:spPr>
          <a:xfrm>
            <a:off x="6612248" y="3107989"/>
            <a:ext cx="169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Value of </a:t>
            </a:r>
            <a:r>
              <a:rPr b="1" lang="en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b="1" lang="en" sz="240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Aliasing</a:t>
            </a:r>
            <a:endParaRPr/>
          </a:p>
        </p:txBody>
      </p:sp>
      <p:sp>
        <p:nvSpPr>
          <p:cNvPr id="322" name="Google Shape;322;p51"/>
          <p:cNvSpPr txBox="1"/>
          <p:nvPr>
            <p:ph idx="1" type="body"/>
          </p:nvPr>
        </p:nvSpPr>
        <p:spPr>
          <a:xfrm>
            <a:off x="135275" y="2624950"/>
            <a:ext cx="85206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No need to store intermediate results</a:t>
            </a:r>
            <a:endParaRPr/>
          </a:p>
        </p:txBody>
      </p:sp>
      <p:sp>
        <p:nvSpPr>
          <p:cNvPr id="323" name="Google Shape;323;p51"/>
          <p:cNvSpPr/>
          <p:nvPr/>
        </p:nvSpPr>
        <p:spPr>
          <a:xfrm>
            <a:off x="3505200" y="3311350"/>
            <a:ext cx="5638800" cy="1546500"/>
          </a:xfrm>
          <a:prstGeom prst="rect">
            <a:avLst/>
          </a:prstGeom>
          <a:solidFill>
            <a:srgbClr val="F1C7C7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 sum_rows2 inner 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.L10: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addsd   (%rdi), %xmm0	# FP load + add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addq    $8, %rdi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cmpq    %rax, %rdi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jne     .L10</a:t>
            </a:r>
            <a:endParaRPr/>
          </a:p>
        </p:txBody>
      </p:sp>
      <p:sp>
        <p:nvSpPr>
          <p:cNvPr id="324" name="Google Shape;324;p51"/>
          <p:cNvSpPr/>
          <p:nvPr/>
        </p:nvSpPr>
        <p:spPr>
          <a:xfrm>
            <a:off x="3933000" y="56550"/>
            <a:ext cx="5130900" cy="2515200"/>
          </a:xfrm>
          <a:prstGeom prst="rect">
            <a:avLst/>
          </a:prstGeom>
          <a:solidFill>
            <a:srgbClr val="F6F5BD"/>
          </a:solidFill>
          <a:ln cap="flat" cmpd="thickThin" w="571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Sum rows is of n X n matrix 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and store in vector b 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sum_rows2(double *a, double *b, long n)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i, j;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n;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double val =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(j = 0; j &lt; n; j++)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    val += a[i*n + j];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b[i] = val;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Blocker: Memory Aliasing</a:t>
            </a:r>
            <a:endParaRPr/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rmAutofit/>
          </a:bodyPr>
          <a:lstStyle/>
          <a:p>
            <a:pPr indent="-223838" lvl="0" marL="223838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Aliasing</a:t>
            </a:r>
            <a:endParaRPr/>
          </a:p>
          <a:p>
            <a:pPr indent="-222250" lvl="1" marL="560388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Two different memory references specify single location</a:t>
            </a:r>
            <a:endParaRPr/>
          </a:p>
          <a:p>
            <a:pPr indent="-222250" lvl="1" marL="560388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Easy to have happen in C</a:t>
            </a:r>
            <a:endParaRPr/>
          </a:p>
          <a:p>
            <a:pPr indent="-165100" lvl="2" marL="839788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 Since allowed to do address arithmetic</a:t>
            </a:r>
            <a:endParaRPr/>
          </a:p>
          <a:p>
            <a:pPr indent="-165100" lvl="2" marL="839788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 Direct access to storage structures</a:t>
            </a:r>
            <a:endParaRPr/>
          </a:p>
          <a:p>
            <a:pPr indent="-222250" lvl="1" marL="560388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Get in habit of introducing local variables</a:t>
            </a:r>
            <a:endParaRPr/>
          </a:p>
          <a:p>
            <a:pPr indent="-165100" lvl="2" marL="839788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 Accumulating within loops</a:t>
            </a:r>
            <a:endParaRPr/>
          </a:p>
          <a:p>
            <a:pPr indent="-165100" lvl="2" marL="839788" rtl="0" algn="l">
              <a:spcBef>
                <a:spcPts val="400"/>
              </a:spcBef>
              <a:spcAft>
                <a:spcPts val="0"/>
              </a:spcAft>
              <a:buSzPts val="1600"/>
              <a:buChar char="■"/>
            </a:pPr>
            <a:r>
              <a:rPr lang="en"/>
              <a:t> Your way of telling compiler not to check for aliasing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Exploiting Instruction-Level Parallelism</a:t>
            </a:r>
            <a:endParaRPr/>
          </a:p>
        </p:txBody>
      </p:sp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Need general understanding of modern processor design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Hardware can execute multiple instructions in parallel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Performance limited by data dependencies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Simple transformations can yield dramatic performance improvement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Compilers often cannot make these transformations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Lack of associativity and distributivity in floating-point arithmetic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Example: Data Type for Vectors</a:t>
            </a:r>
            <a:endParaRPr/>
          </a:p>
        </p:txBody>
      </p:sp>
      <p:sp>
        <p:nvSpPr>
          <p:cNvPr id="342" name="Google Shape;342;p54"/>
          <p:cNvSpPr/>
          <p:nvPr/>
        </p:nvSpPr>
        <p:spPr>
          <a:xfrm>
            <a:off x="514825" y="1123902"/>
            <a:ext cx="4132500" cy="1353000"/>
          </a:xfrm>
          <a:prstGeom prst="rect">
            <a:avLst/>
          </a:prstGeom>
          <a:solidFill>
            <a:srgbClr val="F6F5BD"/>
          </a:solidFill>
          <a:ln cap="flat" cmpd="thickThin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data structure for vectors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typedef struct{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size_t len;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data_t *data;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vec;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p54"/>
          <p:cNvSpPr/>
          <p:nvPr/>
        </p:nvSpPr>
        <p:spPr>
          <a:xfrm>
            <a:off x="4647350" y="2123900"/>
            <a:ext cx="4492200" cy="2590500"/>
          </a:xfrm>
          <a:prstGeom prst="rect">
            <a:avLst/>
          </a:prstGeom>
          <a:solidFill>
            <a:srgbClr val="F6F5BD"/>
          </a:solidFill>
          <a:ln cap="flat" cmpd="thickThin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/* retrieve vector element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and store at val */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get_vec_element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(*vec v, size_t idx, data_t *val)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(idx &gt;= v-&gt;len)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0;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*val = v-&gt;data[idx];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1;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344" name="Google Shape;344;p54"/>
          <p:cNvSpPr txBox="1"/>
          <p:nvPr>
            <p:ph idx="1" type="body"/>
          </p:nvPr>
        </p:nvSpPr>
        <p:spPr>
          <a:xfrm>
            <a:off x="311700" y="2476750"/>
            <a:ext cx="43356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-70866" lvl="0" marL="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400"/>
              <a:t>Data Types</a:t>
            </a:r>
            <a:endParaRPr/>
          </a:p>
          <a:p>
            <a:pPr indent="-254318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/>
              <a:t>Use different declarations for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data_t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54318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54318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54318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  <a:p>
            <a:pPr indent="-254318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endParaRPr/>
          </a:p>
        </p:txBody>
      </p:sp>
      <p:pic>
        <p:nvPicPr>
          <p:cNvPr descr="representation of the vec struct" id="345" name="Google Shape;34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6613" y="1233372"/>
            <a:ext cx="3993675" cy="6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Computation</a:t>
            </a:r>
            <a:endParaRPr/>
          </a:p>
        </p:txBody>
      </p:sp>
      <p:sp>
        <p:nvSpPr>
          <p:cNvPr id="351" name="Google Shape;351;p55"/>
          <p:cNvSpPr txBox="1"/>
          <p:nvPr>
            <p:ph idx="1" type="body"/>
          </p:nvPr>
        </p:nvSpPr>
        <p:spPr>
          <a:xfrm>
            <a:off x="311700" y="3195872"/>
            <a:ext cx="47037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400"/>
              <a:t>Data Types</a:t>
            </a:r>
            <a:endParaRPr/>
          </a:p>
          <a:p>
            <a:pPr indent="-233363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/>
              <a:t>Use different declarations for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data_t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33363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33363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long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33363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endParaRPr/>
          </a:p>
          <a:p>
            <a:pPr indent="-233363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endParaRPr/>
          </a:p>
        </p:txBody>
      </p:sp>
      <p:sp>
        <p:nvSpPr>
          <p:cNvPr id="352" name="Google Shape;352;p55"/>
          <p:cNvSpPr txBox="1"/>
          <p:nvPr>
            <p:ph idx="4294967295" type="body"/>
          </p:nvPr>
        </p:nvSpPr>
        <p:spPr>
          <a:xfrm>
            <a:off x="5015338" y="3156825"/>
            <a:ext cx="38718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77724" lvl="0" marL="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400"/>
              <a:t>Operations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/>
              <a:t>Use different definitions of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OP</a:t>
            </a:r>
            <a:r>
              <a:rPr lang="en" sz="2000"/>
              <a:t> and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IDENT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/>
              <a:t>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+ </a:t>
            </a:r>
            <a:r>
              <a:rPr lang="en" sz="2000"/>
              <a:t>/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 0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10000"/>
              <a:buChar char="○"/>
            </a:pPr>
            <a:r>
              <a:rPr lang="en" sz="2000"/>
              <a:t> 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* </a:t>
            </a:r>
            <a:r>
              <a:rPr lang="en" sz="2000"/>
              <a:t>/</a:t>
            </a:r>
            <a:r>
              <a:rPr lang="en" sz="2000">
                <a:latin typeface="Courier New"/>
                <a:ea typeface="Courier New"/>
                <a:cs typeface="Courier New"/>
                <a:sym typeface="Courier New"/>
              </a:rPr>
              <a:t> 1</a:t>
            </a:r>
            <a:endParaRPr/>
          </a:p>
        </p:txBody>
      </p:sp>
      <p:sp>
        <p:nvSpPr>
          <p:cNvPr id="353" name="Google Shape;353;p55"/>
          <p:cNvSpPr/>
          <p:nvPr/>
        </p:nvSpPr>
        <p:spPr>
          <a:xfrm>
            <a:off x="427850" y="938074"/>
            <a:ext cx="5835000" cy="22578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combine1(vec_ptr v, data_t *dest)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int i;  *dest = IDENT;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vec_length(v); i++)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data_t val;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get_vec_element(v, i, &amp;val);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*dest = *dest OP val; 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4" name="Google Shape;354;p55"/>
          <p:cNvSpPr txBox="1"/>
          <p:nvPr/>
        </p:nvSpPr>
        <p:spPr>
          <a:xfrm>
            <a:off x="6705600" y="1200150"/>
            <a:ext cx="243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sum or product of vector elements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Cycles Per Element (CPE)</a:t>
            </a:r>
            <a:endParaRPr/>
          </a:p>
        </p:txBody>
      </p:sp>
      <p:sp>
        <p:nvSpPr>
          <p:cNvPr id="360" name="Google Shape;360;p56"/>
          <p:cNvSpPr txBox="1"/>
          <p:nvPr>
            <p:ph idx="1" type="body"/>
          </p:nvPr>
        </p:nvSpPr>
        <p:spPr>
          <a:xfrm>
            <a:off x="311700" y="1152475"/>
            <a:ext cx="85206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20040" lvl="0" marL="34290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Convenient way to express performance of program that operates on vectors or lists</a:t>
            </a:r>
            <a:endParaRPr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Length = n</a:t>
            </a:r>
            <a:endParaRPr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In our case: </a:t>
            </a:r>
            <a:r>
              <a:rPr lang="en" sz="2000">
                <a:solidFill>
                  <a:srgbClr val="C00000"/>
                </a:solidFill>
              </a:rPr>
              <a:t>CPE = cycles per OP</a:t>
            </a:r>
            <a:endParaRPr sz="2000"/>
          </a:p>
          <a:p>
            <a:pPr indent="-320040" lvl="0" marL="342900" rtl="0" algn="l">
              <a:spcBef>
                <a:spcPts val="400"/>
              </a:spcBef>
              <a:spcAft>
                <a:spcPts val="0"/>
              </a:spcAft>
              <a:buSzPct val="60000"/>
              <a:buChar char="●"/>
            </a:pPr>
            <a:r>
              <a:rPr lang="en" sz="2000"/>
              <a:t>T = CPE*n + Overhead</a:t>
            </a:r>
            <a:endParaRPr/>
          </a:p>
          <a:p>
            <a:pPr indent="-252222" lvl="1" marL="742950" rtl="0" algn="l">
              <a:spcBef>
                <a:spcPts val="320"/>
              </a:spcBef>
              <a:spcAft>
                <a:spcPts val="0"/>
              </a:spcAft>
              <a:buSzPct val="110000"/>
              <a:buChar char="○"/>
            </a:pPr>
            <a:r>
              <a:rPr lang="en" sz="1600"/>
              <a:t>CPE is slope of line</a:t>
            </a:r>
            <a:endParaRPr/>
          </a:p>
        </p:txBody>
      </p:sp>
      <p:pic>
        <p:nvPicPr>
          <p:cNvPr descr="Cycles per element uses the slope of the runtime graph to determine performance." id="361" name="Google Shape;36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383" y="2457450"/>
            <a:ext cx="5754900" cy="24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6"/>
          <p:cNvSpPr txBox="1"/>
          <p:nvPr/>
        </p:nvSpPr>
        <p:spPr>
          <a:xfrm>
            <a:off x="4193646" y="3126915"/>
            <a:ext cx="746400" cy="58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27425" spcFirstLastPara="1" rIns="27425" wrap="square" tIns="274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psum1</a:t>
            </a:r>
            <a:endParaRPr b="0" i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Slope = 9.0</a:t>
            </a:r>
            <a:endParaRPr/>
          </a:p>
        </p:txBody>
      </p:sp>
      <p:sp>
        <p:nvSpPr>
          <p:cNvPr id="363" name="Google Shape;363;p56"/>
          <p:cNvSpPr txBox="1"/>
          <p:nvPr/>
        </p:nvSpPr>
        <p:spPr>
          <a:xfrm>
            <a:off x="4572000" y="3918842"/>
            <a:ext cx="746400" cy="57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27425" spcFirstLastPara="1" rIns="27425" wrap="square" tIns="228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200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psum2</a:t>
            </a:r>
            <a:endParaRPr b="0" i="0" sz="1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Slope = 6.0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 Performance</a:t>
            </a:r>
            <a:endParaRPr/>
          </a:p>
        </p:txBody>
      </p:sp>
      <p:sp>
        <p:nvSpPr>
          <p:cNvPr id="369" name="Google Shape;369;p57"/>
          <p:cNvSpPr/>
          <p:nvPr/>
        </p:nvSpPr>
        <p:spPr>
          <a:xfrm>
            <a:off x="509250" y="1207425"/>
            <a:ext cx="5835000" cy="22647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combine1(vec_ptr v, data_t *dest)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int i;  *dest = IDENT;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vec_length(v); i++) 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data_t val;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get_vec_element(v, i, &amp;val);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*dest = *dest OP val;</a:t>
            </a:r>
            <a:r>
              <a:rPr lang="en"/>
              <a:t> 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0" name="Google Shape;370;p57"/>
          <p:cNvSpPr txBox="1"/>
          <p:nvPr/>
        </p:nvSpPr>
        <p:spPr>
          <a:xfrm>
            <a:off x="6705600" y="1200150"/>
            <a:ext cx="2438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sum or product of vector elements</a:t>
            </a:r>
            <a:endParaRPr/>
          </a:p>
        </p:txBody>
      </p:sp>
      <p:graphicFrame>
        <p:nvGraphicFramePr>
          <p:cNvPr descr="Clocks per element for the basic code and the code after O1 compiler optimizations." id="371" name="Google Shape;371;p57"/>
          <p:cNvGraphicFramePr/>
          <p:nvPr/>
        </p:nvGraphicFramePr>
        <p:xfrm>
          <a:off x="396875" y="36618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{4D0394B2-7CCA-48EE-AE11-504C56F26A59}</a:tableStyleId>
              </a:tblPr>
              <a:tblGrid>
                <a:gridCol w="2362200"/>
                <a:gridCol w="1466850"/>
                <a:gridCol w="1466850"/>
                <a:gridCol w="1466850"/>
                <a:gridCol w="1466850"/>
              </a:tblGrid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Combine1 unoptimized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22.68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20.02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19.98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20.18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Combine1 –O1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10.12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10.12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10.17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11.14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Optimizations</a:t>
            </a:r>
            <a:endParaRPr/>
          </a:p>
        </p:txBody>
      </p:sp>
      <p:sp>
        <p:nvSpPr>
          <p:cNvPr id="377" name="Google Shape;377;p58"/>
          <p:cNvSpPr txBox="1"/>
          <p:nvPr>
            <p:ph idx="1" type="body"/>
          </p:nvPr>
        </p:nvSpPr>
        <p:spPr>
          <a:xfrm>
            <a:off x="311700" y="3270675"/>
            <a:ext cx="85206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Move vec_length out of loop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Avoid bounds check on each cycle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Accumulate in temporary</a:t>
            </a:r>
            <a:endParaRPr/>
          </a:p>
        </p:txBody>
      </p:sp>
      <p:sp>
        <p:nvSpPr>
          <p:cNvPr id="378" name="Google Shape;378;p58"/>
          <p:cNvSpPr/>
          <p:nvPr/>
        </p:nvSpPr>
        <p:spPr>
          <a:xfrm>
            <a:off x="3622875" y="326633"/>
            <a:ext cx="5421300" cy="28014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combine4(vec_ptr v, data_t *dest)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long 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long length = vec_length(v);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data_t *d = get_vec_start(v);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data_t t = IDENT;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 = 0; i &lt; length;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 = t OP d[i];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*dest = 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Basic Optimizations</a:t>
            </a:r>
            <a:endParaRPr/>
          </a:p>
        </p:txBody>
      </p:sp>
      <p:sp>
        <p:nvSpPr>
          <p:cNvPr id="384" name="Google Shape;384;p59"/>
          <p:cNvSpPr txBox="1"/>
          <p:nvPr>
            <p:ph idx="1" type="body"/>
          </p:nvPr>
        </p:nvSpPr>
        <p:spPr>
          <a:xfrm>
            <a:off x="223475" y="1112825"/>
            <a:ext cx="3202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Eliminates sources of overhead in loop</a:t>
            </a:r>
            <a:endParaRPr/>
          </a:p>
        </p:txBody>
      </p:sp>
      <p:sp>
        <p:nvSpPr>
          <p:cNvPr id="385" name="Google Shape;385;p59"/>
          <p:cNvSpPr/>
          <p:nvPr/>
        </p:nvSpPr>
        <p:spPr>
          <a:xfrm>
            <a:off x="3632675" y="1073074"/>
            <a:ext cx="5421300" cy="2346900"/>
          </a:xfrm>
          <a:prstGeom prst="rect">
            <a:avLst/>
          </a:prstGeom>
          <a:solidFill>
            <a:srgbClr val="F6F5BD"/>
          </a:solidFill>
          <a:ln cap="flat" cmpd="dbl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combine4(vec_ptr v, data_t *dest)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long i;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long length = vec_length(v);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data_t *d = get_vec_start(v);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data_t t = IDENT;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 = 0; i &lt; length; i++)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 = t OP d[i];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*dest = t;}</a:t>
            </a:r>
            <a:endParaRPr/>
          </a:p>
        </p:txBody>
      </p:sp>
      <p:graphicFrame>
        <p:nvGraphicFramePr>
          <p:cNvPr descr="Clocks per element data for compiler optimized code (O1) and basic hand-optimizations (with O1 still enabled)." id="386" name="Google Shape;386;p59"/>
          <p:cNvGraphicFramePr/>
          <p:nvPr/>
        </p:nvGraphicFramePr>
        <p:xfrm>
          <a:off x="1258624" y="3605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{4D0394B2-7CCA-48EE-AE11-504C56F26A59}</a:tableStyleId>
              </a:tblPr>
              <a:tblGrid>
                <a:gridCol w="1514150"/>
                <a:gridCol w="1300650"/>
                <a:gridCol w="1358250"/>
                <a:gridCol w="1624650"/>
                <a:gridCol w="1459050"/>
              </a:tblGrid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Combine1 –O1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10.12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10.12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10.17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11.14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Combine4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1.27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0"/>
          <p:cNvSpPr txBox="1"/>
          <p:nvPr>
            <p:ph type="title"/>
          </p:nvPr>
        </p:nvSpPr>
        <p:spPr>
          <a:xfrm>
            <a:off x="311700" y="427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CPU Design</a:t>
            </a:r>
            <a:endParaRPr/>
          </a:p>
        </p:txBody>
      </p:sp>
      <p:pic>
        <p:nvPicPr>
          <p:cNvPr descr="Simple diagram of modern superscalar CPU. This differs from the CSE220 description by including many units inside the Execute stage." id="392" name="Google Shape;39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850" y="1000050"/>
            <a:ext cx="5366195" cy="38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Superscalar Processor</a:t>
            </a:r>
            <a:endParaRPr/>
          </a:p>
        </p:txBody>
      </p:sp>
      <p:sp>
        <p:nvSpPr>
          <p:cNvPr id="398" name="Google Shape;398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>
                <a:solidFill>
                  <a:srgbClr val="990000"/>
                </a:solidFill>
              </a:rPr>
              <a:t>Definition:</a:t>
            </a:r>
            <a:r>
              <a:rPr lang="en"/>
              <a:t> A superscalar processor can issue and execute </a:t>
            </a:r>
            <a:r>
              <a:rPr lang="en">
                <a:solidFill>
                  <a:srgbClr val="990000"/>
                </a:solidFill>
              </a:rPr>
              <a:t>multiple instructions in one cycle</a:t>
            </a:r>
            <a:r>
              <a:rPr lang="en"/>
              <a:t>. The instructions are retrieved from a sequential instruction stream and are usually scheduled dynamically.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Benefit: without programming effort, superscalar processor can take advantage of the </a:t>
            </a:r>
            <a:r>
              <a:rPr lang="en">
                <a:solidFill>
                  <a:srgbClr val="990000"/>
                </a:solidFill>
              </a:rPr>
              <a:t>instruction level parallelism </a:t>
            </a:r>
            <a:r>
              <a:rPr lang="en"/>
              <a:t>that most programs have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Most modern CPUs are superscalar.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Intel: since Pentium (1993)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2"/>
          <p:cNvSpPr txBox="1"/>
          <p:nvPr>
            <p:ph type="title"/>
          </p:nvPr>
        </p:nvSpPr>
        <p:spPr>
          <a:xfrm>
            <a:off x="311700" y="119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Pipelined Functional Units</a:t>
            </a:r>
            <a:endParaRPr/>
          </a:p>
        </p:txBody>
      </p:sp>
      <p:sp>
        <p:nvSpPr>
          <p:cNvPr id="404" name="Google Shape;404;p62"/>
          <p:cNvSpPr/>
          <p:nvPr/>
        </p:nvSpPr>
        <p:spPr>
          <a:xfrm>
            <a:off x="119775" y="783954"/>
            <a:ext cx="4861800" cy="15744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long mult_eg(long a, long b, long c)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p1 = a*b;</a:t>
            </a:r>
            <a:b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p2 = a*c;</a:t>
            </a:r>
            <a:b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p3 = p1 * p2;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p3;</a:t>
            </a:r>
            <a:b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5" name="Google Shape;405;p62"/>
          <p:cNvSpPr txBox="1"/>
          <p:nvPr>
            <p:ph idx="1" type="body"/>
          </p:nvPr>
        </p:nvSpPr>
        <p:spPr>
          <a:xfrm>
            <a:off x="311700" y="3399175"/>
            <a:ext cx="85206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Divide computation into stages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Pass partial computations from stage to stage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Stage i can start on new computation once values passed to i+1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E.g., complete 3 multiplications in 7 cycles, even though each requires 3 cycles</a:t>
            </a:r>
            <a:endParaRPr/>
          </a:p>
        </p:txBody>
      </p:sp>
      <p:graphicFrame>
        <p:nvGraphicFramePr>
          <p:cNvPr id="406" name="Google Shape;406;p62"/>
          <p:cNvGraphicFramePr/>
          <p:nvPr/>
        </p:nvGraphicFramePr>
        <p:xfrm>
          <a:off x="2454200" y="1996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{E0930FEF-B26C-4517-BD15-52C448FE5887}</a:tableStyleId>
              </a:tblPr>
              <a:tblGrid>
                <a:gridCol w="1023325"/>
                <a:gridCol w="750425"/>
                <a:gridCol w="750425"/>
                <a:gridCol w="614000"/>
                <a:gridCol w="682225"/>
                <a:gridCol w="750425"/>
                <a:gridCol w="818650"/>
                <a:gridCol w="818650"/>
              </a:tblGrid>
              <a:tr h="22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Clock: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 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a*b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a*c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p1*p2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 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a*b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a*c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p1*p2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Stage 3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a*b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a*c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NOP</a:t>
                      </a:r>
                      <a:endParaRPr b="1" i="0" sz="11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" sz="1100" u="none" cap="none" strike="noStrike">
                          <a:solidFill>
                            <a:srgbClr val="98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p1*p2</a:t>
                      </a:r>
                      <a:endParaRPr b="1" i="0" sz="1100" u="none" cap="none" strike="noStrike">
                        <a:solidFill>
                          <a:srgbClr val="98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34300" marB="34300" marR="124675" marL="1246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Functional unit three stage pipeline" id="407" name="Google Shape;40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4601" y="256922"/>
            <a:ext cx="1906224" cy="15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Haswell CPU</a:t>
            </a:r>
            <a:endParaRPr/>
          </a:p>
        </p:txBody>
      </p:sp>
      <p:sp>
        <p:nvSpPr>
          <p:cNvPr id="413" name="Google Shape;413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8 Total Functional Units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Multiple instructions can execute in parallel</a:t>
            </a:r>
            <a:endParaRPr sz="1665"/>
          </a:p>
          <a:p>
            <a:pPr indent="-357823" lvl="1" marL="9144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○"/>
            </a:pPr>
            <a:r>
              <a:rPr lang="en" sz="1665"/>
              <a:t>2 load, with address computation</a:t>
            </a:r>
            <a:endParaRPr sz="1295"/>
          </a:p>
          <a:p>
            <a:pPr indent="-357823" lvl="1" marL="9144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○"/>
            </a:pPr>
            <a:r>
              <a:rPr lang="en" sz="1665"/>
              <a:t>1 store, with address computation</a:t>
            </a:r>
            <a:endParaRPr sz="1295"/>
          </a:p>
          <a:p>
            <a:pPr indent="-357823" lvl="1" marL="9144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○"/>
            </a:pPr>
            <a:r>
              <a:rPr lang="en" sz="1665"/>
              <a:t>4 integer</a:t>
            </a:r>
            <a:endParaRPr sz="1295"/>
          </a:p>
          <a:p>
            <a:pPr indent="-357823" lvl="1" marL="9144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○"/>
            </a:pPr>
            <a:r>
              <a:rPr lang="en" sz="1665"/>
              <a:t>2 FP multiply</a:t>
            </a:r>
            <a:endParaRPr sz="1295"/>
          </a:p>
          <a:p>
            <a:pPr indent="-357823" lvl="1" marL="9144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○"/>
            </a:pPr>
            <a:r>
              <a:rPr lang="en" sz="1665"/>
              <a:t>1 FP add</a:t>
            </a:r>
            <a:endParaRPr sz="1295"/>
          </a:p>
          <a:p>
            <a:pPr indent="-357823" lvl="1" marL="9144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○"/>
            </a:pPr>
            <a:r>
              <a:rPr lang="en" sz="1665"/>
              <a:t>1 FP divide</a:t>
            </a:r>
            <a:endParaRPr sz="129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Some instructions take &gt; 1 cycle, but can be pipelined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>
                <a:solidFill>
                  <a:srgbClr val="C00000"/>
                </a:solidFill>
              </a:rPr>
              <a:t>Instruction				Latency			Cycles/Issue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Load / Store				4				1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Integer Multiply			3				1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Integer/Long Divide			3-30				3-30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Single/Double FP Multiply	5				1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Single/Double FP Add		3				1</a:t>
            </a:r>
            <a:endParaRPr sz="1665"/>
          </a:p>
          <a:p>
            <a:pPr indent="-357823" lvl="0" marL="457200" rtl="0" algn="l">
              <a:lnSpc>
                <a:spcPct val="65000"/>
              </a:lnSpc>
              <a:spcBef>
                <a:spcPts val="0"/>
              </a:spcBef>
              <a:spcAft>
                <a:spcPts val="0"/>
              </a:spcAft>
              <a:buSzPts val="2035"/>
              <a:buChar char="●"/>
            </a:pPr>
            <a:r>
              <a:rPr lang="en" sz="1665"/>
              <a:t>Single/Double FP Divide		3-15				3-15</a:t>
            </a:r>
            <a:endParaRPr sz="1665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x86-64 Compilation of Combine4</a:t>
            </a:r>
            <a:endParaRPr/>
          </a:p>
        </p:txBody>
      </p:sp>
      <p:sp>
        <p:nvSpPr>
          <p:cNvPr id="419" name="Google Shape;419;p64"/>
          <p:cNvSpPr txBox="1"/>
          <p:nvPr>
            <p:ph idx="1" type="body"/>
          </p:nvPr>
        </p:nvSpPr>
        <p:spPr>
          <a:xfrm>
            <a:off x="311700" y="1152475"/>
            <a:ext cx="8520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Inner Loop (Case: Integer Multiply)</a:t>
            </a:r>
            <a:endParaRPr/>
          </a:p>
        </p:txBody>
      </p:sp>
      <p:sp>
        <p:nvSpPr>
          <p:cNvPr id="420" name="Google Shape;420;p64"/>
          <p:cNvSpPr/>
          <p:nvPr/>
        </p:nvSpPr>
        <p:spPr>
          <a:xfrm>
            <a:off x="1491875" y="1543050"/>
            <a:ext cx="5715000" cy="1257300"/>
          </a:xfrm>
          <a:prstGeom prst="rect">
            <a:avLst/>
          </a:prstGeom>
          <a:solidFill>
            <a:srgbClr val="F2F2F2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.L519:		# Loop: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 sz="1400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imull	(%rax,%rdx,4), %ecx	# t = t * d[i]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addq	$1, %rdx	# i++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cmpq	%rdx, %rbp	# Compare length:i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jg	.L519	# If &gt;, goto Loop</a:t>
            </a:r>
            <a:endParaRPr b="1"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21" name="Google Shape;421;p64"/>
          <p:cNvGraphicFramePr/>
          <p:nvPr/>
        </p:nvGraphicFramePr>
        <p:xfrm>
          <a:off x="1080462" y="30027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{4D0394B2-7CCA-48EE-AE11-504C56F26A59}</a:tableStyleId>
              </a:tblPr>
              <a:tblGrid>
                <a:gridCol w="1470550"/>
                <a:gridCol w="1309550"/>
                <a:gridCol w="1205300"/>
                <a:gridCol w="1779525"/>
                <a:gridCol w="1614200"/>
              </a:tblGrid>
              <a:tr h="680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Combine4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1.27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Latency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Combine4 = Serial Computation (OP = *)</a:t>
            </a:r>
            <a:endParaRPr/>
          </a:p>
        </p:txBody>
      </p:sp>
      <p:sp>
        <p:nvSpPr>
          <p:cNvPr id="427" name="Google Shape;427;p65"/>
          <p:cNvSpPr txBox="1"/>
          <p:nvPr>
            <p:ph idx="1" type="body"/>
          </p:nvPr>
        </p:nvSpPr>
        <p:spPr>
          <a:xfrm>
            <a:off x="4356775" y="1152475"/>
            <a:ext cx="447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Computation (length=8)</a:t>
            </a:r>
            <a:endParaRPr/>
          </a:p>
          <a:p>
            <a:pPr indent="-320040" lvl="1" marL="914400" rtl="0" algn="l">
              <a:spcBef>
                <a:spcPts val="0"/>
              </a:spcBef>
              <a:spcAft>
                <a:spcPts val="0"/>
              </a:spcAft>
              <a:buSzPts val="1440"/>
              <a:buChar char="○"/>
            </a:pPr>
            <a:r>
              <a:rPr b="1" lang="en" sz="1600">
                <a:latin typeface="Courier New"/>
                <a:ea typeface="Courier New"/>
                <a:cs typeface="Courier New"/>
                <a:sym typeface="Courier New"/>
              </a:rPr>
              <a:t>((((((((1 * d[0]) * d[1]) * d[2]) * d[3]) * d[4]) * d[5]) * d[6]) * d[7])</a:t>
            </a:r>
            <a:endParaRPr/>
          </a:p>
          <a:p>
            <a:pPr indent="-287338" lvl="0" marL="287338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Sequential dependence</a:t>
            </a:r>
            <a:endParaRPr/>
          </a:p>
          <a:p>
            <a: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○"/>
            </a:pPr>
            <a:r>
              <a:rPr lang="en"/>
              <a:t>Performance: determined by latency of OP</a:t>
            </a:r>
            <a:endParaRPr/>
          </a:p>
        </p:txBody>
      </p:sp>
      <p:sp>
        <p:nvSpPr>
          <p:cNvPr id="428" name="Google Shape;428;p65"/>
          <p:cNvSpPr/>
          <p:nvPr/>
        </p:nvSpPr>
        <p:spPr>
          <a:xfrm>
            <a:off x="599701" y="14287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29" name="Google Shape;429;p65"/>
          <p:cNvCxnSpPr/>
          <p:nvPr/>
        </p:nvCxnSpPr>
        <p:spPr>
          <a:xfrm>
            <a:off x="752101" y="12573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0" name="Google Shape;430;p65"/>
          <p:cNvCxnSpPr/>
          <p:nvPr/>
        </p:nvCxnSpPr>
        <p:spPr>
          <a:xfrm>
            <a:off x="980701" y="12573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1" name="Google Shape;431;p65"/>
          <p:cNvSpPr/>
          <p:nvPr/>
        </p:nvSpPr>
        <p:spPr>
          <a:xfrm>
            <a:off x="997261" y="18288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32" name="Google Shape;432;p65"/>
          <p:cNvCxnSpPr/>
          <p:nvPr/>
        </p:nvCxnSpPr>
        <p:spPr>
          <a:xfrm>
            <a:off x="1149661" y="1714500"/>
            <a:ext cx="0" cy="1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65"/>
          <p:cNvCxnSpPr/>
          <p:nvPr/>
        </p:nvCxnSpPr>
        <p:spPr>
          <a:xfrm>
            <a:off x="1378261" y="16573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4" name="Google Shape;434;p65"/>
          <p:cNvSpPr/>
          <p:nvPr/>
        </p:nvSpPr>
        <p:spPr>
          <a:xfrm>
            <a:off x="904501" y="1657350"/>
            <a:ext cx="92398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65"/>
          <p:cNvSpPr/>
          <p:nvPr/>
        </p:nvSpPr>
        <p:spPr>
          <a:xfrm>
            <a:off x="645739" y="1028700"/>
            <a:ext cx="23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baseline="-25000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6" name="Google Shape;436;p65"/>
          <p:cNvSpPr/>
          <p:nvPr/>
        </p:nvSpPr>
        <p:spPr>
          <a:xfrm>
            <a:off x="828301" y="10287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/>
          </a:p>
        </p:txBody>
      </p:sp>
      <p:sp>
        <p:nvSpPr>
          <p:cNvPr id="437" name="Google Shape;437;p65"/>
          <p:cNvSpPr/>
          <p:nvPr/>
        </p:nvSpPr>
        <p:spPr>
          <a:xfrm>
            <a:off x="1225861" y="14287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sp>
        <p:nvSpPr>
          <p:cNvPr id="438" name="Google Shape;438;p65"/>
          <p:cNvSpPr/>
          <p:nvPr/>
        </p:nvSpPr>
        <p:spPr>
          <a:xfrm>
            <a:off x="1385359" y="22288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39" name="Google Shape;439;p65"/>
          <p:cNvCxnSpPr/>
          <p:nvPr/>
        </p:nvCxnSpPr>
        <p:spPr>
          <a:xfrm>
            <a:off x="1537759" y="2114550"/>
            <a:ext cx="0" cy="1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65"/>
          <p:cNvCxnSpPr/>
          <p:nvPr/>
        </p:nvCxnSpPr>
        <p:spPr>
          <a:xfrm>
            <a:off x="1766359" y="20574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1" name="Google Shape;441;p65"/>
          <p:cNvSpPr/>
          <p:nvPr/>
        </p:nvSpPr>
        <p:spPr>
          <a:xfrm>
            <a:off x="1286186" y="2057400"/>
            <a:ext cx="92398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65"/>
          <p:cNvSpPr/>
          <p:nvPr/>
        </p:nvSpPr>
        <p:spPr>
          <a:xfrm>
            <a:off x="1613959" y="18288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</p:txBody>
      </p:sp>
      <p:sp>
        <p:nvSpPr>
          <p:cNvPr id="443" name="Google Shape;443;p65"/>
          <p:cNvSpPr/>
          <p:nvPr/>
        </p:nvSpPr>
        <p:spPr>
          <a:xfrm>
            <a:off x="1769534" y="26289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44" name="Google Shape;444;p65"/>
          <p:cNvCxnSpPr/>
          <p:nvPr/>
        </p:nvCxnSpPr>
        <p:spPr>
          <a:xfrm>
            <a:off x="1921934" y="2514600"/>
            <a:ext cx="0" cy="1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65"/>
          <p:cNvCxnSpPr/>
          <p:nvPr/>
        </p:nvCxnSpPr>
        <p:spPr>
          <a:xfrm>
            <a:off x="2150534" y="24574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6" name="Google Shape;446;p65"/>
          <p:cNvSpPr/>
          <p:nvPr/>
        </p:nvSpPr>
        <p:spPr>
          <a:xfrm>
            <a:off x="1674284" y="2457450"/>
            <a:ext cx="92398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65"/>
          <p:cNvSpPr/>
          <p:nvPr/>
        </p:nvSpPr>
        <p:spPr>
          <a:xfrm>
            <a:off x="1998134" y="22288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/>
          </a:p>
        </p:txBody>
      </p:sp>
      <p:sp>
        <p:nvSpPr>
          <p:cNvPr id="448" name="Google Shape;448;p65"/>
          <p:cNvSpPr/>
          <p:nvPr/>
        </p:nvSpPr>
        <p:spPr>
          <a:xfrm>
            <a:off x="2168836" y="30289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49" name="Google Shape;449;p65"/>
          <p:cNvCxnSpPr/>
          <p:nvPr/>
        </p:nvCxnSpPr>
        <p:spPr>
          <a:xfrm>
            <a:off x="2321236" y="2914650"/>
            <a:ext cx="0" cy="1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65"/>
          <p:cNvCxnSpPr/>
          <p:nvPr/>
        </p:nvCxnSpPr>
        <p:spPr>
          <a:xfrm>
            <a:off x="2549836" y="28575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1" name="Google Shape;451;p65"/>
          <p:cNvSpPr/>
          <p:nvPr/>
        </p:nvSpPr>
        <p:spPr>
          <a:xfrm>
            <a:off x="2058459" y="2857500"/>
            <a:ext cx="92398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65"/>
          <p:cNvSpPr/>
          <p:nvPr/>
        </p:nvSpPr>
        <p:spPr>
          <a:xfrm>
            <a:off x="2397436" y="26289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/>
          </a:p>
        </p:txBody>
      </p:sp>
      <p:sp>
        <p:nvSpPr>
          <p:cNvPr id="453" name="Google Shape;453;p65"/>
          <p:cNvSpPr/>
          <p:nvPr/>
        </p:nvSpPr>
        <p:spPr>
          <a:xfrm>
            <a:off x="2551141" y="34290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54" name="Google Shape;454;p65"/>
          <p:cNvCxnSpPr/>
          <p:nvPr/>
        </p:nvCxnSpPr>
        <p:spPr>
          <a:xfrm>
            <a:off x="2703541" y="3314700"/>
            <a:ext cx="0" cy="1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65"/>
          <p:cNvCxnSpPr/>
          <p:nvPr/>
        </p:nvCxnSpPr>
        <p:spPr>
          <a:xfrm>
            <a:off x="2932141" y="32575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p65"/>
          <p:cNvSpPr/>
          <p:nvPr/>
        </p:nvSpPr>
        <p:spPr>
          <a:xfrm>
            <a:off x="2457761" y="3257550"/>
            <a:ext cx="92398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65"/>
          <p:cNvSpPr/>
          <p:nvPr/>
        </p:nvSpPr>
        <p:spPr>
          <a:xfrm>
            <a:off x="2779741" y="30289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</p:txBody>
      </p:sp>
      <p:sp>
        <p:nvSpPr>
          <p:cNvPr id="458" name="Google Shape;458;p65"/>
          <p:cNvSpPr/>
          <p:nvPr/>
        </p:nvSpPr>
        <p:spPr>
          <a:xfrm>
            <a:off x="2939987" y="38290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59" name="Google Shape;459;p65"/>
          <p:cNvCxnSpPr/>
          <p:nvPr/>
        </p:nvCxnSpPr>
        <p:spPr>
          <a:xfrm>
            <a:off x="3092387" y="3714750"/>
            <a:ext cx="0" cy="1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65"/>
          <p:cNvCxnSpPr/>
          <p:nvPr/>
        </p:nvCxnSpPr>
        <p:spPr>
          <a:xfrm>
            <a:off x="3320987" y="36576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65"/>
          <p:cNvSpPr/>
          <p:nvPr/>
        </p:nvSpPr>
        <p:spPr>
          <a:xfrm>
            <a:off x="2840066" y="3657600"/>
            <a:ext cx="92398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65"/>
          <p:cNvSpPr/>
          <p:nvPr/>
        </p:nvSpPr>
        <p:spPr>
          <a:xfrm>
            <a:off x="3168587" y="34290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</p:txBody>
      </p:sp>
      <p:sp>
        <p:nvSpPr>
          <p:cNvPr id="463" name="Google Shape;463;p65"/>
          <p:cNvSpPr/>
          <p:nvPr/>
        </p:nvSpPr>
        <p:spPr>
          <a:xfrm>
            <a:off x="3334435" y="42291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464" name="Google Shape;464;p65"/>
          <p:cNvCxnSpPr/>
          <p:nvPr/>
        </p:nvCxnSpPr>
        <p:spPr>
          <a:xfrm>
            <a:off x="3492811" y="4114800"/>
            <a:ext cx="0" cy="11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5" name="Google Shape;465;p65"/>
          <p:cNvCxnSpPr/>
          <p:nvPr/>
        </p:nvCxnSpPr>
        <p:spPr>
          <a:xfrm>
            <a:off x="3715435" y="40576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6" name="Google Shape;466;p65"/>
          <p:cNvSpPr/>
          <p:nvPr/>
        </p:nvSpPr>
        <p:spPr>
          <a:xfrm>
            <a:off x="3228912" y="4057650"/>
            <a:ext cx="92398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65"/>
          <p:cNvSpPr/>
          <p:nvPr/>
        </p:nvSpPr>
        <p:spPr>
          <a:xfrm>
            <a:off x="3563035" y="38290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6"/>
          <p:cNvSpPr txBox="1"/>
          <p:nvPr>
            <p:ph type="title"/>
          </p:nvPr>
        </p:nvSpPr>
        <p:spPr>
          <a:xfrm>
            <a:off x="311700" y="445025"/>
            <a:ext cx="363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Unrolling (2x1)</a:t>
            </a:r>
            <a:endParaRPr/>
          </a:p>
        </p:txBody>
      </p:sp>
      <p:sp>
        <p:nvSpPr>
          <p:cNvPr id="473" name="Google Shape;473;p66"/>
          <p:cNvSpPr txBox="1"/>
          <p:nvPr>
            <p:ph idx="1" type="body"/>
          </p:nvPr>
        </p:nvSpPr>
        <p:spPr>
          <a:xfrm>
            <a:off x="311700" y="1167125"/>
            <a:ext cx="2816400" cy="2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●"/>
            </a:pPr>
            <a:r>
              <a:rPr lang="en" sz="2800"/>
              <a:t>Perform 2x more useful work per iteration</a:t>
            </a:r>
            <a:endParaRPr/>
          </a:p>
        </p:txBody>
      </p:sp>
      <p:sp>
        <p:nvSpPr>
          <p:cNvPr id="474" name="Google Shape;474;p66"/>
          <p:cNvSpPr/>
          <p:nvPr/>
        </p:nvSpPr>
        <p:spPr>
          <a:xfrm>
            <a:off x="3978450" y="605125"/>
            <a:ext cx="4965000" cy="42465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unroll2a_combine(vec_ptr v, </a:t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data_t *dest)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length = vec_length(v);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limit = length-1;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data_t *d = get_vec_start(v);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data_t x = IDENT;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i;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/* Combine 2 elements at a time */</a:t>
            </a:r>
            <a:endParaRPr sz="13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limit; i+=2) {</a:t>
            </a:r>
            <a:endParaRPr sz="13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	x = (x OP d[i]) OP d[i+1];</a:t>
            </a:r>
            <a:endParaRPr sz="13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3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/* Finish any remaining elements */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(; i &lt; length; i++) {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 = x OP d[i];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*dest = x;</a:t>
            </a:r>
            <a:endParaRPr sz="13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Loop Unrolling</a:t>
            </a:r>
            <a:endParaRPr/>
          </a:p>
        </p:txBody>
      </p:sp>
      <p:sp>
        <p:nvSpPr>
          <p:cNvPr id="480" name="Google Shape;480;p67"/>
          <p:cNvSpPr txBox="1"/>
          <p:nvPr>
            <p:ph idx="1" type="body"/>
          </p:nvPr>
        </p:nvSpPr>
        <p:spPr>
          <a:xfrm>
            <a:off x="311700" y="2626025"/>
            <a:ext cx="3963300" cy="19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Helps integer add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Achieves latency bound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Others don’t improve. </a:t>
            </a:r>
            <a:r>
              <a:rPr lang="en">
                <a:solidFill>
                  <a:srgbClr val="990000"/>
                </a:solidFill>
              </a:rPr>
              <a:t>Why?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Still sequential dependency</a:t>
            </a:r>
            <a:endParaRPr/>
          </a:p>
        </p:txBody>
      </p:sp>
      <p:sp>
        <p:nvSpPr>
          <p:cNvPr id="481" name="Google Shape;481;p67"/>
          <p:cNvSpPr/>
          <p:nvPr/>
        </p:nvSpPr>
        <p:spPr>
          <a:xfrm>
            <a:off x="4495800" y="3143250"/>
            <a:ext cx="3767100" cy="4938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(x OP d[i]) OP d[i+1];</a:t>
            </a:r>
            <a:endParaRPr/>
          </a:p>
        </p:txBody>
      </p:sp>
      <p:graphicFrame>
        <p:nvGraphicFramePr>
          <p:cNvPr id="482" name="Google Shape;482;p67"/>
          <p:cNvGraphicFramePr/>
          <p:nvPr/>
        </p:nvGraphicFramePr>
        <p:xfrm>
          <a:off x="763662" y="1017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{4D0394B2-7CCA-48EE-AE11-504C56F26A59}</a:tableStyleId>
              </a:tblPr>
              <a:tblGrid>
                <a:gridCol w="1800900"/>
                <a:gridCol w="1335150"/>
                <a:gridCol w="1248750"/>
                <a:gridCol w="1903950"/>
                <a:gridCol w="1565550"/>
              </a:tblGrid>
              <a:tr h="471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Combine4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1.27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Unroll 2x1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Latency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Unrolling with Reassociation (2x1a)</a:t>
            </a:r>
            <a:endParaRPr/>
          </a:p>
        </p:txBody>
      </p:sp>
      <p:sp>
        <p:nvSpPr>
          <p:cNvPr id="488" name="Google Shape;488;p68"/>
          <p:cNvSpPr txBox="1"/>
          <p:nvPr>
            <p:ph idx="1" type="body"/>
          </p:nvPr>
        </p:nvSpPr>
        <p:spPr>
          <a:xfrm>
            <a:off x="311700" y="4125650"/>
            <a:ext cx="85206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10896" lvl="0" marL="34290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800"/>
              <a:t>Can this change the result of the computation?</a:t>
            </a:r>
            <a:endParaRPr/>
          </a:p>
          <a:p>
            <a:pPr indent="-310896" lvl="0" marL="342900" rtl="0" algn="l">
              <a:spcBef>
                <a:spcPts val="560"/>
              </a:spcBef>
              <a:spcAft>
                <a:spcPts val="0"/>
              </a:spcAft>
              <a:buSzPct val="60000"/>
              <a:buChar char="●"/>
            </a:pPr>
            <a:r>
              <a:rPr lang="en" sz="2800"/>
              <a:t>Yes, for FP. </a:t>
            </a:r>
            <a:r>
              <a:rPr lang="en" sz="2800">
                <a:solidFill>
                  <a:srgbClr val="C00000"/>
                </a:solidFill>
              </a:rPr>
              <a:t>Why?</a:t>
            </a:r>
            <a:endParaRPr/>
          </a:p>
        </p:txBody>
      </p:sp>
      <p:sp>
        <p:nvSpPr>
          <p:cNvPr id="489" name="Google Shape;489;p68"/>
          <p:cNvSpPr/>
          <p:nvPr/>
        </p:nvSpPr>
        <p:spPr>
          <a:xfrm>
            <a:off x="914400" y="971550"/>
            <a:ext cx="5124900" cy="30795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unroll2aa_combine(vec_ptr v, data_t *dest)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length = vec_length(v);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limit = length-1;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data_t *d = get_vec_start(v);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data_t x = IDENT;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/* Combine 2 elements at a time */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limit; i+=2) {</a:t>
            </a:r>
            <a:endParaRPr sz="11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	x = x OP (d[i] OP d[i+1]);</a:t>
            </a:r>
            <a:endParaRPr sz="11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/* Finish any remaining elements */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(; i &lt; length; i++) {x = x OP d[i]; }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*dest = x;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/>
          </a:p>
        </p:txBody>
      </p:sp>
      <p:sp>
        <p:nvSpPr>
          <p:cNvPr id="490" name="Google Shape;490;p68"/>
          <p:cNvSpPr/>
          <p:nvPr/>
        </p:nvSpPr>
        <p:spPr>
          <a:xfrm>
            <a:off x="5191307" y="1934068"/>
            <a:ext cx="3767100" cy="275100"/>
          </a:xfrm>
          <a:prstGeom prst="rect">
            <a:avLst/>
          </a:prstGeom>
          <a:solidFill>
            <a:srgbClr val="F1C7C7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(x OP d[i]) OP d[i+1];</a:t>
            </a:r>
            <a:endParaRPr/>
          </a:p>
        </p:txBody>
      </p:sp>
      <p:sp>
        <p:nvSpPr>
          <p:cNvPr id="491" name="Google Shape;491;p68"/>
          <p:cNvSpPr txBox="1"/>
          <p:nvPr/>
        </p:nvSpPr>
        <p:spPr>
          <a:xfrm>
            <a:off x="5191307" y="1657069"/>
            <a:ext cx="1982100" cy="3693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to before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Reassociation</a:t>
            </a:r>
            <a:endParaRPr/>
          </a:p>
        </p:txBody>
      </p:sp>
      <p:sp>
        <p:nvSpPr>
          <p:cNvPr id="497" name="Google Shape;497;p69"/>
          <p:cNvSpPr txBox="1"/>
          <p:nvPr>
            <p:ph idx="1" type="body"/>
          </p:nvPr>
        </p:nvSpPr>
        <p:spPr>
          <a:xfrm>
            <a:off x="142025" y="3200400"/>
            <a:ext cx="8520600" cy="7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Nearly 2x speedup for Int *, FP +, FP *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Reason: Breaks sequential dependency</a:t>
            </a:r>
            <a:endParaRPr/>
          </a:p>
        </p:txBody>
      </p:sp>
      <p:sp>
        <p:nvSpPr>
          <p:cNvPr id="498" name="Google Shape;498;p69"/>
          <p:cNvSpPr/>
          <p:nvPr/>
        </p:nvSpPr>
        <p:spPr>
          <a:xfrm>
            <a:off x="1048000" y="3958350"/>
            <a:ext cx="3767100" cy="3438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x OP (d[i] OP d[i+1]);</a:t>
            </a:r>
            <a:endParaRPr/>
          </a:p>
        </p:txBody>
      </p:sp>
      <p:graphicFrame>
        <p:nvGraphicFramePr>
          <p:cNvPr id="499" name="Google Shape;499;p69"/>
          <p:cNvGraphicFramePr/>
          <p:nvPr/>
        </p:nvGraphicFramePr>
        <p:xfrm>
          <a:off x="611512" y="1091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{4D0394B2-7CCA-48EE-AE11-504C56F26A59}</a:tableStyleId>
              </a:tblPr>
              <a:tblGrid>
                <a:gridCol w="1818550"/>
                <a:gridCol w="1192150"/>
                <a:gridCol w="1192900"/>
                <a:gridCol w="1508200"/>
                <a:gridCol w="1501750"/>
              </a:tblGrid>
              <a:tr h="4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Combine4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1.27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Unroll 2x1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Unroll 2x1a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Latency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Throughput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00" name="Google Shape;500;p69"/>
          <p:cNvCxnSpPr/>
          <p:nvPr/>
        </p:nvCxnSpPr>
        <p:spPr>
          <a:xfrm rot="10800000">
            <a:off x="7391400" y="3200400"/>
            <a:ext cx="381000" cy="4572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1" name="Google Shape;501;p69"/>
          <p:cNvSpPr txBox="1"/>
          <p:nvPr/>
        </p:nvSpPr>
        <p:spPr>
          <a:xfrm>
            <a:off x="6953414" y="3586948"/>
            <a:ext cx="219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func. units for FP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func. units for load</a:t>
            </a:r>
            <a:endParaRPr/>
          </a:p>
        </p:txBody>
      </p:sp>
      <p:cxnSp>
        <p:nvCxnSpPr>
          <p:cNvPr id="502" name="Google Shape;502;p69"/>
          <p:cNvCxnSpPr/>
          <p:nvPr/>
        </p:nvCxnSpPr>
        <p:spPr>
          <a:xfrm rot="10800000">
            <a:off x="4191014" y="3143126"/>
            <a:ext cx="1771800" cy="1186500"/>
          </a:xfrm>
          <a:prstGeom prst="straightConnector1">
            <a:avLst/>
          </a:prstGeom>
          <a:noFill/>
          <a:ln cap="flat" cmpd="sng" w="25400">
            <a:solidFill>
              <a:srgbClr val="7F7F7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3" name="Google Shape;503;p69"/>
          <p:cNvSpPr txBox="1"/>
          <p:nvPr/>
        </p:nvSpPr>
        <p:spPr>
          <a:xfrm>
            <a:off x="5581814" y="4272476"/>
            <a:ext cx="219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func. units for int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func. units for load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8" name="Google Shape;508;p70"/>
          <p:cNvCxnSpPr/>
          <p:nvPr/>
        </p:nvCxnSpPr>
        <p:spPr>
          <a:xfrm>
            <a:off x="3124200" y="41148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9" name="Google Shape;509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Reassociated Computation</a:t>
            </a:r>
            <a:endParaRPr/>
          </a:p>
        </p:txBody>
      </p:sp>
      <p:sp>
        <p:nvSpPr>
          <p:cNvPr id="510" name="Google Shape;510;p70"/>
          <p:cNvSpPr txBox="1"/>
          <p:nvPr>
            <p:ph idx="1" type="body"/>
          </p:nvPr>
        </p:nvSpPr>
        <p:spPr>
          <a:xfrm>
            <a:off x="4283075" y="1152475"/>
            <a:ext cx="454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287338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540"/>
              <a:buChar char="●"/>
            </a:pPr>
            <a:r>
              <a:rPr lang="en" sz="1900"/>
              <a:t>What changed:</a:t>
            </a:r>
            <a:endParaRPr sz="1900"/>
          </a:p>
          <a:p>
            <a:pPr indent="-236537" lvl="1" marL="62865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SzPts val="2080"/>
              <a:buChar char="○"/>
            </a:pPr>
            <a:r>
              <a:rPr lang="en" sz="1900"/>
              <a:t>Ops in the next iteration can be started early (no dependency)</a:t>
            </a:r>
            <a:endParaRPr sz="1900"/>
          </a:p>
          <a:p>
            <a:pPr indent="-293688" lvl="0" marL="287338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540"/>
              <a:buChar char="●"/>
            </a:pPr>
            <a:r>
              <a:rPr lang="en" sz="1900"/>
              <a:t>Overall Performance</a:t>
            </a:r>
            <a:endParaRPr sz="1900"/>
          </a:p>
          <a:p>
            <a:pPr indent="-234950" lvl="1" marL="627063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080"/>
              <a:buChar char="○"/>
            </a:pPr>
            <a:r>
              <a:rPr lang="en" sz="1900"/>
              <a:t>N elements, D cycles latency/op</a:t>
            </a:r>
            <a:endParaRPr sz="1500"/>
          </a:p>
          <a:p>
            <a:pPr indent="-234950" lvl="1" marL="627063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080"/>
              <a:buChar char="○"/>
            </a:pPr>
            <a:r>
              <a:rPr lang="en" sz="1900"/>
              <a:t>(N/2+1)*D cycles:</a:t>
            </a:r>
            <a:r>
              <a:rPr lang="en" sz="1900"/>
              <a:t> </a:t>
            </a:r>
            <a:r>
              <a:rPr lang="en" sz="1900">
                <a:solidFill>
                  <a:srgbClr val="C00000"/>
                </a:solidFill>
              </a:rPr>
              <a:t>CPE = D/2</a:t>
            </a:r>
            <a:endParaRPr sz="1500"/>
          </a:p>
        </p:txBody>
      </p:sp>
      <p:sp>
        <p:nvSpPr>
          <p:cNvPr id="511" name="Google Shape;511;p70"/>
          <p:cNvSpPr/>
          <p:nvPr/>
        </p:nvSpPr>
        <p:spPr>
          <a:xfrm>
            <a:off x="1066800" y="271224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12" name="Google Shape;512;p70"/>
          <p:cNvCxnSpPr/>
          <p:nvPr/>
        </p:nvCxnSpPr>
        <p:spPr>
          <a:xfrm>
            <a:off x="1219200" y="254079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3" name="Google Shape;513;p70"/>
          <p:cNvSpPr/>
          <p:nvPr/>
        </p:nvSpPr>
        <p:spPr>
          <a:xfrm>
            <a:off x="1676400" y="311229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14" name="Google Shape;514;p70"/>
          <p:cNvSpPr/>
          <p:nvPr/>
        </p:nvSpPr>
        <p:spPr>
          <a:xfrm>
            <a:off x="1371600" y="2940844"/>
            <a:ext cx="304800" cy="277416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70"/>
          <p:cNvSpPr/>
          <p:nvPr/>
        </p:nvSpPr>
        <p:spPr>
          <a:xfrm>
            <a:off x="1112838" y="2312194"/>
            <a:ext cx="2301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baseline="-25000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6" name="Google Shape;516;p70"/>
          <p:cNvSpPr/>
          <p:nvPr/>
        </p:nvSpPr>
        <p:spPr>
          <a:xfrm>
            <a:off x="2270125" y="351234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17" name="Google Shape;517;p70"/>
          <p:cNvSpPr/>
          <p:nvPr/>
        </p:nvSpPr>
        <p:spPr>
          <a:xfrm>
            <a:off x="1965325" y="3340894"/>
            <a:ext cx="304800" cy="277416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70"/>
          <p:cNvSpPr/>
          <p:nvPr/>
        </p:nvSpPr>
        <p:spPr>
          <a:xfrm>
            <a:off x="2863850" y="391239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19" name="Google Shape;519;p70"/>
          <p:cNvSpPr/>
          <p:nvPr/>
        </p:nvSpPr>
        <p:spPr>
          <a:xfrm>
            <a:off x="2559050" y="3740944"/>
            <a:ext cx="304800" cy="277416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70"/>
          <p:cNvSpPr/>
          <p:nvPr/>
        </p:nvSpPr>
        <p:spPr>
          <a:xfrm>
            <a:off x="1371600" y="219789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21" name="Google Shape;521;p70"/>
          <p:cNvSpPr/>
          <p:nvPr/>
        </p:nvSpPr>
        <p:spPr>
          <a:xfrm>
            <a:off x="1676400" y="1828800"/>
            <a:ext cx="3207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cxnSp>
        <p:nvCxnSpPr>
          <p:cNvPr id="522" name="Google Shape;522;p70"/>
          <p:cNvCxnSpPr/>
          <p:nvPr/>
        </p:nvCxnSpPr>
        <p:spPr>
          <a:xfrm>
            <a:off x="1447800" y="202644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3" name="Google Shape;523;p70"/>
          <p:cNvSpPr/>
          <p:nvPr/>
        </p:nvSpPr>
        <p:spPr>
          <a:xfrm>
            <a:off x="1295400" y="1828800"/>
            <a:ext cx="3240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/>
          </a:p>
        </p:txBody>
      </p:sp>
      <p:sp>
        <p:nvSpPr>
          <p:cNvPr id="524" name="Google Shape;524;p70"/>
          <p:cNvSpPr/>
          <p:nvPr/>
        </p:nvSpPr>
        <p:spPr>
          <a:xfrm>
            <a:off x="1447800" y="2426494"/>
            <a:ext cx="92075" cy="277416"/>
          </a:xfrm>
          <a:custGeom>
            <a:rect b="b" l="l" r="r" t="t"/>
            <a:pathLst>
              <a:path extrusionOk="0" h="144" w="96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70"/>
          <p:cNvCxnSpPr/>
          <p:nvPr/>
        </p:nvCxnSpPr>
        <p:spPr>
          <a:xfrm>
            <a:off x="1828800" y="202644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70"/>
          <p:cNvSpPr/>
          <p:nvPr/>
        </p:nvSpPr>
        <p:spPr>
          <a:xfrm>
            <a:off x="1981200" y="259794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27" name="Google Shape;527;p70"/>
          <p:cNvSpPr/>
          <p:nvPr/>
        </p:nvSpPr>
        <p:spPr>
          <a:xfrm>
            <a:off x="2286000" y="2228850"/>
            <a:ext cx="3207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/>
          </a:p>
        </p:txBody>
      </p:sp>
      <p:cxnSp>
        <p:nvCxnSpPr>
          <p:cNvPr id="528" name="Google Shape;528;p70"/>
          <p:cNvCxnSpPr/>
          <p:nvPr/>
        </p:nvCxnSpPr>
        <p:spPr>
          <a:xfrm>
            <a:off x="2057400" y="242649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70"/>
          <p:cNvSpPr/>
          <p:nvPr/>
        </p:nvSpPr>
        <p:spPr>
          <a:xfrm>
            <a:off x="1905000" y="2228850"/>
            <a:ext cx="3240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</p:txBody>
      </p:sp>
      <p:sp>
        <p:nvSpPr>
          <p:cNvPr id="530" name="Google Shape;530;p70"/>
          <p:cNvSpPr/>
          <p:nvPr/>
        </p:nvSpPr>
        <p:spPr>
          <a:xfrm>
            <a:off x="2057400" y="2826544"/>
            <a:ext cx="92075" cy="277416"/>
          </a:xfrm>
          <a:custGeom>
            <a:rect b="b" l="l" r="r" t="t"/>
            <a:pathLst>
              <a:path extrusionOk="0" h="144" w="96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1" name="Google Shape;531;p70"/>
          <p:cNvCxnSpPr/>
          <p:nvPr/>
        </p:nvCxnSpPr>
        <p:spPr>
          <a:xfrm>
            <a:off x="2438400" y="242649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p70"/>
          <p:cNvSpPr/>
          <p:nvPr/>
        </p:nvSpPr>
        <p:spPr>
          <a:xfrm>
            <a:off x="2590800" y="299799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33" name="Google Shape;533;p70"/>
          <p:cNvSpPr/>
          <p:nvPr/>
        </p:nvSpPr>
        <p:spPr>
          <a:xfrm>
            <a:off x="2895600" y="2628900"/>
            <a:ext cx="3207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</p:txBody>
      </p:sp>
      <p:cxnSp>
        <p:nvCxnSpPr>
          <p:cNvPr id="534" name="Google Shape;534;p70"/>
          <p:cNvCxnSpPr/>
          <p:nvPr/>
        </p:nvCxnSpPr>
        <p:spPr>
          <a:xfrm>
            <a:off x="2667000" y="282654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5" name="Google Shape;535;p70"/>
          <p:cNvSpPr/>
          <p:nvPr/>
        </p:nvSpPr>
        <p:spPr>
          <a:xfrm>
            <a:off x="2514600" y="2628900"/>
            <a:ext cx="3240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/>
          </a:p>
        </p:txBody>
      </p:sp>
      <p:sp>
        <p:nvSpPr>
          <p:cNvPr id="536" name="Google Shape;536;p70"/>
          <p:cNvSpPr/>
          <p:nvPr/>
        </p:nvSpPr>
        <p:spPr>
          <a:xfrm>
            <a:off x="2667000" y="3226594"/>
            <a:ext cx="92075" cy="277416"/>
          </a:xfrm>
          <a:custGeom>
            <a:rect b="b" l="l" r="r" t="t"/>
            <a:pathLst>
              <a:path extrusionOk="0" h="144" w="96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70"/>
          <p:cNvCxnSpPr/>
          <p:nvPr/>
        </p:nvCxnSpPr>
        <p:spPr>
          <a:xfrm>
            <a:off x="3048000" y="282654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70"/>
          <p:cNvSpPr/>
          <p:nvPr/>
        </p:nvSpPr>
        <p:spPr>
          <a:xfrm>
            <a:off x="3200400" y="3398044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D5F1C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39" name="Google Shape;539;p70"/>
          <p:cNvSpPr/>
          <p:nvPr/>
        </p:nvSpPr>
        <p:spPr>
          <a:xfrm>
            <a:off x="3505200" y="3028950"/>
            <a:ext cx="3207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/>
          </a:p>
        </p:txBody>
      </p:sp>
      <p:cxnSp>
        <p:nvCxnSpPr>
          <p:cNvPr id="540" name="Google Shape;540;p70"/>
          <p:cNvCxnSpPr/>
          <p:nvPr/>
        </p:nvCxnSpPr>
        <p:spPr>
          <a:xfrm>
            <a:off x="3276600" y="322659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70"/>
          <p:cNvSpPr/>
          <p:nvPr/>
        </p:nvSpPr>
        <p:spPr>
          <a:xfrm>
            <a:off x="3124200" y="3028950"/>
            <a:ext cx="3240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</p:txBody>
      </p:sp>
      <p:sp>
        <p:nvSpPr>
          <p:cNvPr id="542" name="Google Shape;542;p70"/>
          <p:cNvSpPr/>
          <p:nvPr/>
        </p:nvSpPr>
        <p:spPr>
          <a:xfrm>
            <a:off x="3276600" y="3626644"/>
            <a:ext cx="92075" cy="277416"/>
          </a:xfrm>
          <a:custGeom>
            <a:rect b="b" l="l" r="r" t="t"/>
            <a:pathLst>
              <a:path extrusionOk="0" h="144" w="96">
                <a:moveTo>
                  <a:pt x="96" y="0"/>
                </a:moveTo>
                <a:lnTo>
                  <a:pt x="96" y="48"/>
                </a:lnTo>
                <a:lnTo>
                  <a:pt x="0" y="48"/>
                </a:lnTo>
                <a:lnTo>
                  <a:pt x="0" y="144"/>
                </a:ln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p70"/>
          <p:cNvCxnSpPr/>
          <p:nvPr/>
        </p:nvCxnSpPr>
        <p:spPr>
          <a:xfrm>
            <a:off x="3657600" y="3226594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70"/>
          <p:cNvSpPr/>
          <p:nvPr/>
        </p:nvSpPr>
        <p:spPr>
          <a:xfrm>
            <a:off x="457200" y="1210825"/>
            <a:ext cx="3767100" cy="3588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x OP (d[i] OP d[i+1]);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 Unrolling with Separate Accumulators (2x2)</a:t>
            </a:r>
            <a:endParaRPr/>
          </a:p>
        </p:txBody>
      </p:sp>
      <p:sp>
        <p:nvSpPr>
          <p:cNvPr id="550" name="Google Shape;550;p71"/>
          <p:cNvSpPr txBox="1"/>
          <p:nvPr>
            <p:ph idx="1" type="body"/>
          </p:nvPr>
        </p:nvSpPr>
        <p:spPr>
          <a:xfrm>
            <a:off x="36475" y="1730350"/>
            <a:ext cx="44721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318897" lvl="0" marL="342900" rtl="0" algn="l">
              <a:spcBef>
                <a:spcPts val="0"/>
              </a:spcBef>
              <a:spcAft>
                <a:spcPts val="0"/>
              </a:spcAft>
              <a:buSzPct val="60000"/>
              <a:buChar char="●"/>
            </a:pPr>
            <a:r>
              <a:rPr lang="en" sz="2800"/>
              <a:t>Different form of reassociation</a:t>
            </a:r>
            <a:endParaRPr sz="2800"/>
          </a:p>
        </p:txBody>
      </p:sp>
      <p:sp>
        <p:nvSpPr>
          <p:cNvPr id="551" name="Google Shape;551;p71"/>
          <p:cNvSpPr/>
          <p:nvPr/>
        </p:nvSpPr>
        <p:spPr>
          <a:xfrm>
            <a:off x="4508575" y="1272225"/>
            <a:ext cx="4523100" cy="35790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unroll2a_combine(vec_ptr v, data_t *dest)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length = vec_length(v);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limit = length-1;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data_t *d = get_vec_start(v);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data_t x0 = IDENT;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data_t x1 = IDENT;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long i;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/* Combine 2 elements at a time */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limit; i+=2) {</a:t>
            </a:r>
            <a:endParaRPr sz="10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x0 = x0 OP d[i];</a:t>
            </a:r>
            <a:endParaRPr sz="10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x1 = x1 OP d[i+1];</a:t>
            </a:r>
            <a:endParaRPr sz="10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99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/* Finish any remaining elements */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(; i &lt; length; i++) {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x0 = x0 OP d[i];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*dest = x0 OP x1;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Separate Accumulators</a:t>
            </a:r>
            <a:endParaRPr/>
          </a:p>
        </p:txBody>
      </p:sp>
      <p:sp>
        <p:nvSpPr>
          <p:cNvPr id="557" name="Google Shape;557;p72"/>
          <p:cNvSpPr txBox="1"/>
          <p:nvPr>
            <p:ph idx="1" type="body"/>
          </p:nvPr>
        </p:nvSpPr>
        <p:spPr>
          <a:xfrm>
            <a:off x="311700" y="3440475"/>
            <a:ext cx="8520600" cy="15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Int + makes use of two load units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2x speedup (over unroll2) for Int *, FP +, FP *</a:t>
            </a:r>
            <a:endParaRPr/>
          </a:p>
        </p:txBody>
      </p:sp>
      <p:sp>
        <p:nvSpPr>
          <p:cNvPr id="558" name="Google Shape;558;p72"/>
          <p:cNvSpPr/>
          <p:nvPr/>
        </p:nvSpPr>
        <p:spPr>
          <a:xfrm>
            <a:off x="5351400" y="3243750"/>
            <a:ext cx="2802000" cy="6762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x0 = x0 OP d[i];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x1 = x1 OP d[i+1];</a:t>
            </a:r>
            <a:endParaRPr/>
          </a:p>
        </p:txBody>
      </p:sp>
      <p:graphicFrame>
        <p:nvGraphicFramePr>
          <p:cNvPr id="559" name="Google Shape;559;p72"/>
          <p:cNvGraphicFramePr/>
          <p:nvPr/>
        </p:nvGraphicFramePr>
        <p:xfrm>
          <a:off x="485941" y="1113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{4D0394B2-7CCA-48EE-AE11-504C56F26A59}</a:tableStyleId>
              </a:tblPr>
              <a:tblGrid>
                <a:gridCol w="1871725"/>
                <a:gridCol w="1214750"/>
                <a:gridCol w="1373150"/>
                <a:gridCol w="1553150"/>
                <a:gridCol w="1783550"/>
              </a:tblGrid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Combine4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1.27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Unroll 2x1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Unroll 2x1a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Unroll 2x2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0.81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2.51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Latency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Throughput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4" name="Google Shape;564;p73"/>
          <p:cNvCxnSpPr/>
          <p:nvPr/>
        </p:nvCxnSpPr>
        <p:spPr>
          <a:xfrm>
            <a:off x="3505200" y="41148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5" name="Google Shape;56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Separate Accumulators</a:t>
            </a:r>
            <a:endParaRPr/>
          </a:p>
        </p:txBody>
      </p:sp>
      <p:sp>
        <p:nvSpPr>
          <p:cNvPr id="566" name="Google Shape;566;p73"/>
          <p:cNvSpPr/>
          <p:nvPr/>
        </p:nvSpPr>
        <p:spPr>
          <a:xfrm>
            <a:off x="2057400" y="23431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67" name="Google Shape;567;p73"/>
          <p:cNvCxnSpPr/>
          <p:nvPr/>
        </p:nvCxnSpPr>
        <p:spPr>
          <a:xfrm>
            <a:off x="2209800" y="21717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73"/>
          <p:cNvCxnSpPr/>
          <p:nvPr/>
        </p:nvCxnSpPr>
        <p:spPr>
          <a:xfrm>
            <a:off x="2438400" y="21717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9" name="Google Shape;569;p73"/>
          <p:cNvSpPr/>
          <p:nvPr/>
        </p:nvSpPr>
        <p:spPr>
          <a:xfrm>
            <a:off x="2667000" y="27432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70" name="Google Shape;570;p73"/>
          <p:cNvCxnSpPr/>
          <p:nvPr/>
        </p:nvCxnSpPr>
        <p:spPr>
          <a:xfrm>
            <a:off x="3048000" y="25717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1" name="Google Shape;571;p73"/>
          <p:cNvSpPr/>
          <p:nvPr/>
        </p:nvSpPr>
        <p:spPr>
          <a:xfrm>
            <a:off x="2362200" y="2571750"/>
            <a:ext cx="304800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73"/>
          <p:cNvSpPr/>
          <p:nvPr/>
        </p:nvSpPr>
        <p:spPr>
          <a:xfrm>
            <a:off x="2103438" y="1943100"/>
            <a:ext cx="23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baseline="-25000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3" name="Google Shape;573;p73"/>
          <p:cNvSpPr/>
          <p:nvPr/>
        </p:nvSpPr>
        <p:spPr>
          <a:xfrm>
            <a:off x="2286000" y="19431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/>
          </a:p>
        </p:txBody>
      </p:sp>
      <p:sp>
        <p:nvSpPr>
          <p:cNvPr id="574" name="Google Shape;574;p73"/>
          <p:cNvSpPr/>
          <p:nvPr/>
        </p:nvSpPr>
        <p:spPr>
          <a:xfrm>
            <a:off x="2895600" y="23431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/>
          </a:p>
        </p:txBody>
      </p:sp>
      <p:sp>
        <p:nvSpPr>
          <p:cNvPr id="575" name="Google Shape;575;p73"/>
          <p:cNvSpPr/>
          <p:nvPr/>
        </p:nvSpPr>
        <p:spPr>
          <a:xfrm>
            <a:off x="3260725" y="31432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76" name="Google Shape;576;p73"/>
          <p:cNvCxnSpPr/>
          <p:nvPr/>
        </p:nvCxnSpPr>
        <p:spPr>
          <a:xfrm>
            <a:off x="3641725" y="29718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73"/>
          <p:cNvSpPr/>
          <p:nvPr/>
        </p:nvSpPr>
        <p:spPr>
          <a:xfrm>
            <a:off x="2955925" y="2971800"/>
            <a:ext cx="304800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73"/>
          <p:cNvSpPr/>
          <p:nvPr/>
        </p:nvSpPr>
        <p:spPr>
          <a:xfrm>
            <a:off x="3489325" y="27432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/>
          </a:p>
        </p:txBody>
      </p:sp>
      <p:sp>
        <p:nvSpPr>
          <p:cNvPr id="579" name="Google Shape;579;p73"/>
          <p:cNvSpPr/>
          <p:nvPr/>
        </p:nvSpPr>
        <p:spPr>
          <a:xfrm>
            <a:off x="3854450" y="35433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80" name="Google Shape;580;p73"/>
          <p:cNvCxnSpPr/>
          <p:nvPr/>
        </p:nvCxnSpPr>
        <p:spPr>
          <a:xfrm>
            <a:off x="4235450" y="33718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1" name="Google Shape;581;p73"/>
          <p:cNvSpPr/>
          <p:nvPr/>
        </p:nvSpPr>
        <p:spPr>
          <a:xfrm>
            <a:off x="3549650" y="3371850"/>
            <a:ext cx="304800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73"/>
          <p:cNvSpPr/>
          <p:nvPr/>
        </p:nvSpPr>
        <p:spPr>
          <a:xfrm>
            <a:off x="4083050" y="31432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/>
          </a:p>
        </p:txBody>
      </p:sp>
      <p:sp>
        <p:nvSpPr>
          <p:cNvPr id="583" name="Google Shape;583;p73"/>
          <p:cNvSpPr/>
          <p:nvPr/>
        </p:nvSpPr>
        <p:spPr>
          <a:xfrm flipH="1">
            <a:off x="3733800" y="3771900"/>
            <a:ext cx="409575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73"/>
          <p:cNvSpPr/>
          <p:nvPr/>
        </p:nvSpPr>
        <p:spPr>
          <a:xfrm>
            <a:off x="3200400" y="3934599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sp>
        <p:nvSpPr>
          <p:cNvPr id="585" name="Google Shape;585;p73"/>
          <p:cNvSpPr/>
          <p:nvPr/>
        </p:nvSpPr>
        <p:spPr>
          <a:xfrm>
            <a:off x="609600" y="23431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86" name="Google Shape;586;p73"/>
          <p:cNvCxnSpPr/>
          <p:nvPr/>
        </p:nvCxnSpPr>
        <p:spPr>
          <a:xfrm>
            <a:off x="762000" y="21717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7" name="Google Shape;587;p73"/>
          <p:cNvCxnSpPr/>
          <p:nvPr/>
        </p:nvCxnSpPr>
        <p:spPr>
          <a:xfrm>
            <a:off x="990600" y="21717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8" name="Google Shape;588;p73"/>
          <p:cNvSpPr/>
          <p:nvPr/>
        </p:nvSpPr>
        <p:spPr>
          <a:xfrm>
            <a:off x="1219200" y="27432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89" name="Google Shape;589;p73"/>
          <p:cNvCxnSpPr/>
          <p:nvPr/>
        </p:nvCxnSpPr>
        <p:spPr>
          <a:xfrm>
            <a:off x="1600200" y="25717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0" name="Google Shape;590;p73"/>
          <p:cNvSpPr/>
          <p:nvPr/>
        </p:nvSpPr>
        <p:spPr>
          <a:xfrm>
            <a:off x="914400" y="2571750"/>
            <a:ext cx="304800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73"/>
          <p:cNvSpPr/>
          <p:nvPr/>
        </p:nvSpPr>
        <p:spPr>
          <a:xfrm>
            <a:off x="655638" y="1943100"/>
            <a:ext cx="23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baseline="-25000"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2" name="Google Shape;592;p73"/>
          <p:cNvSpPr/>
          <p:nvPr/>
        </p:nvSpPr>
        <p:spPr>
          <a:xfrm>
            <a:off x="838200" y="19431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/>
          </a:p>
        </p:txBody>
      </p:sp>
      <p:sp>
        <p:nvSpPr>
          <p:cNvPr id="593" name="Google Shape;593;p73"/>
          <p:cNvSpPr/>
          <p:nvPr/>
        </p:nvSpPr>
        <p:spPr>
          <a:xfrm>
            <a:off x="1447800" y="23431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/>
          </a:p>
        </p:txBody>
      </p:sp>
      <p:sp>
        <p:nvSpPr>
          <p:cNvPr id="594" name="Google Shape;594;p73"/>
          <p:cNvSpPr/>
          <p:nvPr/>
        </p:nvSpPr>
        <p:spPr>
          <a:xfrm>
            <a:off x="1812925" y="314325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95" name="Google Shape;595;p73"/>
          <p:cNvCxnSpPr/>
          <p:nvPr/>
        </p:nvCxnSpPr>
        <p:spPr>
          <a:xfrm>
            <a:off x="2193925" y="297180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6" name="Google Shape;596;p73"/>
          <p:cNvSpPr/>
          <p:nvPr/>
        </p:nvSpPr>
        <p:spPr>
          <a:xfrm>
            <a:off x="1508125" y="2971800"/>
            <a:ext cx="304800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73"/>
          <p:cNvSpPr/>
          <p:nvPr/>
        </p:nvSpPr>
        <p:spPr>
          <a:xfrm>
            <a:off x="2041525" y="274320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/>
          </a:p>
        </p:txBody>
      </p:sp>
      <p:sp>
        <p:nvSpPr>
          <p:cNvPr id="598" name="Google Shape;598;p73"/>
          <p:cNvSpPr/>
          <p:nvPr/>
        </p:nvSpPr>
        <p:spPr>
          <a:xfrm>
            <a:off x="2406650" y="3543300"/>
            <a:ext cx="533400" cy="228600"/>
          </a:xfrm>
          <a:prstGeom prst="roundRect">
            <a:avLst>
              <a:gd fmla="val 19644" name="adj"/>
            </a:avLst>
          </a:prstGeom>
          <a:solidFill>
            <a:srgbClr val="F1C7C7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</a:t>
            </a:r>
            <a:endParaRPr/>
          </a:p>
        </p:txBody>
      </p:sp>
      <p:cxnSp>
        <p:nvCxnSpPr>
          <p:cNvPr id="599" name="Google Shape;599;p73"/>
          <p:cNvCxnSpPr/>
          <p:nvPr/>
        </p:nvCxnSpPr>
        <p:spPr>
          <a:xfrm>
            <a:off x="2787650" y="3371850"/>
            <a:ext cx="0" cy="171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0" name="Google Shape;600;p73"/>
          <p:cNvSpPr/>
          <p:nvPr/>
        </p:nvSpPr>
        <p:spPr>
          <a:xfrm>
            <a:off x="2101850" y="3371850"/>
            <a:ext cx="304800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73"/>
          <p:cNvSpPr/>
          <p:nvPr/>
        </p:nvSpPr>
        <p:spPr>
          <a:xfrm>
            <a:off x="2635250" y="3143250"/>
            <a:ext cx="323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r>
              <a:rPr b="1" baseline="-25000"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/>
          </a:p>
        </p:txBody>
      </p:sp>
      <p:sp>
        <p:nvSpPr>
          <p:cNvPr id="602" name="Google Shape;602;p73"/>
          <p:cNvSpPr/>
          <p:nvPr/>
        </p:nvSpPr>
        <p:spPr>
          <a:xfrm>
            <a:off x="2695574" y="3771900"/>
            <a:ext cx="504825" cy="276999"/>
          </a:xfrm>
          <a:custGeom>
            <a:rect b="b" l="l" r="r" t="t"/>
            <a:pathLst>
              <a:path extrusionOk="0" h="48" w="288">
                <a:moveTo>
                  <a:pt x="0" y="0"/>
                </a:moveTo>
                <a:lnTo>
                  <a:pt x="0" y="48"/>
                </a:lnTo>
                <a:lnTo>
                  <a:pt x="288" y="48"/>
                </a:ln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73"/>
          <p:cNvSpPr/>
          <p:nvPr/>
        </p:nvSpPr>
        <p:spPr>
          <a:xfrm>
            <a:off x="655650" y="1200150"/>
            <a:ext cx="2802000" cy="711300"/>
          </a:xfrm>
          <a:prstGeom prst="rect">
            <a:avLst/>
          </a:prstGeom>
          <a:solidFill>
            <a:srgbClr val="F6F5BD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x0 = x0 OP d[i];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x1 = x1 OP d[i+1];</a:t>
            </a:r>
            <a:endParaRPr/>
          </a:p>
        </p:txBody>
      </p:sp>
      <p:sp>
        <p:nvSpPr>
          <p:cNvPr id="604" name="Google Shape;604;p73"/>
          <p:cNvSpPr txBox="1"/>
          <p:nvPr/>
        </p:nvSpPr>
        <p:spPr>
          <a:xfrm>
            <a:off x="4464050" y="535150"/>
            <a:ext cx="44571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2873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changed:</a:t>
            </a:r>
            <a:endParaRPr/>
          </a:p>
          <a:p>
            <a:pPr indent="-230187" lvl="1" marL="62865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 Symbols"/>
              <a:buChar char="▪"/>
            </a:pPr>
            <a:r>
              <a:rPr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independent “streams” of operations</a:t>
            </a:r>
            <a:endParaRPr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2873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</a:pPr>
            <a:r>
              <a:rPr i="0" lang="e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Performance</a:t>
            </a:r>
            <a:endParaRPr/>
          </a:p>
          <a:p>
            <a:pPr indent="-228600" lvl="1" marL="627063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 Symbols"/>
              <a:buChar char="▪"/>
            </a:pPr>
            <a:r>
              <a:rPr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elements, D cycles latency/op</a:t>
            </a:r>
            <a:endParaRPr/>
          </a:p>
          <a:p>
            <a:pPr indent="-228600" lvl="1" marL="627063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 Symbols"/>
              <a:buChar char="▪"/>
            </a:pPr>
            <a:r>
              <a:rPr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Should be (N/2+1)*D cycles:</a:t>
            </a: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CPE = D/2</a:t>
            </a:r>
            <a:endParaRPr/>
          </a:p>
          <a:p>
            <a:pPr indent="-228600" lvl="1" marL="627063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990000"/>
              </a:buClr>
              <a:buSzPts val="1980"/>
              <a:buFont typeface="Noto Sans Symbols"/>
              <a:buChar char="▪"/>
            </a:pPr>
            <a:r>
              <a:rPr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CPE matches prediction!</a:t>
            </a:r>
            <a:endParaRPr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73"/>
          <p:cNvSpPr txBox="1"/>
          <p:nvPr/>
        </p:nvSpPr>
        <p:spPr>
          <a:xfrm>
            <a:off x="5620575" y="4048900"/>
            <a:ext cx="16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What Now?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Unrolling &amp; Accumulating</a:t>
            </a:r>
            <a:endParaRPr/>
          </a:p>
        </p:txBody>
      </p:sp>
      <p:sp>
        <p:nvSpPr>
          <p:cNvPr id="611" name="Google Shape;611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Idea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Can unroll to any degree L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Can accumulate K results in parallel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 must be multiple of K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Limitations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Diminishing returns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Cannot go beyond throughput limitations of execution units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Large overhead for short lengths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Finish off iterations sequentially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Unrolling &amp; Accumulating: Double *</a:t>
            </a:r>
            <a:endParaRPr/>
          </a:p>
        </p:txBody>
      </p:sp>
      <p:sp>
        <p:nvSpPr>
          <p:cNvPr id="617" name="Google Shape;617;p75"/>
          <p:cNvSpPr txBox="1"/>
          <p:nvPr>
            <p:ph idx="1" type="body"/>
          </p:nvPr>
        </p:nvSpPr>
        <p:spPr>
          <a:xfrm>
            <a:off x="311700" y="1072125"/>
            <a:ext cx="85206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4452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92"/>
              <a:buChar char="●"/>
            </a:pPr>
            <a:r>
              <a:rPr lang="en" sz="1190"/>
              <a:t>Case</a:t>
            </a:r>
            <a:endParaRPr sz="1190"/>
          </a:p>
          <a:p>
            <a:pPr indent="-235585" lvl="1" marL="74295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410"/>
              <a:buChar char="○"/>
            </a:pPr>
            <a:r>
              <a:rPr lang="en" sz="970"/>
              <a:t>Intel Haswell </a:t>
            </a:r>
            <a:endParaRPr sz="970"/>
          </a:p>
          <a:p>
            <a:pPr indent="-235585" lvl="1" marL="74295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410"/>
              <a:buChar char="○"/>
            </a:pPr>
            <a:r>
              <a:rPr lang="en" sz="970"/>
              <a:t>Double FP Multiplication</a:t>
            </a:r>
            <a:endParaRPr sz="970"/>
          </a:p>
          <a:p>
            <a:pPr indent="-235585" lvl="1" marL="74295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1410"/>
              <a:buChar char="○"/>
            </a:pPr>
            <a:r>
              <a:rPr lang="en" sz="970"/>
              <a:t>Latency bound: 5.00.  Throughput bound: 0.50 </a:t>
            </a:r>
            <a:endParaRPr sz="970"/>
          </a:p>
        </p:txBody>
      </p:sp>
      <p:graphicFrame>
        <p:nvGraphicFramePr>
          <p:cNvPr id="618" name="Google Shape;618;p75"/>
          <p:cNvGraphicFramePr/>
          <p:nvPr/>
        </p:nvGraphicFramePr>
        <p:xfrm>
          <a:off x="1066800" y="21145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{9A341D53-FE34-46DE-AC20-877712C00531}</a:tableStyleId>
              </a:tblPr>
              <a:tblGrid>
                <a:gridCol w="746125"/>
                <a:gridCol w="742950"/>
                <a:gridCol w="746125"/>
                <a:gridCol w="746125"/>
                <a:gridCol w="742950"/>
                <a:gridCol w="746125"/>
                <a:gridCol w="746125"/>
                <a:gridCol w="742950"/>
                <a:gridCol w="7461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 rows; L cols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</a:tr>
              <a:tr h="229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5.01</a:t>
                      </a:r>
                      <a:endParaRPr sz="1100"/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2.51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1.67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1.25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1.26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9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0.63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0.52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</a:tbl>
          </a:graphicData>
        </a:graphic>
      </p:graphicFrame>
      <p:sp>
        <p:nvSpPr>
          <p:cNvPr id="619" name="Google Shape;619;p75"/>
          <p:cNvSpPr txBox="1"/>
          <p:nvPr/>
        </p:nvSpPr>
        <p:spPr>
          <a:xfrm rot="-5400000">
            <a:off x="-201875" y="3112699"/>
            <a:ext cx="192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Accumulators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Unrolling &amp; Accumulating: Int +</a:t>
            </a:r>
            <a:endParaRPr/>
          </a:p>
        </p:txBody>
      </p:sp>
      <p:sp>
        <p:nvSpPr>
          <p:cNvPr id="625" name="Google Shape;625;p76"/>
          <p:cNvSpPr txBox="1"/>
          <p:nvPr>
            <p:ph idx="1" type="body"/>
          </p:nvPr>
        </p:nvSpPr>
        <p:spPr>
          <a:xfrm>
            <a:off x="311700" y="1152475"/>
            <a:ext cx="85206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01752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"/>
              <a:t>Case</a:t>
            </a:r>
            <a:endParaRPr/>
          </a:p>
          <a:p>
            <a:pPr indent="-22288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Intel Haswell</a:t>
            </a:r>
            <a:endParaRPr/>
          </a:p>
          <a:p>
            <a:pPr indent="-22288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Integer addition</a:t>
            </a:r>
            <a:endParaRPr/>
          </a:p>
          <a:p>
            <a:pPr indent="-22288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Latency bound: 1.00.  Throughput bound: 0.50 </a:t>
            </a:r>
            <a:endParaRPr/>
          </a:p>
        </p:txBody>
      </p:sp>
      <p:graphicFrame>
        <p:nvGraphicFramePr>
          <p:cNvPr id="626" name="Google Shape;626;p76"/>
          <p:cNvGraphicFramePr/>
          <p:nvPr/>
        </p:nvGraphicFramePr>
        <p:xfrm>
          <a:off x="1066800" y="2114550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{9A341D53-FE34-46DE-AC20-877712C00531}</a:tableStyleId>
              </a:tblPr>
              <a:tblGrid>
                <a:gridCol w="746125"/>
                <a:gridCol w="742950"/>
                <a:gridCol w="746125"/>
                <a:gridCol w="746125"/>
                <a:gridCol w="742950"/>
                <a:gridCol w="746125"/>
                <a:gridCol w="746125"/>
                <a:gridCol w="742950"/>
                <a:gridCol w="7461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 rows; L cols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chemeClr val="dk2"/>
                    </a:solidFill>
                  </a:tcPr>
                </a:tc>
              </a:tr>
              <a:tr h="229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1.27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0.74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1.24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98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0.54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5"/>
                        </a:buClr>
                        <a:buSzPts val="1400"/>
                        <a:buFont typeface="Noto Sans Symbols"/>
                        <a:buNone/>
                      </a:pPr>
                      <a:r>
                        <a:rPr lang="e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0" i="0" lang="en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0.56</a:t>
                      </a:r>
                      <a:endParaRPr b="0" i="0"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45725" marL="45725"/>
                </a:tc>
              </a:tr>
            </a:tbl>
          </a:graphicData>
        </a:graphic>
      </p:graphicFrame>
      <p:sp>
        <p:nvSpPr>
          <p:cNvPr id="627" name="Google Shape;627;p76"/>
          <p:cNvSpPr txBox="1"/>
          <p:nvPr/>
        </p:nvSpPr>
        <p:spPr>
          <a:xfrm rot="-5400000">
            <a:off x="-205325" y="3258534"/>
            <a:ext cx="19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Accumulators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Achievable Performance</a:t>
            </a:r>
            <a:endParaRPr/>
          </a:p>
        </p:txBody>
      </p:sp>
      <p:sp>
        <p:nvSpPr>
          <p:cNvPr id="633" name="Google Shape;633;p77"/>
          <p:cNvSpPr txBox="1"/>
          <p:nvPr>
            <p:ph idx="1" type="body"/>
          </p:nvPr>
        </p:nvSpPr>
        <p:spPr>
          <a:xfrm>
            <a:off x="311700" y="3555675"/>
            <a:ext cx="85206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Limited only by throughput of functional units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Up to 42X improvement over original, unoptimized code</a:t>
            </a:r>
            <a:endParaRPr/>
          </a:p>
        </p:txBody>
      </p:sp>
      <p:graphicFrame>
        <p:nvGraphicFramePr>
          <p:cNvPr id="634" name="Google Shape;634;p77"/>
          <p:cNvGraphicFramePr/>
          <p:nvPr/>
        </p:nvGraphicFramePr>
        <p:xfrm>
          <a:off x="311691" y="1656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{4D0394B2-7CCA-48EE-AE11-504C56F26A59}</a:tableStyleId>
              </a:tblPr>
              <a:tblGrid>
                <a:gridCol w="1792525"/>
                <a:gridCol w="1164350"/>
                <a:gridCol w="1351550"/>
                <a:gridCol w="1473950"/>
                <a:gridCol w="1653950"/>
              </a:tblGrid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Operation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Integer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Add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lang="en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Double FP </a:t>
                      </a:r>
                      <a:r>
                        <a:rPr b="1" i="0" lang="en" sz="1400" u="none" cap="none" strike="noStrike">
                          <a:solidFill>
                            <a:srgbClr val="C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</a:t>
                      </a:r>
                      <a:endParaRPr b="1" i="0" sz="1400" u="none" cap="none" strike="noStrike">
                        <a:solidFill>
                          <a:srgbClr val="C00000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Best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F1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0.54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1.01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0.52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Latency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0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Throughput Bound</a:t>
                      </a:r>
                      <a:endParaRPr sz="1100"/>
                    </a:p>
                  </a:txBody>
                  <a:tcPr marT="34300" marB="34300" marR="45725" marL="457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0D0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1.00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en" sz="1400" u="none" cap="none" strike="noStrik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0.50</a:t>
                      </a:r>
                      <a:endParaRPr sz="1100"/>
                    </a:p>
                  </a:txBody>
                  <a:tcPr marT="34300" marB="34300" marR="45725" marL="4572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8"/>
          <p:cNvSpPr txBox="1"/>
          <p:nvPr>
            <p:ph idx="1" type="body"/>
          </p:nvPr>
        </p:nvSpPr>
        <p:spPr>
          <a:xfrm>
            <a:off x="311700" y="1017725"/>
            <a:ext cx="8520600" cy="10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4163" lvl="0" marL="284163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Challenge</a:t>
            </a:r>
            <a:endParaRPr/>
          </a:p>
          <a:p>
            <a:pPr indent="-173038" lvl="1" marL="45720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>
                <a:solidFill>
                  <a:srgbClr val="990000"/>
                </a:solidFill>
              </a:rPr>
              <a:t>Instruction Control Unit </a:t>
            </a:r>
            <a:r>
              <a:rPr lang="en"/>
              <a:t>must work well ahead of </a:t>
            </a:r>
            <a:r>
              <a:rPr lang="en">
                <a:solidFill>
                  <a:srgbClr val="990000"/>
                </a:solidFill>
              </a:rPr>
              <a:t>Execution Unit</a:t>
            </a:r>
            <a:r>
              <a:rPr lang="en"/>
              <a:t> </a:t>
            </a:r>
            <a:r>
              <a:rPr lang="en"/>
              <a:t>to generate enough operations to keep EU busy</a:t>
            </a:r>
            <a:endParaRPr/>
          </a:p>
        </p:txBody>
      </p:sp>
      <p:sp>
        <p:nvSpPr>
          <p:cNvPr id="640" name="Google Shape;640;p78"/>
          <p:cNvSpPr/>
          <p:nvPr/>
        </p:nvSpPr>
        <p:spPr>
          <a:xfrm>
            <a:off x="1102325" y="2110450"/>
            <a:ext cx="4615500" cy="1791900"/>
          </a:xfrm>
          <a:prstGeom prst="rect">
            <a:avLst/>
          </a:prstGeom>
          <a:solidFill>
            <a:srgbClr val="F2F2F2"/>
          </a:solidFill>
          <a:ln cap="flat" cmpd="dbl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404663:  mov    $0x0,%eax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404668:  cmp    (%rdi),%rsi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40466b:  jge    404685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40466d:  mov    0x8(%rdi),%rax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. .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404685:  repz retq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1" name="Google Shape;641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Branches?</a:t>
            </a:r>
            <a:endParaRPr/>
          </a:p>
        </p:txBody>
      </p:sp>
      <p:sp>
        <p:nvSpPr>
          <p:cNvPr id="642" name="Google Shape;642;p78"/>
          <p:cNvSpPr txBox="1"/>
          <p:nvPr/>
        </p:nvSpPr>
        <p:spPr>
          <a:xfrm>
            <a:off x="5827235" y="2110447"/>
            <a:ext cx="141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Executing</a:t>
            </a:r>
            <a:endParaRPr/>
          </a:p>
        </p:txBody>
      </p:sp>
      <p:sp>
        <p:nvSpPr>
          <p:cNvPr id="643" name="Google Shape;643;p78"/>
          <p:cNvSpPr txBox="1"/>
          <p:nvPr/>
        </p:nvSpPr>
        <p:spPr>
          <a:xfrm>
            <a:off x="6622835" y="2582893"/>
            <a:ext cx="244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How to continue?</a:t>
            </a:r>
            <a:endParaRPr b="1" sz="2400">
              <a:solidFill>
                <a:srgbClr val="99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4" name="Google Shape;644;p78"/>
          <p:cNvCxnSpPr/>
          <p:nvPr/>
        </p:nvCxnSpPr>
        <p:spPr>
          <a:xfrm rot="10800000">
            <a:off x="5297625" y="2918867"/>
            <a:ext cx="1295400" cy="0"/>
          </a:xfrm>
          <a:prstGeom prst="straightConnector1">
            <a:avLst/>
          </a:prstGeom>
          <a:noFill/>
          <a:ln cap="flat" cmpd="sng" w="25400">
            <a:solidFill>
              <a:srgbClr val="99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5" name="Google Shape;645;p78"/>
          <p:cNvSpPr txBox="1"/>
          <p:nvPr/>
        </p:nvSpPr>
        <p:spPr>
          <a:xfrm>
            <a:off x="453600" y="4528800"/>
            <a:ext cx="8445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When encounters conditional branch, cannot determine where to fetch next</a:t>
            </a:r>
            <a:endParaRPr sz="18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CPU Design (repeated)</a:t>
            </a:r>
            <a:endParaRPr/>
          </a:p>
        </p:txBody>
      </p:sp>
      <p:pic>
        <p:nvPicPr>
          <p:cNvPr descr="Simple diagram of modern superscalar CPU. This differs from the CSE220 description by including many units inside the Execute stage." id="651" name="Google Shape;65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150" y="1017725"/>
            <a:ext cx="534148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Outcomes</a:t>
            </a:r>
            <a:endParaRPr/>
          </a:p>
        </p:txBody>
      </p:sp>
      <p:sp>
        <p:nvSpPr>
          <p:cNvPr id="657" name="Google Shape;657;p80"/>
          <p:cNvSpPr txBox="1"/>
          <p:nvPr>
            <p:ph idx="1" type="body"/>
          </p:nvPr>
        </p:nvSpPr>
        <p:spPr>
          <a:xfrm>
            <a:off x="399900" y="1186400"/>
            <a:ext cx="8520600" cy="3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When encounter conditional branch, cannot determine where to continue fetching</a:t>
            </a:r>
            <a:endParaRPr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Branch Taken: Transfer control to branch target</a:t>
            </a:r>
            <a:endParaRPr/>
          </a:p>
          <a:p>
            <a:pPr indent="-3302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/>
              <a:t>Branch Not-Taken: Continue with next instruction in sequence</a:t>
            </a:r>
            <a:endParaRPr/>
          </a:p>
          <a:p>
            <a:pPr indent="-368300" lvl="0" marL="457200" rtl="0" algn="l">
              <a:spcBef>
                <a:spcPts val="400"/>
              </a:spcBef>
              <a:spcAft>
                <a:spcPts val="0"/>
              </a:spcAft>
              <a:buSzPts val="2200"/>
              <a:buChar char="●"/>
            </a:pPr>
            <a:r>
              <a:rPr b="1" lang="en"/>
              <a:t>Cannot resolve until outcome determined by branch/integer unit</a:t>
            </a:r>
            <a:endParaRPr b="1"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 sz="1800"/>
              <a:t>Idea</a:t>
            </a:r>
            <a:endParaRPr sz="1800"/>
          </a:p>
          <a:p>
            <a:pPr indent="-368300" lvl="1" marL="91440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Guess which way branch will go</a:t>
            </a:r>
            <a:endParaRPr/>
          </a:p>
          <a:p>
            <a:pPr indent="-368300" lvl="1" marL="91440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Begin executing instructions at predicted position</a:t>
            </a:r>
            <a:endParaRPr/>
          </a:p>
          <a:p>
            <a:pPr indent="-3302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/>
              <a:t>But don’t actually modify register or memory data</a:t>
            </a:r>
            <a:endParaRPr b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81"/>
          <p:cNvSpPr/>
          <p:nvPr/>
        </p:nvSpPr>
        <p:spPr>
          <a:xfrm>
            <a:off x="489955" y="1860904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3" name="Google Shape;663;p81"/>
          <p:cNvSpPr/>
          <p:nvPr/>
        </p:nvSpPr>
        <p:spPr>
          <a:xfrm>
            <a:off x="489955" y="2908760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4" name="Google Shape;664;p81"/>
          <p:cNvSpPr/>
          <p:nvPr/>
        </p:nvSpPr>
        <p:spPr>
          <a:xfrm>
            <a:off x="489955" y="3994610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5" name="Google Shape;665;p81"/>
          <p:cNvSpPr txBox="1"/>
          <p:nvPr>
            <p:ph type="title"/>
          </p:nvPr>
        </p:nvSpPr>
        <p:spPr>
          <a:xfrm>
            <a:off x="363600" y="1067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Prediction Through Loop</a:t>
            </a:r>
            <a:endParaRPr/>
          </a:p>
        </p:txBody>
      </p:sp>
      <p:sp>
        <p:nvSpPr>
          <p:cNvPr id="666" name="Google Shape;666;p81"/>
          <p:cNvSpPr/>
          <p:nvPr/>
        </p:nvSpPr>
        <p:spPr>
          <a:xfrm>
            <a:off x="489955" y="840422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7" name="Google Shape;667;p81"/>
          <p:cNvSpPr txBox="1"/>
          <p:nvPr/>
        </p:nvSpPr>
        <p:spPr>
          <a:xfrm>
            <a:off x="4114800" y="130016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98</a:t>
            </a:r>
            <a:endParaRPr/>
          </a:p>
        </p:txBody>
      </p:sp>
      <p:sp>
        <p:nvSpPr>
          <p:cNvPr id="668" name="Google Shape;668;p81"/>
          <p:cNvSpPr txBox="1"/>
          <p:nvPr/>
        </p:nvSpPr>
        <p:spPr>
          <a:xfrm>
            <a:off x="4114800" y="232886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99</a:t>
            </a:r>
            <a:endParaRPr/>
          </a:p>
        </p:txBody>
      </p:sp>
      <p:sp>
        <p:nvSpPr>
          <p:cNvPr id="669" name="Google Shape;669;p81"/>
          <p:cNvSpPr txBox="1"/>
          <p:nvPr/>
        </p:nvSpPr>
        <p:spPr>
          <a:xfrm>
            <a:off x="4114800" y="3414713"/>
            <a:ext cx="10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100</a:t>
            </a:r>
            <a:endParaRPr/>
          </a:p>
        </p:txBody>
      </p:sp>
      <p:sp>
        <p:nvSpPr>
          <p:cNvPr id="670" name="Google Shape;670;p81"/>
          <p:cNvSpPr txBox="1"/>
          <p:nvPr/>
        </p:nvSpPr>
        <p:spPr>
          <a:xfrm>
            <a:off x="5575338" y="1662471"/>
            <a:ext cx="21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Taken (OK)</a:t>
            </a:r>
            <a:endParaRPr/>
          </a:p>
        </p:txBody>
      </p:sp>
      <p:sp>
        <p:nvSpPr>
          <p:cNvPr id="671" name="Google Shape;671;p81"/>
          <p:cNvSpPr txBox="1"/>
          <p:nvPr/>
        </p:nvSpPr>
        <p:spPr>
          <a:xfrm>
            <a:off x="5548111" y="2557463"/>
            <a:ext cx="1611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Taken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(Oops)</a:t>
            </a:r>
            <a:endParaRPr/>
          </a:p>
        </p:txBody>
      </p:sp>
      <p:sp>
        <p:nvSpPr>
          <p:cNvPr id="672" name="Google Shape;672;p81"/>
          <p:cNvSpPr txBox="1"/>
          <p:nvPr/>
        </p:nvSpPr>
        <p:spPr>
          <a:xfrm>
            <a:off x="4114800" y="4460081"/>
            <a:ext cx="10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101</a:t>
            </a:r>
            <a:endParaRPr/>
          </a:p>
        </p:txBody>
      </p:sp>
      <p:sp>
        <p:nvSpPr>
          <p:cNvPr id="673" name="Google Shape;673;p81"/>
          <p:cNvSpPr txBox="1"/>
          <p:nvPr/>
        </p:nvSpPr>
        <p:spPr>
          <a:xfrm>
            <a:off x="5548111" y="785813"/>
            <a:ext cx="2219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</a:t>
            </a:r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length = </a:t>
            </a:r>
            <a:r>
              <a:rPr b="1" i="1" lang="en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674" name="Google Shape;674;p81"/>
          <p:cNvSpPr txBox="1"/>
          <p:nvPr/>
        </p:nvSpPr>
        <p:spPr>
          <a:xfrm>
            <a:off x="5548111" y="3186113"/>
            <a:ext cx="1295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invalid location</a:t>
            </a:r>
            <a:endParaRPr/>
          </a:p>
        </p:txBody>
      </p:sp>
      <p:cxnSp>
        <p:nvCxnSpPr>
          <p:cNvPr id="675" name="Google Shape;675;p81"/>
          <p:cNvCxnSpPr/>
          <p:nvPr/>
        </p:nvCxnSpPr>
        <p:spPr>
          <a:xfrm rot="10800000">
            <a:off x="4518025" y="3128813"/>
            <a:ext cx="1066800" cy="171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6" name="Google Shape;676;p81"/>
          <p:cNvCxnSpPr/>
          <p:nvPr/>
        </p:nvCxnSpPr>
        <p:spPr>
          <a:xfrm>
            <a:off x="7889875" y="3814763"/>
            <a:ext cx="0" cy="914400"/>
          </a:xfrm>
          <a:prstGeom prst="straightConnector1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7" name="Google Shape;677;p81"/>
          <p:cNvCxnSpPr/>
          <p:nvPr/>
        </p:nvCxnSpPr>
        <p:spPr>
          <a:xfrm>
            <a:off x="7889875" y="2900363"/>
            <a:ext cx="0" cy="914400"/>
          </a:xfrm>
          <a:prstGeom prst="straightConnector1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8" name="Google Shape;678;p81"/>
          <p:cNvSpPr txBox="1"/>
          <p:nvPr/>
        </p:nvSpPr>
        <p:spPr>
          <a:xfrm>
            <a:off x="7280275" y="3165557"/>
            <a:ext cx="13422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Executed</a:t>
            </a:r>
            <a:endParaRPr/>
          </a:p>
        </p:txBody>
      </p:sp>
      <p:sp>
        <p:nvSpPr>
          <p:cNvPr id="679" name="Google Shape;679;p81"/>
          <p:cNvSpPr txBox="1"/>
          <p:nvPr/>
        </p:nvSpPr>
        <p:spPr>
          <a:xfrm>
            <a:off x="7362825" y="4069241"/>
            <a:ext cx="11919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Fetched</a:t>
            </a:r>
            <a:endParaRPr/>
          </a:p>
        </p:txBody>
      </p:sp>
      <p:cxnSp>
        <p:nvCxnSpPr>
          <p:cNvPr id="680" name="Google Shape;680;p81"/>
          <p:cNvCxnSpPr/>
          <p:nvPr/>
        </p:nvCxnSpPr>
        <p:spPr>
          <a:xfrm>
            <a:off x="7737475" y="2900363"/>
            <a:ext cx="304800" cy="0"/>
          </a:xfrm>
          <a:prstGeom prst="straightConnector1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81"/>
          <p:cNvCxnSpPr/>
          <p:nvPr/>
        </p:nvCxnSpPr>
        <p:spPr>
          <a:xfrm>
            <a:off x="7737475" y="3814763"/>
            <a:ext cx="304800" cy="0"/>
          </a:xfrm>
          <a:prstGeom prst="straightConnector1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81"/>
          <p:cNvCxnSpPr/>
          <p:nvPr/>
        </p:nvCxnSpPr>
        <p:spPr>
          <a:xfrm>
            <a:off x="7737475" y="4729163"/>
            <a:ext cx="304800" cy="0"/>
          </a:xfrm>
          <a:prstGeom prst="straightConnector1">
            <a:avLst/>
          </a:prstGeom>
          <a:noFill/>
          <a:ln cap="flat" cmpd="sng" w="25400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82"/>
          <p:cNvSpPr/>
          <p:nvPr/>
        </p:nvSpPr>
        <p:spPr>
          <a:xfrm>
            <a:off x="489955" y="1860904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8" name="Google Shape;688;p82"/>
          <p:cNvSpPr/>
          <p:nvPr/>
        </p:nvSpPr>
        <p:spPr>
          <a:xfrm>
            <a:off x="489955" y="2908760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9" name="Google Shape;689;p82"/>
          <p:cNvSpPr/>
          <p:nvPr/>
        </p:nvSpPr>
        <p:spPr>
          <a:xfrm>
            <a:off x="489955" y="3994610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0" name="Google Shape;690;p82"/>
          <p:cNvSpPr/>
          <p:nvPr/>
        </p:nvSpPr>
        <p:spPr>
          <a:xfrm>
            <a:off x="489955" y="840422"/>
            <a:ext cx="4615500" cy="806100"/>
          </a:xfrm>
          <a:prstGeom prst="rect">
            <a:avLst/>
          </a:prstGeom>
          <a:solidFill>
            <a:srgbClr val="F2F2F2"/>
          </a:solidFill>
          <a:ln cap="flat" cmpd="dbl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 sz="1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1" name="Google Shape;691;p82"/>
          <p:cNvSpPr txBox="1"/>
          <p:nvPr/>
        </p:nvSpPr>
        <p:spPr>
          <a:xfrm>
            <a:off x="4114800" y="130016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98</a:t>
            </a:r>
            <a:endParaRPr/>
          </a:p>
        </p:txBody>
      </p:sp>
      <p:sp>
        <p:nvSpPr>
          <p:cNvPr id="692" name="Google Shape;692;p82"/>
          <p:cNvSpPr txBox="1"/>
          <p:nvPr/>
        </p:nvSpPr>
        <p:spPr>
          <a:xfrm>
            <a:off x="4114800" y="2328863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99</a:t>
            </a:r>
            <a:endParaRPr/>
          </a:p>
        </p:txBody>
      </p:sp>
      <p:sp>
        <p:nvSpPr>
          <p:cNvPr id="693" name="Google Shape;693;p82"/>
          <p:cNvSpPr txBox="1"/>
          <p:nvPr/>
        </p:nvSpPr>
        <p:spPr>
          <a:xfrm>
            <a:off x="4114800" y="3414713"/>
            <a:ext cx="10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100</a:t>
            </a:r>
            <a:endParaRPr/>
          </a:p>
        </p:txBody>
      </p:sp>
      <p:sp>
        <p:nvSpPr>
          <p:cNvPr id="694" name="Google Shape;694;p82"/>
          <p:cNvSpPr txBox="1"/>
          <p:nvPr/>
        </p:nvSpPr>
        <p:spPr>
          <a:xfrm>
            <a:off x="5575338" y="1662471"/>
            <a:ext cx="214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Taken (OK)</a:t>
            </a:r>
            <a:endParaRPr/>
          </a:p>
        </p:txBody>
      </p:sp>
      <p:sp>
        <p:nvSpPr>
          <p:cNvPr id="695" name="Google Shape;695;p82"/>
          <p:cNvSpPr txBox="1"/>
          <p:nvPr/>
        </p:nvSpPr>
        <p:spPr>
          <a:xfrm>
            <a:off x="5548101" y="2557475"/>
            <a:ext cx="296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 Taken</a:t>
            </a:r>
            <a:r>
              <a:rPr lang="en"/>
              <a:t> </a:t>
            </a:r>
            <a:r>
              <a:rPr b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(Oops)</a:t>
            </a:r>
            <a:endParaRPr/>
          </a:p>
        </p:txBody>
      </p:sp>
      <p:sp>
        <p:nvSpPr>
          <p:cNvPr id="696" name="Google Shape;696;p82"/>
          <p:cNvSpPr txBox="1"/>
          <p:nvPr/>
        </p:nvSpPr>
        <p:spPr>
          <a:xfrm>
            <a:off x="4114800" y="4460081"/>
            <a:ext cx="101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101</a:t>
            </a:r>
            <a:endParaRPr/>
          </a:p>
        </p:txBody>
      </p:sp>
      <p:sp>
        <p:nvSpPr>
          <p:cNvPr id="697" name="Google Shape;697;p82"/>
          <p:cNvSpPr txBox="1"/>
          <p:nvPr/>
        </p:nvSpPr>
        <p:spPr>
          <a:xfrm>
            <a:off x="5548111" y="785813"/>
            <a:ext cx="2219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</a:t>
            </a:r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length = </a:t>
            </a:r>
            <a:r>
              <a:rPr b="1" i="1" lang="en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698" name="Google Shape;698;p82"/>
          <p:cNvSpPr txBox="1"/>
          <p:nvPr>
            <p:ph type="title"/>
          </p:nvPr>
        </p:nvSpPr>
        <p:spPr>
          <a:xfrm>
            <a:off x="311700" y="1604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Misprediction Invalidation</a:t>
            </a:r>
            <a:endParaRPr/>
          </a:p>
        </p:txBody>
      </p:sp>
      <p:sp>
        <p:nvSpPr>
          <p:cNvPr id="699" name="Google Shape;699;p82"/>
          <p:cNvSpPr txBox="1"/>
          <p:nvPr/>
        </p:nvSpPr>
        <p:spPr>
          <a:xfrm>
            <a:off x="5374800" y="3657592"/>
            <a:ext cx="144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Invalidate</a:t>
            </a:r>
            <a:endParaRPr/>
          </a:p>
        </p:txBody>
      </p:sp>
      <p:cxnSp>
        <p:nvCxnSpPr>
          <p:cNvPr id="700" name="Google Shape;700;p82"/>
          <p:cNvCxnSpPr/>
          <p:nvPr/>
        </p:nvCxnSpPr>
        <p:spPr>
          <a:xfrm>
            <a:off x="685800" y="3086100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82"/>
          <p:cNvCxnSpPr/>
          <p:nvPr/>
        </p:nvCxnSpPr>
        <p:spPr>
          <a:xfrm>
            <a:off x="685800" y="3288822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82"/>
          <p:cNvCxnSpPr/>
          <p:nvPr/>
        </p:nvCxnSpPr>
        <p:spPr>
          <a:xfrm>
            <a:off x="685800" y="3460272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82"/>
          <p:cNvCxnSpPr/>
          <p:nvPr/>
        </p:nvCxnSpPr>
        <p:spPr>
          <a:xfrm>
            <a:off x="685800" y="3657600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82"/>
          <p:cNvCxnSpPr/>
          <p:nvPr/>
        </p:nvCxnSpPr>
        <p:spPr>
          <a:xfrm>
            <a:off x="685800" y="3829050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82"/>
          <p:cNvCxnSpPr/>
          <p:nvPr/>
        </p:nvCxnSpPr>
        <p:spPr>
          <a:xfrm>
            <a:off x="685800" y="4159011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82"/>
          <p:cNvCxnSpPr/>
          <p:nvPr/>
        </p:nvCxnSpPr>
        <p:spPr>
          <a:xfrm>
            <a:off x="685800" y="4330461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7" name="Google Shape;707;p82"/>
          <p:cNvCxnSpPr/>
          <p:nvPr/>
        </p:nvCxnSpPr>
        <p:spPr>
          <a:xfrm>
            <a:off x="685800" y="4514850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8" name="Google Shape;708;p82"/>
          <p:cNvCxnSpPr/>
          <p:nvPr/>
        </p:nvCxnSpPr>
        <p:spPr>
          <a:xfrm>
            <a:off x="685800" y="4686300"/>
            <a:ext cx="44196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Misprediction Recovery</a:t>
            </a:r>
            <a:endParaRPr/>
          </a:p>
        </p:txBody>
      </p:sp>
      <p:sp>
        <p:nvSpPr>
          <p:cNvPr id="714" name="Google Shape;714;p83"/>
          <p:cNvSpPr txBox="1"/>
          <p:nvPr>
            <p:ph idx="1" type="body"/>
          </p:nvPr>
        </p:nvSpPr>
        <p:spPr>
          <a:xfrm>
            <a:off x="311700" y="3006025"/>
            <a:ext cx="8520600" cy="18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●"/>
            </a:pPr>
            <a:r>
              <a:rPr lang="en"/>
              <a:t>Performance Cost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Multiple clock cycles on modern processor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200"/>
              <a:buChar char="○"/>
            </a:pPr>
            <a:r>
              <a:rPr lang="en"/>
              <a:t>Can be a major performance limiter</a:t>
            </a:r>
            <a:endParaRPr/>
          </a:p>
        </p:txBody>
      </p:sp>
      <p:sp>
        <p:nvSpPr>
          <p:cNvPr id="715" name="Google Shape;715;p83"/>
          <p:cNvSpPr/>
          <p:nvPr/>
        </p:nvSpPr>
        <p:spPr>
          <a:xfrm>
            <a:off x="589850" y="1015527"/>
            <a:ext cx="5340900" cy="1990500"/>
          </a:xfrm>
          <a:prstGeom prst="rect">
            <a:avLst/>
          </a:prstGeom>
          <a:solidFill>
            <a:srgbClr val="F2F2F2"/>
          </a:solidFill>
          <a:ln cap="flat" cmpd="dbl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401029:  vmulsd (%rdx),%xmm0,%xmm0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40102d:  add    $0x8,%rdx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401031:  cmp    %rax,%rdx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401034:  jne    401029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401036:  jmp    401040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. . 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401040:  vmovsd %xmm0,(%r12)</a:t>
            </a:r>
            <a:endParaRPr b="1"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6" name="Google Shape;716;p83"/>
          <p:cNvSpPr txBox="1"/>
          <p:nvPr/>
        </p:nvSpPr>
        <p:spPr>
          <a:xfrm>
            <a:off x="4777877" y="1257300"/>
            <a:ext cx="86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 = 99</a:t>
            </a:r>
            <a:endParaRPr/>
          </a:p>
        </p:txBody>
      </p:sp>
      <p:sp>
        <p:nvSpPr>
          <p:cNvPr id="717" name="Google Shape;717;p83"/>
          <p:cNvSpPr txBox="1"/>
          <p:nvPr/>
        </p:nvSpPr>
        <p:spPr>
          <a:xfrm>
            <a:off x="5965321" y="1347173"/>
            <a:ext cx="271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Definitely not taken</a:t>
            </a:r>
            <a:endParaRPr/>
          </a:p>
        </p:txBody>
      </p:sp>
      <p:sp>
        <p:nvSpPr>
          <p:cNvPr id="718" name="Google Shape;718;p83"/>
          <p:cNvSpPr txBox="1"/>
          <p:nvPr/>
        </p:nvSpPr>
        <p:spPr>
          <a:xfrm>
            <a:off x="6072406" y="1991944"/>
            <a:ext cx="1215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Reload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8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19063" lvl="0" marL="119063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High Performance</a:t>
            </a:r>
            <a:endParaRPr/>
          </a:p>
        </p:txBody>
      </p:sp>
      <p:sp>
        <p:nvSpPr>
          <p:cNvPr id="724" name="Google Shape;724;p8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9184" lvl="0" marL="342900" rtl="0" algn="l">
              <a:spcBef>
                <a:spcPts val="0"/>
              </a:spcBef>
              <a:spcAft>
                <a:spcPts val="0"/>
              </a:spcAft>
              <a:buSzPct val="80000"/>
              <a:buChar char="●"/>
            </a:pPr>
            <a:r>
              <a:rPr lang="en"/>
              <a:t>Good compiler and flags</a:t>
            </a:r>
            <a:endParaRPr/>
          </a:p>
          <a:p>
            <a:pPr indent="-329184" lvl="0" marL="342900" rtl="0" algn="l">
              <a:spcBef>
                <a:spcPts val="480"/>
              </a:spcBef>
              <a:spcAft>
                <a:spcPts val="0"/>
              </a:spcAft>
              <a:buSzPct val="80000"/>
              <a:buChar char="●"/>
            </a:pPr>
            <a:r>
              <a:rPr lang="en"/>
              <a:t>Don’t do anything stupid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Watch out for hidden algorithmic inefficiencies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Write compiler-friendly code</a:t>
            </a:r>
            <a:endParaRPr/>
          </a:p>
          <a:p>
            <a:pPr indent="-213360" lvl="2" marL="1143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4286"/>
              <a:buChar char="■"/>
            </a:pPr>
            <a:r>
              <a:rPr lang="en"/>
              <a:t>Watch out for optimization blockers:  </a:t>
            </a:r>
            <a:endParaRPr/>
          </a:p>
          <a:p>
            <a:pPr indent="-31496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14286"/>
              <a:buChar char="●"/>
            </a:pPr>
            <a:r>
              <a:rPr lang="en"/>
              <a:t>procedure calls &amp; memory references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Look carefully at innermost loops (where most work is done)</a:t>
            </a:r>
            <a:endParaRPr/>
          </a:p>
          <a:p>
            <a:pPr indent="-329184" lvl="0" marL="342900" rtl="0" algn="l">
              <a:spcBef>
                <a:spcPts val="480"/>
              </a:spcBef>
              <a:spcAft>
                <a:spcPts val="0"/>
              </a:spcAft>
              <a:buSzPct val="80000"/>
              <a:buChar char="●"/>
            </a:pPr>
            <a:r>
              <a:rPr lang="en"/>
              <a:t>Tune code for machine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Exploit instruction-level parallelism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Avoid unpredictable branches</a:t>
            </a:r>
            <a:endParaRPr/>
          </a:p>
          <a:p>
            <a:pPr indent="-264795" lvl="1" marL="742950" rtl="0" algn="l">
              <a:spcBef>
                <a:spcPts val="400"/>
              </a:spcBef>
              <a:spcAft>
                <a:spcPts val="0"/>
              </a:spcAft>
              <a:buSzPct val="157143"/>
              <a:buChar char="○"/>
            </a:pPr>
            <a:r>
              <a:rPr lang="en"/>
              <a:t>Make code cache friendly (Covered later in course)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