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Proxima Nova"/>
      <p:regular r:id="rId49"/>
      <p:bold r:id="rId50"/>
      <p:italic r:id="rId51"/>
      <p:boldItalic r:id="rId52"/>
    </p:embeddedFont>
    <p:embeddedFont>
      <p:font typeface="Arial Narrow"/>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roximaNova-italic.fntdata"/><Relationship Id="rId50" Type="http://schemas.openxmlformats.org/officeDocument/2006/relationships/font" Target="fonts/ProximaNova-bold.fntdata"/><Relationship Id="rId53" Type="http://schemas.openxmlformats.org/officeDocument/2006/relationships/font" Target="fonts/ArialNarrow-regular.fntdata"/><Relationship Id="rId52" Type="http://schemas.openxmlformats.org/officeDocument/2006/relationships/font" Target="fonts/ProximaNova-boldItalic.fntdata"/><Relationship Id="rId11" Type="http://schemas.openxmlformats.org/officeDocument/2006/relationships/slide" Target="slides/slide6.xml"/><Relationship Id="rId55" Type="http://schemas.openxmlformats.org/officeDocument/2006/relationships/font" Target="fonts/ArialNarrow-italic.fntdata"/><Relationship Id="rId10" Type="http://schemas.openxmlformats.org/officeDocument/2006/relationships/slide" Target="slides/slide5.xml"/><Relationship Id="rId54" Type="http://schemas.openxmlformats.org/officeDocument/2006/relationships/font" Target="fonts/ArialNarrow-bold.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ArialNarrow-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b4a8f2bd1_0_228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g3ab4a8f2bd1_0_2287: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b4a8f2bd1_0_2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b4a8f2bd1_0_2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b4a8f2bd1_0_222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g3ab4a8f2bd1_0_222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b4a8f2bd1_0_224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05" name="Google Shape;105;g3ab4a8f2bd1_0_224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06" name="Google Shape;106;g3ab4a8f2bd1_0_2246: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b4a8f2bd1_0_2259: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ab4a8f2bd1_0_225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b4a8f2bd1_0_226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ab4a8f2bd1_0_2269: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b4a8f2bd1_0_228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g3ab4a8f2bd1_0_228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4a8f2bd1_0_2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4a8f2bd1_0_2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b4a8f2bd1_0_638:notes"/>
          <p:cNvSpPr/>
          <p:nvPr>
            <p:ph idx="2" type="sldImg"/>
          </p:nvPr>
        </p:nvSpPr>
        <p:spPr>
          <a:xfrm>
            <a:off x="573715" y="381568"/>
            <a:ext cx="6001500" cy="34281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44" name="Google Shape;144;g3ab4a8f2bd1_0_638:notes"/>
          <p:cNvSpPr txBox="1"/>
          <p:nvPr>
            <p:ph idx="1" type="body"/>
          </p:nvPr>
        </p:nvSpPr>
        <p:spPr>
          <a:xfrm>
            <a:off x="127837" y="4051324"/>
            <a:ext cx="6528900" cy="49410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b4a8f2bd1_0_65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3ab4a8f2bd1_0_65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b4a8f2bd1_0_70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g3ab4a8f2bd1_0_702: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b4a8f2bd1_0_84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ab4a8f2bd1_0_84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b4a8f2bd1_0_77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ab4a8f2bd1_0_777: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b4a8f2bd1_0_876:notes"/>
          <p:cNvSpPr/>
          <p:nvPr>
            <p:ph idx="2" type="sldImg"/>
          </p:nvPr>
        </p:nvSpPr>
        <p:spPr>
          <a:xfrm>
            <a:off x="398814" y="678344"/>
            <a:ext cx="6052800" cy="34569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77" name="Google Shape;177;g3ab4a8f2bd1_0_876:notes"/>
          <p:cNvSpPr txBox="1"/>
          <p:nvPr>
            <p:ph idx="1" type="body"/>
          </p:nvPr>
        </p:nvSpPr>
        <p:spPr>
          <a:xfrm>
            <a:off x="893303" y="4360919"/>
            <a:ext cx="5058900" cy="4131000"/>
          </a:xfrm>
          <a:prstGeom prst="rect">
            <a:avLst/>
          </a:prstGeom>
          <a:noFill/>
          <a:ln>
            <a:noFill/>
          </a:ln>
        </p:spPr>
        <p:txBody>
          <a:bodyPr anchorCtr="0" anchor="t" bIns="44775" lIns="89575" spcFirstLastPara="1" rIns="89575" wrap="square" tIns="44775">
            <a:noAutofit/>
          </a:bodyPr>
          <a:lstStyle/>
          <a:p>
            <a:pPr indent="0" lvl="0" marL="0" rtl="0" algn="l">
              <a:spcBef>
                <a:spcPts val="0"/>
              </a:spcBef>
              <a:spcAft>
                <a:spcPts val="0"/>
              </a:spcAft>
              <a:buNone/>
            </a:pPr>
            <a:r>
              <a:rPr lang="en"/>
              <a:t>Goal:</a:t>
            </a:r>
            <a:endParaRPr/>
          </a:p>
          <a:p>
            <a:pPr indent="0" lvl="0" marL="0" rtl="0" algn="l">
              <a:spcBef>
                <a:spcPts val="300"/>
              </a:spcBef>
              <a:spcAft>
                <a:spcPts val="0"/>
              </a:spcAft>
              <a:buNone/>
            </a:pPr>
            <a:r>
              <a:rPr lang="en"/>
              <a:t>	Show the inefficeincy of current disk requests.</a:t>
            </a:r>
            <a:endParaRPr/>
          </a:p>
          <a:p>
            <a:pPr indent="0" lvl="0" marL="0" rtl="0" algn="l">
              <a:spcBef>
                <a:spcPts val="300"/>
              </a:spcBef>
              <a:spcAft>
                <a:spcPts val="0"/>
              </a:spcAft>
              <a:buNone/>
            </a:pPr>
            <a:r>
              <a:rPr lang="en"/>
              <a:t>Conveyed Ideas:</a:t>
            </a:r>
            <a:endParaRPr/>
          </a:p>
          <a:p>
            <a:pPr indent="0" lvl="0" marL="0" rtl="0" algn="l">
              <a:spcBef>
                <a:spcPts val="300"/>
              </a:spcBef>
              <a:spcAft>
                <a:spcPts val="0"/>
              </a:spcAft>
              <a:buNone/>
            </a:pPr>
            <a:r>
              <a:rPr lang="en"/>
              <a:t>	Rotational latency is wasted time that can be used to service tasks</a:t>
            </a:r>
            <a:endParaRPr/>
          </a:p>
          <a:p>
            <a:pPr indent="0" lvl="0" marL="0" rtl="0" algn="l">
              <a:spcBef>
                <a:spcPts val="300"/>
              </a:spcBef>
              <a:spcAft>
                <a:spcPts val="0"/>
              </a:spcAft>
              <a:buNone/>
            </a:pPr>
            <a:r>
              <a:rPr lang="en"/>
              <a:t>Background Information:</a:t>
            </a:r>
            <a:endParaRPr/>
          </a:p>
          <a:p>
            <a:pPr indent="0" lvl="0" marL="0" rtl="0" algn="l">
              <a:spcBef>
                <a:spcPts val="300"/>
              </a:spcBef>
              <a:spcAft>
                <a:spcPts val="0"/>
              </a:spcAft>
              <a:buNone/>
            </a:pPr>
            <a:r>
              <a:rPr lang="en"/>
              <a:t>	None.</a:t>
            </a:r>
            <a:endParaRPr/>
          </a:p>
          <a:p>
            <a:pPr indent="0" lvl="0" marL="0" rtl="0" algn="l">
              <a:spcBef>
                <a:spcPts val="300"/>
              </a:spcBef>
              <a:spcAft>
                <a:spcPts val="0"/>
              </a:spcAft>
              <a:buNone/>
            </a:pPr>
            <a:r>
              <a:rPr lang="en"/>
              <a:t>Slide Background:</a:t>
            </a:r>
            <a:endParaRPr/>
          </a:p>
          <a:p>
            <a:pPr indent="0" lvl="0" marL="0" rtl="0" algn="l">
              <a:spcBef>
                <a:spcPts val="300"/>
              </a:spcBef>
              <a:spcAft>
                <a:spcPts val="0"/>
              </a:spcAft>
              <a:buNone/>
            </a:pPr>
            <a:r>
              <a:rPr lang="en"/>
              <a:t>	None.</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
              <a:t>Kill text and arrows</a:t>
            </a:r>
            <a:endParaRPr/>
          </a:p>
          <a:p>
            <a:pPr indent="0" lvl="0" marL="0" rtl="0" algn="l">
              <a:spcBef>
                <a:spcPts val="3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b4a8f2bd1_0_897:notes"/>
          <p:cNvSpPr/>
          <p:nvPr>
            <p:ph idx="2" type="sldImg"/>
          </p:nvPr>
        </p:nvSpPr>
        <p:spPr>
          <a:xfrm>
            <a:off x="398814" y="678344"/>
            <a:ext cx="6052800" cy="34569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83" name="Google Shape;183;g3ab4a8f2bd1_0_897:notes"/>
          <p:cNvSpPr txBox="1"/>
          <p:nvPr>
            <p:ph idx="1" type="body"/>
          </p:nvPr>
        </p:nvSpPr>
        <p:spPr>
          <a:xfrm>
            <a:off x="893303" y="4360919"/>
            <a:ext cx="5058900" cy="4131000"/>
          </a:xfrm>
          <a:prstGeom prst="rect">
            <a:avLst/>
          </a:prstGeom>
          <a:noFill/>
          <a:ln>
            <a:noFill/>
          </a:ln>
        </p:spPr>
        <p:txBody>
          <a:bodyPr anchorCtr="0" anchor="t" bIns="44775" lIns="89575" spcFirstLastPara="1" rIns="89575" wrap="square" tIns="44775">
            <a:noAutofit/>
          </a:bodyPr>
          <a:lstStyle/>
          <a:p>
            <a:pPr indent="0" lvl="0" marL="0" rtl="0" algn="l">
              <a:spcBef>
                <a:spcPts val="0"/>
              </a:spcBef>
              <a:spcAft>
                <a:spcPts val="0"/>
              </a:spcAft>
              <a:buNone/>
            </a:pPr>
            <a:r>
              <a:rPr lang="en"/>
              <a:t>Goal:</a:t>
            </a:r>
            <a:endParaRPr/>
          </a:p>
          <a:p>
            <a:pPr indent="0" lvl="0" marL="0" rtl="0" algn="l">
              <a:spcBef>
                <a:spcPts val="300"/>
              </a:spcBef>
              <a:spcAft>
                <a:spcPts val="0"/>
              </a:spcAft>
              <a:buNone/>
            </a:pPr>
            <a:r>
              <a:rPr lang="en"/>
              <a:t>	Show the inefficeincy of current disk requests.</a:t>
            </a:r>
            <a:endParaRPr/>
          </a:p>
          <a:p>
            <a:pPr indent="0" lvl="0" marL="0" rtl="0" algn="l">
              <a:spcBef>
                <a:spcPts val="300"/>
              </a:spcBef>
              <a:spcAft>
                <a:spcPts val="0"/>
              </a:spcAft>
              <a:buNone/>
            </a:pPr>
            <a:r>
              <a:rPr lang="en"/>
              <a:t>Conveyed Ideas:</a:t>
            </a:r>
            <a:endParaRPr/>
          </a:p>
          <a:p>
            <a:pPr indent="0" lvl="0" marL="0" rtl="0" algn="l">
              <a:spcBef>
                <a:spcPts val="300"/>
              </a:spcBef>
              <a:spcAft>
                <a:spcPts val="0"/>
              </a:spcAft>
              <a:buNone/>
            </a:pPr>
            <a:r>
              <a:rPr lang="en"/>
              <a:t>	Rotational latency is wasted time that can be used to service tasks</a:t>
            </a:r>
            <a:endParaRPr/>
          </a:p>
          <a:p>
            <a:pPr indent="0" lvl="0" marL="0" rtl="0" algn="l">
              <a:spcBef>
                <a:spcPts val="300"/>
              </a:spcBef>
              <a:spcAft>
                <a:spcPts val="0"/>
              </a:spcAft>
              <a:buNone/>
            </a:pPr>
            <a:r>
              <a:rPr lang="en"/>
              <a:t>Background Information:</a:t>
            </a:r>
            <a:endParaRPr/>
          </a:p>
          <a:p>
            <a:pPr indent="0" lvl="0" marL="0" rtl="0" algn="l">
              <a:spcBef>
                <a:spcPts val="300"/>
              </a:spcBef>
              <a:spcAft>
                <a:spcPts val="0"/>
              </a:spcAft>
              <a:buNone/>
            </a:pPr>
            <a:r>
              <a:rPr lang="en"/>
              <a:t>	None.</a:t>
            </a:r>
            <a:endParaRPr/>
          </a:p>
          <a:p>
            <a:pPr indent="0" lvl="0" marL="0" rtl="0" algn="l">
              <a:spcBef>
                <a:spcPts val="300"/>
              </a:spcBef>
              <a:spcAft>
                <a:spcPts val="0"/>
              </a:spcAft>
              <a:buNone/>
            </a:pPr>
            <a:r>
              <a:rPr lang="en"/>
              <a:t>Slide Background:</a:t>
            </a:r>
            <a:endParaRPr/>
          </a:p>
          <a:p>
            <a:pPr indent="0" lvl="0" marL="0" rtl="0" algn="l">
              <a:spcBef>
                <a:spcPts val="300"/>
              </a:spcBef>
              <a:spcAft>
                <a:spcPts val="0"/>
              </a:spcAft>
              <a:buNone/>
            </a:pPr>
            <a:r>
              <a:rPr lang="en"/>
              <a:t>	None.</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
              <a:t>Kill text and arrows</a:t>
            </a:r>
            <a:endParaRPr/>
          </a:p>
          <a:p>
            <a:pPr indent="0" lvl="0" marL="0" rtl="0" algn="l">
              <a:spcBef>
                <a:spcPts val="3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b4a8f2bd1_0_126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ab4a8f2bd1_0_1269: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b4a8f2bd1_0_127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ab4a8f2bd1_0_127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b4a8f2bd1_0_127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g3ab4a8f2bd1_0_1279: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b4a8f2bd1_0_128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ab4a8f2bd1_0_128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7a4cc36ce_4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c7a4cc36ce_4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7a4cc36ce_48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7a4cc36ce_4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b4a8f2bd1_0_1474: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ab4a8f2bd1_0_147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b4a8f2bd1_0_1505: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ab4a8f2bd1_0_150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b4a8f2bd1_0_151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ab4a8f2bd1_0_151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b4a8f2bd1_0_2347: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ab4a8f2bd1_0_234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b4a8f2bd1_0_2359: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ab4a8f2bd1_0_235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b4a8f2bd1_0_2374: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ab4a8f2bd1_0_237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b4a8f2bd1_0_2380: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ab4a8f2bd1_0_238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b4a8f2bd1_0_2387: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ab4a8f2bd1_0_238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b4a8f2bd1_0_2394: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ab4a8f2bd1_0_239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b4a8f2bd1_0_2402: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ab4a8f2bd1_0_240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b4a8f2bd1_0_2408: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ab4a8f2bd1_0_240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b4a8f2bd1_0_2414: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ab4a8f2bd1_0_241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b4a8f2bd1_0_2420: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ab4a8f2bd1_0_24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b4a8f2bd1_0_42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g3ab4a8f2bd1_0_42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b4a8f2bd1_0_2365:notes"/>
          <p:cNvSpPr txBox="1"/>
          <p:nvPr>
            <p:ph idx="1" type="body"/>
          </p:nvPr>
        </p:nvSpPr>
        <p:spPr>
          <a:xfrm>
            <a:off x="685800" y="4400551"/>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ab4a8f2bd1_0_236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b4a8f2bd1_0_162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g3ab4a8f2bd1_0_162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b4a8f2bd1_0_163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352" name="Google Shape;352;g3ab4a8f2bd1_0_163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353" name="Google Shape;353;g3ab4a8f2bd1_0_1631: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b4a8f2bd1_0_167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393" name="Google Shape;393;g3ab4a8f2bd1_0_167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394" name="Google Shape;394;g3ab4a8f2bd1_0_1671: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b4a8f2bd1_0_174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3ab4a8f2bd1_0_1748: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b4a8f2bd1_0_1753:notes"/>
          <p:cNvSpPr txBox="1"/>
          <p:nvPr/>
        </p:nvSpPr>
        <p:spPr>
          <a:xfrm>
            <a:off x="1158875" y="692550"/>
            <a:ext cx="45414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433" name="Google Shape;433;g3ab4a8f2bd1_0_1753:notes"/>
          <p:cNvSpPr txBox="1"/>
          <p:nvPr>
            <p:ph idx="1" type="body"/>
          </p:nvPr>
        </p:nvSpPr>
        <p:spPr>
          <a:xfrm>
            <a:off x="915080" y="4343804"/>
            <a:ext cx="5028900" cy="4115700"/>
          </a:xfrm>
          <a:prstGeom prst="rect">
            <a:avLst/>
          </a:prstGeom>
          <a:noFill/>
          <a:ln>
            <a:noFill/>
          </a:ln>
        </p:spPr>
        <p:txBody>
          <a:bodyPr anchorCtr="0" anchor="ctr" bIns="44875" lIns="89750" spcFirstLastPara="1" rIns="89750" wrap="square" tIns="44875">
            <a:noAutofit/>
          </a:bodyPr>
          <a:lstStyle/>
          <a:p>
            <a:pPr indent="0" lvl="0" marL="0" rtl="0" algn="l">
              <a:spcBef>
                <a:spcPts val="0"/>
              </a:spcBef>
              <a:spcAft>
                <a:spcPts val="0"/>
              </a:spcAft>
              <a:buNone/>
            </a:pPr>
            <a:r>
              <a:t/>
            </a:r>
            <a:endParaRPr/>
          </a:p>
        </p:txBody>
      </p:sp>
      <p:sp>
        <p:nvSpPr>
          <p:cNvPr id="434" name="Google Shape;434;g3ab4a8f2bd1_0_1753: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b4a8f2bd1_0_181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g3ab4a8f2bd1_0_181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457200" y="205978"/>
            <a:ext cx="8229600" cy="537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000000"/>
              </a:buClr>
              <a:buSzPts val="3500"/>
              <a:buFont typeface="Cambria"/>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3"/>
          <p:cNvSpPr txBox="1"/>
          <p:nvPr>
            <p:ph idx="1" type="body"/>
          </p:nvPr>
        </p:nvSpPr>
        <p:spPr>
          <a:xfrm>
            <a:off x="457200" y="857250"/>
            <a:ext cx="8229600" cy="39432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rgbClr val="000000"/>
              </a:buClr>
              <a:buSzPts val="1800"/>
              <a:buChar char="●"/>
              <a:defRPr>
                <a:solidFill>
                  <a:srgbClr val="000000"/>
                </a:solidFill>
              </a:defRPr>
            </a:lvl1pPr>
            <a:lvl2pPr indent="-342900" lvl="1" marL="914400" algn="l">
              <a:spcBef>
                <a:spcPts val="1200"/>
              </a:spcBef>
              <a:spcAft>
                <a:spcPts val="0"/>
              </a:spcAft>
              <a:buClr>
                <a:srgbClr val="000000"/>
              </a:buClr>
              <a:buSzPts val="1800"/>
              <a:buChar char="○"/>
              <a:defRPr sz="1800">
                <a:solidFill>
                  <a:srgbClr val="000000"/>
                </a:solidFill>
              </a:defRPr>
            </a:lvl2pPr>
            <a:lvl3pPr indent="-342900" lvl="2" marL="1371600" algn="l">
              <a:spcBef>
                <a:spcPts val="1200"/>
              </a:spcBef>
              <a:spcAft>
                <a:spcPts val="0"/>
              </a:spcAft>
              <a:buClr>
                <a:srgbClr val="000000"/>
              </a:buClr>
              <a:buSzPts val="1800"/>
              <a:buChar char="■"/>
              <a:defRPr sz="1800">
                <a:solidFill>
                  <a:srgbClr val="000000"/>
                </a:solidFill>
              </a:defRPr>
            </a:lvl3pPr>
            <a:lvl4pPr indent="-304800" lvl="3" marL="1828800" algn="l">
              <a:spcBef>
                <a:spcPts val="1200"/>
              </a:spcBef>
              <a:spcAft>
                <a:spcPts val="0"/>
              </a:spcAft>
              <a:buClr>
                <a:srgbClr val="000000"/>
              </a:buClr>
              <a:buSzPts val="1200"/>
              <a:buChar char="●"/>
              <a:defRPr>
                <a:solidFill>
                  <a:srgbClr val="000000"/>
                </a:solidFill>
              </a:defRPr>
            </a:lvl4pPr>
            <a:lvl5pPr indent="-298450" lvl="4" marL="2286000" algn="l">
              <a:spcBef>
                <a:spcPts val="1200"/>
              </a:spcBef>
              <a:spcAft>
                <a:spcPts val="0"/>
              </a:spcAft>
              <a:buClr>
                <a:srgbClr val="000000"/>
              </a:buClr>
              <a:buSzPts val="1100"/>
              <a:buChar char="○"/>
              <a:defRPr>
                <a:solidFill>
                  <a:srgbClr val="000000"/>
                </a:solidFill>
              </a:defRPr>
            </a:lvl5pPr>
            <a:lvl6pPr indent="-317500" lvl="5" marL="2743200" algn="l">
              <a:spcBef>
                <a:spcPts val="1200"/>
              </a:spcBef>
              <a:spcAft>
                <a:spcPts val="0"/>
              </a:spcAft>
              <a:buSzPts val="1400"/>
              <a:buChar char="■"/>
              <a:defRPr/>
            </a:lvl6pPr>
            <a:lvl7pPr indent="-317500" lvl="6" marL="3200400" algn="l">
              <a:spcBef>
                <a:spcPts val="1200"/>
              </a:spcBef>
              <a:spcAft>
                <a:spcPts val="0"/>
              </a:spcAft>
              <a:buSzPts val="1400"/>
              <a:buChar char="●"/>
              <a:defRPr/>
            </a:lvl7pPr>
            <a:lvl8pPr indent="-317500" lvl="7" marL="3657600" algn="l">
              <a:spcBef>
                <a:spcPts val="1200"/>
              </a:spcBef>
              <a:spcAft>
                <a:spcPts val="0"/>
              </a:spcAft>
              <a:buSzPts val="1400"/>
              <a:buChar char="○"/>
              <a:defRPr/>
            </a:lvl8pPr>
            <a:lvl9pPr indent="-317500" lvl="8" marL="4114800" algn="l">
              <a:spcBef>
                <a:spcPts val="1200"/>
              </a:spcBef>
              <a:spcAft>
                <a:spcPts val="1200"/>
              </a:spcAft>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8" name="Shape 58"/>
        <p:cNvGrpSpPr/>
        <p:nvPr/>
      </p:nvGrpSpPr>
      <p:grpSpPr>
        <a:xfrm>
          <a:off x="0" y="0"/>
          <a:ext cx="0" cy="0"/>
          <a:chOff x="0" y="0"/>
          <a:chExt cx="0" cy="0"/>
        </a:xfrm>
      </p:grpSpPr>
      <p:sp>
        <p:nvSpPr>
          <p:cNvPr id="59" name="Google Shape;59;p1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2800"/>
              <a:buNone/>
              <a:defRPr>
                <a:solidFill>
                  <a:srgbClr val="FF0000"/>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0" name="Google Shape;60;p14"/>
          <p:cNvSpPr txBox="1"/>
          <p:nvPr>
            <p:ph idx="1" type="body"/>
          </p:nvPr>
        </p:nvSpPr>
        <p:spPr>
          <a:xfrm>
            <a:off x="886759" y="4135461"/>
            <a:ext cx="7759800" cy="6252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dk1"/>
              </a:buClr>
              <a:buSzPts val="2400"/>
              <a:buNone/>
              <a:defRPr sz="2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1" name="Google Shape;61;p14"/>
          <p:cNvSpPr txBox="1"/>
          <p:nvPr>
            <p:ph idx="11" type="ftr"/>
          </p:nvPr>
        </p:nvSpPr>
        <p:spPr>
          <a:xfrm>
            <a:off x="215900" y="4869656"/>
            <a:ext cx="8672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2" type="sldNum"/>
          </p:nvPr>
        </p:nvSpPr>
        <p:spPr>
          <a:xfrm>
            <a:off x="8305800" y="4767263"/>
            <a:ext cx="499200" cy="273900"/>
          </a:xfrm>
          <a:prstGeom prst="rect">
            <a:avLst/>
          </a:prstGeom>
          <a:noFill/>
          <a:ln>
            <a:noFill/>
          </a:ln>
        </p:spPr>
        <p:txBody>
          <a:bodyPr anchorCtr="0" anchor="t" bIns="45700" lIns="91425" spcFirstLastPara="1" rIns="91425" wrap="square" tIns="45700">
            <a:normAutofit lnSpcReduction="10000"/>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OBJECT_1">
    <p:spTree>
      <p:nvGrpSpPr>
        <p:cNvPr id="63" name="Shape 63"/>
        <p:cNvGrpSpPr/>
        <p:nvPr/>
      </p:nvGrpSpPr>
      <p:grpSpPr>
        <a:xfrm>
          <a:off x="0" y="0"/>
          <a:ext cx="0" cy="0"/>
          <a:chOff x="0" y="0"/>
          <a:chExt cx="0" cy="0"/>
        </a:xfrm>
      </p:grpSpPr>
      <p:sp>
        <p:nvSpPr>
          <p:cNvPr id="64" name="Google Shape;64;p15"/>
          <p:cNvSpPr txBox="1"/>
          <p:nvPr>
            <p:ph type="ctrTitle"/>
          </p:nvPr>
        </p:nvSpPr>
        <p:spPr>
          <a:xfrm>
            <a:off x="3031998" y="1871281"/>
            <a:ext cx="3080100" cy="53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 name="Google Shape;65;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800"/>
              <a:buNone/>
              <a:defRPr/>
            </a:lvl1pPr>
            <a:lvl2pPr lvl="1" algn="l">
              <a:spcBef>
                <a:spcPts val="1200"/>
              </a:spcBef>
              <a:spcAft>
                <a:spcPts val="0"/>
              </a:spcAft>
              <a:buSzPts val="1400"/>
              <a:buNone/>
              <a:defRPr/>
            </a:lvl2pPr>
            <a:lvl3pPr lvl="2" algn="l">
              <a:spcBef>
                <a:spcPts val="1200"/>
              </a:spcBef>
              <a:spcAft>
                <a:spcPts val="0"/>
              </a:spcAft>
              <a:buSzPts val="1400"/>
              <a:buNone/>
              <a:defRPr/>
            </a:lvl3pPr>
            <a:lvl4pPr lvl="3" algn="l">
              <a:spcBef>
                <a:spcPts val="1200"/>
              </a:spcBef>
              <a:spcAft>
                <a:spcPts val="0"/>
              </a:spcAft>
              <a:buSzPts val="1400"/>
              <a:buNone/>
              <a:defRPr/>
            </a:lvl4pPr>
            <a:lvl5pPr lvl="4" algn="l">
              <a:spcBef>
                <a:spcPts val="1200"/>
              </a:spcBef>
              <a:spcAft>
                <a:spcPts val="0"/>
              </a:spcAft>
              <a:buSzPts val="1400"/>
              <a:buNone/>
              <a:defRPr/>
            </a:lvl5pPr>
            <a:lvl6pPr lvl="5" algn="l">
              <a:spcBef>
                <a:spcPts val="1200"/>
              </a:spcBef>
              <a:spcAft>
                <a:spcPts val="0"/>
              </a:spcAft>
              <a:buSzPts val="1400"/>
              <a:buNone/>
              <a:defRPr/>
            </a:lvl6pPr>
            <a:lvl7pPr lvl="6" algn="l">
              <a:spcBef>
                <a:spcPts val="1200"/>
              </a:spcBef>
              <a:spcAft>
                <a:spcPts val="0"/>
              </a:spcAft>
              <a:buSzPts val="1400"/>
              <a:buNone/>
              <a:defRPr/>
            </a:lvl7pPr>
            <a:lvl8pPr lvl="7" algn="l">
              <a:spcBef>
                <a:spcPts val="1200"/>
              </a:spcBef>
              <a:spcAft>
                <a:spcPts val="0"/>
              </a:spcAft>
              <a:buSzPts val="1400"/>
              <a:buNone/>
              <a:defRPr/>
            </a:lvl8pPr>
            <a:lvl9pPr lvl="8" algn="l">
              <a:spcBef>
                <a:spcPts val="1200"/>
              </a:spcBef>
              <a:spcAft>
                <a:spcPts val="1200"/>
              </a:spcAft>
              <a:buSzPts val="1400"/>
              <a:buNone/>
              <a:defRPr/>
            </a:lvl9pPr>
          </a:lstStyle>
          <a:p/>
        </p:txBody>
      </p:sp>
      <p:sp>
        <p:nvSpPr>
          <p:cNvPr id="66" name="Google Shape;66;p15"/>
          <p:cNvSpPr txBox="1"/>
          <p:nvPr>
            <p:ph idx="11" type="ftr"/>
          </p:nvPr>
        </p:nvSpPr>
        <p:spPr>
          <a:xfrm>
            <a:off x="762000" y="5009304"/>
            <a:ext cx="7467600" cy="117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rgbClr val="888888"/>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Layout_1">
    <p:spTree>
      <p:nvGrpSpPr>
        <p:cNvPr id="69" name="Shape 69"/>
        <p:cNvGrpSpPr/>
        <p:nvPr/>
      </p:nvGrpSpPr>
      <p:grpSpPr>
        <a:xfrm>
          <a:off x="0" y="0"/>
          <a:ext cx="0" cy="0"/>
          <a:chOff x="0" y="0"/>
          <a:chExt cx="0" cy="0"/>
        </a:xfrm>
      </p:grpSpPr>
      <p:sp>
        <p:nvSpPr>
          <p:cNvPr id="70" name="Google Shape;70;p1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2800"/>
              <a:buNone/>
              <a:defRPr>
                <a:solidFill>
                  <a:srgbClr val="FF0000"/>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71" name="Google Shape;71;p16"/>
          <p:cNvSpPr txBox="1"/>
          <p:nvPr>
            <p:ph idx="1" type="body"/>
          </p:nvPr>
        </p:nvSpPr>
        <p:spPr>
          <a:xfrm>
            <a:off x="886759" y="4135461"/>
            <a:ext cx="7759800" cy="6252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dk1"/>
              </a:buClr>
              <a:buSzPts val="2400"/>
              <a:buNone/>
              <a:defRPr sz="2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72" name="Google Shape;72;p16"/>
          <p:cNvSpPr txBox="1"/>
          <p:nvPr>
            <p:ph idx="11" type="ftr"/>
          </p:nvPr>
        </p:nvSpPr>
        <p:spPr>
          <a:xfrm>
            <a:off x="215900" y="4869656"/>
            <a:ext cx="8672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305800" y="4767263"/>
            <a:ext cx="499200" cy="273900"/>
          </a:xfrm>
          <a:prstGeom prst="rect">
            <a:avLst/>
          </a:prstGeom>
          <a:noFill/>
          <a:ln>
            <a:noFill/>
          </a:ln>
        </p:spPr>
        <p:txBody>
          <a:bodyPr anchorCtr="0" anchor="t" bIns="45700" lIns="91425" spcFirstLastPara="1" rIns="91425" wrap="square" tIns="45700">
            <a:normAutofit lnSpcReduction="10000"/>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CSE 320: Memory</a:t>
            </a:r>
            <a:endParaRPr/>
          </a:p>
        </p:txBody>
      </p:sp>
      <p:sp>
        <p:nvSpPr>
          <p:cNvPr id="79" name="Google Shape;79;p17"/>
          <p:cNvSpPr txBox="1"/>
          <p:nvPr>
            <p:ph idx="1" type="subTitle"/>
          </p:nvPr>
        </p:nvSpPr>
        <p:spPr>
          <a:xfrm>
            <a:off x="510450" y="3182329"/>
            <a:ext cx="8123100" cy="82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Chapter 6</a:t>
            </a:r>
            <a:endParaRPr/>
          </a:p>
          <a:p>
            <a:pPr indent="0" lvl="0" marL="0" rtl="0" algn="l">
              <a:spcBef>
                <a:spcPts val="0"/>
              </a:spcBef>
              <a:spcAft>
                <a:spcPts val="0"/>
              </a:spcAft>
              <a:buNone/>
            </a:pPr>
            <a:r>
              <a:rPr lang="en"/>
              <a:t>Professor Dan Benz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Memory Hierarchies</a:t>
            </a:r>
            <a:endParaRPr/>
          </a:p>
        </p:txBody>
      </p:sp>
      <p:sp>
        <p:nvSpPr>
          <p:cNvPr id="85" name="Google Shape;85;p18"/>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Some fundamental and enduring properties of hardware and software:</a:t>
            </a:r>
            <a:endParaRPr/>
          </a:p>
          <a:p>
            <a:pPr indent="-285750" lvl="1" marL="742950" rtl="0" algn="l">
              <a:spcBef>
                <a:spcPts val="400"/>
              </a:spcBef>
              <a:spcAft>
                <a:spcPts val="0"/>
              </a:spcAft>
              <a:buSzPts val="2200"/>
              <a:buChar char="○"/>
            </a:pPr>
            <a:r>
              <a:rPr lang="en"/>
              <a:t>Fast storage technologies cost more per byte, have less capacity, and require more power (heat!). </a:t>
            </a:r>
            <a:endParaRPr/>
          </a:p>
          <a:p>
            <a:pPr indent="-285750" lvl="1" marL="742950" rtl="0" algn="l">
              <a:spcBef>
                <a:spcPts val="400"/>
              </a:spcBef>
              <a:spcAft>
                <a:spcPts val="0"/>
              </a:spcAft>
              <a:buSzPts val="2200"/>
              <a:buChar char="○"/>
            </a:pPr>
            <a:r>
              <a:rPr lang="en"/>
              <a:t>The gap between CPU and main memory speed is widening.</a:t>
            </a:r>
            <a:endParaRPr/>
          </a:p>
          <a:p>
            <a:pPr indent="-285750" lvl="1" marL="742950" rtl="0" algn="l">
              <a:spcBef>
                <a:spcPts val="400"/>
              </a:spcBef>
              <a:spcAft>
                <a:spcPts val="0"/>
              </a:spcAft>
              <a:buSzPts val="2200"/>
              <a:buChar char="○"/>
            </a:pPr>
            <a:r>
              <a:rPr lang="en"/>
              <a:t>Well-written programs tend to exhibit good locality.</a:t>
            </a:r>
            <a:endParaRPr/>
          </a:p>
          <a:p>
            <a:pPr indent="-342900" lvl="0" marL="342900" rtl="0" algn="l">
              <a:spcBef>
                <a:spcPts val="480"/>
              </a:spcBef>
              <a:spcAft>
                <a:spcPts val="0"/>
              </a:spcAft>
              <a:buSzPts val="1440"/>
              <a:buChar char="●"/>
            </a:pPr>
            <a:r>
              <a:rPr lang="en"/>
              <a:t>These fundamental properties complement each other beautifully.</a:t>
            </a:r>
            <a:endParaRPr/>
          </a:p>
          <a:p>
            <a:pPr indent="-342900" lvl="0" marL="342900" rtl="0" algn="l">
              <a:spcBef>
                <a:spcPts val="480"/>
              </a:spcBef>
              <a:spcAft>
                <a:spcPts val="0"/>
              </a:spcAft>
              <a:buSzPts val="1440"/>
              <a:buChar char="●"/>
            </a:pPr>
            <a:r>
              <a:rPr lang="en"/>
              <a:t>They suggest an approach for organizing memory and storage systems known as a </a:t>
            </a:r>
            <a:r>
              <a:rPr lang="en">
                <a:solidFill>
                  <a:srgbClr val="FF0000"/>
                </a:solidFill>
              </a:rPr>
              <a:t>memory hierarchy</a:t>
            </a:r>
            <a:r>
              <a:rPr lang="en"/>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Memory Hierarchy:</a:t>
            </a:r>
            <a:endParaRPr/>
          </a:p>
        </p:txBody>
      </p:sp>
      <p:pic>
        <p:nvPicPr>
          <p:cNvPr descr="Memory Hierarchy a pyramid from top to bottom: Registers, Caches, Main Memory (RAM), SSDs, and HDDs. Each level of the pyramid is orders of magnitude slower to access but has an order of magnitude more capacity." id="91" name="Google Shape;91;p19"/>
          <p:cNvPicPr preferRelativeResize="0"/>
          <p:nvPr/>
        </p:nvPicPr>
        <p:blipFill>
          <a:blip r:embed="rId3">
            <a:alphaModFix/>
          </a:blip>
          <a:stretch>
            <a:fillRect/>
          </a:stretch>
        </p:blipFill>
        <p:spPr>
          <a:xfrm>
            <a:off x="1414525" y="1017725"/>
            <a:ext cx="5928188" cy="3820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The CPU-Memory Gap</a:t>
            </a:r>
            <a:endParaRPr/>
          </a:p>
        </p:txBody>
      </p:sp>
      <p:sp>
        <p:nvSpPr>
          <p:cNvPr id="97" name="Google Shape;97;p20"/>
          <p:cNvSpPr/>
          <p:nvPr/>
        </p:nvSpPr>
        <p:spPr>
          <a:xfrm>
            <a:off x="404813" y="857250"/>
            <a:ext cx="8167800" cy="334800"/>
          </a:xfrm>
          <a:prstGeom prst="rect">
            <a:avLst/>
          </a:prstGeom>
          <a:noFill/>
          <a:ln>
            <a:noFill/>
          </a:ln>
        </p:spPr>
        <p:txBody>
          <a:bodyPr anchorCtr="0" anchor="t" bIns="45700" lIns="45700" spcFirstLastPara="1" rIns="45700" wrap="square" tIns="45700">
            <a:noAutofit/>
          </a:bodyPr>
          <a:lstStyle/>
          <a:p>
            <a:pPr indent="0" lvl="0" marL="0" marR="0" rtl="0" algn="l">
              <a:lnSpc>
                <a:spcPct val="95000"/>
              </a:lnSpc>
              <a:spcBef>
                <a:spcPts val="0"/>
              </a:spcBef>
              <a:spcAft>
                <a:spcPts val="0"/>
              </a:spcAft>
              <a:buClr>
                <a:schemeClr val="hlink"/>
              </a:buClr>
              <a:buSzPts val="2400"/>
              <a:buFont typeface="Noto Sans Symbols"/>
              <a:buNone/>
            </a:pPr>
            <a:r>
              <a:rPr b="1" lang="en" sz="2400">
                <a:solidFill>
                  <a:srgbClr val="FF0000"/>
                </a:solidFill>
                <a:latin typeface="Arial Narrow"/>
                <a:ea typeface="Arial Narrow"/>
                <a:cs typeface="Arial Narrow"/>
                <a:sym typeface="Arial Narrow"/>
              </a:rPr>
              <a:t>The gap widens between DRAM, disk, and CPU speeds. </a:t>
            </a:r>
            <a:endParaRPr/>
          </a:p>
        </p:txBody>
      </p:sp>
      <p:pic>
        <p:nvPicPr>
          <p:cNvPr descr="Memory access times over the years for a variety of memory forms." id="98" name="Google Shape;98;p20"/>
          <p:cNvPicPr preferRelativeResize="0"/>
          <p:nvPr/>
        </p:nvPicPr>
        <p:blipFill rotWithShape="1">
          <a:blip r:embed="rId3">
            <a:alphaModFix/>
          </a:blip>
          <a:srcRect b="0" l="0" r="0" t="0"/>
          <a:stretch/>
        </p:blipFill>
        <p:spPr>
          <a:xfrm>
            <a:off x="343569" y="1330457"/>
            <a:ext cx="8421600" cy="3546600"/>
          </a:xfrm>
          <a:prstGeom prst="rect">
            <a:avLst/>
          </a:prstGeom>
          <a:noFill/>
          <a:ln>
            <a:noFill/>
          </a:ln>
        </p:spPr>
      </p:pic>
      <p:sp>
        <p:nvSpPr>
          <p:cNvPr id="99" name="Google Shape;99;p20"/>
          <p:cNvSpPr txBox="1"/>
          <p:nvPr/>
        </p:nvSpPr>
        <p:spPr>
          <a:xfrm>
            <a:off x="5443119" y="3119609"/>
            <a:ext cx="801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FF0000"/>
                </a:solidFill>
                <a:latin typeface="Calibri"/>
                <a:ea typeface="Calibri"/>
                <a:cs typeface="Calibri"/>
                <a:sym typeface="Calibri"/>
              </a:rPr>
              <a:t>DRAM</a:t>
            </a:r>
            <a:endParaRPr/>
          </a:p>
        </p:txBody>
      </p:sp>
      <p:sp>
        <p:nvSpPr>
          <p:cNvPr id="100" name="Google Shape;100;p20"/>
          <p:cNvSpPr txBox="1"/>
          <p:nvPr/>
        </p:nvSpPr>
        <p:spPr>
          <a:xfrm>
            <a:off x="6016278" y="3892017"/>
            <a:ext cx="580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FF0000"/>
                </a:solidFill>
                <a:latin typeface="Calibri"/>
                <a:ea typeface="Calibri"/>
                <a:cs typeface="Calibri"/>
                <a:sym typeface="Calibri"/>
              </a:rPr>
              <a:t>CPU</a:t>
            </a:r>
            <a:endParaRPr/>
          </a:p>
        </p:txBody>
      </p:sp>
      <p:sp>
        <p:nvSpPr>
          <p:cNvPr id="101" name="Google Shape;101;p20"/>
          <p:cNvSpPr txBox="1"/>
          <p:nvPr/>
        </p:nvSpPr>
        <p:spPr>
          <a:xfrm>
            <a:off x="5709193" y="2167883"/>
            <a:ext cx="548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FF0000"/>
                </a:solidFill>
                <a:latin typeface="Calibri"/>
                <a:ea typeface="Calibri"/>
                <a:cs typeface="Calibri"/>
                <a:sym typeface="Calibri"/>
              </a:rPr>
              <a:t>SSD</a:t>
            </a:r>
            <a:endParaRPr/>
          </a:p>
        </p:txBody>
      </p:sp>
      <p:sp>
        <p:nvSpPr>
          <p:cNvPr id="102" name="Google Shape;102;p20"/>
          <p:cNvSpPr txBox="1"/>
          <p:nvPr/>
        </p:nvSpPr>
        <p:spPr>
          <a:xfrm>
            <a:off x="5419036" y="1723251"/>
            <a:ext cx="589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FF0000"/>
                </a:solidFill>
                <a:latin typeface="Calibri"/>
                <a:ea typeface="Calibri"/>
                <a:cs typeface="Calibri"/>
                <a:sym typeface="Calibri"/>
              </a:rPr>
              <a:t>Disk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Locality</a:t>
            </a:r>
            <a:endParaRPr/>
          </a:p>
        </p:txBody>
      </p:sp>
      <p:sp>
        <p:nvSpPr>
          <p:cNvPr id="109" name="Google Shape;109;p21"/>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solidFill>
                  <a:srgbClr val="C00000"/>
                </a:solidFill>
              </a:rPr>
              <a:t>Principle of Locality:</a:t>
            </a:r>
            <a:r>
              <a:rPr lang="en"/>
              <a:t> Programs tend to use data and instructions with addresses near or equal to those they have used recently</a:t>
            </a:r>
            <a:endParaRPr>
              <a:solidFill>
                <a:srgbClr val="C00000"/>
              </a:solidFill>
            </a:endParaRPr>
          </a:p>
          <a:p>
            <a:pPr indent="-342900" lvl="0" marL="342900" rtl="0" algn="l">
              <a:spcBef>
                <a:spcPts val="480"/>
              </a:spcBef>
              <a:spcAft>
                <a:spcPts val="0"/>
              </a:spcAft>
              <a:buSzPts val="1440"/>
              <a:buChar char="●"/>
            </a:pPr>
            <a:r>
              <a:rPr lang="en">
                <a:solidFill>
                  <a:srgbClr val="C00000"/>
                </a:solidFill>
              </a:rPr>
              <a:t>Temporal locality:  </a:t>
            </a:r>
            <a:endParaRPr/>
          </a:p>
          <a:p>
            <a:pPr indent="-285750" lvl="1" marL="742950" rtl="0" algn="l">
              <a:spcBef>
                <a:spcPts val="400"/>
              </a:spcBef>
              <a:spcAft>
                <a:spcPts val="0"/>
              </a:spcAft>
              <a:buSzPts val="2200"/>
              <a:buChar char="○"/>
            </a:pPr>
            <a:r>
              <a:rPr lang="en"/>
              <a:t>Recently referenced items are likely </a:t>
            </a:r>
            <a:br>
              <a:rPr lang="en"/>
            </a:br>
            <a:r>
              <a:rPr lang="en"/>
              <a:t>to be referenced again in the near future</a:t>
            </a:r>
            <a:endParaRPr>
              <a:solidFill>
                <a:srgbClr val="C00000"/>
              </a:solidFill>
            </a:endParaRPr>
          </a:p>
          <a:p>
            <a:pPr indent="-342900" lvl="0" marL="342900" rtl="0" algn="l">
              <a:spcBef>
                <a:spcPts val="480"/>
              </a:spcBef>
              <a:spcAft>
                <a:spcPts val="0"/>
              </a:spcAft>
              <a:buSzPts val="1440"/>
              <a:buChar char="●"/>
            </a:pPr>
            <a:r>
              <a:rPr lang="en">
                <a:solidFill>
                  <a:srgbClr val="C00000"/>
                </a:solidFill>
              </a:rPr>
              <a:t>Spatial locality:  </a:t>
            </a:r>
            <a:endParaRPr/>
          </a:p>
          <a:p>
            <a:pPr indent="-285750" lvl="1" marL="742950" rtl="0" algn="l">
              <a:spcBef>
                <a:spcPts val="400"/>
              </a:spcBef>
              <a:spcAft>
                <a:spcPts val="0"/>
              </a:spcAft>
              <a:buSzPts val="2200"/>
              <a:buChar char="○"/>
            </a:pPr>
            <a:r>
              <a:rPr lang="en"/>
              <a:t>Items with nearby addresses tend </a:t>
            </a:r>
            <a:br>
              <a:rPr lang="en"/>
            </a:br>
            <a:r>
              <a:rPr lang="en"/>
              <a:t>to be referenced close together in time</a:t>
            </a:r>
            <a:endParaRPr/>
          </a:p>
        </p:txBody>
      </p:sp>
      <p:pic>
        <p:nvPicPr>
          <p:cNvPr descr="Spatial and Temporal locality of an array." id="110" name="Google Shape;110;p21"/>
          <p:cNvPicPr preferRelativeResize="0"/>
          <p:nvPr/>
        </p:nvPicPr>
        <p:blipFill>
          <a:blip r:embed="rId3">
            <a:alphaModFix/>
          </a:blip>
          <a:stretch>
            <a:fillRect/>
          </a:stretch>
        </p:blipFill>
        <p:spPr>
          <a:xfrm>
            <a:off x="5628850" y="1953625"/>
            <a:ext cx="2612300" cy="234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37083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Locality Example (1D):</a:t>
            </a:r>
            <a:endParaRPr/>
          </a:p>
        </p:txBody>
      </p:sp>
      <p:sp>
        <p:nvSpPr>
          <p:cNvPr id="116" name="Google Shape;116;p22"/>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Data references</a:t>
            </a:r>
            <a:endParaRPr/>
          </a:p>
          <a:p>
            <a:pPr indent="-285750" lvl="1" marL="742950" rtl="0" algn="l">
              <a:spcBef>
                <a:spcPts val="400"/>
              </a:spcBef>
              <a:spcAft>
                <a:spcPts val="0"/>
              </a:spcAft>
              <a:buSzPts val="2200"/>
              <a:buChar char="○"/>
            </a:pPr>
            <a:r>
              <a:rPr lang="en"/>
              <a:t>Reference array elements in succession (stride-1 reference pattern).</a:t>
            </a:r>
            <a:endParaRPr/>
          </a:p>
          <a:p>
            <a:pPr indent="-285750" lvl="1" marL="742950" rtl="0" algn="l">
              <a:spcBef>
                <a:spcPts val="400"/>
              </a:spcBef>
              <a:spcAft>
                <a:spcPts val="0"/>
              </a:spcAft>
              <a:buSzPts val="2200"/>
              <a:buChar char="○"/>
            </a:pPr>
            <a:r>
              <a:rPr lang="en"/>
              <a:t>Reference variable </a:t>
            </a:r>
            <a:r>
              <a:rPr lang="en">
                <a:latin typeface="Courier New"/>
                <a:ea typeface="Courier New"/>
                <a:cs typeface="Courier New"/>
                <a:sym typeface="Courier New"/>
              </a:rPr>
              <a:t>sum</a:t>
            </a:r>
            <a:r>
              <a:rPr lang="en"/>
              <a:t> each iteration.</a:t>
            </a:r>
            <a:endParaRPr/>
          </a:p>
          <a:p>
            <a:pPr indent="-342900" lvl="0" marL="342900" rtl="0" algn="l">
              <a:spcBef>
                <a:spcPts val="480"/>
              </a:spcBef>
              <a:spcAft>
                <a:spcPts val="0"/>
              </a:spcAft>
              <a:buSzPts val="1440"/>
              <a:buChar char="●"/>
            </a:pPr>
            <a:r>
              <a:rPr lang="en"/>
              <a:t>Instruction references</a:t>
            </a:r>
            <a:endParaRPr/>
          </a:p>
          <a:p>
            <a:pPr indent="-285750" lvl="1" marL="742950" rtl="0" algn="l">
              <a:spcBef>
                <a:spcPts val="400"/>
              </a:spcBef>
              <a:spcAft>
                <a:spcPts val="0"/>
              </a:spcAft>
              <a:buSzPts val="2200"/>
              <a:buChar char="○"/>
            </a:pPr>
            <a:r>
              <a:rPr lang="en"/>
              <a:t>Reference instructions in sequence.</a:t>
            </a:r>
            <a:endParaRPr/>
          </a:p>
          <a:p>
            <a:pPr indent="-285750" lvl="1" marL="742950" rtl="0" algn="l">
              <a:spcBef>
                <a:spcPts val="400"/>
              </a:spcBef>
              <a:spcAft>
                <a:spcPts val="0"/>
              </a:spcAft>
              <a:buSzPts val="2200"/>
              <a:buChar char="○"/>
            </a:pPr>
            <a:r>
              <a:rPr lang="en"/>
              <a:t>Cycle through loop repeatedly. </a:t>
            </a:r>
            <a:endParaRPr/>
          </a:p>
        </p:txBody>
      </p:sp>
      <p:sp>
        <p:nvSpPr>
          <p:cNvPr id="117" name="Google Shape;117;p22"/>
          <p:cNvSpPr/>
          <p:nvPr/>
        </p:nvSpPr>
        <p:spPr>
          <a:xfrm>
            <a:off x="4019925" y="244975"/>
            <a:ext cx="3044700" cy="1112100"/>
          </a:xfrm>
          <a:prstGeom prst="rect">
            <a:avLst/>
          </a:prstGeom>
          <a:solidFill>
            <a:srgbClr val="F7F5CD"/>
          </a:solidFill>
          <a:ln cap="flat" cmpd="sng"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sum = 0;</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for (i = 0; i &lt; n; i++)</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sum += a[i];</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return sum;</a:t>
            </a:r>
            <a:endParaRPr/>
          </a:p>
        </p:txBody>
      </p:sp>
      <p:sp>
        <p:nvSpPr>
          <p:cNvPr id="118" name="Google Shape;118;p22"/>
          <p:cNvSpPr txBox="1"/>
          <p:nvPr/>
        </p:nvSpPr>
        <p:spPr>
          <a:xfrm>
            <a:off x="6508925" y="1471368"/>
            <a:ext cx="2045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rgbClr val="FF0000"/>
                </a:solidFill>
                <a:latin typeface="Calibri"/>
                <a:ea typeface="Calibri"/>
                <a:cs typeface="Calibri"/>
                <a:sym typeface="Calibri"/>
              </a:rPr>
              <a:t>Spatial locality</a:t>
            </a:r>
            <a:endParaRPr/>
          </a:p>
        </p:txBody>
      </p:sp>
      <p:sp>
        <p:nvSpPr>
          <p:cNvPr id="119" name="Google Shape;119;p22"/>
          <p:cNvSpPr txBox="1"/>
          <p:nvPr/>
        </p:nvSpPr>
        <p:spPr>
          <a:xfrm>
            <a:off x="4303700" y="1979125"/>
            <a:ext cx="2369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rgbClr val="FF0000"/>
                </a:solidFill>
                <a:latin typeface="Calibri"/>
                <a:ea typeface="Calibri"/>
                <a:cs typeface="Calibri"/>
                <a:sym typeface="Calibri"/>
              </a:rPr>
              <a:t>Temporal locality</a:t>
            </a:r>
            <a:endParaRPr/>
          </a:p>
        </p:txBody>
      </p:sp>
      <p:sp>
        <p:nvSpPr>
          <p:cNvPr id="120" name="Google Shape;120;p22"/>
          <p:cNvSpPr txBox="1"/>
          <p:nvPr/>
        </p:nvSpPr>
        <p:spPr>
          <a:xfrm>
            <a:off x="4188250" y="2894750"/>
            <a:ext cx="2045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rgbClr val="FF0000"/>
                </a:solidFill>
                <a:latin typeface="Calibri"/>
                <a:ea typeface="Calibri"/>
                <a:cs typeface="Calibri"/>
                <a:sym typeface="Calibri"/>
              </a:rPr>
              <a:t>Spatial locality</a:t>
            </a:r>
            <a:endParaRPr/>
          </a:p>
        </p:txBody>
      </p:sp>
      <p:sp>
        <p:nvSpPr>
          <p:cNvPr id="121" name="Google Shape;121;p22"/>
          <p:cNvSpPr txBox="1"/>
          <p:nvPr/>
        </p:nvSpPr>
        <p:spPr>
          <a:xfrm>
            <a:off x="4188250" y="3304968"/>
            <a:ext cx="2369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rgbClr val="FF0000"/>
                </a:solidFill>
                <a:latin typeface="Calibri"/>
                <a:ea typeface="Calibri"/>
                <a:cs typeface="Calibri"/>
                <a:sym typeface="Calibri"/>
              </a:rPr>
              <a:t>Temporal locality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Qualitative Estimates of Locality</a:t>
            </a:r>
            <a:endParaRPr/>
          </a:p>
        </p:txBody>
      </p:sp>
      <p:sp>
        <p:nvSpPr>
          <p:cNvPr id="127" name="Google Shape;127;p23"/>
          <p:cNvSpPr txBox="1"/>
          <p:nvPr>
            <p:ph idx="1" type="body"/>
          </p:nvPr>
        </p:nvSpPr>
        <p:spPr>
          <a:xfrm>
            <a:off x="311700" y="1152475"/>
            <a:ext cx="8520600" cy="1066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solidFill>
                  <a:srgbClr val="FF0000"/>
                </a:solidFill>
              </a:rPr>
              <a:t>Claim:</a:t>
            </a:r>
            <a:r>
              <a:rPr lang="en"/>
              <a:t> Being able to look at code and get a qualitative sense of its locality is a key skill for a professional programmer.</a:t>
            </a:r>
            <a:endParaRPr/>
          </a:p>
          <a:p>
            <a:pPr indent="-342900" lvl="0" marL="342900" rtl="0" algn="l">
              <a:spcBef>
                <a:spcPts val="480"/>
              </a:spcBef>
              <a:spcAft>
                <a:spcPts val="0"/>
              </a:spcAft>
              <a:buSzPts val="1440"/>
              <a:buChar char="●"/>
            </a:pPr>
            <a:r>
              <a:rPr lang="en">
                <a:solidFill>
                  <a:srgbClr val="FF0000"/>
                </a:solidFill>
              </a:rPr>
              <a:t>Question:</a:t>
            </a:r>
            <a:r>
              <a:rPr lang="en"/>
              <a:t> Does this function have good locality with respect to array </a:t>
            </a:r>
            <a:r>
              <a:rPr b="0" lang="en">
                <a:latin typeface="Courier New"/>
                <a:ea typeface="Courier New"/>
                <a:cs typeface="Courier New"/>
                <a:sym typeface="Courier New"/>
              </a:rPr>
              <a:t>a</a:t>
            </a:r>
            <a:r>
              <a:rPr lang="en"/>
              <a:t>?</a:t>
            </a:r>
            <a:endParaRPr/>
          </a:p>
        </p:txBody>
      </p:sp>
      <p:sp>
        <p:nvSpPr>
          <p:cNvPr id="128" name="Google Shape;128;p23"/>
          <p:cNvSpPr txBox="1"/>
          <p:nvPr/>
        </p:nvSpPr>
        <p:spPr>
          <a:xfrm>
            <a:off x="2140375" y="2283715"/>
            <a:ext cx="4441800" cy="2308800"/>
          </a:xfrm>
          <a:prstGeom prst="rect">
            <a:avLst/>
          </a:prstGeom>
          <a:solidFill>
            <a:srgbClr val="F6F5BD"/>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int sum_array_rows(int a[M][N])</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int i, j, sum = 0;</a:t>
            </a:r>
            <a:endParaRPr b="1" sz="18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for (i = 0; i &lt; M; i++)</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for (j = 0; j &lt; N; j++)</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sum += a[i][j];</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return sum;</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42603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Locality Example (3D):</a:t>
            </a:r>
            <a:endParaRPr/>
          </a:p>
        </p:txBody>
      </p:sp>
      <p:sp>
        <p:nvSpPr>
          <p:cNvPr id="134" name="Google Shape;134;p24"/>
          <p:cNvSpPr txBox="1"/>
          <p:nvPr>
            <p:ph idx="1" type="body"/>
          </p:nvPr>
        </p:nvSpPr>
        <p:spPr>
          <a:xfrm>
            <a:off x="311700" y="1152475"/>
            <a:ext cx="8520600" cy="761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solidFill>
                  <a:srgbClr val="FF0000"/>
                </a:solidFill>
              </a:rPr>
              <a:t>Question</a:t>
            </a:r>
            <a:r>
              <a:rPr lang="en"/>
              <a:t>: Can you permute the loops so that the function scans the 3-d array </a:t>
            </a:r>
            <a:r>
              <a:rPr b="0" lang="en">
                <a:latin typeface="Courier New"/>
                <a:ea typeface="Courier New"/>
                <a:cs typeface="Courier New"/>
                <a:sym typeface="Courier New"/>
              </a:rPr>
              <a:t>a </a:t>
            </a:r>
            <a:r>
              <a:rPr lang="en"/>
              <a:t>with a stride-1 reference pattern (and thus has good spatial locality)?</a:t>
            </a:r>
            <a:endParaRPr/>
          </a:p>
        </p:txBody>
      </p:sp>
      <p:sp>
        <p:nvSpPr>
          <p:cNvPr id="135" name="Google Shape;135;p24"/>
          <p:cNvSpPr txBox="1"/>
          <p:nvPr/>
        </p:nvSpPr>
        <p:spPr>
          <a:xfrm>
            <a:off x="1894038" y="1913585"/>
            <a:ext cx="4987800" cy="2586000"/>
          </a:xfrm>
          <a:prstGeom prst="rect">
            <a:avLst/>
          </a:prstGeom>
          <a:solidFill>
            <a:srgbClr val="F6F5BD"/>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int sum_array_3d(int a[M][N][N])</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int i, j, k, sum = 0;</a:t>
            </a:r>
            <a:endParaRPr b="1" sz="18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for (i = 0; i &lt; N; i++)</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for (j = 0; j &lt; N; j++)</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for (k = 0; k &lt; M; k++)</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sum += a[k][i][j];</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    return sum;</a:t>
            </a:r>
            <a:endParaRPr/>
          </a:p>
          <a:p>
            <a:pPr indent="0" lvl="0" marL="0" marR="0" rtl="0" algn="l">
              <a:lnSpc>
                <a:spcPct val="100000"/>
              </a:lnSpc>
              <a:spcBef>
                <a:spcPts val="0"/>
              </a:spcBef>
              <a:spcAft>
                <a:spcPts val="0"/>
              </a:spcAft>
              <a:buNone/>
            </a:pPr>
            <a:r>
              <a:rPr b="1" lang="en" sz="1800">
                <a:solidFill>
                  <a:schemeClr val="dk1"/>
                </a:solidFill>
                <a:latin typeface="Courier New"/>
                <a:ea typeface="Courier New"/>
                <a:cs typeface="Courier New"/>
                <a:sym typeface="Courier New"/>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Hardware:</a:t>
            </a:r>
            <a:endParaRPr/>
          </a:p>
        </p:txBody>
      </p:sp>
      <p:sp>
        <p:nvSpPr>
          <p:cNvPr id="141" name="Google Shape;14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does memory actually work</a:t>
            </a:r>
            <a:endParaRPr/>
          </a:p>
          <a:p>
            <a:pPr indent="-317500" lvl="1" marL="914400" rtl="0" algn="l">
              <a:spcBef>
                <a:spcPts val="0"/>
              </a:spcBef>
              <a:spcAft>
                <a:spcPts val="0"/>
              </a:spcAft>
              <a:buSzPts val="1400"/>
              <a:buChar char="○"/>
            </a:pPr>
            <a:r>
              <a:rPr lang="en"/>
              <a:t>RAM (Random Access Memory, “main memory”)</a:t>
            </a:r>
            <a:endParaRPr/>
          </a:p>
          <a:p>
            <a:pPr indent="-317500" lvl="1" marL="914400" rtl="0" algn="l">
              <a:spcBef>
                <a:spcPts val="0"/>
              </a:spcBef>
              <a:spcAft>
                <a:spcPts val="0"/>
              </a:spcAft>
              <a:buSzPts val="1400"/>
              <a:buChar char="○"/>
            </a:pPr>
            <a:r>
              <a:rPr lang="en"/>
              <a:t>SSDs (solid state drives, a middle ground between disk and RAM)</a:t>
            </a:r>
            <a:endParaRPr/>
          </a:p>
          <a:p>
            <a:pPr indent="-317500" lvl="1" marL="914400" rtl="0" algn="l">
              <a:spcBef>
                <a:spcPts val="0"/>
              </a:spcBef>
              <a:spcAft>
                <a:spcPts val="0"/>
              </a:spcAft>
              <a:buSzPts val="1400"/>
              <a:buChar char="○"/>
            </a:pPr>
            <a:r>
              <a:rPr lang="en"/>
              <a:t>HDDs (Hard disk drives, “Disk”)</a:t>
            </a:r>
            <a:endParaRPr/>
          </a:p>
          <a:p>
            <a:pPr indent="-317500" lvl="1" marL="914400" rtl="0" algn="l">
              <a:spcBef>
                <a:spcPts val="0"/>
              </a:spcBef>
              <a:spcAft>
                <a:spcPts val="0"/>
              </a:spcAft>
              <a:buSzPts val="1400"/>
              <a:buChar char="○"/>
            </a:pPr>
            <a:r>
              <a:rPr lang="en"/>
              <a:t>Other memory devices</a:t>
            </a:r>
            <a:endParaRPr/>
          </a:p>
          <a:p>
            <a:pPr indent="-342900" lvl="0" marL="457200" rtl="0" algn="l">
              <a:spcBef>
                <a:spcPts val="0"/>
              </a:spcBef>
              <a:spcAft>
                <a:spcPts val="0"/>
              </a:spcAft>
              <a:buSzPts val="1800"/>
              <a:buChar char="●"/>
            </a:pPr>
            <a:r>
              <a:rPr lang="en"/>
              <a:t>We can then use this knowledge to write better code</a:t>
            </a:r>
            <a:endParaRPr/>
          </a:p>
          <a:p>
            <a:pPr indent="-317500" lvl="1" marL="914400" rtl="0" algn="l">
              <a:spcBef>
                <a:spcPts val="0"/>
              </a:spcBef>
              <a:spcAft>
                <a:spcPts val="0"/>
              </a:spcAft>
              <a:buSzPts val="1400"/>
              <a:buChar char="○"/>
            </a:pPr>
            <a:r>
              <a:rPr lang="en"/>
              <a:t>Or at least understand OS design decisions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What’s Inside A Disk Drive?</a:t>
            </a:r>
            <a:endParaRPr/>
          </a:p>
        </p:txBody>
      </p:sp>
      <p:pic>
        <p:nvPicPr>
          <p:cNvPr descr="Labeled description of the parts of a HDD." id="147" name="Google Shape;147;p26"/>
          <p:cNvPicPr preferRelativeResize="0"/>
          <p:nvPr/>
        </p:nvPicPr>
        <p:blipFill>
          <a:blip r:embed="rId3">
            <a:alphaModFix/>
          </a:blip>
          <a:stretch>
            <a:fillRect/>
          </a:stretch>
        </p:blipFill>
        <p:spPr>
          <a:xfrm>
            <a:off x="1000600" y="1017725"/>
            <a:ext cx="6679964"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Geometry</a:t>
            </a:r>
            <a:endParaRPr/>
          </a:p>
        </p:txBody>
      </p:sp>
      <p:sp>
        <p:nvSpPr>
          <p:cNvPr id="153" name="Google Shape;153;p27"/>
          <p:cNvSpPr txBox="1"/>
          <p:nvPr>
            <p:ph idx="1" type="body"/>
          </p:nvPr>
        </p:nvSpPr>
        <p:spPr>
          <a:xfrm>
            <a:off x="311700" y="1009977"/>
            <a:ext cx="8520600" cy="1231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Disks consist of </a:t>
            </a:r>
            <a:r>
              <a:rPr lang="en">
                <a:solidFill>
                  <a:srgbClr val="FF0000"/>
                </a:solidFill>
              </a:rPr>
              <a:t>platters</a:t>
            </a:r>
            <a:r>
              <a:rPr lang="en"/>
              <a:t>, each with two </a:t>
            </a:r>
            <a:r>
              <a:rPr lang="en">
                <a:solidFill>
                  <a:srgbClr val="FF0000"/>
                </a:solidFill>
              </a:rPr>
              <a:t>surfaces</a:t>
            </a:r>
            <a:r>
              <a:rPr lang="en"/>
              <a:t>.</a:t>
            </a:r>
            <a:endParaRPr/>
          </a:p>
          <a:p>
            <a:pPr indent="-342900" lvl="0" marL="342900" rtl="0" algn="l">
              <a:spcBef>
                <a:spcPts val="480"/>
              </a:spcBef>
              <a:spcAft>
                <a:spcPts val="0"/>
              </a:spcAft>
              <a:buSzPts val="1440"/>
              <a:buChar char="●"/>
            </a:pPr>
            <a:r>
              <a:rPr lang="en"/>
              <a:t>Each surface consists of concentric rings called </a:t>
            </a:r>
            <a:r>
              <a:rPr lang="en">
                <a:solidFill>
                  <a:srgbClr val="FF0000"/>
                </a:solidFill>
              </a:rPr>
              <a:t>tracks</a:t>
            </a:r>
            <a:r>
              <a:rPr lang="en"/>
              <a:t>.</a:t>
            </a:r>
            <a:endParaRPr/>
          </a:p>
          <a:p>
            <a:pPr indent="-342900" lvl="0" marL="342900" rtl="0" algn="l">
              <a:spcBef>
                <a:spcPts val="480"/>
              </a:spcBef>
              <a:spcAft>
                <a:spcPts val="0"/>
              </a:spcAft>
              <a:buSzPts val="1440"/>
              <a:buChar char="●"/>
            </a:pPr>
            <a:r>
              <a:rPr lang="en"/>
              <a:t>Each track consists of </a:t>
            </a:r>
            <a:r>
              <a:rPr lang="en">
                <a:solidFill>
                  <a:srgbClr val="FF0000"/>
                </a:solidFill>
              </a:rPr>
              <a:t>sectors</a:t>
            </a:r>
            <a:r>
              <a:rPr lang="en"/>
              <a:t> separated by </a:t>
            </a:r>
            <a:r>
              <a:rPr lang="en">
                <a:solidFill>
                  <a:srgbClr val="FF0000"/>
                </a:solidFill>
              </a:rPr>
              <a:t>gaps</a:t>
            </a:r>
            <a:r>
              <a:rPr lang="en"/>
              <a:t>.</a:t>
            </a:r>
            <a:endParaRPr/>
          </a:p>
        </p:txBody>
      </p:sp>
      <p:pic>
        <p:nvPicPr>
          <p:cNvPr descr="Diagram of disk surface with tracks and sectors identified." id="154" name="Google Shape;154;p27"/>
          <p:cNvPicPr preferRelativeResize="0"/>
          <p:nvPr/>
        </p:nvPicPr>
        <p:blipFill>
          <a:blip r:embed="rId3">
            <a:alphaModFix/>
          </a:blip>
          <a:stretch>
            <a:fillRect/>
          </a:stretch>
        </p:blipFill>
        <p:spPr>
          <a:xfrm>
            <a:off x="721200" y="2314377"/>
            <a:ext cx="7195665" cy="2597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Geometry (Muliple-Platter View)</a:t>
            </a:r>
            <a:endParaRPr/>
          </a:p>
        </p:txBody>
      </p:sp>
      <p:sp>
        <p:nvSpPr>
          <p:cNvPr id="160" name="Google Shape;160;p28"/>
          <p:cNvSpPr txBox="1"/>
          <p:nvPr>
            <p:ph idx="1" type="body"/>
          </p:nvPr>
        </p:nvSpPr>
        <p:spPr>
          <a:xfrm>
            <a:off x="311700" y="1120736"/>
            <a:ext cx="8520600" cy="609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 Aligned tracks form a cylinder.</a:t>
            </a:r>
            <a:endParaRPr/>
          </a:p>
        </p:txBody>
      </p:sp>
      <p:pic>
        <p:nvPicPr>
          <p:cNvPr descr="Side view of disk to see cylinders." id="161" name="Google Shape;161;p28"/>
          <p:cNvPicPr preferRelativeResize="0"/>
          <p:nvPr/>
        </p:nvPicPr>
        <p:blipFill>
          <a:blip r:embed="rId3">
            <a:alphaModFix/>
          </a:blip>
          <a:stretch>
            <a:fillRect/>
          </a:stretch>
        </p:blipFill>
        <p:spPr>
          <a:xfrm>
            <a:off x="1412400" y="1730336"/>
            <a:ext cx="6540698" cy="31083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Operation (Multi-Platter View)</a:t>
            </a:r>
            <a:endParaRPr/>
          </a:p>
        </p:txBody>
      </p:sp>
      <p:pic>
        <p:nvPicPr>
          <p:cNvPr descr="Side view of disk to see how arms interact across a cylinder." id="167" name="Google Shape;167;p29"/>
          <p:cNvPicPr preferRelativeResize="0"/>
          <p:nvPr/>
        </p:nvPicPr>
        <p:blipFill>
          <a:blip r:embed="rId3">
            <a:alphaModFix/>
          </a:blip>
          <a:stretch>
            <a:fillRect/>
          </a:stretch>
        </p:blipFill>
        <p:spPr>
          <a:xfrm>
            <a:off x="773050" y="1315550"/>
            <a:ext cx="6191250" cy="2790825"/>
          </a:xfrm>
          <a:prstGeom prst="rect">
            <a:avLst/>
          </a:prstGeom>
          <a:noFill/>
          <a:ln>
            <a:noFill/>
          </a:ln>
        </p:spPr>
      </p:pic>
      <p:sp>
        <p:nvSpPr>
          <p:cNvPr id="168" name="Google Shape;168;p29"/>
          <p:cNvSpPr txBox="1"/>
          <p:nvPr/>
        </p:nvSpPr>
        <p:spPr>
          <a:xfrm>
            <a:off x="4681050" y="1108761"/>
            <a:ext cx="22002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lang="en" sz="1600">
                <a:solidFill>
                  <a:schemeClr val="dk1"/>
                </a:solidFill>
                <a:latin typeface="Arial Narrow"/>
                <a:ea typeface="Arial Narrow"/>
                <a:cs typeface="Arial Narrow"/>
                <a:sym typeface="Arial Narrow"/>
              </a:rPr>
              <a:t>Read/write heads </a:t>
            </a:r>
            <a:endParaRPr/>
          </a:p>
          <a:p>
            <a:pPr indent="0" lvl="0" marL="0" marR="0" rtl="0" algn="ctr">
              <a:lnSpc>
                <a:spcPct val="100000"/>
              </a:lnSpc>
              <a:spcBef>
                <a:spcPts val="0"/>
              </a:spcBef>
              <a:spcAft>
                <a:spcPts val="0"/>
              </a:spcAft>
              <a:buNone/>
            </a:pPr>
            <a:r>
              <a:rPr b="1" lang="en" sz="1600">
                <a:solidFill>
                  <a:schemeClr val="dk1"/>
                </a:solidFill>
                <a:latin typeface="Arial Narrow"/>
                <a:ea typeface="Arial Narrow"/>
                <a:cs typeface="Arial Narrow"/>
                <a:sym typeface="Arial Narrow"/>
              </a:rPr>
              <a:t>move in unison</a:t>
            </a:r>
            <a:endParaRPr/>
          </a:p>
          <a:p>
            <a:pPr indent="0" lvl="0" marL="0" marR="0" rtl="0" algn="ctr">
              <a:lnSpc>
                <a:spcPct val="100000"/>
              </a:lnSpc>
              <a:spcBef>
                <a:spcPts val="0"/>
              </a:spcBef>
              <a:spcAft>
                <a:spcPts val="0"/>
              </a:spcAft>
              <a:buNone/>
            </a:pPr>
            <a:r>
              <a:rPr b="1" lang="en" sz="1600">
                <a:solidFill>
                  <a:schemeClr val="dk1"/>
                </a:solidFill>
                <a:latin typeface="Arial Narrow"/>
                <a:ea typeface="Arial Narrow"/>
                <a:cs typeface="Arial Narrow"/>
                <a:sym typeface="Arial Narrow"/>
              </a:rPr>
              <a:t>from cylinder to cylinder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 Computing Disk Capacity</a:t>
            </a:r>
            <a:endParaRPr/>
          </a:p>
        </p:txBody>
      </p:sp>
      <p:sp>
        <p:nvSpPr>
          <p:cNvPr id="174" name="Google Shape;174;p30"/>
          <p:cNvSpPr txBox="1"/>
          <p:nvPr>
            <p:ph idx="1" type="body"/>
          </p:nvPr>
        </p:nvSpPr>
        <p:spPr>
          <a:xfrm>
            <a:off x="311700" y="1152475"/>
            <a:ext cx="7403700" cy="34164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l">
              <a:spcBef>
                <a:spcPts val="0"/>
              </a:spcBef>
              <a:spcAft>
                <a:spcPts val="0"/>
              </a:spcAft>
              <a:buSzPct val="100000"/>
              <a:buChar char="●"/>
            </a:pPr>
            <a:r>
              <a:rPr lang="en" sz="2000"/>
              <a:t>Capacity: maximum number of bits that can be stored</a:t>
            </a:r>
            <a:endParaRPr sz="2000"/>
          </a:p>
          <a:p>
            <a:pPr indent="-346075" lvl="1" marL="914400" rtl="0" algn="l">
              <a:spcBef>
                <a:spcPts val="0"/>
              </a:spcBef>
              <a:spcAft>
                <a:spcPts val="0"/>
              </a:spcAft>
              <a:buSzPct val="100000"/>
              <a:buChar char="○"/>
            </a:pPr>
            <a:r>
              <a:rPr lang="en"/>
              <a:t>Vendors express capacity in units of gigabytes (GB),  where 1 GB = 10</a:t>
            </a:r>
            <a:r>
              <a:rPr baseline="30000" lang="en"/>
              <a:t>9</a:t>
            </a:r>
            <a:r>
              <a:rPr lang="en"/>
              <a:t> Bytes. </a:t>
            </a:r>
            <a:endParaRPr sz="2000"/>
          </a:p>
          <a:p>
            <a:pPr indent="-346075" lvl="0" marL="457200" rtl="0" algn="l">
              <a:spcBef>
                <a:spcPts val="0"/>
              </a:spcBef>
              <a:spcAft>
                <a:spcPts val="0"/>
              </a:spcAft>
              <a:buSzPct val="100000"/>
              <a:buChar char="●"/>
            </a:pPr>
            <a:r>
              <a:rPr lang="en" sz="2000"/>
              <a:t>Capacity =  (# bytes/sector) x (avg. # sectors/track) x (#tracks/surface) x (# surfaces/platter) x  (# platters/disk)</a:t>
            </a:r>
            <a:endParaRPr/>
          </a:p>
          <a:p>
            <a:pPr indent="-346075" lvl="0" marL="457200" rtl="0" algn="l">
              <a:spcBef>
                <a:spcPts val="0"/>
              </a:spcBef>
              <a:spcAft>
                <a:spcPts val="0"/>
              </a:spcAft>
              <a:buSzPct val="100000"/>
              <a:buChar char="●"/>
            </a:pPr>
            <a:r>
              <a:rPr lang="en" sz="2000"/>
              <a:t>Example:</a:t>
            </a:r>
            <a:endParaRPr/>
          </a:p>
          <a:p>
            <a:pPr indent="-334328" lvl="1" marL="914400" rtl="0" algn="l">
              <a:spcBef>
                <a:spcPts val="0"/>
              </a:spcBef>
              <a:spcAft>
                <a:spcPts val="0"/>
              </a:spcAft>
              <a:buSzPct val="100000"/>
              <a:buChar char="○"/>
            </a:pPr>
            <a:r>
              <a:rPr lang="en" sz="1800"/>
              <a:t>512 bytes/sector</a:t>
            </a:r>
            <a:endParaRPr/>
          </a:p>
          <a:p>
            <a:pPr indent="-334328" lvl="1" marL="914400" rtl="0" algn="l">
              <a:spcBef>
                <a:spcPts val="0"/>
              </a:spcBef>
              <a:spcAft>
                <a:spcPts val="0"/>
              </a:spcAft>
              <a:buSzPct val="100000"/>
              <a:buChar char="○"/>
            </a:pPr>
            <a:r>
              <a:rPr lang="en" sz="1800"/>
              <a:t>300 sectors/track (on average)</a:t>
            </a:r>
            <a:endParaRPr/>
          </a:p>
          <a:p>
            <a:pPr indent="-334328" lvl="1" marL="914400" rtl="0" algn="l">
              <a:spcBef>
                <a:spcPts val="0"/>
              </a:spcBef>
              <a:spcAft>
                <a:spcPts val="0"/>
              </a:spcAft>
              <a:buSzPct val="100000"/>
              <a:buChar char="○"/>
            </a:pPr>
            <a:r>
              <a:rPr lang="en" sz="1800"/>
              <a:t>20,000 tracks/surface</a:t>
            </a:r>
            <a:endParaRPr/>
          </a:p>
          <a:p>
            <a:pPr indent="-334328" lvl="1" marL="914400" rtl="0" algn="l">
              <a:spcBef>
                <a:spcPts val="0"/>
              </a:spcBef>
              <a:spcAft>
                <a:spcPts val="0"/>
              </a:spcAft>
              <a:buSzPct val="100000"/>
              <a:buChar char="○"/>
            </a:pPr>
            <a:r>
              <a:rPr lang="en" sz="1800"/>
              <a:t>2 surfaces/platter</a:t>
            </a:r>
            <a:endParaRPr/>
          </a:p>
          <a:p>
            <a:pPr indent="-334328" lvl="1" marL="914400" rtl="0" algn="l">
              <a:spcBef>
                <a:spcPts val="0"/>
              </a:spcBef>
              <a:spcAft>
                <a:spcPts val="0"/>
              </a:spcAft>
              <a:buSzPct val="100000"/>
              <a:buChar char="○"/>
            </a:pPr>
            <a:r>
              <a:rPr lang="en" sz="1800"/>
              <a:t>5 platters/disk</a:t>
            </a:r>
            <a:endParaRPr sz="1800"/>
          </a:p>
          <a:p>
            <a:pPr indent="-346075" lvl="0" marL="457200" rtl="0" algn="l">
              <a:spcBef>
                <a:spcPts val="0"/>
              </a:spcBef>
              <a:spcAft>
                <a:spcPts val="0"/>
              </a:spcAft>
              <a:buSzPct val="100000"/>
              <a:buChar char="●"/>
            </a:pPr>
            <a:r>
              <a:rPr lang="en" sz="2000"/>
              <a:t>Capacity = 512 x 300 x 20000 x 2 x 5 = 30,720,000,000 = 30.72 GB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Structure - top view of single platter</a:t>
            </a:r>
            <a:endParaRPr/>
          </a:p>
        </p:txBody>
      </p:sp>
      <p:pic>
        <p:nvPicPr>
          <p:cNvPr descr="Top view of a platter of a HDD with labels for Surface and Tracks." id="180" name="Google Shape;180;p31"/>
          <p:cNvPicPr preferRelativeResize="0"/>
          <p:nvPr/>
        </p:nvPicPr>
        <p:blipFill>
          <a:blip r:embed="rId3">
            <a:alphaModFix/>
          </a:blip>
          <a:stretch>
            <a:fillRect/>
          </a:stretch>
        </p:blipFill>
        <p:spPr>
          <a:xfrm>
            <a:off x="1428100" y="1394050"/>
            <a:ext cx="6391275" cy="2428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Access</a:t>
            </a:r>
            <a:endParaRPr/>
          </a:p>
        </p:txBody>
      </p:sp>
      <p:pic>
        <p:nvPicPr>
          <p:cNvPr descr="Top view of a Platter with labels and colors to describe the three phases of time when accessing data of a HDD." id="186" name="Google Shape;186;p32"/>
          <p:cNvPicPr preferRelativeResize="0"/>
          <p:nvPr/>
        </p:nvPicPr>
        <p:blipFill>
          <a:blip r:embed="rId3">
            <a:alphaModFix/>
          </a:blip>
          <a:stretch>
            <a:fillRect/>
          </a:stretch>
        </p:blipFill>
        <p:spPr>
          <a:xfrm>
            <a:off x="959875" y="1017725"/>
            <a:ext cx="6913718"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Access Time</a:t>
            </a:r>
            <a:endParaRPr/>
          </a:p>
        </p:txBody>
      </p:sp>
      <p:sp>
        <p:nvSpPr>
          <p:cNvPr id="192" name="Google Shape;192;p33"/>
          <p:cNvSpPr txBox="1"/>
          <p:nvPr>
            <p:ph idx="1" type="body"/>
          </p:nvPr>
        </p:nvSpPr>
        <p:spPr>
          <a:xfrm>
            <a:off x="311700" y="1152475"/>
            <a:ext cx="4886100" cy="3416400"/>
          </a:xfrm>
          <a:prstGeom prst="rect">
            <a:avLst/>
          </a:prstGeom>
          <a:noFill/>
          <a:ln>
            <a:noFill/>
          </a:ln>
        </p:spPr>
        <p:txBody>
          <a:bodyPr anchorCtr="0" anchor="t" bIns="45700" lIns="91425" spcFirstLastPara="1" rIns="91425" wrap="square" tIns="45700">
            <a:normAutofit fontScale="70000" lnSpcReduction="20000"/>
          </a:bodyPr>
          <a:lstStyle/>
          <a:p>
            <a:pPr indent="-315468" lvl="0" marL="342900" rtl="0" algn="l">
              <a:spcBef>
                <a:spcPts val="0"/>
              </a:spcBef>
              <a:spcAft>
                <a:spcPts val="0"/>
              </a:spcAft>
              <a:buSzPct val="80000"/>
              <a:buChar char="●"/>
            </a:pPr>
            <a:r>
              <a:rPr lang="en"/>
              <a:t>Average time to access some target sector approximated by :</a:t>
            </a:r>
            <a:endParaRPr/>
          </a:p>
          <a:p>
            <a:pPr indent="-243840" lvl="1" marL="742950" rtl="0" algn="l">
              <a:spcBef>
                <a:spcPts val="400"/>
              </a:spcBef>
              <a:spcAft>
                <a:spcPts val="0"/>
              </a:spcAft>
              <a:buSzPct val="157143"/>
              <a:buChar char="○"/>
            </a:pPr>
            <a:r>
              <a:rPr lang="en"/>
              <a:t>Taccess  =  Tavg seek +  Tavg rotation + Tavg transfer </a:t>
            </a:r>
            <a:endParaRPr/>
          </a:p>
          <a:p>
            <a:pPr indent="-315468" lvl="0" marL="342900" rtl="0" algn="l">
              <a:spcBef>
                <a:spcPts val="480"/>
              </a:spcBef>
              <a:spcAft>
                <a:spcPts val="0"/>
              </a:spcAft>
              <a:buSzPct val="80000"/>
              <a:buChar char="●"/>
            </a:pPr>
            <a:r>
              <a:rPr lang="en">
                <a:solidFill>
                  <a:srgbClr val="FF0000"/>
                </a:solidFill>
              </a:rPr>
              <a:t>Seek time </a:t>
            </a:r>
            <a:r>
              <a:rPr lang="en"/>
              <a:t>(Tavg seek)</a:t>
            </a:r>
            <a:endParaRPr/>
          </a:p>
          <a:p>
            <a:pPr indent="-243840" lvl="1" marL="742950" rtl="0" algn="l">
              <a:spcBef>
                <a:spcPts val="400"/>
              </a:spcBef>
              <a:spcAft>
                <a:spcPts val="0"/>
              </a:spcAft>
              <a:buSzPct val="157143"/>
              <a:buChar char="○"/>
            </a:pPr>
            <a:r>
              <a:rPr lang="en"/>
              <a:t>Time to position heads over cylinder containing target sector.</a:t>
            </a:r>
            <a:endParaRPr/>
          </a:p>
          <a:p>
            <a:pPr indent="-243840" lvl="1" marL="742950" rtl="0" algn="l">
              <a:spcBef>
                <a:spcPts val="400"/>
              </a:spcBef>
              <a:spcAft>
                <a:spcPts val="0"/>
              </a:spcAft>
              <a:buSzPct val="157143"/>
              <a:buChar char="○"/>
            </a:pPr>
            <a:r>
              <a:rPr lang="en"/>
              <a:t>Typical  Tavg seek is 3—9 ms</a:t>
            </a:r>
            <a:endParaRPr/>
          </a:p>
          <a:p>
            <a:pPr indent="-315468" lvl="0" marL="342900" rtl="0" algn="l">
              <a:spcBef>
                <a:spcPts val="480"/>
              </a:spcBef>
              <a:spcAft>
                <a:spcPts val="0"/>
              </a:spcAft>
              <a:buSzPct val="80000"/>
              <a:buChar char="●"/>
            </a:pPr>
            <a:r>
              <a:rPr lang="en">
                <a:solidFill>
                  <a:srgbClr val="FF0000"/>
                </a:solidFill>
              </a:rPr>
              <a:t>Rotational latency </a:t>
            </a:r>
            <a:r>
              <a:rPr lang="en"/>
              <a:t>(Tavg rotation)</a:t>
            </a:r>
            <a:endParaRPr/>
          </a:p>
          <a:p>
            <a:pPr indent="-243840" lvl="1" marL="742950" rtl="0" algn="l">
              <a:spcBef>
                <a:spcPts val="400"/>
              </a:spcBef>
              <a:spcAft>
                <a:spcPts val="0"/>
              </a:spcAft>
              <a:buSzPct val="157143"/>
              <a:buChar char="○"/>
            </a:pPr>
            <a:r>
              <a:rPr lang="en"/>
              <a:t>Time waiting for first bit of target sector to pass under r/w head.</a:t>
            </a:r>
            <a:endParaRPr/>
          </a:p>
          <a:p>
            <a:pPr indent="-243840" lvl="1" marL="742950" rtl="0" algn="l">
              <a:spcBef>
                <a:spcPts val="400"/>
              </a:spcBef>
              <a:spcAft>
                <a:spcPts val="0"/>
              </a:spcAft>
              <a:buSzPct val="157143"/>
              <a:buChar char="○"/>
            </a:pPr>
            <a:r>
              <a:rPr lang="en"/>
              <a:t>Tavg rotation = 1/2 x 1/RPMs x 60 sec/1 min</a:t>
            </a:r>
            <a:endParaRPr/>
          </a:p>
          <a:p>
            <a:pPr indent="-243840" lvl="1" marL="742950" rtl="0" algn="l">
              <a:spcBef>
                <a:spcPts val="400"/>
              </a:spcBef>
              <a:spcAft>
                <a:spcPts val="0"/>
              </a:spcAft>
              <a:buSzPct val="157143"/>
              <a:buChar char="○"/>
            </a:pPr>
            <a:r>
              <a:rPr lang="en"/>
              <a:t>Typical Tavg rotation = 7200 RPMs</a:t>
            </a:r>
            <a:endParaRPr/>
          </a:p>
          <a:p>
            <a:pPr indent="-315468" lvl="0" marL="342900" rtl="0" algn="l">
              <a:spcBef>
                <a:spcPts val="480"/>
              </a:spcBef>
              <a:spcAft>
                <a:spcPts val="0"/>
              </a:spcAft>
              <a:buSzPct val="80000"/>
              <a:buChar char="●"/>
            </a:pPr>
            <a:r>
              <a:rPr lang="en">
                <a:solidFill>
                  <a:srgbClr val="FF0000"/>
                </a:solidFill>
              </a:rPr>
              <a:t>Transfer time </a:t>
            </a:r>
            <a:r>
              <a:rPr lang="en"/>
              <a:t>(Tavg transfer)	</a:t>
            </a:r>
            <a:endParaRPr/>
          </a:p>
          <a:p>
            <a:pPr indent="-243840" lvl="1" marL="742950" rtl="0" algn="l">
              <a:spcBef>
                <a:spcPts val="400"/>
              </a:spcBef>
              <a:spcAft>
                <a:spcPts val="0"/>
              </a:spcAft>
              <a:buSzPct val="157143"/>
              <a:buChar char="○"/>
            </a:pPr>
            <a:r>
              <a:rPr lang="en"/>
              <a:t>Time to read the bits in the target sector.</a:t>
            </a:r>
            <a:endParaRPr/>
          </a:p>
          <a:p>
            <a:pPr indent="-243840" lvl="1" marL="742950" rtl="0" algn="l">
              <a:spcBef>
                <a:spcPts val="400"/>
              </a:spcBef>
              <a:spcAft>
                <a:spcPts val="0"/>
              </a:spcAft>
              <a:buSzPct val="157143"/>
              <a:buChar char="○"/>
            </a:pPr>
            <a:r>
              <a:rPr lang="en"/>
              <a:t>Tavg transfer = 1/RPM x 1/(avg # sectors/track) x 60 secs/1 min.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Disk Access Time Example</a:t>
            </a:r>
            <a:endParaRPr/>
          </a:p>
        </p:txBody>
      </p:sp>
      <p:sp>
        <p:nvSpPr>
          <p:cNvPr id="198" name="Google Shape;198;p34"/>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fontScale="62500" lnSpcReduction="20000"/>
          </a:bodyPr>
          <a:lstStyle/>
          <a:p>
            <a:pPr indent="-308610" lvl="0" marL="342900" rtl="0" algn="l">
              <a:spcBef>
                <a:spcPts val="0"/>
              </a:spcBef>
              <a:spcAft>
                <a:spcPts val="0"/>
              </a:spcAft>
              <a:buSzPct val="80000"/>
              <a:buChar char="●"/>
            </a:pPr>
            <a:r>
              <a:rPr lang="en"/>
              <a:t>Given:</a:t>
            </a:r>
            <a:endParaRPr/>
          </a:p>
          <a:p>
            <a:pPr indent="-233363" lvl="1" marL="742950" rtl="0" algn="l">
              <a:spcBef>
                <a:spcPts val="400"/>
              </a:spcBef>
              <a:spcAft>
                <a:spcPts val="0"/>
              </a:spcAft>
              <a:buSzPct val="157143"/>
              <a:buChar char="○"/>
            </a:pPr>
            <a:r>
              <a:rPr lang="en"/>
              <a:t>Rotational rate = 7,200 RPM</a:t>
            </a:r>
            <a:endParaRPr/>
          </a:p>
          <a:p>
            <a:pPr indent="-233363" lvl="1" marL="742950" rtl="0" algn="l">
              <a:spcBef>
                <a:spcPts val="400"/>
              </a:spcBef>
              <a:spcAft>
                <a:spcPts val="0"/>
              </a:spcAft>
              <a:buSzPct val="157143"/>
              <a:buChar char="○"/>
            </a:pPr>
            <a:r>
              <a:rPr lang="en"/>
              <a:t>Average seek time = 9 ms.</a:t>
            </a:r>
            <a:endParaRPr/>
          </a:p>
          <a:p>
            <a:pPr indent="-233363" lvl="1" marL="742950" rtl="0" algn="l">
              <a:spcBef>
                <a:spcPts val="400"/>
              </a:spcBef>
              <a:spcAft>
                <a:spcPts val="0"/>
              </a:spcAft>
              <a:buSzPct val="157143"/>
              <a:buChar char="○"/>
            </a:pPr>
            <a:r>
              <a:rPr lang="en"/>
              <a:t>Avg # sectors/track = 400.</a:t>
            </a:r>
            <a:endParaRPr/>
          </a:p>
          <a:p>
            <a:pPr indent="-308610" lvl="0" marL="342900" rtl="0" algn="l">
              <a:spcBef>
                <a:spcPts val="480"/>
              </a:spcBef>
              <a:spcAft>
                <a:spcPts val="0"/>
              </a:spcAft>
              <a:buSzPct val="80000"/>
              <a:buChar char="●"/>
            </a:pPr>
            <a:r>
              <a:rPr lang="en"/>
              <a:t>Derived:</a:t>
            </a:r>
            <a:endParaRPr/>
          </a:p>
          <a:p>
            <a:pPr indent="-233363" lvl="1" marL="742950" rtl="0" algn="l">
              <a:spcBef>
                <a:spcPts val="400"/>
              </a:spcBef>
              <a:spcAft>
                <a:spcPts val="0"/>
              </a:spcAft>
              <a:buSzPct val="157143"/>
              <a:buChar char="○"/>
            </a:pPr>
            <a:r>
              <a:rPr lang="en"/>
              <a:t>Tavg rotation = 1/2 x (60 secs/7200 RPM) x 1000 ms/sec = 4 ms.</a:t>
            </a:r>
            <a:endParaRPr/>
          </a:p>
          <a:p>
            <a:pPr indent="-233363" lvl="1" marL="742950" rtl="0" algn="l">
              <a:spcBef>
                <a:spcPts val="400"/>
              </a:spcBef>
              <a:spcAft>
                <a:spcPts val="0"/>
              </a:spcAft>
              <a:buSzPct val="157143"/>
              <a:buChar char="○"/>
            </a:pPr>
            <a:r>
              <a:rPr lang="en"/>
              <a:t>Tavg transfer = 60/7200 RPM x 1/400 secs/track x 1000 ms/sec = 0.02 ms</a:t>
            </a:r>
            <a:endParaRPr/>
          </a:p>
          <a:p>
            <a:pPr indent="-233363" lvl="1" marL="742950" rtl="0" algn="l">
              <a:spcBef>
                <a:spcPts val="400"/>
              </a:spcBef>
              <a:spcAft>
                <a:spcPts val="0"/>
              </a:spcAft>
              <a:buSzPct val="157143"/>
              <a:buChar char="○"/>
            </a:pPr>
            <a:r>
              <a:rPr lang="en"/>
              <a:t>Taccess  = 9 ms + 4 ms + 0.02 ms</a:t>
            </a:r>
            <a:endParaRPr/>
          </a:p>
          <a:p>
            <a:pPr indent="-308610" lvl="0" marL="342900" rtl="0" algn="l">
              <a:spcBef>
                <a:spcPts val="480"/>
              </a:spcBef>
              <a:spcAft>
                <a:spcPts val="0"/>
              </a:spcAft>
              <a:buSzPct val="80000"/>
              <a:buChar char="●"/>
            </a:pPr>
            <a:r>
              <a:rPr lang="en"/>
              <a:t>Important points:</a:t>
            </a:r>
            <a:endParaRPr/>
          </a:p>
          <a:p>
            <a:pPr indent="-233363" lvl="1" marL="742950" rtl="0" algn="l">
              <a:spcBef>
                <a:spcPts val="400"/>
              </a:spcBef>
              <a:spcAft>
                <a:spcPts val="0"/>
              </a:spcAft>
              <a:buSzPct val="157143"/>
              <a:buChar char="○"/>
            </a:pPr>
            <a:r>
              <a:rPr lang="en"/>
              <a:t>Access time dominated by seek time and rotational latency.</a:t>
            </a:r>
            <a:endParaRPr/>
          </a:p>
          <a:p>
            <a:pPr indent="-233363" lvl="1" marL="742950" rtl="0" algn="l">
              <a:spcBef>
                <a:spcPts val="400"/>
              </a:spcBef>
              <a:spcAft>
                <a:spcPts val="0"/>
              </a:spcAft>
              <a:buSzPct val="157143"/>
              <a:buChar char="○"/>
            </a:pPr>
            <a:r>
              <a:rPr lang="en"/>
              <a:t>First bit in a sector is the most expensive, the rest are free.</a:t>
            </a:r>
            <a:endParaRPr/>
          </a:p>
          <a:p>
            <a:pPr indent="-233363" lvl="1" marL="742950" rtl="0" algn="l">
              <a:spcBef>
                <a:spcPts val="400"/>
              </a:spcBef>
              <a:spcAft>
                <a:spcPts val="0"/>
              </a:spcAft>
              <a:buSzPct val="157143"/>
              <a:buChar char="○"/>
            </a:pPr>
            <a:r>
              <a:rPr lang="en"/>
              <a:t>SRAM access time is about  4 ns/doubleword, DRAM about  60 ns</a:t>
            </a:r>
            <a:endParaRPr/>
          </a:p>
          <a:p>
            <a:pPr indent="-190500" lvl="2" marL="1143000" rtl="0" algn="l">
              <a:spcBef>
                <a:spcPts val="400"/>
              </a:spcBef>
              <a:spcAft>
                <a:spcPts val="0"/>
              </a:spcAft>
              <a:buClr>
                <a:schemeClr val="dk1"/>
              </a:buClr>
              <a:buSzPct val="114286"/>
              <a:buChar char="■"/>
            </a:pPr>
            <a:r>
              <a:rPr lang="en"/>
              <a:t>Disk is about 40,000 times slower than SRAM, </a:t>
            </a:r>
            <a:endParaRPr/>
          </a:p>
          <a:p>
            <a:pPr indent="-190500" lvl="2" marL="1143000" rtl="0" algn="l">
              <a:spcBef>
                <a:spcPts val="400"/>
              </a:spcBef>
              <a:spcAft>
                <a:spcPts val="0"/>
              </a:spcAft>
              <a:buClr>
                <a:schemeClr val="dk1"/>
              </a:buClr>
              <a:buSzPct val="114286"/>
              <a:buChar char="■"/>
            </a:pPr>
            <a:r>
              <a:rPr lang="en"/>
              <a:t>2,500 times slower then DRAM.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Logical Disk Blocks</a:t>
            </a:r>
            <a:endParaRPr/>
          </a:p>
        </p:txBody>
      </p:sp>
      <p:sp>
        <p:nvSpPr>
          <p:cNvPr id="204" name="Google Shape;204;p35"/>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Modern disks present a simpler abstract view of the complex sector geometry:</a:t>
            </a:r>
            <a:endParaRPr/>
          </a:p>
          <a:p>
            <a:pPr indent="-285750" lvl="1" marL="742950" rtl="0" algn="l">
              <a:spcBef>
                <a:spcPts val="400"/>
              </a:spcBef>
              <a:spcAft>
                <a:spcPts val="0"/>
              </a:spcAft>
              <a:buSzPts val="2200"/>
              <a:buChar char="○"/>
            </a:pPr>
            <a:r>
              <a:rPr lang="en"/>
              <a:t>The set of available sectors is modeled as a sequence of b-sized logical blocks (0, 1, 2, ...)</a:t>
            </a:r>
            <a:endParaRPr/>
          </a:p>
          <a:p>
            <a:pPr indent="-342900" lvl="0" marL="342900" rtl="0" algn="l">
              <a:spcBef>
                <a:spcPts val="480"/>
              </a:spcBef>
              <a:spcAft>
                <a:spcPts val="0"/>
              </a:spcAft>
              <a:buSzPts val="1440"/>
              <a:buChar char="●"/>
            </a:pPr>
            <a:r>
              <a:rPr lang="en"/>
              <a:t>Mapping between logical blocks and actual (physical) sectors</a:t>
            </a:r>
            <a:endParaRPr/>
          </a:p>
          <a:p>
            <a:pPr indent="-285750" lvl="1" marL="742950" rtl="0" algn="l">
              <a:spcBef>
                <a:spcPts val="400"/>
              </a:spcBef>
              <a:spcAft>
                <a:spcPts val="0"/>
              </a:spcAft>
              <a:buSzPts val="2200"/>
              <a:buChar char="○"/>
            </a:pPr>
            <a:r>
              <a:rPr lang="en"/>
              <a:t>Maintained by hardware/firmware device called disk controller.</a:t>
            </a:r>
            <a:endParaRPr/>
          </a:p>
          <a:p>
            <a:pPr indent="-285750" lvl="1" marL="742950" rtl="0" algn="l">
              <a:spcBef>
                <a:spcPts val="400"/>
              </a:spcBef>
              <a:spcAft>
                <a:spcPts val="0"/>
              </a:spcAft>
              <a:buSzPts val="2200"/>
              <a:buChar char="○"/>
            </a:pPr>
            <a:r>
              <a:rPr lang="en"/>
              <a:t>Converts requests for logical blocks into (surface,track,sector) triples.</a:t>
            </a:r>
            <a:endParaRPr/>
          </a:p>
          <a:p>
            <a:pPr indent="-342900" lvl="0" marL="342900" rtl="0" algn="l">
              <a:spcBef>
                <a:spcPts val="480"/>
              </a:spcBef>
              <a:spcAft>
                <a:spcPts val="0"/>
              </a:spcAft>
              <a:buSzPts val="1440"/>
              <a:buChar char="●"/>
            </a:pPr>
            <a:r>
              <a:rPr lang="en"/>
              <a:t>Allows controller to set aside spare cylinders for each zone.</a:t>
            </a:r>
            <a:endParaRPr/>
          </a:p>
          <a:p>
            <a:pPr indent="-285750" lvl="1" marL="742950" rtl="0" algn="l">
              <a:spcBef>
                <a:spcPts val="400"/>
              </a:spcBef>
              <a:spcAft>
                <a:spcPts val="0"/>
              </a:spcAft>
              <a:buSzPts val="2200"/>
              <a:buChar char="○"/>
            </a:pPr>
            <a:r>
              <a:rPr lang="en"/>
              <a:t>Accounts for the difference in “formatted capacity” and “maximum capacity”.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I/O Bus</a:t>
            </a:r>
            <a:endParaRPr/>
          </a:p>
        </p:txBody>
      </p:sp>
      <p:pic>
        <p:nvPicPr>
          <p:cNvPr descr="High level diagram of a computer." id="210" name="Google Shape;210;p36"/>
          <p:cNvPicPr preferRelativeResize="0"/>
          <p:nvPr/>
        </p:nvPicPr>
        <p:blipFill>
          <a:blip r:embed="rId3">
            <a:alphaModFix/>
          </a:blip>
          <a:stretch>
            <a:fillRect/>
          </a:stretch>
        </p:blipFill>
        <p:spPr>
          <a:xfrm>
            <a:off x="2442815" y="355938"/>
            <a:ext cx="6276624" cy="4431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DMAs:</a:t>
            </a:r>
            <a:endParaRPr/>
          </a:p>
        </p:txBody>
      </p:sp>
      <p:sp>
        <p:nvSpPr>
          <p:cNvPr id="216" name="Google Shape;216;p37"/>
          <p:cNvSpPr txBox="1"/>
          <p:nvPr>
            <p:ph idx="1" type="body"/>
          </p:nvPr>
        </p:nvSpPr>
        <p:spPr>
          <a:xfrm>
            <a:off x="311700" y="1152475"/>
            <a:ext cx="8432100" cy="829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move large amounts of data from Memory to Disk (or vice versa)</a:t>
            </a:r>
            <a:endParaRPr/>
          </a:p>
          <a:p>
            <a:pPr indent="-317500" lvl="1" marL="914400" rtl="0" algn="l">
              <a:spcBef>
                <a:spcPts val="0"/>
              </a:spcBef>
              <a:spcAft>
                <a:spcPts val="0"/>
              </a:spcAft>
              <a:buSzPts val="1400"/>
              <a:buChar char="○"/>
            </a:pPr>
            <a:r>
              <a:rPr lang="en"/>
              <a:t>Don’t want to make CPU “babysit” the transfer.</a:t>
            </a:r>
            <a:endParaRPr/>
          </a:p>
        </p:txBody>
      </p:sp>
      <p:sp>
        <p:nvSpPr>
          <p:cNvPr descr="DMA controlling the memory bus between disk and RAM." id="217" name="Google Shape;217;p37"/>
          <p:cNvSpPr/>
          <p:nvPr/>
        </p:nvSpPr>
        <p:spPr>
          <a:xfrm>
            <a:off x="1353536" y="1982267"/>
            <a:ext cx="6306300" cy="28209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Interrupts:</a:t>
            </a:r>
            <a:endParaRPr/>
          </a:p>
        </p:txBody>
      </p:sp>
      <p:sp>
        <p:nvSpPr>
          <p:cNvPr id="223" name="Google Shape;223;p38"/>
          <p:cNvSpPr txBox="1"/>
          <p:nvPr>
            <p:ph idx="1" type="body"/>
          </p:nvPr>
        </p:nvSpPr>
        <p:spPr>
          <a:xfrm>
            <a:off x="311700" y="1152475"/>
            <a:ext cx="8520600" cy="1885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In general the CPU is the bus “controller”</a:t>
            </a:r>
            <a:endParaRPr/>
          </a:p>
          <a:p>
            <a:pPr indent="-317500" lvl="1" marL="914400" rtl="0" algn="l">
              <a:spcBef>
                <a:spcPts val="0"/>
              </a:spcBef>
              <a:spcAft>
                <a:spcPts val="0"/>
              </a:spcAft>
              <a:buSzPts val="1400"/>
              <a:buChar char="○"/>
            </a:pPr>
            <a:r>
              <a:rPr lang="en"/>
              <a:t>Every bus transaction is initiated by the CPU</a:t>
            </a:r>
            <a:endParaRPr/>
          </a:p>
          <a:p>
            <a:pPr indent="-342900" lvl="0" marL="457200" rtl="0" algn="l">
              <a:spcBef>
                <a:spcPts val="0"/>
              </a:spcBef>
              <a:spcAft>
                <a:spcPts val="0"/>
              </a:spcAft>
              <a:buSzPts val="1800"/>
              <a:buChar char="●"/>
            </a:pPr>
            <a:r>
              <a:rPr lang="en"/>
              <a:t>What about when we want to tell the CPU something has happened?</a:t>
            </a:r>
            <a:endParaRPr/>
          </a:p>
          <a:p>
            <a:pPr indent="-317500" lvl="1" marL="914400" rtl="0" algn="l">
              <a:spcBef>
                <a:spcPts val="0"/>
              </a:spcBef>
              <a:spcAft>
                <a:spcPts val="0"/>
              </a:spcAft>
              <a:buSzPts val="1400"/>
              <a:buChar char="○"/>
            </a:pPr>
            <a:r>
              <a:rPr lang="en"/>
              <a:t>Could make the CPU check a mailbox periodically (polling)</a:t>
            </a:r>
            <a:endParaRPr/>
          </a:p>
          <a:p>
            <a:pPr indent="-317500" lvl="1" marL="914400" rtl="0" algn="l">
              <a:spcBef>
                <a:spcPts val="0"/>
              </a:spcBef>
              <a:spcAft>
                <a:spcPts val="0"/>
              </a:spcAft>
              <a:buSzPts val="1400"/>
              <a:buChar char="○"/>
            </a:pPr>
            <a:r>
              <a:rPr lang="en"/>
              <a:t>What if we add a way to tell the CPU that “You’ve got Mail”?</a:t>
            </a:r>
            <a:endParaRPr/>
          </a:p>
          <a:p>
            <a:pPr indent="-317500" lvl="1" marL="914400" rtl="0" algn="l">
              <a:spcBef>
                <a:spcPts val="0"/>
              </a:spcBef>
              <a:spcAft>
                <a:spcPts val="0"/>
              </a:spcAft>
              <a:buSzPts val="1400"/>
              <a:buChar char="○"/>
            </a:pPr>
            <a:r>
              <a:rPr lang="en"/>
              <a:t>This is what an Interrupt controller does </a:t>
            </a:r>
            <a:endParaRPr/>
          </a:p>
          <a:p>
            <a:pPr indent="-317500" lvl="2" marL="1371600" rtl="0" algn="l">
              <a:spcBef>
                <a:spcPts val="0"/>
              </a:spcBef>
              <a:spcAft>
                <a:spcPts val="0"/>
              </a:spcAft>
              <a:buSzPts val="1400"/>
              <a:buChar char="■"/>
            </a:pPr>
            <a:r>
              <a:rPr lang="en"/>
              <a:t>CPU still needs to read the message and decide next steps</a:t>
            </a:r>
            <a:endParaRPr/>
          </a:p>
        </p:txBody>
      </p:sp>
      <p:sp>
        <p:nvSpPr>
          <p:cNvPr descr="Interrupt controller to the CPU" id="224" name="Google Shape;224;p38"/>
          <p:cNvSpPr/>
          <p:nvPr/>
        </p:nvSpPr>
        <p:spPr>
          <a:xfrm>
            <a:off x="4130800" y="2943900"/>
            <a:ext cx="4930200" cy="20259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Solid State Disks (SSDs)</a:t>
            </a:r>
            <a:endParaRPr/>
          </a:p>
        </p:txBody>
      </p:sp>
      <p:sp>
        <p:nvSpPr>
          <p:cNvPr id="230" name="Google Shape;230;p39"/>
          <p:cNvSpPr txBox="1"/>
          <p:nvPr>
            <p:ph idx="1" type="body"/>
          </p:nvPr>
        </p:nvSpPr>
        <p:spPr>
          <a:xfrm>
            <a:off x="311700" y="3466675"/>
            <a:ext cx="8520600" cy="14577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
              <a:t>Pages: 512KB to 4KB, Blocks: 32 to 128 pages</a:t>
            </a:r>
            <a:endParaRPr/>
          </a:p>
          <a:p>
            <a:pPr indent="-342900" lvl="0" marL="342900" rtl="0" algn="l">
              <a:spcBef>
                <a:spcPts val="480"/>
              </a:spcBef>
              <a:spcAft>
                <a:spcPts val="0"/>
              </a:spcAft>
              <a:buSzPts val="1440"/>
              <a:buChar char="●"/>
            </a:pPr>
            <a:r>
              <a:rPr lang="en"/>
              <a:t>Data read/written in units of pages. </a:t>
            </a:r>
            <a:endParaRPr/>
          </a:p>
          <a:p>
            <a:pPr indent="-342900" lvl="0" marL="342900" rtl="0" algn="l">
              <a:spcBef>
                <a:spcPts val="480"/>
              </a:spcBef>
              <a:spcAft>
                <a:spcPts val="0"/>
              </a:spcAft>
              <a:buSzPts val="1440"/>
              <a:buChar char="●"/>
            </a:pPr>
            <a:r>
              <a:rPr lang="en"/>
              <a:t>Page can be written only after its block has been erased</a:t>
            </a:r>
            <a:endParaRPr/>
          </a:p>
          <a:p>
            <a:pPr indent="-342900" lvl="0" marL="342900" rtl="0" algn="l">
              <a:spcBef>
                <a:spcPts val="480"/>
              </a:spcBef>
              <a:spcAft>
                <a:spcPts val="0"/>
              </a:spcAft>
              <a:buSzPts val="1440"/>
              <a:buChar char="●"/>
            </a:pPr>
            <a:r>
              <a:rPr lang="en"/>
              <a:t>A block wears out after about 100,000 repeated writes.</a:t>
            </a:r>
            <a:endParaRPr/>
          </a:p>
        </p:txBody>
      </p:sp>
      <p:pic>
        <p:nvPicPr>
          <p:cNvPr descr="Solid state disk layout from IO bus to Flash blocks." id="231" name="Google Shape;231;p39"/>
          <p:cNvPicPr preferRelativeResize="0"/>
          <p:nvPr/>
        </p:nvPicPr>
        <p:blipFill>
          <a:blip r:embed="rId3">
            <a:alphaModFix/>
          </a:blip>
          <a:stretch>
            <a:fillRect/>
          </a:stretch>
        </p:blipFill>
        <p:spPr>
          <a:xfrm>
            <a:off x="1350349" y="1017725"/>
            <a:ext cx="5461776" cy="2429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SSD Performance Characteristics	</a:t>
            </a:r>
            <a:endParaRPr/>
          </a:p>
        </p:txBody>
      </p:sp>
      <p:sp>
        <p:nvSpPr>
          <p:cNvPr id="237" name="Google Shape;237;p40"/>
          <p:cNvSpPr txBox="1"/>
          <p:nvPr>
            <p:ph idx="1" type="body"/>
          </p:nvPr>
        </p:nvSpPr>
        <p:spPr>
          <a:xfrm>
            <a:off x="311700" y="2273100"/>
            <a:ext cx="8520600" cy="22959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SzPts val="1440"/>
              <a:buChar char="●"/>
            </a:pPr>
            <a:r>
              <a:rPr lang="en"/>
              <a:t>Sequential access faster than random access</a:t>
            </a:r>
            <a:endParaRPr/>
          </a:p>
          <a:p>
            <a:pPr indent="-285750" lvl="1" marL="742950" rtl="0" algn="l">
              <a:spcBef>
                <a:spcPts val="400"/>
              </a:spcBef>
              <a:spcAft>
                <a:spcPts val="0"/>
              </a:spcAft>
              <a:buSzPts val="2200"/>
              <a:buChar char="○"/>
            </a:pPr>
            <a:r>
              <a:rPr lang="en"/>
              <a:t>Common theme in the memory hierarchy</a:t>
            </a:r>
            <a:endParaRPr/>
          </a:p>
          <a:p>
            <a:pPr indent="-342900" lvl="0" marL="342900" rtl="0" algn="l">
              <a:spcBef>
                <a:spcPts val="480"/>
              </a:spcBef>
              <a:spcAft>
                <a:spcPts val="0"/>
              </a:spcAft>
              <a:buSzPts val="1440"/>
              <a:buChar char="●"/>
            </a:pPr>
            <a:r>
              <a:rPr lang="en"/>
              <a:t>Random writes are somewhat slower</a:t>
            </a:r>
            <a:endParaRPr/>
          </a:p>
          <a:p>
            <a:pPr indent="-285750" lvl="1" marL="742950" rtl="0" algn="l">
              <a:spcBef>
                <a:spcPts val="400"/>
              </a:spcBef>
              <a:spcAft>
                <a:spcPts val="0"/>
              </a:spcAft>
              <a:buSzPts val="2200"/>
              <a:buChar char="○"/>
            </a:pPr>
            <a:r>
              <a:rPr lang="en"/>
              <a:t>Erasing a block takes a long time (~1 ms)</a:t>
            </a:r>
            <a:endParaRPr/>
          </a:p>
          <a:p>
            <a:pPr indent="-285750" lvl="1" marL="742950" rtl="0" algn="l">
              <a:spcBef>
                <a:spcPts val="400"/>
              </a:spcBef>
              <a:spcAft>
                <a:spcPts val="0"/>
              </a:spcAft>
              <a:buSzPts val="2200"/>
              <a:buChar char="○"/>
            </a:pPr>
            <a:r>
              <a:rPr lang="en"/>
              <a:t>Modifying a block page requires all other pages to be copied to new block</a:t>
            </a:r>
            <a:endParaRPr/>
          </a:p>
          <a:p>
            <a:pPr indent="-285750" lvl="1" marL="742950" rtl="0" algn="l">
              <a:spcBef>
                <a:spcPts val="400"/>
              </a:spcBef>
              <a:spcAft>
                <a:spcPts val="0"/>
              </a:spcAft>
              <a:buSzPts val="2200"/>
              <a:buChar char="○"/>
            </a:pPr>
            <a:r>
              <a:rPr lang="en"/>
              <a:t>In earlier SSDs, the read/write gap was much larger.</a:t>
            </a:r>
            <a:endParaRPr/>
          </a:p>
        </p:txBody>
      </p:sp>
      <p:sp>
        <p:nvSpPr>
          <p:cNvPr id="238" name="Google Shape;238;p40"/>
          <p:cNvSpPr txBox="1"/>
          <p:nvPr/>
        </p:nvSpPr>
        <p:spPr>
          <a:xfrm>
            <a:off x="244475" y="1257300"/>
            <a:ext cx="8747100" cy="1015800"/>
          </a:xfrm>
          <a:prstGeom prst="rect">
            <a:avLst/>
          </a:prstGeom>
          <a:solidFill>
            <a:srgbClr val="E2E2E2"/>
          </a:solid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chemeClr val="dk1"/>
                </a:solidFill>
                <a:latin typeface="Calibri"/>
                <a:ea typeface="Calibri"/>
                <a:cs typeface="Calibri"/>
                <a:sym typeface="Calibri"/>
              </a:rPr>
              <a:t>Sequential read tput	550 MB/s	Sequential write tput	470 MB/s</a:t>
            </a:r>
            <a:endParaRPr/>
          </a:p>
          <a:p>
            <a:pPr indent="0" lvl="0" marL="0" marR="0" rtl="0" algn="l">
              <a:spcBef>
                <a:spcPts val="0"/>
              </a:spcBef>
              <a:spcAft>
                <a:spcPts val="0"/>
              </a:spcAft>
              <a:buNone/>
            </a:pPr>
            <a:r>
              <a:rPr b="1" lang="en" sz="2000">
                <a:solidFill>
                  <a:schemeClr val="dk1"/>
                </a:solidFill>
                <a:latin typeface="Calibri"/>
                <a:ea typeface="Calibri"/>
                <a:cs typeface="Calibri"/>
                <a:sym typeface="Calibri"/>
              </a:rPr>
              <a:t>Random read tput	365 MB/s	Random write tput	303 MB/s</a:t>
            </a:r>
            <a:endParaRPr/>
          </a:p>
          <a:p>
            <a:pPr indent="0" lvl="0" marL="0" marR="0" rtl="0" algn="l">
              <a:spcBef>
                <a:spcPts val="0"/>
              </a:spcBef>
              <a:spcAft>
                <a:spcPts val="0"/>
              </a:spcAft>
              <a:buNone/>
            </a:pPr>
            <a:r>
              <a:rPr b="1" lang="en" sz="2000">
                <a:solidFill>
                  <a:schemeClr val="dk1"/>
                </a:solidFill>
                <a:latin typeface="Calibri"/>
                <a:ea typeface="Calibri"/>
                <a:cs typeface="Calibri"/>
                <a:sym typeface="Calibri"/>
              </a:rPr>
              <a:t>Avg seq read time	50 us		Avg seq write time	60 us</a:t>
            </a:r>
            <a:endParaRPr/>
          </a:p>
        </p:txBody>
      </p:sp>
      <p:sp>
        <p:nvSpPr>
          <p:cNvPr id="239" name="Google Shape;239;p40"/>
          <p:cNvSpPr txBox="1"/>
          <p:nvPr/>
        </p:nvSpPr>
        <p:spPr>
          <a:xfrm>
            <a:off x="76200" y="4719251"/>
            <a:ext cx="433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Source: Intel SSD 730 product specification.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SSD Tradeoffs	vs Rotating Disks</a:t>
            </a:r>
            <a:endParaRPr/>
          </a:p>
        </p:txBody>
      </p:sp>
      <p:sp>
        <p:nvSpPr>
          <p:cNvPr id="245" name="Google Shape;245;p41"/>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SzPts val="1440"/>
              <a:buChar char="●"/>
            </a:pPr>
            <a:r>
              <a:rPr lang="en"/>
              <a:t>Advantages </a:t>
            </a:r>
            <a:endParaRPr/>
          </a:p>
          <a:p>
            <a:pPr indent="-285750" lvl="1" marL="742950" rtl="0" algn="l">
              <a:spcBef>
                <a:spcPts val="400"/>
              </a:spcBef>
              <a:spcAft>
                <a:spcPts val="0"/>
              </a:spcAft>
              <a:buSzPts val="2200"/>
              <a:buChar char="○"/>
            </a:pPr>
            <a:r>
              <a:rPr lang="en"/>
              <a:t>No moving parts 🡪 faster, less power, more rugged</a:t>
            </a:r>
            <a:endParaRPr/>
          </a:p>
          <a:p>
            <a:pPr indent="-342900" lvl="0" marL="342900" rtl="0" algn="l">
              <a:spcBef>
                <a:spcPts val="480"/>
              </a:spcBef>
              <a:spcAft>
                <a:spcPts val="0"/>
              </a:spcAft>
              <a:buSzPts val="1440"/>
              <a:buChar char="●"/>
            </a:pPr>
            <a:r>
              <a:rPr lang="en"/>
              <a:t>Disadvantages</a:t>
            </a:r>
            <a:endParaRPr/>
          </a:p>
          <a:p>
            <a:pPr indent="-285750" lvl="1" marL="742950" rtl="0" algn="l">
              <a:spcBef>
                <a:spcPts val="400"/>
              </a:spcBef>
              <a:spcAft>
                <a:spcPts val="0"/>
              </a:spcAft>
              <a:buSzPts val="2200"/>
              <a:buChar char="○"/>
            </a:pPr>
            <a:r>
              <a:rPr lang="en"/>
              <a:t>Have the potential to wear out </a:t>
            </a:r>
            <a:endParaRPr/>
          </a:p>
          <a:p>
            <a:pPr indent="-228600" lvl="2" marL="1143000" rtl="0" algn="l">
              <a:spcBef>
                <a:spcPts val="400"/>
              </a:spcBef>
              <a:spcAft>
                <a:spcPts val="0"/>
              </a:spcAft>
              <a:buClr>
                <a:schemeClr val="dk1"/>
              </a:buClr>
              <a:buSzPts val="1600"/>
              <a:buChar char="■"/>
            </a:pPr>
            <a:r>
              <a:rPr lang="en"/>
              <a:t>Mitigated by “wear leveling logic” in flash translation layer</a:t>
            </a:r>
            <a:endParaRPr/>
          </a:p>
          <a:p>
            <a:pPr indent="-228600" lvl="2" marL="1143000" rtl="0" algn="l">
              <a:spcBef>
                <a:spcPts val="400"/>
              </a:spcBef>
              <a:spcAft>
                <a:spcPts val="0"/>
              </a:spcAft>
              <a:buClr>
                <a:schemeClr val="dk1"/>
              </a:buClr>
              <a:buSzPts val="1600"/>
              <a:buChar char="■"/>
            </a:pPr>
            <a:r>
              <a:rPr lang="en"/>
              <a:t>E.g. Intel SSD 730 guarantees 128 petabyte (128 x 10</a:t>
            </a:r>
            <a:r>
              <a:rPr baseline="30000" lang="en"/>
              <a:t>15</a:t>
            </a:r>
            <a:r>
              <a:rPr lang="en"/>
              <a:t> bytes) of writes before they wear out</a:t>
            </a:r>
            <a:endParaRPr/>
          </a:p>
          <a:p>
            <a:pPr indent="-285750" lvl="1" marL="742950" rtl="0" algn="l">
              <a:spcBef>
                <a:spcPts val="400"/>
              </a:spcBef>
              <a:spcAft>
                <a:spcPts val="0"/>
              </a:spcAft>
              <a:buSzPts val="2200"/>
              <a:buChar char="○"/>
            </a:pPr>
            <a:r>
              <a:rPr lang="en"/>
              <a:t>In 2015, about 30 times more expensive per byte</a:t>
            </a:r>
            <a:endParaRPr/>
          </a:p>
          <a:p>
            <a:pPr indent="-342900" lvl="0" marL="342900" rtl="0" algn="l">
              <a:spcBef>
                <a:spcPts val="480"/>
              </a:spcBef>
              <a:spcAft>
                <a:spcPts val="0"/>
              </a:spcAft>
              <a:buSzPts val="1440"/>
              <a:buChar char="●"/>
            </a:pPr>
            <a:r>
              <a:rPr lang="en"/>
              <a:t>Applications</a:t>
            </a:r>
            <a:endParaRPr/>
          </a:p>
          <a:p>
            <a:pPr indent="-285750" lvl="1" marL="742950" rtl="0" algn="l">
              <a:spcBef>
                <a:spcPts val="400"/>
              </a:spcBef>
              <a:spcAft>
                <a:spcPts val="0"/>
              </a:spcAft>
              <a:buSzPts val="2200"/>
              <a:buChar char="○"/>
            </a:pPr>
            <a:r>
              <a:rPr lang="en"/>
              <a:t>MP3 players, smart phones, laptops</a:t>
            </a:r>
            <a:endParaRPr/>
          </a:p>
          <a:p>
            <a:pPr indent="-285750" lvl="1" marL="742950" rtl="0" algn="l">
              <a:spcBef>
                <a:spcPts val="400"/>
              </a:spcBef>
              <a:spcAft>
                <a:spcPts val="0"/>
              </a:spcAft>
              <a:buSzPts val="2200"/>
              <a:buChar char="○"/>
            </a:pPr>
            <a:r>
              <a:rPr lang="en"/>
              <a:t>Middle ground between RAM and HDDs in desktops and servers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sz="1000">
                <a:solidFill>
                  <a:schemeClr val="dk1"/>
                </a:solidFill>
                <a:latin typeface="Proxima Nova"/>
                <a:ea typeface="Proxima Nova"/>
                <a:cs typeface="Proxima Nova"/>
                <a:sym typeface="Proxima Nova"/>
              </a:rPr>
              <a:t>‹#›</a:t>
            </a:fld>
            <a:endParaRPr sz="1000">
              <a:solidFill>
                <a:schemeClr val="dk1"/>
              </a:solidFill>
              <a:latin typeface="Proxima Nova"/>
              <a:ea typeface="Proxima Nova"/>
              <a:cs typeface="Proxima Nova"/>
              <a:sym typeface="Proxima Nova"/>
            </a:endParaRPr>
          </a:p>
        </p:txBody>
      </p:sp>
      <p:pic>
        <p:nvPicPr>
          <p:cNvPr descr="RAID0 visual data representation." id="251" name="Google Shape;251;p42"/>
          <p:cNvPicPr preferRelativeResize="0"/>
          <p:nvPr/>
        </p:nvPicPr>
        <p:blipFill>
          <a:blip r:embed="rId3">
            <a:alphaModFix/>
          </a:blip>
          <a:stretch>
            <a:fillRect/>
          </a:stretch>
        </p:blipFill>
        <p:spPr>
          <a:xfrm>
            <a:off x="1325" y="1955193"/>
            <a:ext cx="990865" cy="1525932"/>
          </a:xfrm>
          <a:prstGeom prst="rect">
            <a:avLst/>
          </a:prstGeom>
          <a:noFill/>
          <a:ln>
            <a:noFill/>
          </a:ln>
        </p:spPr>
      </p:pic>
      <p:pic>
        <p:nvPicPr>
          <p:cNvPr descr="RAID1 visual data representation." id="252" name="Google Shape;252;p42"/>
          <p:cNvPicPr preferRelativeResize="0"/>
          <p:nvPr/>
        </p:nvPicPr>
        <p:blipFill>
          <a:blip r:embed="rId4">
            <a:alphaModFix/>
          </a:blip>
          <a:stretch>
            <a:fillRect/>
          </a:stretch>
        </p:blipFill>
        <p:spPr>
          <a:xfrm>
            <a:off x="1325124" y="1955193"/>
            <a:ext cx="990863" cy="1525928"/>
          </a:xfrm>
          <a:prstGeom prst="rect">
            <a:avLst/>
          </a:prstGeom>
          <a:noFill/>
          <a:ln>
            <a:noFill/>
          </a:ln>
        </p:spPr>
      </p:pic>
      <p:pic>
        <p:nvPicPr>
          <p:cNvPr descr="RAID2 visual data representation." id="253" name="Google Shape;253;p42"/>
          <p:cNvPicPr preferRelativeResize="0"/>
          <p:nvPr/>
        </p:nvPicPr>
        <p:blipFill>
          <a:blip r:embed="rId5">
            <a:alphaModFix/>
          </a:blip>
          <a:stretch>
            <a:fillRect/>
          </a:stretch>
        </p:blipFill>
        <p:spPr>
          <a:xfrm>
            <a:off x="2646275" y="2015606"/>
            <a:ext cx="2810214" cy="1405116"/>
          </a:xfrm>
          <a:prstGeom prst="rect">
            <a:avLst/>
          </a:prstGeom>
          <a:noFill/>
          <a:ln>
            <a:noFill/>
          </a:ln>
        </p:spPr>
      </p:pic>
      <p:pic>
        <p:nvPicPr>
          <p:cNvPr descr="RAID3 visual data representation." id="254" name="Google Shape;254;p42"/>
          <p:cNvPicPr preferRelativeResize="0"/>
          <p:nvPr/>
        </p:nvPicPr>
        <p:blipFill>
          <a:blip r:embed="rId6">
            <a:alphaModFix/>
          </a:blip>
          <a:stretch>
            <a:fillRect/>
          </a:stretch>
        </p:blipFill>
        <p:spPr>
          <a:xfrm>
            <a:off x="6393225" y="2038210"/>
            <a:ext cx="2062082" cy="1525940"/>
          </a:xfrm>
          <a:prstGeom prst="rect">
            <a:avLst/>
          </a:prstGeom>
          <a:noFill/>
          <a:ln>
            <a:noFill/>
          </a:ln>
        </p:spPr>
      </p:pic>
      <p:pic>
        <p:nvPicPr>
          <p:cNvPr descr="RAID4 visual data representation." id="255" name="Google Shape;255;p42"/>
          <p:cNvPicPr preferRelativeResize="0"/>
          <p:nvPr/>
        </p:nvPicPr>
        <p:blipFill>
          <a:blip r:embed="rId7">
            <a:alphaModFix/>
          </a:blip>
          <a:stretch>
            <a:fillRect/>
          </a:stretch>
        </p:blipFill>
        <p:spPr>
          <a:xfrm>
            <a:off x="3967" y="3617560"/>
            <a:ext cx="2062082" cy="1525940"/>
          </a:xfrm>
          <a:prstGeom prst="rect">
            <a:avLst/>
          </a:prstGeom>
          <a:noFill/>
          <a:ln>
            <a:noFill/>
          </a:ln>
        </p:spPr>
      </p:pic>
      <p:pic>
        <p:nvPicPr>
          <p:cNvPr descr="RAID5 visual data representation." id="256" name="Google Shape;256;p42"/>
          <p:cNvPicPr preferRelativeResize="0"/>
          <p:nvPr/>
        </p:nvPicPr>
        <p:blipFill>
          <a:blip r:embed="rId8">
            <a:alphaModFix/>
          </a:blip>
          <a:stretch>
            <a:fillRect/>
          </a:stretch>
        </p:blipFill>
        <p:spPr>
          <a:xfrm>
            <a:off x="2753408" y="3617560"/>
            <a:ext cx="2062082" cy="1525940"/>
          </a:xfrm>
          <a:prstGeom prst="rect">
            <a:avLst/>
          </a:prstGeom>
          <a:noFill/>
          <a:ln>
            <a:noFill/>
          </a:ln>
        </p:spPr>
      </p:pic>
      <p:pic>
        <p:nvPicPr>
          <p:cNvPr descr="RAID6 visual data representation." id="257" name="Google Shape;257;p42"/>
          <p:cNvPicPr preferRelativeResize="0"/>
          <p:nvPr/>
        </p:nvPicPr>
        <p:blipFill>
          <a:blip r:embed="rId9">
            <a:alphaModFix/>
          </a:blip>
          <a:stretch>
            <a:fillRect/>
          </a:stretch>
        </p:blipFill>
        <p:spPr>
          <a:xfrm>
            <a:off x="5734725" y="3659719"/>
            <a:ext cx="2366272" cy="1388213"/>
          </a:xfrm>
          <a:prstGeom prst="rect">
            <a:avLst/>
          </a:prstGeom>
          <a:noFill/>
          <a:ln>
            <a:noFill/>
          </a:ln>
        </p:spPr>
      </p:pic>
      <p:pic>
        <p:nvPicPr>
          <p:cNvPr descr="Wikipedia chart of RAID levels." id="258" name="Google Shape;258;p42"/>
          <p:cNvPicPr preferRelativeResize="0"/>
          <p:nvPr/>
        </p:nvPicPr>
        <p:blipFill>
          <a:blip r:embed="rId10">
            <a:alphaModFix/>
          </a:blip>
          <a:stretch>
            <a:fillRect/>
          </a:stretch>
        </p:blipFill>
        <p:spPr>
          <a:xfrm>
            <a:off x="2008800" y="31918"/>
            <a:ext cx="6857999" cy="1910713"/>
          </a:xfrm>
          <a:prstGeom prst="rect">
            <a:avLst/>
          </a:prstGeom>
          <a:noFill/>
          <a:ln>
            <a:noFill/>
          </a:ln>
        </p:spPr>
      </p:pic>
      <p:sp>
        <p:nvSpPr>
          <p:cNvPr id="259" name="Google Shape;259;p42"/>
          <p:cNvSpPr txBox="1"/>
          <p:nvPr>
            <p:ph type="title"/>
          </p:nvPr>
        </p:nvSpPr>
        <p:spPr>
          <a:xfrm>
            <a:off x="311700" y="445025"/>
            <a:ext cx="14811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RAID: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Volatile Memory mediums:</a:t>
            </a:r>
            <a:endParaRPr/>
          </a:p>
        </p:txBody>
      </p:sp>
      <p:sp>
        <p:nvSpPr>
          <p:cNvPr id="265" name="Google Shape;265;p43"/>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476250" lvl="0" marL="514350" rtl="0" algn="l">
              <a:spcBef>
                <a:spcPts val="480"/>
              </a:spcBef>
              <a:spcAft>
                <a:spcPts val="0"/>
              </a:spcAft>
              <a:buSzPts val="1800"/>
              <a:buAutoNum type="arabicPeriod"/>
            </a:pPr>
            <a:r>
              <a:rPr lang="en"/>
              <a:t>The most common types of volatile memory are the Flip-Flop, the Static RAM, and the Dynamic RAM. These three types of memory are used to construct registers, caches, and DDR chips respectively.</a:t>
            </a:r>
            <a:endParaRPr/>
          </a:p>
        </p:txBody>
      </p:sp>
      <p:sp>
        <p:nvSpPr>
          <p:cNvPr id="266" name="Google Shape;266;p4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Non-volatile Memory mediums:</a:t>
            </a:r>
            <a:endParaRPr/>
          </a:p>
        </p:txBody>
      </p:sp>
      <p:sp>
        <p:nvSpPr>
          <p:cNvPr id="272" name="Google Shape;272;p44"/>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514350" lvl="0" marL="514350" rtl="0" algn="l">
              <a:spcBef>
                <a:spcPts val="480"/>
              </a:spcBef>
              <a:spcAft>
                <a:spcPts val="0"/>
              </a:spcAft>
              <a:buClr>
                <a:schemeClr val="dk1"/>
              </a:buClr>
              <a:buSzPts val="2400"/>
              <a:buFont typeface="Calibri"/>
              <a:buAutoNum type="arabicPeriod"/>
            </a:pPr>
            <a:r>
              <a:rPr lang="en"/>
              <a:t>Hard Disks have a thin film of magnetic material on each side to store data. </a:t>
            </a:r>
            <a:endParaRPr/>
          </a:p>
          <a:p>
            <a:pPr indent="-476250" lvl="0" marL="514350" rtl="0" algn="l">
              <a:spcBef>
                <a:spcPts val="480"/>
              </a:spcBef>
              <a:spcAft>
                <a:spcPts val="0"/>
              </a:spcAft>
              <a:buSzPts val="1800"/>
              <a:buAutoNum type="arabicPeriod"/>
            </a:pPr>
            <a:r>
              <a:rPr lang="en"/>
              <a:t>Optical disks (CDs) instead use the ability of the medium to reflect light (normally a laser) to encode data.</a:t>
            </a:r>
            <a:endParaRPr/>
          </a:p>
          <a:p>
            <a:pPr indent="-476250" lvl="0" marL="514350" rtl="0" algn="l">
              <a:spcBef>
                <a:spcPts val="480"/>
              </a:spcBef>
              <a:spcAft>
                <a:spcPts val="0"/>
              </a:spcAft>
              <a:buSzPts val="1800"/>
              <a:buAutoNum type="arabicPeriod"/>
            </a:pPr>
            <a:r>
              <a:rPr lang="en"/>
              <a:t>Flash memory uses (floating gate) MOSFETs to store state electrically. They are either structured as NOR or NAND.</a:t>
            </a:r>
            <a:endParaRPr/>
          </a:p>
        </p:txBody>
      </p:sp>
      <p:sp>
        <p:nvSpPr>
          <p:cNvPr id="273" name="Google Shape;273;p4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Flash memory:</a:t>
            </a:r>
            <a:endParaRPr/>
          </a:p>
        </p:txBody>
      </p:sp>
      <p:sp>
        <p:nvSpPr>
          <p:cNvPr id="279" name="Google Shape;279;p45"/>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476250" lvl="0" marL="514350" rtl="0" algn="l">
              <a:spcBef>
                <a:spcPts val="480"/>
              </a:spcBef>
              <a:spcAft>
                <a:spcPts val="0"/>
              </a:spcAft>
              <a:buSzPts val="1800"/>
              <a:buAutoNum type="arabicPeriod"/>
            </a:pPr>
            <a:r>
              <a:rPr lang="en"/>
              <a:t>Flash memory stores electrical charge in the Floating Gate of a MOSFET transistor. This means that storage can be embedded directly into the die of a semiconductor. </a:t>
            </a:r>
            <a:endParaRPr/>
          </a:p>
          <a:p>
            <a:pPr indent="-476250" lvl="0" marL="514350" rtl="0" algn="l">
              <a:spcBef>
                <a:spcPts val="480"/>
              </a:spcBef>
              <a:spcAft>
                <a:spcPts val="0"/>
              </a:spcAft>
              <a:buSzPts val="1800"/>
              <a:buAutoNum type="arabicPeriod"/>
            </a:pPr>
            <a:r>
              <a:rPr lang="en"/>
              <a:t>Flash memory is characterized either as NAND or NOR. Flash memory only has a limited number of erase and program cycles before the transformers begin to degrade after ~100k writes (denser flash chips may only support up to ~1k writes).</a:t>
            </a:r>
            <a:endParaRPr/>
          </a:p>
        </p:txBody>
      </p:sp>
      <p:sp>
        <p:nvSpPr>
          <p:cNvPr id="280" name="Google Shape;280;p4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pic>
        <p:nvPicPr>
          <p:cNvPr descr="MOSFET semiconductor visualization" id="281" name="Google Shape;281;p45"/>
          <p:cNvPicPr preferRelativeResize="0"/>
          <p:nvPr/>
        </p:nvPicPr>
        <p:blipFill>
          <a:blip r:embed="rId3">
            <a:alphaModFix/>
          </a:blip>
          <a:stretch>
            <a:fillRect/>
          </a:stretch>
        </p:blipFill>
        <p:spPr>
          <a:xfrm>
            <a:off x="6069925" y="3314875"/>
            <a:ext cx="1836768" cy="137758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NOR Flash:</a:t>
            </a:r>
            <a:endParaRPr/>
          </a:p>
        </p:txBody>
      </p:sp>
      <p:sp>
        <p:nvSpPr>
          <p:cNvPr id="287" name="Google Shape;287;p46"/>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476250" lvl="0" marL="514350" rtl="0" algn="l">
              <a:spcBef>
                <a:spcPts val="480"/>
              </a:spcBef>
              <a:spcAft>
                <a:spcPts val="0"/>
              </a:spcAft>
              <a:buSzPts val="1800"/>
              <a:buAutoNum type="arabicPeriod"/>
            </a:pPr>
            <a:r>
              <a:rPr lang="en"/>
              <a:t>NOR flash has a lower read latency since each word line can be accessed independently but it has much lower memory density.</a:t>
            </a:r>
            <a:endParaRPr/>
          </a:p>
        </p:txBody>
      </p:sp>
      <p:sp>
        <p:nvSpPr>
          <p:cNvPr id="288" name="Google Shape;288;p4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pic>
        <p:nvPicPr>
          <p:cNvPr descr="NOR flash visualization" id="289" name="Google Shape;289;p46"/>
          <p:cNvPicPr preferRelativeResize="0"/>
          <p:nvPr/>
        </p:nvPicPr>
        <p:blipFill>
          <a:blip r:embed="rId3">
            <a:alphaModFix/>
          </a:blip>
          <a:stretch>
            <a:fillRect/>
          </a:stretch>
        </p:blipFill>
        <p:spPr>
          <a:xfrm>
            <a:off x="1334375" y="2484025"/>
            <a:ext cx="4765373" cy="20848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NAND:</a:t>
            </a:r>
            <a:endParaRPr/>
          </a:p>
        </p:txBody>
      </p:sp>
      <p:sp>
        <p:nvSpPr>
          <p:cNvPr id="295" name="Google Shape;295;p47"/>
          <p:cNvSpPr txBox="1"/>
          <p:nvPr>
            <p:ph idx="1" type="body"/>
          </p:nvPr>
        </p:nvSpPr>
        <p:spPr>
          <a:xfrm>
            <a:off x="311700" y="1152475"/>
            <a:ext cx="8520600" cy="1419300"/>
          </a:xfrm>
          <a:prstGeom prst="rect">
            <a:avLst/>
          </a:prstGeom>
          <a:noFill/>
          <a:ln>
            <a:noFill/>
          </a:ln>
        </p:spPr>
        <p:txBody>
          <a:bodyPr anchorCtr="0" anchor="t" bIns="45700" lIns="91425" spcFirstLastPara="1" rIns="91425" wrap="square" tIns="45700">
            <a:normAutofit/>
          </a:bodyPr>
          <a:lstStyle/>
          <a:p>
            <a:pPr indent="-476250" lvl="0" marL="514350" rtl="0" algn="l">
              <a:spcBef>
                <a:spcPts val="480"/>
              </a:spcBef>
              <a:spcAft>
                <a:spcPts val="0"/>
              </a:spcAft>
              <a:buSzPts val="1800"/>
              <a:buAutoNum type="arabicPeriod"/>
            </a:pPr>
            <a:r>
              <a:rPr lang="en"/>
              <a:t>NAND flash is significantly more dense than NOR flash and can be written faster but it takes longer to read NAND flash. SSDs are normally built using NAND flash.</a:t>
            </a:r>
            <a:endParaRPr/>
          </a:p>
        </p:txBody>
      </p:sp>
      <p:sp>
        <p:nvSpPr>
          <p:cNvPr id="296" name="Google Shape;296;p4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pic>
        <p:nvPicPr>
          <p:cNvPr descr="NAND flash visualization" id="297" name="Google Shape;297;p47"/>
          <p:cNvPicPr preferRelativeResize="0"/>
          <p:nvPr/>
        </p:nvPicPr>
        <p:blipFill>
          <a:blip r:embed="rId3">
            <a:alphaModFix/>
          </a:blip>
          <a:stretch>
            <a:fillRect/>
          </a:stretch>
        </p:blipFill>
        <p:spPr>
          <a:xfrm>
            <a:off x="414350" y="2484025"/>
            <a:ext cx="4389158" cy="2084850"/>
          </a:xfrm>
          <a:prstGeom prst="rect">
            <a:avLst/>
          </a:prstGeom>
          <a:noFill/>
          <a:ln>
            <a:noFill/>
          </a:ln>
        </p:spPr>
      </p:pic>
      <p:pic>
        <p:nvPicPr>
          <p:cNvPr descr="Table of differences between NAND and NOR flash" id="298" name="Google Shape;298;p47"/>
          <p:cNvPicPr preferRelativeResize="0"/>
          <p:nvPr/>
        </p:nvPicPr>
        <p:blipFill>
          <a:blip r:embed="rId4">
            <a:alphaModFix/>
          </a:blip>
          <a:stretch>
            <a:fillRect/>
          </a:stretch>
        </p:blipFill>
        <p:spPr>
          <a:xfrm>
            <a:off x="5694848" y="2674819"/>
            <a:ext cx="2479050" cy="2034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Common Memory Interfaces:</a:t>
            </a:r>
            <a:endParaRPr/>
          </a:p>
        </p:txBody>
      </p:sp>
      <p:sp>
        <p:nvSpPr>
          <p:cNvPr id="304" name="Google Shape;304;p48"/>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0" lvl="0" marL="342900" rtl="0" algn="l">
              <a:spcBef>
                <a:spcPts val="480"/>
              </a:spcBef>
              <a:spcAft>
                <a:spcPts val="0"/>
              </a:spcAft>
              <a:buNone/>
            </a:pPr>
            <a:r>
              <a:rPr lang="en" sz="1600"/>
              <a:t>(These are all generalities, there might be one-off chips that use a different memory type)</a:t>
            </a:r>
            <a:endParaRPr sz="1600"/>
          </a:p>
          <a:p>
            <a:pPr indent="-514350" lvl="0" marL="514350" rtl="0" algn="l">
              <a:spcBef>
                <a:spcPts val="480"/>
              </a:spcBef>
              <a:spcAft>
                <a:spcPts val="0"/>
              </a:spcAft>
              <a:buClr>
                <a:schemeClr val="dk1"/>
              </a:buClr>
              <a:buSzPts val="2400"/>
              <a:buFont typeface="Calibri"/>
              <a:buAutoNum type="arabicPeriod"/>
            </a:pPr>
            <a:r>
              <a:rPr lang="en"/>
              <a:t>DDR (RAM) : DRAM</a:t>
            </a:r>
            <a:endParaRPr/>
          </a:p>
          <a:p>
            <a:pPr indent="-476250" lvl="0" marL="514350" rtl="0" algn="l">
              <a:spcBef>
                <a:spcPts val="480"/>
              </a:spcBef>
              <a:spcAft>
                <a:spcPts val="0"/>
              </a:spcAft>
              <a:buSzPts val="1800"/>
              <a:buAutoNum type="arabicPeriod"/>
            </a:pPr>
            <a:r>
              <a:rPr lang="en"/>
              <a:t>Cache &amp; registers : SRAM</a:t>
            </a:r>
            <a:endParaRPr/>
          </a:p>
          <a:p>
            <a:pPr indent="-476250" lvl="0" marL="514350" rtl="0" algn="l">
              <a:spcBef>
                <a:spcPts val="480"/>
              </a:spcBef>
              <a:spcAft>
                <a:spcPts val="0"/>
              </a:spcAft>
              <a:buSzPts val="1800"/>
              <a:buAutoNum type="arabicPeriod"/>
            </a:pPr>
            <a:r>
              <a:rPr lang="en"/>
              <a:t>I2C/SPI (EEPROM) &amp; QSPIs : NOR</a:t>
            </a:r>
            <a:endParaRPr/>
          </a:p>
          <a:p>
            <a:pPr indent="-476250" lvl="0" marL="514350" rtl="0" algn="l">
              <a:spcBef>
                <a:spcPts val="480"/>
              </a:spcBef>
              <a:spcAft>
                <a:spcPts val="0"/>
              </a:spcAft>
              <a:buSzPts val="1800"/>
              <a:buAutoNum type="arabicPeriod"/>
            </a:pPr>
            <a:r>
              <a:rPr lang="en"/>
              <a:t>SATA/NVMe (SSD) &amp; USB/SD/eMMC : NAND</a:t>
            </a:r>
            <a:endParaRPr/>
          </a:p>
        </p:txBody>
      </p:sp>
      <p:sp>
        <p:nvSpPr>
          <p:cNvPr id="305" name="Google Shape;305;p4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Memory Interfaces explained (1):</a:t>
            </a:r>
            <a:endParaRPr/>
          </a:p>
        </p:txBody>
      </p:sp>
      <p:sp>
        <p:nvSpPr>
          <p:cNvPr id="311" name="Google Shape;311;p49"/>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508000" lvl="0" marL="514350" rtl="0" algn="l">
              <a:spcBef>
                <a:spcPts val="480"/>
              </a:spcBef>
              <a:spcAft>
                <a:spcPts val="0"/>
              </a:spcAft>
              <a:buClr>
                <a:schemeClr val="dk1"/>
              </a:buClr>
              <a:buSzPts val="2300"/>
              <a:buFont typeface="Calibri"/>
              <a:buAutoNum type="arabicPeriod"/>
            </a:pPr>
            <a:r>
              <a:rPr lang="en" sz="2300"/>
              <a:t>DDR: Large parallel system. One data pin for each bit and up to 11 address pins that are each used to specify a Row and Columns of memory. The name comes from the fact that the bus drives on both rising and falling edges of clocks.</a:t>
            </a:r>
            <a:endParaRPr sz="2300"/>
          </a:p>
        </p:txBody>
      </p:sp>
      <p:sp>
        <p:nvSpPr>
          <p:cNvPr id="312" name="Google Shape;312;p4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Memory Interfaces explained (2):</a:t>
            </a:r>
            <a:endParaRPr/>
          </a:p>
        </p:txBody>
      </p:sp>
      <p:sp>
        <p:nvSpPr>
          <p:cNvPr id="318" name="Google Shape;318;p50"/>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lnSpcReduction="10000"/>
          </a:bodyPr>
          <a:lstStyle/>
          <a:p>
            <a:pPr indent="-514350" lvl="0" marL="514350" rtl="0" algn="l">
              <a:spcBef>
                <a:spcPts val="480"/>
              </a:spcBef>
              <a:spcAft>
                <a:spcPts val="0"/>
              </a:spcAft>
              <a:buSzPts val="2400"/>
              <a:buAutoNum type="arabicPeriod"/>
            </a:pPr>
            <a:r>
              <a:rPr lang="en" sz="2400"/>
              <a:t>I2C: 2 wire (clock &amp; data) open drain bidirectional interface with 9 cycle frames including an acknowledge as the 9th cycle. (100-400kHz)</a:t>
            </a:r>
            <a:endParaRPr sz="2400"/>
          </a:p>
          <a:p>
            <a:pPr indent="-514350" lvl="0" marL="514350" rtl="0" algn="l">
              <a:spcBef>
                <a:spcPts val="480"/>
              </a:spcBef>
              <a:spcAft>
                <a:spcPts val="0"/>
              </a:spcAft>
              <a:buSzPts val="2400"/>
              <a:buAutoNum type="arabicPeriod"/>
            </a:pPr>
            <a:r>
              <a:rPr lang="en" sz="2400"/>
              <a:t>SPI: 4 wire (clock, chip select, 2x data [MISO and MOSI]) interface. (25MHz - 108MHz)</a:t>
            </a:r>
            <a:endParaRPr sz="2400"/>
          </a:p>
          <a:p>
            <a:pPr indent="-514350" lvl="0" marL="514350" rtl="0" algn="l">
              <a:spcBef>
                <a:spcPts val="480"/>
              </a:spcBef>
              <a:spcAft>
                <a:spcPts val="0"/>
              </a:spcAft>
              <a:buSzPts val="2400"/>
              <a:buAutoNum type="arabicPeriod"/>
            </a:pPr>
            <a:r>
              <a:rPr lang="en" sz="2400"/>
              <a:t>QSPI: SPI but with 4 bidirectional data lines instead of MISO/MOSI.</a:t>
            </a:r>
            <a:endParaRPr sz="2400"/>
          </a:p>
          <a:p>
            <a:pPr indent="-514350" lvl="0" marL="514350" rtl="0" algn="l">
              <a:spcBef>
                <a:spcPts val="480"/>
              </a:spcBef>
              <a:spcAft>
                <a:spcPts val="0"/>
              </a:spcAft>
              <a:buSzPts val="2400"/>
              <a:buAutoNum type="arabicPeriod"/>
            </a:pPr>
            <a:r>
              <a:rPr lang="en" sz="2400"/>
              <a:t>SD/eMMC use an interface similar to SPI.</a:t>
            </a:r>
            <a:endParaRPr sz="2400"/>
          </a:p>
        </p:txBody>
      </p:sp>
      <p:sp>
        <p:nvSpPr>
          <p:cNvPr id="319" name="Google Shape;319;p5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Memory Interfaces explained (3):</a:t>
            </a:r>
            <a:endParaRPr/>
          </a:p>
        </p:txBody>
      </p:sp>
      <p:sp>
        <p:nvSpPr>
          <p:cNvPr id="325" name="Google Shape;325;p51"/>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514350" lvl="0" marL="514350" rtl="0" algn="l">
              <a:spcBef>
                <a:spcPts val="480"/>
              </a:spcBef>
              <a:spcAft>
                <a:spcPts val="0"/>
              </a:spcAft>
              <a:buSzPts val="2400"/>
              <a:buAutoNum type="arabicPeriod"/>
            </a:pPr>
            <a:r>
              <a:rPr lang="en" sz="2400"/>
              <a:t>SATA: four wire (1 differential pair in each direction) interface designed to access SSDs. (1.5+GHz)</a:t>
            </a:r>
            <a:endParaRPr sz="2400"/>
          </a:p>
          <a:p>
            <a:pPr indent="-514350" lvl="0" marL="514350" rtl="0" algn="l">
              <a:spcBef>
                <a:spcPts val="480"/>
              </a:spcBef>
              <a:spcAft>
                <a:spcPts val="0"/>
              </a:spcAft>
              <a:buSzPts val="2400"/>
              <a:buAutoNum type="arabicPeriod"/>
            </a:pPr>
            <a:r>
              <a:rPr lang="en" sz="2400"/>
              <a:t>NVMe: extension of PCIe (4 diff pairs in each direction) to access SSDs (2.5+GHz)</a:t>
            </a:r>
            <a:endParaRPr sz="2400"/>
          </a:p>
          <a:p>
            <a:pPr indent="-514350" lvl="0" marL="514350" rtl="0" algn="l">
              <a:spcBef>
                <a:spcPts val="480"/>
              </a:spcBef>
              <a:spcAft>
                <a:spcPts val="0"/>
              </a:spcAft>
              <a:buSzPts val="2400"/>
              <a:buAutoNum type="arabicPeriod"/>
            </a:pPr>
            <a:r>
              <a:rPr lang="en" sz="2400"/>
              <a:t>USB: 4 (2.0) or 8 (3.0) wire interface (usb 2.0 has a data diff pair, 5V, and GND, USB 3.0 adds two PCIe speed diff pairs [Tx &amp; Rx]) (480MHz - 5 GHz)</a:t>
            </a:r>
            <a:endParaRPr sz="2400"/>
          </a:p>
        </p:txBody>
      </p:sp>
      <p:sp>
        <p:nvSpPr>
          <p:cNvPr id="326" name="Google Shape;326;p5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Random-Access Memory (RAM)</a:t>
            </a:r>
            <a:endParaRPr/>
          </a:p>
        </p:txBody>
      </p:sp>
      <p:sp>
        <p:nvSpPr>
          <p:cNvPr id="332" name="Google Shape;332;p52"/>
          <p:cNvSpPr txBox="1"/>
          <p:nvPr>
            <p:ph idx="1" type="body"/>
          </p:nvPr>
        </p:nvSpPr>
        <p:spPr>
          <a:xfrm>
            <a:off x="311700" y="1152475"/>
            <a:ext cx="8520600" cy="1641900"/>
          </a:xfrm>
          <a:prstGeom prst="rect">
            <a:avLst/>
          </a:prstGeom>
          <a:noFill/>
          <a:ln>
            <a:noFill/>
          </a:ln>
        </p:spPr>
        <p:txBody>
          <a:bodyPr anchorCtr="0" anchor="t" bIns="45700" lIns="91425" spcFirstLastPara="1" rIns="91425" wrap="square" tIns="45700">
            <a:normAutofit/>
          </a:bodyPr>
          <a:lstStyle/>
          <a:p>
            <a:pPr indent="-342900" lvl="0" marL="457200" rtl="0" algn="l">
              <a:spcBef>
                <a:spcPts val="480"/>
              </a:spcBef>
              <a:spcAft>
                <a:spcPts val="0"/>
              </a:spcAft>
              <a:buSzPts val="1800"/>
              <a:buChar char="●"/>
            </a:pPr>
            <a:r>
              <a:rPr lang="en"/>
              <a:t>RAM comes in two varieties:</a:t>
            </a:r>
            <a:endParaRPr/>
          </a:p>
          <a:p>
            <a:pPr indent="-317500" lvl="1" marL="914400" rtl="0" algn="l">
              <a:spcBef>
                <a:spcPts val="0"/>
              </a:spcBef>
              <a:spcAft>
                <a:spcPts val="0"/>
              </a:spcAft>
              <a:buSzPts val="1400"/>
              <a:buChar char="○"/>
            </a:pPr>
            <a:r>
              <a:rPr lang="en"/>
              <a:t>SRAM (Static RAM)</a:t>
            </a:r>
            <a:endParaRPr/>
          </a:p>
          <a:p>
            <a:pPr indent="-317500" lvl="1" marL="914400" rtl="0" algn="l">
              <a:spcBef>
                <a:spcPts val="0"/>
              </a:spcBef>
              <a:spcAft>
                <a:spcPts val="0"/>
              </a:spcAft>
              <a:buSzPts val="1400"/>
              <a:buChar char="○"/>
            </a:pPr>
            <a:r>
              <a:rPr lang="en"/>
              <a:t>DRAM (Dynamic RAM)</a:t>
            </a:r>
            <a:endParaRPr/>
          </a:p>
          <a:p>
            <a:pPr indent="-342900" lvl="0" marL="457200" rtl="0" algn="l">
              <a:spcBef>
                <a:spcPts val="0"/>
              </a:spcBef>
              <a:spcAft>
                <a:spcPts val="0"/>
              </a:spcAft>
              <a:buSzPts val="1800"/>
              <a:buChar char="●"/>
            </a:pPr>
            <a:r>
              <a:rPr lang="en"/>
              <a:t>DRAM and SRAM are volatile memories</a:t>
            </a:r>
            <a:endParaRPr/>
          </a:p>
          <a:p>
            <a:pPr indent="-317500" lvl="1" marL="914400" rtl="0" algn="l">
              <a:spcBef>
                <a:spcPts val="0"/>
              </a:spcBef>
              <a:spcAft>
                <a:spcPts val="0"/>
              </a:spcAft>
              <a:buSzPts val="1400"/>
              <a:buChar char="○"/>
            </a:pPr>
            <a:r>
              <a:rPr lang="en"/>
              <a:t>Lose information if powered off.</a:t>
            </a:r>
            <a:endParaRPr/>
          </a:p>
        </p:txBody>
      </p:sp>
      <p:pic>
        <p:nvPicPr>
          <p:cNvPr descr="Description of the differences between Static and Dynamic RAM." id="333" name="Google Shape;333;p52"/>
          <p:cNvPicPr preferRelativeResize="0"/>
          <p:nvPr/>
        </p:nvPicPr>
        <p:blipFill>
          <a:blip r:embed="rId3">
            <a:alphaModFix/>
          </a:blip>
          <a:stretch>
            <a:fillRect/>
          </a:stretch>
        </p:blipFill>
        <p:spPr>
          <a:xfrm>
            <a:off x="1502838" y="2710500"/>
            <a:ext cx="7210425" cy="2057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Static and Dynamic RAM:</a:t>
            </a:r>
            <a:endParaRPr/>
          </a:p>
        </p:txBody>
      </p:sp>
      <p:sp>
        <p:nvSpPr>
          <p:cNvPr id="339" name="Google Shape;339;p53"/>
          <p:cNvSpPr txBox="1"/>
          <p:nvPr>
            <p:ph idx="1" type="body"/>
          </p:nvPr>
        </p:nvSpPr>
        <p:spPr>
          <a:xfrm>
            <a:off x="311700" y="1152475"/>
            <a:ext cx="4260300" cy="1737300"/>
          </a:xfrm>
          <a:prstGeom prst="rect">
            <a:avLst/>
          </a:prstGeom>
          <a:noFill/>
          <a:ln>
            <a:noFill/>
          </a:ln>
        </p:spPr>
        <p:txBody>
          <a:bodyPr anchorCtr="0" anchor="t" bIns="45700" lIns="91425" spcFirstLastPara="1" rIns="91425" wrap="square" tIns="45700">
            <a:normAutofit fontScale="77500" lnSpcReduction="10000"/>
          </a:bodyPr>
          <a:lstStyle/>
          <a:p>
            <a:pPr indent="0" lvl="0" marL="457200" rtl="0" algn="l">
              <a:spcBef>
                <a:spcPts val="480"/>
              </a:spcBef>
              <a:spcAft>
                <a:spcPts val="0"/>
              </a:spcAft>
              <a:buNone/>
            </a:pPr>
            <a:r>
              <a:rPr lang="en" sz="2500"/>
              <a:t>DRAM (below) is constructed out of 1 FET and 1 Cap. This makes it very dense but the values must be constantly refreshed. This density is why it is used in DDR.</a:t>
            </a:r>
            <a:endParaRPr sz="2500"/>
          </a:p>
        </p:txBody>
      </p:sp>
      <p:sp>
        <p:nvSpPr>
          <p:cNvPr id="340" name="Google Shape;340;p5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pic>
        <p:nvPicPr>
          <p:cNvPr descr="circuit for DRAM" id="341" name="Google Shape;341;p53"/>
          <p:cNvPicPr preferRelativeResize="0"/>
          <p:nvPr/>
        </p:nvPicPr>
        <p:blipFill>
          <a:blip r:embed="rId3">
            <a:alphaModFix/>
          </a:blip>
          <a:stretch>
            <a:fillRect/>
          </a:stretch>
        </p:blipFill>
        <p:spPr>
          <a:xfrm>
            <a:off x="1494238" y="2961660"/>
            <a:ext cx="1895213" cy="1737266"/>
          </a:xfrm>
          <a:prstGeom prst="rect">
            <a:avLst/>
          </a:prstGeom>
          <a:noFill/>
          <a:ln>
            <a:noFill/>
          </a:ln>
        </p:spPr>
      </p:pic>
      <p:sp>
        <p:nvSpPr>
          <p:cNvPr id="342" name="Google Shape;342;p53"/>
          <p:cNvSpPr txBox="1"/>
          <p:nvPr>
            <p:ph idx="1" type="body"/>
          </p:nvPr>
        </p:nvSpPr>
        <p:spPr>
          <a:xfrm>
            <a:off x="4624575" y="1214625"/>
            <a:ext cx="4352400" cy="1784700"/>
          </a:xfrm>
          <a:prstGeom prst="rect">
            <a:avLst/>
          </a:prstGeom>
          <a:noFill/>
          <a:ln>
            <a:noFill/>
          </a:ln>
        </p:spPr>
        <p:txBody>
          <a:bodyPr anchorCtr="0" anchor="t" bIns="45700" lIns="91425" spcFirstLastPara="1" rIns="91425" wrap="square" tIns="45700">
            <a:normAutofit fontScale="77500" lnSpcReduction="20000"/>
          </a:bodyPr>
          <a:lstStyle/>
          <a:p>
            <a:pPr indent="0" lvl="0" marL="457200" rtl="0" algn="l">
              <a:spcBef>
                <a:spcPts val="480"/>
              </a:spcBef>
              <a:spcAft>
                <a:spcPts val="0"/>
              </a:spcAft>
              <a:buNone/>
            </a:pPr>
            <a:r>
              <a:rPr lang="en" sz="2500"/>
              <a:t>SRAM (below) is constructed out of 6 FETs. This makes it larger than DRAM but it retains value for as long as VDD is applied. This is what the caches and many registers of a CPU are made of.</a:t>
            </a:r>
            <a:endParaRPr sz="2500"/>
          </a:p>
        </p:txBody>
      </p:sp>
      <p:pic>
        <p:nvPicPr>
          <p:cNvPr descr="circuit for SRAM" id="343" name="Google Shape;343;p53"/>
          <p:cNvPicPr preferRelativeResize="0"/>
          <p:nvPr/>
        </p:nvPicPr>
        <p:blipFill>
          <a:blip r:embed="rId4">
            <a:alphaModFix/>
          </a:blip>
          <a:stretch>
            <a:fillRect/>
          </a:stretch>
        </p:blipFill>
        <p:spPr>
          <a:xfrm>
            <a:off x="5727650" y="3089238"/>
            <a:ext cx="2146256" cy="160968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Caches</a:t>
            </a:r>
            <a:endParaRPr/>
          </a:p>
        </p:txBody>
      </p:sp>
      <p:sp>
        <p:nvSpPr>
          <p:cNvPr id="349" name="Google Shape;349;p54"/>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spcBef>
                <a:spcPts val="0"/>
              </a:spcBef>
              <a:spcAft>
                <a:spcPts val="0"/>
              </a:spcAft>
              <a:buSzPct val="80000"/>
              <a:buChar char="●"/>
            </a:pPr>
            <a:r>
              <a:rPr lang="en">
                <a:solidFill>
                  <a:srgbClr val="FF0000"/>
                </a:solidFill>
              </a:rPr>
              <a:t>Cache:</a:t>
            </a:r>
            <a:r>
              <a:rPr lang="en"/>
              <a:t> A smaller, faster storage device that acts as a staging area for a subset of the data in a larger, slower device.</a:t>
            </a:r>
            <a:endParaRPr/>
          </a:p>
          <a:p>
            <a:pPr indent="-336042" lvl="0" marL="342900" rtl="0" algn="l">
              <a:spcBef>
                <a:spcPts val="480"/>
              </a:spcBef>
              <a:spcAft>
                <a:spcPts val="0"/>
              </a:spcAft>
              <a:buSzPct val="80000"/>
              <a:buChar char="●"/>
            </a:pPr>
            <a:r>
              <a:rPr lang="en"/>
              <a:t>Fundamental idea of a memory hierarchy:</a:t>
            </a:r>
            <a:endParaRPr/>
          </a:p>
          <a:p>
            <a:pPr indent="-275273" lvl="1" marL="742950" rtl="0" algn="l">
              <a:spcBef>
                <a:spcPts val="400"/>
              </a:spcBef>
              <a:spcAft>
                <a:spcPts val="0"/>
              </a:spcAft>
              <a:buSzPct val="157143"/>
              <a:buChar char="○"/>
            </a:pPr>
            <a:r>
              <a:rPr lang="en"/>
              <a:t>For each k, the faster, smaller device at level k serves as a cache for the larger, slower device at level k+1.</a:t>
            </a:r>
            <a:endParaRPr/>
          </a:p>
          <a:p>
            <a:pPr indent="-336042" lvl="0" marL="342900" rtl="0" algn="l">
              <a:spcBef>
                <a:spcPts val="480"/>
              </a:spcBef>
              <a:spcAft>
                <a:spcPts val="0"/>
              </a:spcAft>
              <a:buSzPct val="80000"/>
              <a:buChar char="●"/>
            </a:pPr>
            <a:r>
              <a:rPr lang="en"/>
              <a:t>Why do memory hierarchies work?</a:t>
            </a:r>
            <a:endParaRPr/>
          </a:p>
          <a:p>
            <a:pPr indent="-275273" lvl="1" marL="742950" rtl="0" algn="l">
              <a:spcBef>
                <a:spcPts val="400"/>
              </a:spcBef>
              <a:spcAft>
                <a:spcPts val="0"/>
              </a:spcAft>
              <a:buSzPct val="157143"/>
              <a:buChar char="○"/>
            </a:pPr>
            <a:r>
              <a:rPr lang="en"/>
              <a:t>Because of locality, programs tend to access the data at level k more often than they access the data at level k+1. </a:t>
            </a:r>
            <a:endParaRPr/>
          </a:p>
          <a:p>
            <a:pPr indent="-275273" lvl="1" marL="742950" rtl="0" algn="l">
              <a:spcBef>
                <a:spcPts val="400"/>
              </a:spcBef>
              <a:spcAft>
                <a:spcPts val="0"/>
              </a:spcAft>
              <a:buSzPct val="157143"/>
              <a:buChar char="○"/>
            </a:pPr>
            <a:r>
              <a:rPr lang="en"/>
              <a:t>Thus, the storage at level k+1 can be slower, and thus larger and cheaper per bit.</a:t>
            </a:r>
            <a:endParaRPr/>
          </a:p>
          <a:p>
            <a:pPr indent="-336042" lvl="0" marL="342900" rtl="0" algn="l">
              <a:spcBef>
                <a:spcPts val="480"/>
              </a:spcBef>
              <a:spcAft>
                <a:spcPts val="0"/>
              </a:spcAft>
              <a:buSzPct val="80000"/>
              <a:buChar char="●"/>
            </a:pPr>
            <a:r>
              <a:rPr lang="en">
                <a:solidFill>
                  <a:srgbClr val="FF0000"/>
                </a:solidFill>
              </a:rPr>
              <a:t>Big Idea:  </a:t>
            </a:r>
            <a:r>
              <a:rPr lang="en"/>
              <a:t>The memory hierarchy creates a large pool of storage that costs as much as the cheap storage near the bottom, but that serves data to programs at the rate of the fast storage near the top.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descr="Interface between RAM and Cache" id="355" name="Google Shape;355;p55"/>
          <p:cNvSpPr/>
          <p:nvPr/>
        </p:nvSpPr>
        <p:spPr>
          <a:xfrm>
            <a:off x="3352800" y="2171700"/>
            <a:ext cx="685800" cy="1028700"/>
          </a:xfrm>
          <a:prstGeom prst="upDownArrow">
            <a:avLst>
              <a:gd fmla="val 50000" name="adj1"/>
              <a:gd fmla="val 50000" name="adj2"/>
            </a:avLst>
          </a:prstGeom>
          <a:solidFill>
            <a:srgbClr val="BFBFBF"/>
          </a:solidFill>
          <a:ln>
            <a:noFill/>
          </a:ln>
        </p:spPr>
        <p:txBody>
          <a:bodyPr anchorCtr="1"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Calibri"/>
              <a:ea typeface="Calibri"/>
              <a:cs typeface="Calibri"/>
              <a:sym typeface="Calibri"/>
            </a:endParaRPr>
          </a:p>
        </p:txBody>
      </p:sp>
      <p:sp>
        <p:nvSpPr>
          <p:cNvPr id="356" name="Google Shape;356;p5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General Cache Concepts</a:t>
            </a:r>
            <a:endParaRPr/>
          </a:p>
        </p:txBody>
      </p:sp>
      <p:sp>
        <p:nvSpPr>
          <p:cNvPr descr="Visualization of RAM contents" id="357" name="Google Shape;357;p55"/>
          <p:cNvSpPr/>
          <p:nvPr/>
        </p:nvSpPr>
        <p:spPr>
          <a:xfrm>
            <a:off x="1905000" y="3200400"/>
            <a:ext cx="3581400" cy="1543200"/>
          </a:xfrm>
          <a:prstGeom prst="rect">
            <a:avLst/>
          </a:prstGeom>
          <a:solidFill>
            <a:srgbClr val="DEDFF5"/>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Narrow"/>
              <a:buNone/>
            </a:pPr>
            <a:r>
              <a:t/>
            </a:r>
            <a:endParaRPr b="1" sz="1800">
              <a:solidFill>
                <a:schemeClr val="dk1"/>
              </a:solidFill>
              <a:latin typeface="Calibri"/>
              <a:ea typeface="Calibri"/>
              <a:cs typeface="Calibri"/>
              <a:sym typeface="Calibri"/>
            </a:endParaRPr>
          </a:p>
        </p:txBody>
      </p:sp>
      <p:sp>
        <p:nvSpPr>
          <p:cNvPr descr="Visualization of Cache contents" id="358" name="Google Shape;358;p55"/>
          <p:cNvSpPr/>
          <p:nvPr/>
        </p:nvSpPr>
        <p:spPr>
          <a:xfrm>
            <a:off x="1905000" y="1704293"/>
            <a:ext cx="3581400" cy="457200"/>
          </a:xfrm>
          <a:prstGeom prst="rect">
            <a:avLst/>
          </a:prstGeom>
          <a:solidFill>
            <a:srgbClr val="D5D5F4"/>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b="1" sz="2400">
              <a:solidFill>
                <a:schemeClr val="dk1"/>
              </a:solidFill>
              <a:latin typeface="Calibri"/>
              <a:ea typeface="Calibri"/>
              <a:cs typeface="Calibri"/>
              <a:sym typeface="Calibri"/>
            </a:endParaRPr>
          </a:p>
        </p:txBody>
      </p:sp>
      <p:sp>
        <p:nvSpPr>
          <p:cNvPr id="359" name="Google Shape;359;p55"/>
          <p:cNvSpPr/>
          <p:nvPr/>
        </p:nvSpPr>
        <p:spPr>
          <a:xfrm>
            <a:off x="20574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0</a:t>
            </a:r>
            <a:endParaRPr/>
          </a:p>
        </p:txBody>
      </p:sp>
      <p:sp>
        <p:nvSpPr>
          <p:cNvPr id="360" name="Google Shape;360;p55"/>
          <p:cNvSpPr/>
          <p:nvPr/>
        </p:nvSpPr>
        <p:spPr>
          <a:xfrm>
            <a:off x="28956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a:t>
            </a:r>
            <a:endParaRPr/>
          </a:p>
        </p:txBody>
      </p:sp>
      <p:sp>
        <p:nvSpPr>
          <p:cNvPr id="361" name="Google Shape;361;p55"/>
          <p:cNvSpPr/>
          <p:nvPr/>
        </p:nvSpPr>
        <p:spPr>
          <a:xfrm>
            <a:off x="37338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2</a:t>
            </a:r>
            <a:endParaRPr/>
          </a:p>
        </p:txBody>
      </p:sp>
      <p:sp>
        <p:nvSpPr>
          <p:cNvPr id="362" name="Google Shape;362;p55"/>
          <p:cNvSpPr/>
          <p:nvPr/>
        </p:nvSpPr>
        <p:spPr>
          <a:xfrm>
            <a:off x="45720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363" name="Google Shape;363;p55"/>
          <p:cNvSpPr/>
          <p:nvPr/>
        </p:nvSpPr>
        <p:spPr>
          <a:xfrm>
            <a:off x="20574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364" name="Google Shape;364;p55"/>
          <p:cNvSpPr/>
          <p:nvPr/>
        </p:nvSpPr>
        <p:spPr>
          <a:xfrm>
            <a:off x="28956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5</a:t>
            </a:r>
            <a:endParaRPr/>
          </a:p>
        </p:txBody>
      </p:sp>
      <p:sp>
        <p:nvSpPr>
          <p:cNvPr id="365" name="Google Shape;365;p55"/>
          <p:cNvSpPr/>
          <p:nvPr/>
        </p:nvSpPr>
        <p:spPr>
          <a:xfrm>
            <a:off x="37338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6</a:t>
            </a:r>
            <a:endParaRPr/>
          </a:p>
        </p:txBody>
      </p:sp>
      <p:sp>
        <p:nvSpPr>
          <p:cNvPr id="366" name="Google Shape;366;p55"/>
          <p:cNvSpPr/>
          <p:nvPr/>
        </p:nvSpPr>
        <p:spPr>
          <a:xfrm>
            <a:off x="45720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7</a:t>
            </a:r>
            <a:endParaRPr/>
          </a:p>
        </p:txBody>
      </p:sp>
      <p:sp>
        <p:nvSpPr>
          <p:cNvPr id="367" name="Google Shape;367;p55"/>
          <p:cNvSpPr/>
          <p:nvPr/>
        </p:nvSpPr>
        <p:spPr>
          <a:xfrm>
            <a:off x="20574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368" name="Google Shape;368;p55"/>
          <p:cNvSpPr/>
          <p:nvPr/>
        </p:nvSpPr>
        <p:spPr>
          <a:xfrm>
            <a:off x="28956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369" name="Google Shape;369;p55"/>
          <p:cNvSpPr/>
          <p:nvPr/>
        </p:nvSpPr>
        <p:spPr>
          <a:xfrm>
            <a:off x="37338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370" name="Google Shape;370;p55"/>
          <p:cNvSpPr/>
          <p:nvPr/>
        </p:nvSpPr>
        <p:spPr>
          <a:xfrm>
            <a:off x="45720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11</a:t>
            </a:r>
            <a:endParaRPr/>
          </a:p>
        </p:txBody>
      </p:sp>
      <p:sp>
        <p:nvSpPr>
          <p:cNvPr id="371" name="Google Shape;371;p55"/>
          <p:cNvSpPr/>
          <p:nvPr/>
        </p:nvSpPr>
        <p:spPr>
          <a:xfrm>
            <a:off x="20574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12</a:t>
            </a:r>
            <a:endParaRPr/>
          </a:p>
        </p:txBody>
      </p:sp>
      <p:sp>
        <p:nvSpPr>
          <p:cNvPr id="372" name="Google Shape;372;p55"/>
          <p:cNvSpPr/>
          <p:nvPr/>
        </p:nvSpPr>
        <p:spPr>
          <a:xfrm>
            <a:off x="28956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13</a:t>
            </a:r>
            <a:endParaRPr/>
          </a:p>
        </p:txBody>
      </p:sp>
      <p:sp>
        <p:nvSpPr>
          <p:cNvPr id="373" name="Google Shape;373;p55"/>
          <p:cNvSpPr/>
          <p:nvPr/>
        </p:nvSpPr>
        <p:spPr>
          <a:xfrm>
            <a:off x="37338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374" name="Google Shape;374;p55"/>
          <p:cNvSpPr/>
          <p:nvPr/>
        </p:nvSpPr>
        <p:spPr>
          <a:xfrm>
            <a:off x="45720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15</a:t>
            </a:r>
            <a:endParaRPr/>
          </a:p>
        </p:txBody>
      </p:sp>
      <p:cxnSp>
        <p:nvCxnSpPr>
          <p:cNvPr id="375" name="Google Shape;375;p55"/>
          <p:cNvCxnSpPr/>
          <p:nvPr/>
        </p:nvCxnSpPr>
        <p:spPr>
          <a:xfrm>
            <a:off x="2286000" y="4572000"/>
            <a:ext cx="3048000" cy="1200"/>
          </a:xfrm>
          <a:prstGeom prst="straightConnector1">
            <a:avLst/>
          </a:prstGeom>
          <a:noFill/>
          <a:ln cap="rnd" cmpd="sng" w="88900">
            <a:solidFill>
              <a:schemeClr val="dk1"/>
            </a:solidFill>
            <a:prstDash val="dot"/>
            <a:round/>
            <a:headEnd len="sm" w="sm" type="none"/>
            <a:tailEnd len="sm" w="sm" type="none"/>
          </a:ln>
        </p:spPr>
      </p:cxnSp>
      <p:sp>
        <p:nvSpPr>
          <p:cNvPr id="376" name="Google Shape;376;p55"/>
          <p:cNvSpPr/>
          <p:nvPr/>
        </p:nvSpPr>
        <p:spPr>
          <a:xfrm>
            <a:off x="20574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377" name="Google Shape;377;p55"/>
          <p:cNvSpPr/>
          <p:nvPr/>
        </p:nvSpPr>
        <p:spPr>
          <a:xfrm>
            <a:off x="28956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378" name="Google Shape;378;p55"/>
          <p:cNvSpPr/>
          <p:nvPr/>
        </p:nvSpPr>
        <p:spPr>
          <a:xfrm>
            <a:off x="37338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379" name="Google Shape;379;p55"/>
          <p:cNvSpPr/>
          <p:nvPr/>
        </p:nvSpPr>
        <p:spPr>
          <a:xfrm>
            <a:off x="45720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380" name="Google Shape;380;p55"/>
          <p:cNvSpPr txBox="1"/>
          <p:nvPr/>
        </p:nvSpPr>
        <p:spPr>
          <a:xfrm>
            <a:off x="788764" y="1761443"/>
            <a:ext cx="949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Cache</a:t>
            </a:r>
            <a:endParaRPr/>
          </a:p>
        </p:txBody>
      </p:sp>
      <p:sp>
        <p:nvSpPr>
          <p:cNvPr id="381" name="Google Shape;381;p55"/>
          <p:cNvSpPr txBox="1"/>
          <p:nvPr/>
        </p:nvSpPr>
        <p:spPr>
          <a:xfrm>
            <a:off x="457200" y="3257550"/>
            <a:ext cx="1281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Memory</a:t>
            </a:r>
            <a:endParaRPr/>
          </a:p>
        </p:txBody>
      </p:sp>
      <p:sp>
        <p:nvSpPr>
          <p:cNvPr id="382" name="Google Shape;382;p55"/>
          <p:cNvSpPr txBox="1"/>
          <p:nvPr/>
        </p:nvSpPr>
        <p:spPr>
          <a:xfrm>
            <a:off x="5635242" y="3110488"/>
            <a:ext cx="3200100" cy="5772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Larger, slower, cheaper memory</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viewed as partitioned into “blocks”</a:t>
            </a:r>
            <a:endParaRPr/>
          </a:p>
        </p:txBody>
      </p:sp>
      <p:sp>
        <p:nvSpPr>
          <p:cNvPr id="383" name="Google Shape;383;p55"/>
          <p:cNvSpPr txBox="1"/>
          <p:nvPr/>
        </p:nvSpPr>
        <p:spPr>
          <a:xfrm>
            <a:off x="3942800" y="2424689"/>
            <a:ext cx="2838900" cy="5772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Data is copied in block-sized transfer units</a:t>
            </a:r>
            <a:endParaRPr/>
          </a:p>
        </p:txBody>
      </p:sp>
      <p:sp>
        <p:nvSpPr>
          <p:cNvPr id="384" name="Google Shape;384;p55"/>
          <p:cNvSpPr txBox="1"/>
          <p:nvPr/>
        </p:nvSpPr>
        <p:spPr>
          <a:xfrm>
            <a:off x="5562600" y="1624733"/>
            <a:ext cx="2931000" cy="8187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Smaller, faster, more expensive</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memory caches a  subset of</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the blocks</a:t>
            </a:r>
            <a:endParaRPr/>
          </a:p>
        </p:txBody>
      </p:sp>
      <p:sp>
        <p:nvSpPr>
          <p:cNvPr id="385" name="Google Shape;385;p55"/>
          <p:cNvSpPr/>
          <p:nvPr/>
        </p:nvSpPr>
        <p:spPr>
          <a:xfrm>
            <a:off x="2057400" y="3600450"/>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386" name="Google Shape;386;p55"/>
          <p:cNvSpPr/>
          <p:nvPr/>
        </p:nvSpPr>
        <p:spPr>
          <a:xfrm>
            <a:off x="2590800" y="2571750"/>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387" name="Google Shape;387;p55"/>
          <p:cNvSpPr/>
          <p:nvPr/>
        </p:nvSpPr>
        <p:spPr>
          <a:xfrm>
            <a:off x="2057400" y="1818593"/>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388" name="Google Shape;388;p55"/>
          <p:cNvSpPr/>
          <p:nvPr/>
        </p:nvSpPr>
        <p:spPr>
          <a:xfrm>
            <a:off x="3733800" y="3886200"/>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389" name="Google Shape;389;p55"/>
          <p:cNvSpPr/>
          <p:nvPr/>
        </p:nvSpPr>
        <p:spPr>
          <a:xfrm>
            <a:off x="2590800" y="2571750"/>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390" name="Google Shape;390;p55"/>
          <p:cNvSpPr/>
          <p:nvPr/>
        </p:nvSpPr>
        <p:spPr>
          <a:xfrm>
            <a:off x="3733800" y="1818593"/>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descr="Interface between Cache and RAM" id="396" name="Google Shape;396;p56"/>
          <p:cNvSpPr/>
          <p:nvPr/>
        </p:nvSpPr>
        <p:spPr>
          <a:xfrm>
            <a:off x="3352800" y="2171700"/>
            <a:ext cx="685800" cy="1028700"/>
          </a:xfrm>
          <a:prstGeom prst="upDownArrow">
            <a:avLst>
              <a:gd fmla="val 50000" name="adj1"/>
              <a:gd fmla="val 50000" name="adj2"/>
            </a:avLst>
          </a:prstGeom>
          <a:solidFill>
            <a:srgbClr val="BFBFBF"/>
          </a:solidFill>
          <a:ln>
            <a:noFill/>
          </a:ln>
        </p:spPr>
        <p:txBody>
          <a:bodyPr anchorCtr="1"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Calibri"/>
              <a:ea typeface="Calibri"/>
              <a:cs typeface="Calibri"/>
              <a:sym typeface="Calibri"/>
            </a:endParaRPr>
          </a:p>
        </p:txBody>
      </p:sp>
      <p:sp>
        <p:nvSpPr>
          <p:cNvPr id="397" name="Google Shape;397;p5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General Cache Concepts:</a:t>
            </a:r>
            <a:endParaRPr/>
          </a:p>
        </p:txBody>
      </p:sp>
      <p:sp>
        <p:nvSpPr>
          <p:cNvPr descr="Visualization of RAM contents" id="398" name="Google Shape;398;p56"/>
          <p:cNvSpPr/>
          <p:nvPr/>
        </p:nvSpPr>
        <p:spPr>
          <a:xfrm>
            <a:off x="1905000" y="3200400"/>
            <a:ext cx="3581400" cy="1543200"/>
          </a:xfrm>
          <a:prstGeom prst="rect">
            <a:avLst/>
          </a:prstGeom>
          <a:solidFill>
            <a:srgbClr val="D5D5F4"/>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Narrow"/>
              <a:buNone/>
            </a:pPr>
            <a:r>
              <a:t/>
            </a:r>
            <a:endParaRPr b="1" sz="1800">
              <a:solidFill>
                <a:schemeClr val="dk1"/>
              </a:solidFill>
              <a:latin typeface="Calibri"/>
              <a:ea typeface="Calibri"/>
              <a:cs typeface="Calibri"/>
              <a:sym typeface="Calibri"/>
            </a:endParaRPr>
          </a:p>
        </p:txBody>
      </p:sp>
      <p:sp>
        <p:nvSpPr>
          <p:cNvPr descr="Diagram of cache contents" id="399" name="Google Shape;399;p56"/>
          <p:cNvSpPr/>
          <p:nvPr/>
        </p:nvSpPr>
        <p:spPr>
          <a:xfrm>
            <a:off x="1905000" y="1704293"/>
            <a:ext cx="3581400" cy="457200"/>
          </a:xfrm>
          <a:prstGeom prst="rect">
            <a:avLst/>
          </a:prstGeom>
          <a:solidFill>
            <a:srgbClr val="D5D5F4"/>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b="1" sz="2400">
              <a:solidFill>
                <a:schemeClr val="dk1"/>
              </a:solidFill>
              <a:latin typeface="Calibri"/>
              <a:ea typeface="Calibri"/>
              <a:cs typeface="Calibri"/>
              <a:sym typeface="Calibri"/>
            </a:endParaRPr>
          </a:p>
        </p:txBody>
      </p:sp>
      <p:sp>
        <p:nvSpPr>
          <p:cNvPr id="400" name="Google Shape;400;p56"/>
          <p:cNvSpPr/>
          <p:nvPr/>
        </p:nvSpPr>
        <p:spPr>
          <a:xfrm>
            <a:off x="20574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0</a:t>
            </a:r>
            <a:endParaRPr/>
          </a:p>
        </p:txBody>
      </p:sp>
      <p:sp>
        <p:nvSpPr>
          <p:cNvPr id="401" name="Google Shape;401;p56"/>
          <p:cNvSpPr/>
          <p:nvPr/>
        </p:nvSpPr>
        <p:spPr>
          <a:xfrm>
            <a:off x="28956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a:t>
            </a:r>
            <a:endParaRPr/>
          </a:p>
        </p:txBody>
      </p:sp>
      <p:sp>
        <p:nvSpPr>
          <p:cNvPr id="402" name="Google Shape;402;p56"/>
          <p:cNvSpPr/>
          <p:nvPr/>
        </p:nvSpPr>
        <p:spPr>
          <a:xfrm>
            <a:off x="37338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2</a:t>
            </a:r>
            <a:endParaRPr/>
          </a:p>
        </p:txBody>
      </p:sp>
      <p:sp>
        <p:nvSpPr>
          <p:cNvPr id="403" name="Google Shape;403;p56"/>
          <p:cNvSpPr/>
          <p:nvPr/>
        </p:nvSpPr>
        <p:spPr>
          <a:xfrm>
            <a:off x="45720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404" name="Google Shape;404;p56"/>
          <p:cNvSpPr/>
          <p:nvPr/>
        </p:nvSpPr>
        <p:spPr>
          <a:xfrm>
            <a:off x="20574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405" name="Google Shape;405;p56"/>
          <p:cNvSpPr/>
          <p:nvPr/>
        </p:nvSpPr>
        <p:spPr>
          <a:xfrm>
            <a:off x="28956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5</a:t>
            </a:r>
            <a:endParaRPr/>
          </a:p>
        </p:txBody>
      </p:sp>
      <p:sp>
        <p:nvSpPr>
          <p:cNvPr id="406" name="Google Shape;406;p56"/>
          <p:cNvSpPr/>
          <p:nvPr/>
        </p:nvSpPr>
        <p:spPr>
          <a:xfrm>
            <a:off x="37338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6</a:t>
            </a:r>
            <a:endParaRPr/>
          </a:p>
        </p:txBody>
      </p:sp>
      <p:sp>
        <p:nvSpPr>
          <p:cNvPr id="407" name="Google Shape;407;p56"/>
          <p:cNvSpPr/>
          <p:nvPr/>
        </p:nvSpPr>
        <p:spPr>
          <a:xfrm>
            <a:off x="45720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7</a:t>
            </a:r>
            <a:endParaRPr/>
          </a:p>
        </p:txBody>
      </p:sp>
      <p:sp>
        <p:nvSpPr>
          <p:cNvPr id="408" name="Google Shape;408;p56"/>
          <p:cNvSpPr/>
          <p:nvPr/>
        </p:nvSpPr>
        <p:spPr>
          <a:xfrm>
            <a:off x="20574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409" name="Google Shape;409;p56"/>
          <p:cNvSpPr/>
          <p:nvPr/>
        </p:nvSpPr>
        <p:spPr>
          <a:xfrm>
            <a:off x="28956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410" name="Google Shape;410;p56"/>
          <p:cNvSpPr/>
          <p:nvPr/>
        </p:nvSpPr>
        <p:spPr>
          <a:xfrm>
            <a:off x="37338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411" name="Google Shape;411;p56"/>
          <p:cNvSpPr/>
          <p:nvPr/>
        </p:nvSpPr>
        <p:spPr>
          <a:xfrm>
            <a:off x="45720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11</a:t>
            </a:r>
            <a:endParaRPr/>
          </a:p>
        </p:txBody>
      </p:sp>
      <p:sp>
        <p:nvSpPr>
          <p:cNvPr id="412" name="Google Shape;412;p56"/>
          <p:cNvSpPr/>
          <p:nvPr/>
        </p:nvSpPr>
        <p:spPr>
          <a:xfrm>
            <a:off x="20574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12</a:t>
            </a:r>
            <a:endParaRPr/>
          </a:p>
        </p:txBody>
      </p:sp>
      <p:sp>
        <p:nvSpPr>
          <p:cNvPr id="413" name="Google Shape;413;p56"/>
          <p:cNvSpPr/>
          <p:nvPr/>
        </p:nvSpPr>
        <p:spPr>
          <a:xfrm>
            <a:off x="28956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13</a:t>
            </a:r>
            <a:endParaRPr/>
          </a:p>
        </p:txBody>
      </p:sp>
      <p:sp>
        <p:nvSpPr>
          <p:cNvPr id="414" name="Google Shape;414;p56"/>
          <p:cNvSpPr/>
          <p:nvPr/>
        </p:nvSpPr>
        <p:spPr>
          <a:xfrm>
            <a:off x="37338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415" name="Google Shape;415;p56"/>
          <p:cNvSpPr/>
          <p:nvPr/>
        </p:nvSpPr>
        <p:spPr>
          <a:xfrm>
            <a:off x="45720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15</a:t>
            </a:r>
            <a:endParaRPr/>
          </a:p>
        </p:txBody>
      </p:sp>
      <p:cxnSp>
        <p:nvCxnSpPr>
          <p:cNvPr id="416" name="Google Shape;416;p56"/>
          <p:cNvCxnSpPr/>
          <p:nvPr/>
        </p:nvCxnSpPr>
        <p:spPr>
          <a:xfrm>
            <a:off x="2286000" y="4572000"/>
            <a:ext cx="3048000" cy="1200"/>
          </a:xfrm>
          <a:prstGeom prst="straightConnector1">
            <a:avLst/>
          </a:prstGeom>
          <a:noFill/>
          <a:ln cap="rnd" cmpd="sng" w="88900">
            <a:solidFill>
              <a:schemeClr val="dk1"/>
            </a:solidFill>
            <a:prstDash val="dot"/>
            <a:round/>
            <a:headEnd len="sm" w="sm" type="none"/>
            <a:tailEnd len="sm" w="sm" type="none"/>
          </a:ln>
        </p:spPr>
      </p:cxnSp>
      <p:sp>
        <p:nvSpPr>
          <p:cNvPr id="417" name="Google Shape;417;p56"/>
          <p:cNvSpPr/>
          <p:nvPr/>
        </p:nvSpPr>
        <p:spPr>
          <a:xfrm>
            <a:off x="20574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418" name="Google Shape;418;p56"/>
          <p:cNvSpPr/>
          <p:nvPr/>
        </p:nvSpPr>
        <p:spPr>
          <a:xfrm>
            <a:off x="28956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419" name="Google Shape;419;p56"/>
          <p:cNvSpPr/>
          <p:nvPr/>
        </p:nvSpPr>
        <p:spPr>
          <a:xfrm>
            <a:off x="37338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420" name="Google Shape;420;p56"/>
          <p:cNvSpPr/>
          <p:nvPr/>
        </p:nvSpPr>
        <p:spPr>
          <a:xfrm>
            <a:off x="45720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421" name="Google Shape;421;p56"/>
          <p:cNvSpPr txBox="1"/>
          <p:nvPr/>
        </p:nvSpPr>
        <p:spPr>
          <a:xfrm>
            <a:off x="788764" y="1761443"/>
            <a:ext cx="949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Cache</a:t>
            </a:r>
            <a:endParaRPr/>
          </a:p>
        </p:txBody>
      </p:sp>
      <p:sp>
        <p:nvSpPr>
          <p:cNvPr id="422" name="Google Shape;422;p56"/>
          <p:cNvSpPr txBox="1"/>
          <p:nvPr/>
        </p:nvSpPr>
        <p:spPr>
          <a:xfrm>
            <a:off x="457200" y="3257550"/>
            <a:ext cx="1281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Memory</a:t>
            </a:r>
            <a:endParaRPr/>
          </a:p>
        </p:txBody>
      </p:sp>
      <p:sp>
        <p:nvSpPr>
          <p:cNvPr id="423" name="Google Shape;423;p56"/>
          <p:cNvSpPr/>
          <p:nvPr/>
        </p:nvSpPr>
        <p:spPr>
          <a:xfrm>
            <a:off x="3733800" y="1819142"/>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424" name="Google Shape;424;p56"/>
          <p:cNvSpPr txBox="1"/>
          <p:nvPr>
            <p:ph idx="1" type="body"/>
          </p:nvPr>
        </p:nvSpPr>
        <p:spPr>
          <a:xfrm>
            <a:off x="5653200" y="1044975"/>
            <a:ext cx="3179100" cy="352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Hits</a:t>
            </a:r>
            <a:endParaRPr/>
          </a:p>
          <a:p>
            <a:pPr indent="-342900" lvl="0" marL="457200" rtl="0" algn="l">
              <a:spcBef>
                <a:spcPts val="0"/>
              </a:spcBef>
              <a:spcAft>
                <a:spcPts val="0"/>
              </a:spcAft>
              <a:buSzPts val="1800"/>
              <a:buChar char="●"/>
            </a:pPr>
            <a:r>
              <a:rPr lang="en"/>
              <a:t>Misses</a:t>
            </a:r>
            <a:endParaRPr/>
          </a:p>
          <a:p>
            <a:pPr indent="-342900" lvl="0" marL="457200" rtl="0" algn="l">
              <a:spcBef>
                <a:spcPts val="0"/>
              </a:spcBef>
              <a:spcAft>
                <a:spcPts val="0"/>
              </a:spcAft>
              <a:buSzPts val="1800"/>
              <a:buChar char="●"/>
            </a:pPr>
            <a:r>
              <a:rPr lang="en"/>
              <a:t>Placement policy:</a:t>
            </a:r>
            <a:endParaRPr/>
          </a:p>
          <a:p>
            <a:pPr indent="-342900" lvl="1" marL="914400" rtl="0" algn="l">
              <a:spcBef>
                <a:spcPts val="0"/>
              </a:spcBef>
              <a:spcAft>
                <a:spcPts val="0"/>
              </a:spcAft>
              <a:buSzPts val="1800"/>
              <a:buChar char="○"/>
            </a:pPr>
            <a:r>
              <a:rPr lang="en" sz="1800"/>
              <a:t>determines where new block goes</a:t>
            </a:r>
            <a:endParaRPr sz="1800"/>
          </a:p>
          <a:p>
            <a:pPr indent="-342900" lvl="0" marL="457200" rtl="0" algn="l">
              <a:spcBef>
                <a:spcPts val="0"/>
              </a:spcBef>
              <a:spcAft>
                <a:spcPts val="0"/>
              </a:spcAft>
              <a:buSzPts val="1800"/>
              <a:buChar char="●"/>
            </a:pPr>
            <a:r>
              <a:rPr lang="en"/>
              <a:t>Replacement policy:</a:t>
            </a:r>
            <a:endParaRPr/>
          </a:p>
          <a:p>
            <a:pPr indent="-342900" lvl="1" marL="914400" rtl="0" algn="l">
              <a:spcBef>
                <a:spcPts val="0"/>
              </a:spcBef>
              <a:spcAft>
                <a:spcPts val="0"/>
              </a:spcAft>
              <a:buSzPts val="1800"/>
              <a:buChar char="○"/>
            </a:pPr>
            <a:r>
              <a:rPr lang="en" sz="1800"/>
              <a:t>determines which block gets evicted (victim)</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General Caching Concepts: Types of Cache Misses</a:t>
            </a:r>
            <a:endParaRPr/>
          </a:p>
        </p:txBody>
      </p:sp>
      <p:sp>
        <p:nvSpPr>
          <p:cNvPr id="430" name="Google Shape;430;p57"/>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spcBef>
                <a:spcPts val="0"/>
              </a:spcBef>
              <a:spcAft>
                <a:spcPts val="0"/>
              </a:spcAft>
              <a:buSzPct val="80000"/>
              <a:buChar char="●"/>
            </a:pPr>
            <a:r>
              <a:rPr lang="en"/>
              <a:t>Cold (compulsory) miss</a:t>
            </a:r>
            <a:endParaRPr/>
          </a:p>
          <a:p>
            <a:pPr indent="-275273" lvl="1" marL="742950" rtl="0" algn="l">
              <a:spcBef>
                <a:spcPts val="400"/>
              </a:spcBef>
              <a:spcAft>
                <a:spcPts val="0"/>
              </a:spcAft>
              <a:buSzPct val="157143"/>
              <a:buChar char="○"/>
            </a:pPr>
            <a:r>
              <a:rPr lang="en"/>
              <a:t>Cold misses occur because the cache is empty.</a:t>
            </a:r>
            <a:endParaRPr/>
          </a:p>
          <a:p>
            <a:pPr indent="-336042" lvl="0" marL="342900" rtl="0" algn="l">
              <a:spcBef>
                <a:spcPts val="480"/>
              </a:spcBef>
              <a:spcAft>
                <a:spcPts val="0"/>
              </a:spcAft>
              <a:buSzPct val="80000"/>
              <a:buChar char="●"/>
            </a:pPr>
            <a:r>
              <a:rPr lang="en"/>
              <a:t>Conflict miss</a:t>
            </a:r>
            <a:endParaRPr/>
          </a:p>
          <a:p>
            <a:pPr indent="-275273" lvl="1" marL="742950" rtl="0" algn="l">
              <a:spcBef>
                <a:spcPts val="400"/>
              </a:spcBef>
              <a:spcAft>
                <a:spcPts val="0"/>
              </a:spcAft>
              <a:buSzPct val="157143"/>
              <a:buChar char="○"/>
            </a:pPr>
            <a:r>
              <a:rPr lang="en"/>
              <a:t>Most caches limit blocks at level k+1 to a small subset (sometimes a singleton) of the block positions at level k.</a:t>
            </a:r>
            <a:endParaRPr/>
          </a:p>
          <a:p>
            <a:pPr indent="-220980" lvl="2" marL="1143000" rtl="0" algn="l">
              <a:spcBef>
                <a:spcPts val="400"/>
              </a:spcBef>
              <a:spcAft>
                <a:spcPts val="0"/>
              </a:spcAft>
              <a:buSzPct val="114286"/>
              <a:buChar char="■"/>
            </a:pPr>
            <a:r>
              <a:rPr lang="en"/>
              <a:t>E.g. Block i at level k+1 must be placed in block (i mod 4) at level k.</a:t>
            </a:r>
            <a:endParaRPr/>
          </a:p>
          <a:p>
            <a:pPr indent="-275273" lvl="1" marL="742950" rtl="0" algn="l">
              <a:spcBef>
                <a:spcPts val="400"/>
              </a:spcBef>
              <a:spcAft>
                <a:spcPts val="0"/>
              </a:spcAft>
              <a:buSzPct val="157143"/>
              <a:buChar char="○"/>
            </a:pPr>
            <a:r>
              <a:rPr lang="en"/>
              <a:t>Conflict misses occur when the level k cache is large enough, but multiple data objects all map to the same level k block.</a:t>
            </a:r>
            <a:endParaRPr/>
          </a:p>
          <a:p>
            <a:pPr indent="-220980" lvl="2" marL="1143000" rtl="0" algn="l">
              <a:spcBef>
                <a:spcPts val="400"/>
              </a:spcBef>
              <a:spcAft>
                <a:spcPts val="0"/>
              </a:spcAft>
              <a:buSzPct val="114286"/>
              <a:buChar char="■"/>
            </a:pPr>
            <a:r>
              <a:rPr lang="en"/>
              <a:t>E.g. Referencing blocks 0, 8, 0, 8, 0, 8, ... would miss every time.</a:t>
            </a:r>
            <a:endParaRPr/>
          </a:p>
          <a:p>
            <a:pPr indent="-336042" lvl="0" marL="342900" rtl="0" algn="l">
              <a:spcBef>
                <a:spcPts val="480"/>
              </a:spcBef>
              <a:spcAft>
                <a:spcPts val="0"/>
              </a:spcAft>
              <a:buSzPct val="80000"/>
              <a:buChar char="●"/>
            </a:pPr>
            <a:r>
              <a:rPr lang="en"/>
              <a:t>Capacity miss</a:t>
            </a:r>
            <a:endParaRPr/>
          </a:p>
          <a:p>
            <a:pPr indent="-275273" lvl="1" marL="742950" rtl="0" algn="l">
              <a:spcBef>
                <a:spcPts val="400"/>
              </a:spcBef>
              <a:spcAft>
                <a:spcPts val="0"/>
              </a:spcAft>
              <a:buSzPct val="157143"/>
              <a:buChar char="○"/>
            </a:pPr>
            <a:r>
              <a:rPr lang="en"/>
              <a:t>Occurs when the set of active cache blocks (working set) is larger than the cache.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5" name="Shape 435"/>
        <p:cNvGrpSpPr/>
        <p:nvPr/>
      </p:nvGrpSpPr>
      <p:grpSpPr>
        <a:xfrm>
          <a:off x="0" y="0"/>
          <a:ext cx="0" cy="0"/>
          <a:chOff x="0" y="0"/>
          <a:chExt cx="0" cy="0"/>
        </a:xfrm>
      </p:grpSpPr>
      <p:sp>
        <p:nvSpPr>
          <p:cNvPr id="436" name="Google Shape;436;p5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Examples of Caching in the Mem. Hierarchy</a:t>
            </a:r>
            <a:endParaRPr/>
          </a:p>
        </p:txBody>
      </p:sp>
      <p:sp>
        <p:nvSpPr>
          <p:cNvPr id="437" name="Google Shape;437;p58"/>
          <p:cNvSpPr/>
          <p:nvPr/>
        </p:nvSpPr>
        <p:spPr>
          <a:xfrm>
            <a:off x="7658100" y="1821656"/>
            <a:ext cx="1447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a:solidFill>
                  <a:srgbClr val="21218A"/>
                </a:solidFill>
                <a:latin typeface="Calibri"/>
                <a:ea typeface="Calibri"/>
                <a:cs typeface="Calibri"/>
                <a:sym typeface="Calibri"/>
              </a:rPr>
              <a:t>Hardware MMU</a:t>
            </a:r>
            <a:endParaRPr b="1">
              <a:solidFill>
                <a:srgbClr val="21218A"/>
              </a:solidFill>
              <a:latin typeface="Calibri"/>
              <a:ea typeface="Calibri"/>
              <a:cs typeface="Calibri"/>
              <a:sym typeface="Calibri"/>
            </a:endParaRPr>
          </a:p>
        </p:txBody>
      </p:sp>
      <p:sp>
        <p:nvSpPr>
          <p:cNvPr id="438" name="Google Shape;438;p58"/>
          <p:cNvSpPr/>
          <p:nvPr/>
        </p:nvSpPr>
        <p:spPr>
          <a:xfrm>
            <a:off x="5905500" y="1821656"/>
            <a:ext cx="17526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0</a:t>
            </a:r>
            <a:endParaRPr/>
          </a:p>
        </p:txBody>
      </p:sp>
      <p:sp>
        <p:nvSpPr>
          <p:cNvPr id="439" name="Google Shape;439;p58"/>
          <p:cNvSpPr/>
          <p:nvPr/>
        </p:nvSpPr>
        <p:spPr>
          <a:xfrm>
            <a:off x="3848100" y="1821656"/>
            <a:ext cx="20574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On-Chip TLB</a:t>
            </a:r>
            <a:endParaRPr/>
          </a:p>
        </p:txBody>
      </p:sp>
      <p:sp>
        <p:nvSpPr>
          <p:cNvPr id="440" name="Google Shape;440;p58"/>
          <p:cNvSpPr/>
          <p:nvPr/>
        </p:nvSpPr>
        <p:spPr>
          <a:xfrm>
            <a:off x="1943100" y="1821656"/>
            <a:ext cx="19050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Address translations</a:t>
            </a:r>
            <a:endParaRPr/>
          </a:p>
        </p:txBody>
      </p:sp>
      <p:sp>
        <p:nvSpPr>
          <p:cNvPr id="441" name="Google Shape;441;p58"/>
          <p:cNvSpPr/>
          <p:nvPr/>
        </p:nvSpPr>
        <p:spPr>
          <a:xfrm>
            <a:off x="114300" y="1821656"/>
            <a:ext cx="1828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TLB</a:t>
            </a:r>
            <a:endParaRPr/>
          </a:p>
        </p:txBody>
      </p:sp>
      <p:sp>
        <p:nvSpPr>
          <p:cNvPr id="442" name="Google Shape;442;p58"/>
          <p:cNvSpPr/>
          <p:nvPr/>
        </p:nvSpPr>
        <p:spPr>
          <a:xfrm>
            <a:off x="7658100" y="4004072"/>
            <a:ext cx="1447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Web browser</a:t>
            </a:r>
            <a:endParaRPr/>
          </a:p>
        </p:txBody>
      </p:sp>
      <p:sp>
        <p:nvSpPr>
          <p:cNvPr id="443" name="Google Shape;443;p58"/>
          <p:cNvSpPr/>
          <p:nvPr/>
        </p:nvSpPr>
        <p:spPr>
          <a:xfrm>
            <a:off x="5905500" y="4004072"/>
            <a:ext cx="17526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10,000,000</a:t>
            </a:r>
            <a:endParaRPr/>
          </a:p>
        </p:txBody>
      </p:sp>
      <p:sp>
        <p:nvSpPr>
          <p:cNvPr id="444" name="Google Shape;444;p58"/>
          <p:cNvSpPr/>
          <p:nvPr/>
        </p:nvSpPr>
        <p:spPr>
          <a:xfrm>
            <a:off x="3848100" y="4004072"/>
            <a:ext cx="20574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Local disk</a:t>
            </a:r>
            <a:endParaRPr/>
          </a:p>
        </p:txBody>
      </p:sp>
      <p:sp>
        <p:nvSpPr>
          <p:cNvPr id="445" name="Google Shape;445;p58"/>
          <p:cNvSpPr/>
          <p:nvPr/>
        </p:nvSpPr>
        <p:spPr>
          <a:xfrm>
            <a:off x="1943100" y="4004072"/>
            <a:ext cx="19050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Web pages</a:t>
            </a:r>
            <a:endParaRPr/>
          </a:p>
        </p:txBody>
      </p:sp>
      <p:sp>
        <p:nvSpPr>
          <p:cNvPr id="446" name="Google Shape;446;p58"/>
          <p:cNvSpPr/>
          <p:nvPr/>
        </p:nvSpPr>
        <p:spPr>
          <a:xfrm>
            <a:off x="114300" y="4004072"/>
            <a:ext cx="1828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Browser cache</a:t>
            </a:r>
            <a:endParaRPr/>
          </a:p>
        </p:txBody>
      </p:sp>
      <p:sp>
        <p:nvSpPr>
          <p:cNvPr id="447" name="Google Shape;447;p58"/>
          <p:cNvSpPr/>
          <p:nvPr/>
        </p:nvSpPr>
        <p:spPr>
          <a:xfrm>
            <a:off x="114300" y="4443413"/>
            <a:ext cx="1828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Web cache</a:t>
            </a:r>
            <a:endParaRPr/>
          </a:p>
        </p:txBody>
      </p:sp>
      <p:sp>
        <p:nvSpPr>
          <p:cNvPr id="448" name="Google Shape;448;p58"/>
          <p:cNvSpPr/>
          <p:nvPr/>
        </p:nvSpPr>
        <p:spPr>
          <a:xfrm>
            <a:off x="114300" y="3564731"/>
            <a:ext cx="1828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a:solidFill>
                  <a:srgbClr val="000066"/>
                </a:solidFill>
                <a:latin typeface="Calibri"/>
                <a:ea typeface="Calibri"/>
                <a:cs typeface="Calibri"/>
                <a:sym typeface="Calibri"/>
              </a:rPr>
              <a:t>Network buffer cache</a:t>
            </a:r>
            <a:endParaRPr sz="1200"/>
          </a:p>
        </p:txBody>
      </p:sp>
      <p:sp>
        <p:nvSpPr>
          <p:cNvPr id="449" name="Google Shape;449;p58"/>
          <p:cNvSpPr/>
          <p:nvPr/>
        </p:nvSpPr>
        <p:spPr>
          <a:xfrm>
            <a:off x="114300" y="3021806"/>
            <a:ext cx="18288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Buffer cache</a:t>
            </a:r>
            <a:endParaRPr/>
          </a:p>
        </p:txBody>
      </p:sp>
      <p:sp>
        <p:nvSpPr>
          <p:cNvPr id="450" name="Google Shape;450;p58"/>
          <p:cNvSpPr/>
          <p:nvPr/>
        </p:nvSpPr>
        <p:spPr>
          <a:xfrm>
            <a:off x="114300" y="2768204"/>
            <a:ext cx="1828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Virtual Memory</a:t>
            </a:r>
            <a:endParaRPr/>
          </a:p>
        </p:txBody>
      </p:sp>
      <p:sp>
        <p:nvSpPr>
          <p:cNvPr id="451" name="Google Shape;451;p58"/>
          <p:cNvSpPr/>
          <p:nvPr/>
        </p:nvSpPr>
        <p:spPr>
          <a:xfrm>
            <a:off x="114300" y="2514600"/>
            <a:ext cx="1828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L2 cache</a:t>
            </a:r>
            <a:endParaRPr/>
          </a:p>
        </p:txBody>
      </p:sp>
      <p:sp>
        <p:nvSpPr>
          <p:cNvPr id="452" name="Google Shape;452;p58"/>
          <p:cNvSpPr/>
          <p:nvPr/>
        </p:nvSpPr>
        <p:spPr>
          <a:xfrm>
            <a:off x="114300" y="2260997"/>
            <a:ext cx="1828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L1 cache</a:t>
            </a:r>
            <a:endParaRPr/>
          </a:p>
        </p:txBody>
      </p:sp>
      <p:sp>
        <p:nvSpPr>
          <p:cNvPr id="453" name="Google Shape;453;p58"/>
          <p:cNvSpPr/>
          <p:nvPr/>
        </p:nvSpPr>
        <p:spPr>
          <a:xfrm>
            <a:off x="114300" y="1558529"/>
            <a:ext cx="1828800" cy="2631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Registers</a:t>
            </a:r>
            <a:endParaRPr/>
          </a:p>
        </p:txBody>
      </p:sp>
      <p:sp>
        <p:nvSpPr>
          <p:cNvPr id="454" name="Google Shape;454;p58"/>
          <p:cNvSpPr/>
          <p:nvPr/>
        </p:nvSpPr>
        <p:spPr>
          <a:xfrm>
            <a:off x="114300" y="1078706"/>
            <a:ext cx="1828800" cy="480000"/>
          </a:xfrm>
          <a:prstGeom prst="rect">
            <a:avLst/>
          </a:prstGeom>
          <a:solidFill>
            <a:srgbClr val="E0E0E0"/>
          </a:solidFill>
          <a:ln cap="flat" cmpd="sng" w="9525">
            <a:solidFill>
              <a:srgbClr val="00006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98000"/>
              </a:lnSpc>
              <a:spcBef>
                <a:spcPts val="0"/>
              </a:spcBef>
              <a:spcAft>
                <a:spcPts val="0"/>
              </a:spcAft>
              <a:buNone/>
            </a:pPr>
            <a:r>
              <a:rPr b="1" lang="en" sz="1800">
                <a:solidFill>
                  <a:schemeClr val="dk1"/>
                </a:solidFill>
                <a:latin typeface="Calibri"/>
                <a:ea typeface="Calibri"/>
                <a:cs typeface="Calibri"/>
                <a:sym typeface="Calibri"/>
              </a:rPr>
              <a:t>Cache Type</a:t>
            </a:r>
            <a:endParaRPr/>
          </a:p>
        </p:txBody>
      </p:sp>
      <p:sp>
        <p:nvSpPr>
          <p:cNvPr id="455" name="Google Shape;455;p58"/>
          <p:cNvSpPr/>
          <p:nvPr/>
        </p:nvSpPr>
        <p:spPr>
          <a:xfrm>
            <a:off x="1943100" y="4443413"/>
            <a:ext cx="19050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Web pages</a:t>
            </a:r>
            <a:endParaRPr/>
          </a:p>
        </p:txBody>
      </p:sp>
      <p:sp>
        <p:nvSpPr>
          <p:cNvPr id="456" name="Google Shape;456;p58"/>
          <p:cNvSpPr/>
          <p:nvPr/>
        </p:nvSpPr>
        <p:spPr>
          <a:xfrm>
            <a:off x="1943100" y="3564731"/>
            <a:ext cx="19050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Parts of files</a:t>
            </a:r>
            <a:endParaRPr/>
          </a:p>
        </p:txBody>
      </p:sp>
      <p:sp>
        <p:nvSpPr>
          <p:cNvPr id="457" name="Google Shape;457;p58"/>
          <p:cNvSpPr/>
          <p:nvPr/>
        </p:nvSpPr>
        <p:spPr>
          <a:xfrm>
            <a:off x="1943100" y="3021806"/>
            <a:ext cx="19050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Parts of files</a:t>
            </a:r>
            <a:endParaRPr/>
          </a:p>
        </p:txBody>
      </p:sp>
      <p:sp>
        <p:nvSpPr>
          <p:cNvPr id="458" name="Google Shape;458;p58"/>
          <p:cNvSpPr/>
          <p:nvPr/>
        </p:nvSpPr>
        <p:spPr>
          <a:xfrm>
            <a:off x="1943100" y="2768204"/>
            <a:ext cx="19050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4-KB pages</a:t>
            </a:r>
            <a:endParaRPr b="1" sz="1600">
              <a:solidFill>
                <a:srgbClr val="000066"/>
              </a:solidFill>
              <a:latin typeface="Calibri"/>
              <a:ea typeface="Calibri"/>
              <a:cs typeface="Calibri"/>
              <a:sym typeface="Calibri"/>
            </a:endParaRPr>
          </a:p>
        </p:txBody>
      </p:sp>
      <p:sp>
        <p:nvSpPr>
          <p:cNvPr id="459" name="Google Shape;459;p58"/>
          <p:cNvSpPr/>
          <p:nvPr/>
        </p:nvSpPr>
        <p:spPr>
          <a:xfrm>
            <a:off x="1943100" y="2514600"/>
            <a:ext cx="19050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64-byte blocks</a:t>
            </a:r>
            <a:endParaRPr b="1" sz="1600">
              <a:solidFill>
                <a:srgbClr val="000066"/>
              </a:solidFill>
              <a:latin typeface="Calibri"/>
              <a:ea typeface="Calibri"/>
              <a:cs typeface="Calibri"/>
              <a:sym typeface="Calibri"/>
            </a:endParaRPr>
          </a:p>
        </p:txBody>
      </p:sp>
      <p:sp>
        <p:nvSpPr>
          <p:cNvPr id="460" name="Google Shape;460;p58"/>
          <p:cNvSpPr/>
          <p:nvPr/>
        </p:nvSpPr>
        <p:spPr>
          <a:xfrm>
            <a:off x="1943100" y="2260997"/>
            <a:ext cx="19050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64-byte blocks</a:t>
            </a:r>
            <a:endParaRPr b="1" sz="1600">
              <a:solidFill>
                <a:srgbClr val="000066"/>
              </a:solidFill>
              <a:latin typeface="Calibri"/>
              <a:ea typeface="Calibri"/>
              <a:cs typeface="Calibri"/>
              <a:sym typeface="Calibri"/>
            </a:endParaRPr>
          </a:p>
        </p:txBody>
      </p:sp>
      <p:sp>
        <p:nvSpPr>
          <p:cNvPr id="461" name="Google Shape;461;p58"/>
          <p:cNvSpPr/>
          <p:nvPr/>
        </p:nvSpPr>
        <p:spPr>
          <a:xfrm>
            <a:off x="1943100" y="1558529"/>
            <a:ext cx="1905000" cy="2631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4-8 bytes words</a:t>
            </a:r>
            <a:endParaRPr b="1" sz="1600">
              <a:solidFill>
                <a:srgbClr val="000066"/>
              </a:solidFill>
              <a:latin typeface="Calibri"/>
              <a:ea typeface="Calibri"/>
              <a:cs typeface="Calibri"/>
              <a:sym typeface="Calibri"/>
            </a:endParaRPr>
          </a:p>
        </p:txBody>
      </p:sp>
      <p:sp>
        <p:nvSpPr>
          <p:cNvPr id="462" name="Google Shape;462;p58"/>
          <p:cNvSpPr/>
          <p:nvPr/>
        </p:nvSpPr>
        <p:spPr>
          <a:xfrm>
            <a:off x="1943100" y="1078706"/>
            <a:ext cx="1905000" cy="480000"/>
          </a:xfrm>
          <a:prstGeom prst="rect">
            <a:avLst/>
          </a:prstGeom>
          <a:solidFill>
            <a:srgbClr val="E0E0E0"/>
          </a:solidFill>
          <a:ln cap="flat" cmpd="sng" w="9525">
            <a:solidFill>
              <a:srgbClr val="00006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98000"/>
              </a:lnSpc>
              <a:spcBef>
                <a:spcPts val="0"/>
              </a:spcBef>
              <a:spcAft>
                <a:spcPts val="0"/>
              </a:spcAft>
              <a:buNone/>
            </a:pPr>
            <a:r>
              <a:rPr b="1" lang="en" sz="1800">
                <a:solidFill>
                  <a:schemeClr val="dk1"/>
                </a:solidFill>
                <a:latin typeface="Calibri"/>
                <a:ea typeface="Calibri"/>
                <a:cs typeface="Calibri"/>
                <a:sym typeface="Calibri"/>
              </a:rPr>
              <a:t>What is Cached?</a:t>
            </a:r>
            <a:endParaRPr/>
          </a:p>
        </p:txBody>
      </p:sp>
      <p:sp>
        <p:nvSpPr>
          <p:cNvPr id="463" name="Google Shape;463;p58"/>
          <p:cNvSpPr/>
          <p:nvPr/>
        </p:nvSpPr>
        <p:spPr>
          <a:xfrm>
            <a:off x="7658100" y="4443413"/>
            <a:ext cx="1447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300">
                <a:solidFill>
                  <a:srgbClr val="000066"/>
                </a:solidFill>
                <a:latin typeface="Calibri"/>
                <a:ea typeface="Calibri"/>
                <a:cs typeface="Calibri"/>
                <a:sym typeface="Calibri"/>
              </a:rPr>
              <a:t>Web proxy server</a:t>
            </a:r>
            <a:endParaRPr sz="1100"/>
          </a:p>
        </p:txBody>
      </p:sp>
      <p:sp>
        <p:nvSpPr>
          <p:cNvPr id="464" name="Google Shape;464;p58"/>
          <p:cNvSpPr/>
          <p:nvPr/>
        </p:nvSpPr>
        <p:spPr>
          <a:xfrm>
            <a:off x="5905500" y="4443413"/>
            <a:ext cx="17526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1,000,000,000</a:t>
            </a:r>
            <a:endParaRPr/>
          </a:p>
        </p:txBody>
      </p:sp>
      <p:sp>
        <p:nvSpPr>
          <p:cNvPr id="465" name="Google Shape;465;p58"/>
          <p:cNvSpPr/>
          <p:nvPr/>
        </p:nvSpPr>
        <p:spPr>
          <a:xfrm>
            <a:off x="3848100" y="4443413"/>
            <a:ext cx="20574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Remote server disks</a:t>
            </a:r>
            <a:endParaRPr/>
          </a:p>
        </p:txBody>
      </p:sp>
      <p:sp>
        <p:nvSpPr>
          <p:cNvPr id="466" name="Google Shape;466;p58"/>
          <p:cNvSpPr/>
          <p:nvPr/>
        </p:nvSpPr>
        <p:spPr>
          <a:xfrm>
            <a:off x="7658100" y="3021806"/>
            <a:ext cx="14478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OS</a:t>
            </a:r>
            <a:endParaRPr/>
          </a:p>
        </p:txBody>
      </p:sp>
      <p:sp>
        <p:nvSpPr>
          <p:cNvPr id="467" name="Google Shape;467;p58"/>
          <p:cNvSpPr/>
          <p:nvPr/>
        </p:nvSpPr>
        <p:spPr>
          <a:xfrm>
            <a:off x="5905500" y="3021806"/>
            <a:ext cx="17526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a:t>
            </a:r>
            <a:endParaRPr/>
          </a:p>
        </p:txBody>
      </p:sp>
      <p:sp>
        <p:nvSpPr>
          <p:cNvPr id="468" name="Google Shape;468;p58"/>
          <p:cNvSpPr/>
          <p:nvPr/>
        </p:nvSpPr>
        <p:spPr>
          <a:xfrm>
            <a:off x="3848100" y="3021806"/>
            <a:ext cx="20574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Main memory</a:t>
            </a:r>
            <a:endParaRPr/>
          </a:p>
        </p:txBody>
      </p:sp>
      <p:sp>
        <p:nvSpPr>
          <p:cNvPr id="469" name="Google Shape;469;p58"/>
          <p:cNvSpPr/>
          <p:nvPr/>
        </p:nvSpPr>
        <p:spPr>
          <a:xfrm>
            <a:off x="7658100" y="2260997"/>
            <a:ext cx="1447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Hardware</a:t>
            </a:r>
            <a:endParaRPr/>
          </a:p>
        </p:txBody>
      </p:sp>
      <p:sp>
        <p:nvSpPr>
          <p:cNvPr id="470" name="Google Shape;470;p58"/>
          <p:cNvSpPr/>
          <p:nvPr/>
        </p:nvSpPr>
        <p:spPr>
          <a:xfrm>
            <a:off x="5905500" y="2260997"/>
            <a:ext cx="17526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4</a:t>
            </a:r>
            <a:endParaRPr b="1" sz="1600">
              <a:solidFill>
                <a:srgbClr val="000066"/>
              </a:solidFill>
              <a:latin typeface="Calibri"/>
              <a:ea typeface="Calibri"/>
              <a:cs typeface="Calibri"/>
              <a:sym typeface="Calibri"/>
            </a:endParaRPr>
          </a:p>
        </p:txBody>
      </p:sp>
      <p:sp>
        <p:nvSpPr>
          <p:cNvPr id="471" name="Google Shape;471;p58"/>
          <p:cNvSpPr/>
          <p:nvPr/>
        </p:nvSpPr>
        <p:spPr>
          <a:xfrm>
            <a:off x="3848100" y="2260997"/>
            <a:ext cx="20574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On-Chip L1</a:t>
            </a:r>
            <a:endParaRPr/>
          </a:p>
        </p:txBody>
      </p:sp>
      <p:sp>
        <p:nvSpPr>
          <p:cNvPr id="472" name="Google Shape;472;p58"/>
          <p:cNvSpPr/>
          <p:nvPr/>
        </p:nvSpPr>
        <p:spPr>
          <a:xfrm>
            <a:off x="7658100" y="2514600"/>
            <a:ext cx="1447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Hardware</a:t>
            </a:r>
            <a:endParaRPr/>
          </a:p>
        </p:txBody>
      </p:sp>
      <p:sp>
        <p:nvSpPr>
          <p:cNvPr id="473" name="Google Shape;473;p58"/>
          <p:cNvSpPr/>
          <p:nvPr/>
        </p:nvSpPr>
        <p:spPr>
          <a:xfrm>
            <a:off x="5905500" y="2514600"/>
            <a:ext cx="17526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a:t>
            </a:r>
            <a:endParaRPr/>
          </a:p>
        </p:txBody>
      </p:sp>
      <p:sp>
        <p:nvSpPr>
          <p:cNvPr id="474" name="Google Shape;474;p58"/>
          <p:cNvSpPr/>
          <p:nvPr/>
        </p:nvSpPr>
        <p:spPr>
          <a:xfrm>
            <a:off x="3848100" y="2514600"/>
            <a:ext cx="20574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On-Chip L2</a:t>
            </a:r>
            <a:endParaRPr/>
          </a:p>
        </p:txBody>
      </p:sp>
      <p:sp>
        <p:nvSpPr>
          <p:cNvPr id="475" name="Google Shape;475;p58"/>
          <p:cNvSpPr/>
          <p:nvPr/>
        </p:nvSpPr>
        <p:spPr>
          <a:xfrm>
            <a:off x="7658100" y="3564731"/>
            <a:ext cx="14478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NFS client</a:t>
            </a:r>
            <a:endParaRPr/>
          </a:p>
        </p:txBody>
      </p:sp>
      <p:sp>
        <p:nvSpPr>
          <p:cNvPr id="476" name="Google Shape;476;p58"/>
          <p:cNvSpPr/>
          <p:nvPr/>
        </p:nvSpPr>
        <p:spPr>
          <a:xfrm>
            <a:off x="5905500" y="3564731"/>
            <a:ext cx="17526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10,000,000</a:t>
            </a:r>
            <a:endParaRPr/>
          </a:p>
        </p:txBody>
      </p:sp>
      <p:sp>
        <p:nvSpPr>
          <p:cNvPr id="477" name="Google Shape;477;p58"/>
          <p:cNvSpPr/>
          <p:nvPr/>
        </p:nvSpPr>
        <p:spPr>
          <a:xfrm>
            <a:off x="3848100" y="3564731"/>
            <a:ext cx="2057400" cy="439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Local disk</a:t>
            </a:r>
            <a:endParaRPr/>
          </a:p>
        </p:txBody>
      </p:sp>
      <p:sp>
        <p:nvSpPr>
          <p:cNvPr id="478" name="Google Shape;478;p58"/>
          <p:cNvSpPr/>
          <p:nvPr/>
        </p:nvSpPr>
        <p:spPr>
          <a:xfrm>
            <a:off x="7658100" y="2768204"/>
            <a:ext cx="14478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Hardware + OS</a:t>
            </a:r>
            <a:endParaRPr b="1" sz="1600">
              <a:solidFill>
                <a:srgbClr val="000066"/>
              </a:solidFill>
              <a:latin typeface="Calibri"/>
              <a:ea typeface="Calibri"/>
              <a:cs typeface="Calibri"/>
              <a:sym typeface="Calibri"/>
            </a:endParaRPr>
          </a:p>
        </p:txBody>
      </p:sp>
      <p:sp>
        <p:nvSpPr>
          <p:cNvPr id="479" name="Google Shape;479;p58"/>
          <p:cNvSpPr/>
          <p:nvPr/>
        </p:nvSpPr>
        <p:spPr>
          <a:xfrm>
            <a:off x="5905500" y="2768204"/>
            <a:ext cx="17526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a:t>
            </a:r>
            <a:endParaRPr/>
          </a:p>
        </p:txBody>
      </p:sp>
      <p:sp>
        <p:nvSpPr>
          <p:cNvPr id="480" name="Google Shape;480;p58"/>
          <p:cNvSpPr/>
          <p:nvPr/>
        </p:nvSpPr>
        <p:spPr>
          <a:xfrm>
            <a:off x="3848100" y="2768204"/>
            <a:ext cx="2057400" cy="253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Main memory</a:t>
            </a:r>
            <a:endParaRPr/>
          </a:p>
        </p:txBody>
      </p:sp>
      <p:sp>
        <p:nvSpPr>
          <p:cNvPr id="481" name="Google Shape;481;p58"/>
          <p:cNvSpPr/>
          <p:nvPr/>
        </p:nvSpPr>
        <p:spPr>
          <a:xfrm>
            <a:off x="7658100" y="1558529"/>
            <a:ext cx="1447800" cy="2631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Compiler</a:t>
            </a:r>
            <a:endParaRPr/>
          </a:p>
        </p:txBody>
      </p:sp>
      <p:sp>
        <p:nvSpPr>
          <p:cNvPr id="482" name="Google Shape;482;p58"/>
          <p:cNvSpPr/>
          <p:nvPr/>
        </p:nvSpPr>
        <p:spPr>
          <a:xfrm>
            <a:off x="5905500" y="1558529"/>
            <a:ext cx="1752600" cy="2631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0</a:t>
            </a:r>
            <a:endParaRPr/>
          </a:p>
        </p:txBody>
      </p:sp>
      <p:sp>
        <p:nvSpPr>
          <p:cNvPr id="483" name="Google Shape;483;p58"/>
          <p:cNvSpPr/>
          <p:nvPr/>
        </p:nvSpPr>
        <p:spPr>
          <a:xfrm>
            <a:off x="3848100" y="1558529"/>
            <a:ext cx="2057400" cy="2631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 CPU core</a:t>
            </a:r>
            <a:endParaRPr/>
          </a:p>
        </p:txBody>
      </p:sp>
      <p:sp>
        <p:nvSpPr>
          <p:cNvPr id="484" name="Google Shape;484;p58"/>
          <p:cNvSpPr/>
          <p:nvPr/>
        </p:nvSpPr>
        <p:spPr>
          <a:xfrm>
            <a:off x="7658100" y="1078706"/>
            <a:ext cx="1447800" cy="480000"/>
          </a:xfrm>
          <a:prstGeom prst="rect">
            <a:avLst/>
          </a:prstGeom>
          <a:solidFill>
            <a:srgbClr val="E0E0E0"/>
          </a:solidFill>
          <a:ln cap="flat" cmpd="sng" w="9525">
            <a:solidFill>
              <a:srgbClr val="00006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98000"/>
              </a:lnSpc>
              <a:spcBef>
                <a:spcPts val="0"/>
              </a:spcBef>
              <a:spcAft>
                <a:spcPts val="0"/>
              </a:spcAft>
              <a:buNone/>
            </a:pPr>
            <a:r>
              <a:rPr b="1" lang="en" sz="1800">
                <a:solidFill>
                  <a:schemeClr val="dk1"/>
                </a:solidFill>
                <a:latin typeface="Calibri"/>
                <a:ea typeface="Calibri"/>
                <a:cs typeface="Calibri"/>
                <a:sym typeface="Calibri"/>
              </a:rPr>
              <a:t>Managed By</a:t>
            </a:r>
            <a:endParaRPr/>
          </a:p>
        </p:txBody>
      </p:sp>
      <p:sp>
        <p:nvSpPr>
          <p:cNvPr id="485" name="Google Shape;485;p58"/>
          <p:cNvSpPr/>
          <p:nvPr/>
        </p:nvSpPr>
        <p:spPr>
          <a:xfrm>
            <a:off x="5905500" y="1078706"/>
            <a:ext cx="1752600" cy="480000"/>
          </a:xfrm>
          <a:prstGeom prst="rect">
            <a:avLst/>
          </a:prstGeom>
          <a:solidFill>
            <a:srgbClr val="D8D8D8"/>
          </a:solidFill>
          <a:ln cap="flat" cmpd="sng" w="9525">
            <a:solidFill>
              <a:srgbClr val="00006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98000"/>
              </a:lnSpc>
              <a:spcBef>
                <a:spcPts val="0"/>
              </a:spcBef>
              <a:spcAft>
                <a:spcPts val="0"/>
              </a:spcAft>
              <a:buNone/>
            </a:pPr>
            <a:r>
              <a:rPr b="1" lang="en" sz="1800">
                <a:solidFill>
                  <a:schemeClr val="dk1"/>
                </a:solidFill>
                <a:latin typeface="Calibri"/>
                <a:ea typeface="Calibri"/>
                <a:cs typeface="Calibri"/>
                <a:sym typeface="Calibri"/>
              </a:rPr>
              <a:t>Latency (cycles)</a:t>
            </a:r>
            <a:endParaRPr/>
          </a:p>
        </p:txBody>
      </p:sp>
      <p:sp>
        <p:nvSpPr>
          <p:cNvPr id="486" name="Google Shape;486;p58"/>
          <p:cNvSpPr/>
          <p:nvPr/>
        </p:nvSpPr>
        <p:spPr>
          <a:xfrm>
            <a:off x="3848100" y="1078706"/>
            <a:ext cx="2057400" cy="480000"/>
          </a:xfrm>
          <a:prstGeom prst="rect">
            <a:avLst/>
          </a:prstGeom>
          <a:solidFill>
            <a:srgbClr val="E0E0E0"/>
          </a:solidFill>
          <a:ln cap="flat" cmpd="sng" w="9525">
            <a:solidFill>
              <a:srgbClr val="000066"/>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98000"/>
              </a:lnSpc>
              <a:spcBef>
                <a:spcPts val="0"/>
              </a:spcBef>
              <a:spcAft>
                <a:spcPts val="0"/>
              </a:spcAft>
              <a:buNone/>
            </a:pPr>
            <a:r>
              <a:rPr b="1" lang="en" sz="1800">
                <a:solidFill>
                  <a:schemeClr val="dk1"/>
                </a:solidFill>
                <a:latin typeface="Calibri"/>
                <a:ea typeface="Calibri"/>
                <a:cs typeface="Calibri"/>
                <a:sym typeface="Calibri"/>
              </a:rPr>
              <a:t>Where is it Cached?</a:t>
            </a:r>
            <a:endParaRPr/>
          </a:p>
        </p:txBody>
      </p:sp>
      <p:cxnSp>
        <p:nvCxnSpPr>
          <p:cNvPr id="487" name="Google Shape;487;p58"/>
          <p:cNvCxnSpPr/>
          <p:nvPr/>
        </p:nvCxnSpPr>
        <p:spPr>
          <a:xfrm>
            <a:off x="114300" y="1078706"/>
            <a:ext cx="1500" cy="480000"/>
          </a:xfrm>
          <a:prstGeom prst="straightConnector1">
            <a:avLst/>
          </a:prstGeom>
          <a:noFill/>
          <a:ln cap="flat" cmpd="sng" w="9525">
            <a:solidFill>
              <a:srgbClr val="000066"/>
            </a:solidFill>
            <a:prstDash val="solid"/>
            <a:miter lim="800000"/>
            <a:headEnd len="med" w="med" type="none"/>
            <a:tailEnd len="med" w="med" type="none"/>
          </a:ln>
        </p:spPr>
      </p:cxnSp>
      <p:sp>
        <p:nvSpPr>
          <p:cNvPr id="488" name="Google Shape;488;p58"/>
          <p:cNvSpPr/>
          <p:nvPr/>
        </p:nvSpPr>
        <p:spPr>
          <a:xfrm>
            <a:off x="114300" y="3293269"/>
            <a:ext cx="18288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Disk cache	</a:t>
            </a:r>
            <a:endParaRPr b="1" sz="1600">
              <a:solidFill>
                <a:srgbClr val="000066"/>
              </a:solidFill>
              <a:latin typeface="Calibri"/>
              <a:ea typeface="Calibri"/>
              <a:cs typeface="Calibri"/>
              <a:sym typeface="Calibri"/>
            </a:endParaRPr>
          </a:p>
        </p:txBody>
      </p:sp>
      <p:sp>
        <p:nvSpPr>
          <p:cNvPr id="489" name="Google Shape;489;p58"/>
          <p:cNvSpPr/>
          <p:nvPr/>
        </p:nvSpPr>
        <p:spPr>
          <a:xfrm>
            <a:off x="1943100" y="3293269"/>
            <a:ext cx="19050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Disk sectors</a:t>
            </a:r>
            <a:endParaRPr b="1" sz="1600">
              <a:solidFill>
                <a:srgbClr val="000066"/>
              </a:solidFill>
              <a:latin typeface="Calibri"/>
              <a:ea typeface="Calibri"/>
              <a:cs typeface="Calibri"/>
              <a:sym typeface="Calibri"/>
            </a:endParaRPr>
          </a:p>
        </p:txBody>
      </p:sp>
      <p:sp>
        <p:nvSpPr>
          <p:cNvPr id="490" name="Google Shape;490;p58"/>
          <p:cNvSpPr/>
          <p:nvPr/>
        </p:nvSpPr>
        <p:spPr>
          <a:xfrm>
            <a:off x="3848100" y="3293269"/>
            <a:ext cx="20574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Disk controller</a:t>
            </a:r>
            <a:endParaRPr b="1" sz="1600">
              <a:solidFill>
                <a:srgbClr val="000066"/>
              </a:solidFill>
              <a:latin typeface="Calibri"/>
              <a:ea typeface="Calibri"/>
              <a:cs typeface="Calibri"/>
              <a:sym typeface="Calibri"/>
            </a:endParaRPr>
          </a:p>
        </p:txBody>
      </p:sp>
      <p:sp>
        <p:nvSpPr>
          <p:cNvPr id="491" name="Google Shape;491;p58"/>
          <p:cNvSpPr/>
          <p:nvPr/>
        </p:nvSpPr>
        <p:spPr>
          <a:xfrm>
            <a:off x="5905500" y="3293269"/>
            <a:ext cx="17526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r">
              <a:lnSpc>
                <a:spcPct val="98000"/>
              </a:lnSpc>
              <a:spcBef>
                <a:spcPts val="0"/>
              </a:spcBef>
              <a:spcAft>
                <a:spcPts val="0"/>
              </a:spcAft>
              <a:buNone/>
            </a:pPr>
            <a:r>
              <a:rPr b="1" lang="en" sz="1600">
                <a:solidFill>
                  <a:srgbClr val="000066"/>
                </a:solidFill>
                <a:latin typeface="Calibri"/>
                <a:ea typeface="Calibri"/>
                <a:cs typeface="Calibri"/>
                <a:sym typeface="Calibri"/>
              </a:rPr>
              <a:t>100,000</a:t>
            </a:r>
            <a:endParaRPr b="1" sz="1600">
              <a:solidFill>
                <a:srgbClr val="000066"/>
              </a:solidFill>
              <a:latin typeface="Calibri"/>
              <a:ea typeface="Calibri"/>
              <a:cs typeface="Calibri"/>
              <a:sym typeface="Calibri"/>
            </a:endParaRPr>
          </a:p>
        </p:txBody>
      </p:sp>
      <p:sp>
        <p:nvSpPr>
          <p:cNvPr id="492" name="Google Shape;492;p58"/>
          <p:cNvSpPr/>
          <p:nvPr/>
        </p:nvSpPr>
        <p:spPr>
          <a:xfrm>
            <a:off x="7658100" y="3293269"/>
            <a:ext cx="1447800" cy="271500"/>
          </a:xfrm>
          <a:prstGeom prst="rect">
            <a:avLst/>
          </a:prstGeom>
          <a:no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Disk firmware</a:t>
            </a:r>
            <a:endParaRPr b="1" sz="1600">
              <a:solidFill>
                <a:srgbClr val="000066"/>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Summary</a:t>
            </a:r>
            <a:endParaRPr/>
          </a:p>
        </p:txBody>
      </p:sp>
      <p:sp>
        <p:nvSpPr>
          <p:cNvPr id="498" name="Google Shape;498;p59"/>
          <p:cNvSpPr txBox="1"/>
          <p:nvPr>
            <p:ph idx="1" type="body"/>
          </p:nvPr>
        </p:nvSpPr>
        <p:spPr>
          <a:xfrm>
            <a:off x="311700" y="1152475"/>
            <a:ext cx="8520600" cy="171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The speed gap between CPU, memory and mass storage continues to widen.</a:t>
            </a:r>
            <a:endParaRPr/>
          </a:p>
          <a:p>
            <a:pPr indent="-342900" lvl="0" marL="342900" rtl="0" algn="l">
              <a:spcBef>
                <a:spcPts val="480"/>
              </a:spcBef>
              <a:spcAft>
                <a:spcPts val="0"/>
              </a:spcAft>
              <a:buSzPts val="1440"/>
              <a:buChar char="●"/>
            </a:pPr>
            <a:r>
              <a:rPr lang="en"/>
              <a:t>Well-written programs exhibit a property called locality.</a:t>
            </a:r>
            <a:endParaRPr/>
          </a:p>
          <a:p>
            <a:pPr indent="-342900" lvl="0" marL="342900" rtl="0" algn="l">
              <a:spcBef>
                <a:spcPts val="480"/>
              </a:spcBef>
              <a:spcAft>
                <a:spcPts val="0"/>
              </a:spcAft>
              <a:buSzPts val="1440"/>
              <a:buChar char="●"/>
            </a:pPr>
            <a:r>
              <a:rPr lang="en"/>
              <a:t>Memory hierarchies based on caching close the gap by exploiting locality.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